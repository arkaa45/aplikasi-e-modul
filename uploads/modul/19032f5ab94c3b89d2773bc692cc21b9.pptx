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ink/ink1.xml" ContentType="application/inkml+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6"/>
  </p:notesMasterIdLst>
  <p:sldIdLst>
    <p:sldId id="256" r:id="rId2"/>
    <p:sldId id="3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373" r:id="rId23"/>
    <p:sldId id="363" r:id="rId24"/>
    <p:sldId id="365" r:id="rId25"/>
    <p:sldId id="366" r:id="rId26"/>
    <p:sldId id="367" r:id="rId27"/>
    <p:sldId id="368" r:id="rId28"/>
    <p:sldId id="369" r:id="rId29"/>
    <p:sldId id="370" r:id="rId30"/>
    <p:sldId id="371" r:id="rId31"/>
    <p:sldId id="276" r:id="rId32"/>
    <p:sldId id="277" r:id="rId33"/>
    <p:sldId id="278" r:id="rId34"/>
    <p:sldId id="364" r:id="rId35"/>
    <p:sldId id="279" r:id="rId36"/>
    <p:sldId id="374" r:id="rId37"/>
    <p:sldId id="280" r:id="rId38"/>
    <p:sldId id="281" r:id="rId39"/>
    <p:sldId id="380" r:id="rId40"/>
    <p:sldId id="375" r:id="rId41"/>
    <p:sldId id="282" r:id="rId42"/>
    <p:sldId id="283" r:id="rId43"/>
    <p:sldId id="284" r:id="rId44"/>
    <p:sldId id="285" r:id="rId45"/>
    <p:sldId id="286" r:id="rId46"/>
    <p:sldId id="377" r:id="rId47"/>
    <p:sldId id="378" r:id="rId48"/>
    <p:sldId id="379" r:id="rId49"/>
    <p:sldId id="287" r:id="rId50"/>
    <p:sldId id="288" r:id="rId51"/>
    <p:sldId id="289" r:id="rId52"/>
    <p:sldId id="290" r:id="rId53"/>
    <p:sldId id="376" r:id="rId54"/>
    <p:sldId id="291" r:id="rId55"/>
    <p:sldId id="381" r:id="rId56"/>
    <p:sldId id="383" r:id="rId57"/>
    <p:sldId id="292" r:id="rId58"/>
    <p:sldId id="293" r:id="rId59"/>
    <p:sldId id="294" r:id="rId60"/>
    <p:sldId id="295" r:id="rId61"/>
    <p:sldId id="296" r:id="rId62"/>
    <p:sldId id="297" r:id="rId63"/>
    <p:sldId id="298" r:id="rId64"/>
    <p:sldId id="299" r:id="rId65"/>
    <p:sldId id="300" r:id="rId66"/>
    <p:sldId id="301" r:id="rId67"/>
    <p:sldId id="304" r:id="rId68"/>
    <p:sldId id="416" r:id="rId69"/>
    <p:sldId id="417" r:id="rId70"/>
    <p:sldId id="418" r:id="rId71"/>
    <p:sldId id="305" r:id="rId72"/>
    <p:sldId id="306" r:id="rId73"/>
    <p:sldId id="384" r:id="rId74"/>
    <p:sldId id="307" r:id="rId75"/>
    <p:sldId id="308" r:id="rId76"/>
    <p:sldId id="309" r:id="rId77"/>
    <p:sldId id="310" r:id="rId78"/>
    <p:sldId id="311" r:id="rId79"/>
    <p:sldId id="385" r:id="rId80"/>
    <p:sldId id="386" r:id="rId81"/>
    <p:sldId id="302" r:id="rId82"/>
    <p:sldId id="303" r:id="rId83"/>
    <p:sldId id="314" r:id="rId84"/>
    <p:sldId id="388" r:id="rId85"/>
    <p:sldId id="389" r:id="rId86"/>
    <p:sldId id="313" r:id="rId87"/>
    <p:sldId id="317" r:id="rId88"/>
    <p:sldId id="318" r:id="rId89"/>
    <p:sldId id="391" r:id="rId90"/>
    <p:sldId id="319" r:id="rId91"/>
    <p:sldId id="320" r:id="rId92"/>
    <p:sldId id="321" r:id="rId93"/>
    <p:sldId id="322" r:id="rId94"/>
    <p:sldId id="323" r:id="rId95"/>
    <p:sldId id="390" r:id="rId96"/>
    <p:sldId id="324" r:id="rId97"/>
    <p:sldId id="325" r:id="rId98"/>
    <p:sldId id="326" r:id="rId99"/>
    <p:sldId id="327" r:id="rId100"/>
    <p:sldId id="328" r:id="rId101"/>
    <p:sldId id="329" r:id="rId102"/>
    <p:sldId id="330" r:id="rId103"/>
    <p:sldId id="331" r:id="rId104"/>
    <p:sldId id="332" r:id="rId105"/>
    <p:sldId id="333" r:id="rId106"/>
    <p:sldId id="334" r:id="rId107"/>
    <p:sldId id="392" r:id="rId108"/>
    <p:sldId id="335" r:id="rId109"/>
    <p:sldId id="393" r:id="rId110"/>
    <p:sldId id="394" r:id="rId111"/>
    <p:sldId id="395" r:id="rId112"/>
    <p:sldId id="396" r:id="rId113"/>
    <p:sldId id="336" r:id="rId114"/>
    <p:sldId id="337" r:id="rId115"/>
    <p:sldId id="338" r:id="rId116"/>
    <p:sldId id="398" r:id="rId117"/>
    <p:sldId id="397" r:id="rId118"/>
    <p:sldId id="399" r:id="rId119"/>
    <p:sldId id="339" r:id="rId120"/>
    <p:sldId id="340" r:id="rId121"/>
    <p:sldId id="341" r:id="rId122"/>
    <p:sldId id="342" r:id="rId123"/>
    <p:sldId id="343" r:id="rId124"/>
    <p:sldId id="344" r:id="rId125"/>
    <p:sldId id="345" r:id="rId126"/>
    <p:sldId id="346" r:id="rId127"/>
    <p:sldId id="347" r:id="rId128"/>
    <p:sldId id="400" r:id="rId129"/>
    <p:sldId id="402" r:id="rId130"/>
    <p:sldId id="403" r:id="rId131"/>
    <p:sldId id="405" r:id="rId132"/>
    <p:sldId id="406" r:id="rId133"/>
    <p:sldId id="349" r:id="rId134"/>
    <p:sldId id="415" r:id="rId135"/>
    <p:sldId id="350" r:id="rId136"/>
    <p:sldId id="351" r:id="rId137"/>
    <p:sldId id="352" r:id="rId138"/>
    <p:sldId id="353" r:id="rId139"/>
    <p:sldId id="354" r:id="rId140"/>
    <p:sldId id="407" r:id="rId141"/>
    <p:sldId id="408" r:id="rId142"/>
    <p:sldId id="409" r:id="rId143"/>
    <p:sldId id="410" r:id="rId144"/>
    <p:sldId id="411" r:id="rId145"/>
    <p:sldId id="412" r:id="rId146"/>
    <p:sldId id="413" r:id="rId147"/>
    <p:sldId id="355" r:id="rId148"/>
    <p:sldId id="356" r:id="rId149"/>
    <p:sldId id="357" r:id="rId150"/>
    <p:sldId id="358" r:id="rId151"/>
    <p:sldId id="359" r:id="rId152"/>
    <p:sldId id="360" r:id="rId153"/>
    <p:sldId id="361" r:id="rId154"/>
    <p:sldId id="316" r:id="rId155"/>
  </p:sldIdLst>
  <p:sldSz cx="12192000" cy="6858000"/>
  <p:notesSz cx="6858000" cy="9144000"/>
  <p:embeddedFontLst>
    <p:embeddedFont>
      <p:font typeface="Century Gothic" panose="020B0502020202020204" pitchFamily="34" charset="0"/>
      <p:regular r:id="rId157"/>
      <p:bold r:id="rId158"/>
      <p:italic r:id="rId159"/>
      <p:boldItalic r:id="rId160"/>
    </p:embeddedFont>
    <p:embeddedFont>
      <p:font typeface="Consolas" panose="020B0609020204030204" pitchFamily="49" charset="0"/>
      <p:regular r:id="rId161"/>
      <p:bold r:id="rId162"/>
      <p:italic r:id="rId163"/>
      <p:boldItalic r:id="rId164"/>
    </p:embeddedFont>
    <p:embeddedFont>
      <p:font typeface="Georgia" panose="02040502050405020303" pitchFamily="18" charset="0"/>
      <p:regular r:id="rId165"/>
      <p:bold r:id="rId166"/>
      <p:italic r:id="rId167"/>
      <p:boldItalic r:id="rId168"/>
    </p:embeddedFont>
    <p:embeddedFont>
      <p:font typeface="Roboto" panose="02000000000000000000" pitchFamily="2" charset="0"/>
      <p:regular r:id="rId169"/>
      <p:bold r:id="rId170"/>
      <p:italic r:id="rId171"/>
      <p:boldItalic r:id="rId1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3" roundtripDataSignature="AMtx7mjhQK6jPmIIUfGr78odRJESt4Qd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6786A7-9993-4E66-9151-801E225A963D}">
  <a:tblStyle styleId="{E96786A7-9993-4E66-9151-801E225A963D}"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2E6EA"/>
          </a:solidFill>
        </a:fill>
      </a:tcStyle>
    </a:wholeTbl>
    <a:band1H>
      <a:tcTxStyle/>
      <a:tcStyle>
        <a:tcBdr/>
        <a:fill>
          <a:solidFill>
            <a:srgbClr val="E4CAD2"/>
          </a:solidFill>
        </a:fill>
      </a:tcStyle>
    </a:band1H>
    <a:band2H>
      <a:tcTxStyle/>
      <a:tcStyle>
        <a:tcBdr/>
      </a:tcStyle>
    </a:band2H>
    <a:band1V>
      <a:tcTxStyle/>
      <a:tcStyle>
        <a:tcBdr/>
        <a:fill>
          <a:solidFill>
            <a:srgbClr val="E4CAD2"/>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CC38793-8713-4A4E-B810-36662DA736D8}" styleName="Table_1">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EAFC"/>
          </a:solidFill>
        </a:fill>
      </a:tcStyle>
    </a:wholeTbl>
    <a:band1H>
      <a:tcTxStyle/>
      <a:tcStyle>
        <a:tcBdr/>
        <a:fill>
          <a:solidFill>
            <a:srgbClr val="DED3FA"/>
          </a:solidFill>
        </a:fill>
      </a:tcStyle>
    </a:band1H>
    <a:band2H>
      <a:tcTxStyle/>
      <a:tcStyle>
        <a:tcBdr/>
      </a:tcStyle>
    </a:band2H>
    <a:band1V>
      <a:tcTxStyle/>
      <a:tcStyle>
        <a:tcBdr/>
        <a:fill>
          <a:solidFill>
            <a:srgbClr val="DED3FA"/>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5"/>
          </a:solidFill>
        </a:fill>
      </a:tcStyle>
    </a:lastCol>
    <a:firstCol>
      <a:tcTxStyle b="on" i="off">
        <a:font>
          <a:latin typeface="Century Gothic"/>
          <a:ea typeface="Century Gothic"/>
          <a:cs typeface="Century Gothic"/>
        </a:font>
        <a:schemeClr val="lt1"/>
      </a:tcTxStyle>
      <a:tcStyle>
        <a:tcBdr/>
        <a:fill>
          <a:solidFill>
            <a:schemeClr val="accent5"/>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86013" autoAdjust="0"/>
  </p:normalViewPr>
  <p:slideViewPr>
    <p:cSldViewPr snapToGrid="0">
      <p:cViewPr varScale="1">
        <p:scale>
          <a:sx n="75" d="100"/>
          <a:sy n="75" d="100"/>
        </p:scale>
        <p:origin x="4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3.fntdata"/><Relationship Id="rId170" Type="http://schemas.openxmlformats.org/officeDocument/2006/relationships/font" Target="fonts/font1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4.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font" Target="fonts/font15.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font" Target="fonts/font5.fntdata"/><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77" Type="http://schemas.openxmlformats.org/officeDocument/2006/relationships/tableStyles" Target="tableStyles.xml"/><Relationship Id="rId172" Type="http://schemas.openxmlformats.org/officeDocument/2006/relationships/font" Target="fonts/font1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8.fntdata"/><Relationship Id="rId16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9.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font" Target="fonts/font10.fntdata"/><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732" units="cm"/>
          <inkml:channel name="Y" type="integer" max="768" units="cm"/>
          <inkml:channel name="T" type="integer" max="2.14748E9" units="dev"/>
        </inkml:traceFormat>
        <inkml:channelProperties>
          <inkml:channelProperty channel="X" name="resolution" value="88.41424" units="1/cm"/>
          <inkml:channelProperty channel="Y" name="resolution" value="44.13793" units="1/cm"/>
          <inkml:channelProperty channel="T" name="resolution" value="1" units="1/dev"/>
        </inkml:channelProperties>
      </inkml:inkSource>
      <inkml:timestamp xml:id="ts0" timeString="2024-12-27T01:40:23.163"/>
    </inkml:context>
    <inkml:brush xml:id="br0">
      <inkml:brushProperty name="width" value="0.05292" units="cm"/>
      <inkml:brushProperty name="height" value="0.05292" units="cm"/>
      <inkml:brushProperty name="color" value="#FF0000"/>
    </inkml:brush>
  </inkml:definitions>
  <inkml:trace contextRef="#ctx0" brushRef="#br0">2104 13256 0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D"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7504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060897d798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060897d798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060897d798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Belajar perintah-perintah dasar:</a:t>
            </a:r>
            <a:br>
              <a:rPr lang="en-US"/>
            </a:br>
            <a:r>
              <a:rPr lang="en-US"/>
              <a:t>Login ke mysql </a:t>
            </a:r>
            <a:r>
              <a:rPr lang="en-US">
                <a:sym typeface="Wingdings" panose="05000000000000000000" pitchFamily="2" charset="2"/>
              </a:rPr>
              <a:t> mysql –u root</a:t>
            </a:r>
          </a:p>
          <a:p>
            <a:pPr marL="0" lvl="0" indent="0" algn="l" rtl="0">
              <a:spcBef>
                <a:spcPts val="0"/>
              </a:spcBef>
              <a:spcAft>
                <a:spcPts val="0"/>
              </a:spcAft>
              <a:buNone/>
            </a:pPr>
            <a:r>
              <a:rPr lang="en-US">
                <a:sym typeface="Wingdings" panose="05000000000000000000" pitchFamily="2" charset="2"/>
              </a:rPr>
              <a:t>Menggunakan database  use database</a:t>
            </a:r>
          </a:p>
          <a:p>
            <a:pPr marL="0" lvl="0" indent="0" algn="l" rtl="0">
              <a:spcBef>
                <a:spcPts val="0"/>
              </a:spcBef>
              <a:spcAft>
                <a:spcPts val="0"/>
              </a:spcAft>
              <a:buNone/>
            </a:pPr>
            <a:r>
              <a:rPr lang="en-US">
                <a:sym typeface="Wingdings" panose="05000000000000000000" pitchFamily="2" charset="2"/>
              </a:rPr>
              <a:t>Menampilkan database yang ada dalam server  show databases;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sym typeface="Wingdings" panose="05000000000000000000" pitchFamily="2" charset="2"/>
              </a:rPr>
              <a:t>Menampilkan table yang ada dalam database  show tables;</a:t>
            </a:r>
          </a:p>
          <a:p>
            <a:pPr marL="0" lvl="0" indent="0" algn="l" rtl="0">
              <a:spcBef>
                <a:spcPts val="0"/>
              </a:spcBef>
              <a:spcAft>
                <a:spcPts val="0"/>
              </a:spcAft>
              <a:buNone/>
            </a:pPr>
            <a:r>
              <a:rPr lang="en-US"/>
              <a:t>Menampilkan struktur table </a:t>
            </a:r>
            <a:r>
              <a:rPr lang="en-US">
                <a:sym typeface="Wingdings" panose="05000000000000000000" pitchFamily="2" charset="2"/>
              </a:rPr>
              <a:t> describe nama_table;</a:t>
            </a:r>
            <a:endParaRPr/>
          </a:p>
        </p:txBody>
      </p:sp>
      <p:sp>
        <p:nvSpPr>
          <p:cNvPr id="373" name="Google Shape;37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060897d79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060897d798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g3060897d798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22</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3358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060897d79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060897d798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g3060897d798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23</a:t>
            </a:fld>
            <a:endParaRPr/>
          </a:p>
        </p:txBody>
      </p:sp>
    </p:spTree>
    <p:extLst>
      <p:ext uri="{BB962C8B-B14F-4D97-AF65-F5344CB8AC3E}">
        <p14:creationId xmlns:p14="http://schemas.microsoft.com/office/powerpoint/2010/main" val="2758267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rPr>
              <a:t>Apa itu DDL?</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Arial" panose="020B0604020202020204" pitchFamily="34" charset="0"/>
              </a:rPr>
              <a:t>DDL (Data Definition Language) adalah bagian dari SQL yang digunakan untuk mendefinisikan struktur dan skema basis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chemeClr val="tx1"/>
                </a:solidFill>
                <a:effectLst/>
                <a:latin typeface="Arial" panose="020B0604020202020204" pitchFamily="34" charset="0"/>
              </a:rPr>
              <a:t>Contoh perintah DDL: </a:t>
            </a:r>
            <a:r>
              <a:rPr kumimoji="0" lang="en-US" altLang="en-US" sz="800" b="0" i="0" u="none" strike="noStrike" cap="none" normalizeH="0" baseline="0">
                <a:ln>
                  <a:noFill/>
                </a:ln>
                <a:solidFill>
                  <a:schemeClr val="tx1"/>
                </a:solidFill>
                <a:effectLst/>
                <a:latin typeface="Arial Unicode MS"/>
              </a:rPr>
              <a:t>CREATE</a:t>
            </a:r>
            <a:r>
              <a:rPr kumimoji="0" lang="en-US" altLang="en-US" sz="900" b="0" i="0" u="none" strike="noStrike" cap="none" normalizeH="0" baseline="0">
                <a:ln>
                  <a:noFill/>
                </a:ln>
                <a:solidFill>
                  <a:schemeClr val="tx1"/>
                </a:solidFill>
                <a:effectLst/>
              </a:rPr>
              <a:t>, </a:t>
            </a:r>
            <a:r>
              <a:rPr kumimoji="0" lang="en-US" altLang="en-US" sz="800" b="0" i="0" u="none" strike="noStrike" cap="none" normalizeH="0" baseline="0">
                <a:ln>
                  <a:noFill/>
                </a:ln>
                <a:solidFill>
                  <a:schemeClr val="tx1"/>
                </a:solidFill>
                <a:effectLst/>
                <a:latin typeface="Arial Unicode MS"/>
              </a:rPr>
              <a:t>ALTER</a:t>
            </a:r>
            <a:r>
              <a:rPr kumimoji="0" lang="en-US" altLang="en-US" sz="900" b="0" i="0" u="none" strike="noStrike" cap="none" normalizeH="0" baseline="0">
                <a:ln>
                  <a:noFill/>
                </a:ln>
                <a:solidFill>
                  <a:schemeClr val="tx1"/>
                </a:solidFill>
                <a:effectLst/>
              </a:rPr>
              <a:t>, </a:t>
            </a:r>
            <a:r>
              <a:rPr kumimoji="0" lang="en-US" altLang="en-US" sz="800" b="0" i="0" u="none" strike="noStrike" cap="none" normalizeH="0" baseline="0">
                <a:ln>
                  <a:noFill/>
                </a:ln>
                <a:solidFill>
                  <a:schemeClr val="tx1"/>
                </a:solidFill>
                <a:effectLst/>
                <a:latin typeface="Arial Unicode MS"/>
              </a:rPr>
              <a:t>DROP</a:t>
            </a:r>
            <a:r>
              <a:rPr kumimoji="0" lang="en-US" altLang="en-US" sz="900" b="0" i="0" u="none" strike="noStrike" cap="none" normalizeH="0" baseline="0">
                <a:ln>
                  <a:noFill/>
                </a:ln>
                <a:solidFill>
                  <a:schemeClr val="tx1"/>
                </a:solidFill>
                <a:effectLst/>
              </a:rPr>
              <a:t>, </a:t>
            </a:r>
            <a:r>
              <a:rPr kumimoji="0" lang="en-US" altLang="en-US" sz="800" b="0" i="0" u="none" strike="noStrike" cap="none" normalizeH="0" baseline="0">
                <a:ln>
                  <a:noFill/>
                </a:ln>
                <a:solidFill>
                  <a:schemeClr val="tx1"/>
                </a:solidFill>
                <a:effectLst/>
                <a:latin typeface="Arial Unicode MS"/>
              </a:rPr>
              <a:t>TRUNCATE</a:t>
            </a:r>
            <a:endParaRPr kumimoji="0" lang="en-US" altLang="en-US" sz="9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anose="020B0604020202020204" pitchFamily="34" charset="0"/>
            </a:endParaRPr>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24</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0158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25</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75060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26</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0246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27</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78748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28</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5635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29</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2186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30</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61978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ID"/>
              <a:t>mysql -u root –p</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ID"/>
              <a:t>CREATE DATABASE Perpustakaan;</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ID"/>
              <a:t>CREATE TABLE Buku (</a:t>
            </a:r>
            <a:endParaRPr/>
          </a:p>
          <a:p>
            <a:pPr marL="0" lvl="0" indent="0" algn="l" rtl="0">
              <a:spcBef>
                <a:spcPts val="0"/>
              </a:spcBef>
              <a:spcAft>
                <a:spcPts val="0"/>
              </a:spcAft>
              <a:buClr>
                <a:schemeClr val="dk1"/>
              </a:buClr>
              <a:buSzPts val="1200"/>
              <a:buFont typeface="Arial"/>
              <a:buNone/>
            </a:pPr>
            <a:r>
              <a:rPr lang="en-ID"/>
              <a:t>  ID_Buku INT PRIMARY KEY,</a:t>
            </a:r>
            <a:endParaRPr/>
          </a:p>
          <a:p>
            <a:pPr marL="0" lvl="0" indent="0" algn="l" rtl="0">
              <a:spcBef>
                <a:spcPts val="0"/>
              </a:spcBef>
              <a:spcAft>
                <a:spcPts val="0"/>
              </a:spcAft>
              <a:buClr>
                <a:schemeClr val="dk1"/>
              </a:buClr>
              <a:buSzPts val="1200"/>
              <a:buFont typeface="Arial"/>
              <a:buNone/>
            </a:pPr>
            <a:r>
              <a:rPr lang="en-ID"/>
              <a:t>  Judul VARCHAR(255),</a:t>
            </a:r>
            <a:endParaRPr/>
          </a:p>
          <a:p>
            <a:pPr marL="0" lvl="0" indent="0" algn="l" rtl="0">
              <a:spcBef>
                <a:spcPts val="0"/>
              </a:spcBef>
              <a:spcAft>
                <a:spcPts val="0"/>
              </a:spcAft>
              <a:buClr>
                <a:schemeClr val="dk1"/>
              </a:buClr>
              <a:buSzPts val="1200"/>
              <a:buFont typeface="Arial"/>
              <a:buNone/>
            </a:pPr>
            <a:r>
              <a:rPr lang="en-ID"/>
              <a:t>  Pengarang VARCHAR(255),</a:t>
            </a:r>
            <a:endParaRPr/>
          </a:p>
          <a:p>
            <a:pPr marL="0" lvl="0" indent="0" algn="l" rtl="0">
              <a:spcBef>
                <a:spcPts val="0"/>
              </a:spcBef>
              <a:spcAft>
                <a:spcPts val="0"/>
              </a:spcAft>
              <a:buClr>
                <a:schemeClr val="dk1"/>
              </a:buClr>
              <a:buSzPts val="1200"/>
              <a:buFont typeface="Arial"/>
              <a:buNone/>
            </a:pPr>
            <a:r>
              <a:rPr lang="en-ID"/>
              <a:t>  Tahun_Terbit INT,</a:t>
            </a:r>
            <a:endParaRPr/>
          </a:p>
          <a:p>
            <a:pPr marL="0" lvl="0" indent="0" algn="l" rtl="0">
              <a:spcBef>
                <a:spcPts val="0"/>
              </a:spcBef>
              <a:spcAft>
                <a:spcPts val="0"/>
              </a:spcAft>
              <a:buClr>
                <a:schemeClr val="dk1"/>
              </a:buClr>
              <a:buSzPts val="1200"/>
              <a:buFont typeface="Arial"/>
              <a:buNone/>
            </a:pPr>
            <a:r>
              <a:rPr lang="en-ID"/>
              <a:t>  Jumlah_Halaman INT</a:t>
            </a:r>
            <a:endParaRPr/>
          </a:p>
          <a:p>
            <a:pPr marL="0" lvl="0" indent="0" algn="l" rtl="0">
              <a:spcBef>
                <a:spcPts val="0"/>
              </a:spcBef>
              <a:spcAft>
                <a:spcPts val="0"/>
              </a:spcAft>
              <a:buClr>
                <a:schemeClr val="dk1"/>
              </a:buClr>
              <a:buSzPts val="1200"/>
              <a:buFont typeface="Arial"/>
              <a:buNone/>
            </a:pPr>
            <a:r>
              <a:rPr lang="en-ID"/>
              <a: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96" name="Google Shape;39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4" name="Google Shape;40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D"/>
              <a:t>CREATE TABLE Peminjaman (</a:t>
            </a:r>
            <a:endParaRPr/>
          </a:p>
          <a:p>
            <a:pPr marL="0" lvl="0" indent="0" algn="l" rtl="0">
              <a:spcBef>
                <a:spcPts val="0"/>
              </a:spcBef>
              <a:spcAft>
                <a:spcPts val="0"/>
              </a:spcAft>
              <a:buNone/>
            </a:pPr>
            <a:r>
              <a:rPr lang="en-ID"/>
              <a:t>  ID_Peminjaman INT PRIMARY KEY AUTO_INCREMENT,</a:t>
            </a:r>
            <a:endParaRPr/>
          </a:p>
          <a:p>
            <a:pPr marL="0" lvl="0" indent="0" algn="l" rtl="0">
              <a:spcBef>
                <a:spcPts val="0"/>
              </a:spcBef>
              <a:spcAft>
                <a:spcPts val="0"/>
              </a:spcAft>
              <a:buNone/>
            </a:pPr>
            <a:r>
              <a:rPr lang="en-ID"/>
              <a:t>  ID_Buku INT,</a:t>
            </a:r>
            <a:endParaRPr/>
          </a:p>
          <a:p>
            <a:pPr marL="0" lvl="0" indent="0" algn="l" rtl="0">
              <a:spcBef>
                <a:spcPts val="0"/>
              </a:spcBef>
              <a:spcAft>
                <a:spcPts val="0"/>
              </a:spcAft>
              <a:buNone/>
            </a:pPr>
            <a:r>
              <a:rPr lang="en-ID"/>
              <a:t>  ID_Peminjam INT,</a:t>
            </a:r>
            <a:endParaRPr/>
          </a:p>
          <a:p>
            <a:pPr marL="0" lvl="0" indent="0" algn="l" rtl="0">
              <a:spcBef>
                <a:spcPts val="0"/>
              </a:spcBef>
              <a:spcAft>
                <a:spcPts val="0"/>
              </a:spcAft>
              <a:buNone/>
            </a:pPr>
            <a:r>
              <a:rPr lang="en-ID"/>
              <a:t>  Tanggal_Pinjam DATE,</a:t>
            </a:r>
            <a:endParaRPr/>
          </a:p>
          <a:p>
            <a:pPr marL="0" lvl="0" indent="0" algn="l" rtl="0">
              <a:spcBef>
                <a:spcPts val="0"/>
              </a:spcBef>
              <a:spcAft>
                <a:spcPts val="0"/>
              </a:spcAft>
              <a:buNone/>
            </a:pPr>
            <a:r>
              <a:rPr lang="en-ID"/>
              <a:t>  Tanggal_Kembali DATE,</a:t>
            </a:r>
            <a:endParaRPr/>
          </a:p>
          <a:p>
            <a:pPr marL="0" lvl="0" indent="0" algn="l" rtl="0">
              <a:spcBef>
                <a:spcPts val="0"/>
              </a:spcBef>
              <a:spcAft>
                <a:spcPts val="0"/>
              </a:spcAft>
              <a:buNone/>
            </a:pPr>
            <a:r>
              <a:rPr lang="en-ID"/>
              <a:t>  CONSTRAINT FK_Buku FOREIGN KEY (ID_Buku) REFERENCES Buku(ID_Buku),</a:t>
            </a:r>
            <a:endParaRPr/>
          </a:p>
          <a:p>
            <a:pPr marL="0" lvl="0" indent="0" algn="l" rtl="0">
              <a:spcBef>
                <a:spcPts val="0"/>
              </a:spcBef>
              <a:spcAft>
                <a:spcPts val="0"/>
              </a:spcAft>
              <a:buNone/>
            </a:pPr>
            <a:r>
              <a:rPr lang="en-ID"/>
              <a:t>  CONSTRAINT FK_Peminjam FOREIGN KEY (ID_Peminjam) REFERENCES Anggota(ID_Peminjam),</a:t>
            </a:r>
            <a:endParaRPr/>
          </a:p>
          <a:p>
            <a:pPr marL="0" lvl="0" indent="0" algn="l" rtl="0">
              <a:spcBef>
                <a:spcPts val="0"/>
              </a:spcBef>
              <a:spcAft>
                <a:spcPts val="0"/>
              </a:spcAft>
              <a:buNone/>
            </a:pPr>
            <a:r>
              <a:rPr lang="en-ID"/>
              <a:t>  CONSTRAINT CHK_Tanggal CHECK (Tanggal_Pinjam &lt;= Tanggal_Kembali)</a:t>
            </a:r>
            <a:endParaRPr/>
          </a:p>
          <a:p>
            <a:pPr marL="0" lvl="0" indent="0" algn="l" rtl="0">
              <a:spcBef>
                <a:spcPts val="0"/>
              </a:spcBef>
              <a:spcAft>
                <a:spcPts val="0"/>
              </a:spcAft>
              <a:buNone/>
            </a:pPr>
            <a:r>
              <a:rPr lang="en-ID"/>
              <a:t>);</a:t>
            </a:r>
            <a:endParaRPr/>
          </a:p>
          <a:p>
            <a:pPr marL="0" lvl="0" indent="0" algn="l" rtl="0">
              <a:spcBef>
                <a:spcPts val="0"/>
              </a:spcBef>
              <a:spcAft>
                <a:spcPts val="0"/>
              </a:spcAft>
              <a:buNone/>
            </a:pPr>
            <a:endParaRPr lang="en-US"/>
          </a:p>
          <a:p>
            <a:pPr marL="0" lvl="0" indent="0" algn="l" rtl="0">
              <a:spcBef>
                <a:spcPts val="0"/>
              </a:spcBef>
              <a:spcAft>
                <a:spcPts val="0"/>
              </a:spcAft>
              <a:buNone/>
            </a:pPr>
            <a:endParaRPr lang="en-ID"/>
          </a:p>
          <a:p>
            <a:pPr marL="0" lvl="0" indent="0" algn="l" rtl="0">
              <a:spcBef>
                <a:spcPts val="0"/>
              </a:spcBef>
              <a:spcAft>
                <a:spcPts val="0"/>
              </a:spcAft>
              <a:buNone/>
            </a:pPr>
            <a:r>
              <a:rPr lang="en-US"/>
              <a:t>SELECT TABLE_NAME, CONSTRAINT_NAME, CONSTRAINT_TYPE FROM INFORMATION_SCHEMA.TABLE_CONSTRAINTS WHERE TABLE_SCHEMA = 'nama_database';</a:t>
            </a:r>
            <a:endParaRPr/>
          </a:p>
        </p:txBody>
      </p:sp>
      <p:sp>
        <p:nvSpPr>
          <p:cNvPr id="405" name="Google Shape;40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D"/>
              <a:t>ALTER TABLE Buku</a:t>
            </a:r>
            <a:endParaRPr/>
          </a:p>
          <a:p>
            <a:pPr marL="0" lvl="0" indent="0" algn="l" rtl="0">
              <a:spcBef>
                <a:spcPts val="0"/>
              </a:spcBef>
              <a:spcAft>
                <a:spcPts val="0"/>
              </a:spcAft>
              <a:buNone/>
            </a:pPr>
            <a:r>
              <a:rPr lang="en-ID"/>
              <a:t>ADD kolom_baru VARCHAR(255)</a:t>
            </a:r>
            <a:endParaRPr/>
          </a:p>
          <a:p>
            <a:pPr marL="0" lvl="0" indent="0" algn="l" rtl="0">
              <a:spcBef>
                <a:spcPts val="0"/>
              </a:spcBef>
              <a:spcAft>
                <a:spcPts val="0"/>
              </a:spcAft>
              <a:buNone/>
            </a:pPr>
            <a:endParaRPr/>
          </a:p>
          <a:p>
            <a:pPr marL="0" lvl="0" indent="0" algn="l" rtl="0">
              <a:spcBef>
                <a:spcPts val="0"/>
              </a:spcBef>
              <a:spcAft>
                <a:spcPts val="0"/>
              </a:spcAft>
              <a:buNone/>
            </a:pPr>
            <a:r>
              <a:rPr lang="en-ID"/>
              <a:t>ALTER TABLE Buku</a:t>
            </a:r>
            <a:endParaRPr/>
          </a:p>
          <a:p>
            <a:pPr marL="0" lvl="0" indent="0" algn="l" rtl="0">
              <a:spcBef>
                <a:spcPts val="0"/>
              </a:spcBef>
              <a:spcAft>
                <a:spcPts val="0"/>
              </a:spcAft>
              <a:buNone/>
            </a:pPr>
            <a:r>
              <a:rPr lang="en-ID"/>
              <a:t>DROP COLUMN nama_kolom</a:t>
            </a:r>
            <a:endParaRPr/>
          </a:p>
          <a:p>
            <a:pPr marL="0" lvl="0" indent="0" algn="l" rtl="0">
              <a:spcBef>
                <a:spcPts val="0"/>
              </a:spcBef>
              <a:spcAft>
                <a:spcPts val="0"/>
              </a:spcAft>
              <a:buNone/>
            </a:pPr>
            <a:endParaRPr/>
          </a:p>
          <a:p>
            <a:pPr marL="0" lvl="0" indent="0" algn="l" rtl="0">
              <a:spcBef>
                <a:spcPts val="0"/>
              </a:spcBef>
              <a:spcAft>
                <a:spcPts val="0"/>
              </a:spcAft>
              <a:buNone/>
            </a:pPr>
            <a:r>
              <a:rPr lang="en-ID"/>
              <a:t>ALTER TABLE Buku</a:t>
            </a:r>
            <a:endParaRPr/>
          </a:p>
          <a:p>
            <a:pPr marL="0" lvl="0" indent="0" algn="l" rtl="0">
              <a:spcBef>
                <a:spcPts val="0"/>
              </a:spcBef>
              <a:spcAft>
                <a:spcPts val="0"/>
              </a:spcAft>
              <a:buNone/>
            </a:pPr>
            <a:r>
              <a:rPr lang="en-ID"/>
              <a:t>MODIFY nama_kolom type_data</a:t>
            </a:r>
            <a:endParaRPr/>
          </a:p>
          <a:p>
            <a:pPr marL="0" lvl="0" indent="0" algn="l" rtl="0">
              <a:spcBef>
                <a:spcPts val="0"/>
              </a:spcBef>
              <a:spcAft>
                <a:spcPts val="0"/>
              </a:spcAft>
              <a:buNone/>
            </a:pPr>
            <a:endParaRPr/>
          </a:p>
          <a:p>
            <a:pPr marL="0" lvl="0" indent="0" algn="l" rtl="0">
              <a:spcBef>
                <a:spcPts val="0"/>
              </a:spcBef>
              <a:spcAft>
                <a:spcPts val="0"/>
              </a:spcAft>
              <a:buNone/>
            </a:pPr>
            <a:r>
              <a:rPr lang="en-ID"/>
              <a:t>ALTER TABLE Buku</a:t>
            </a:r>
            <a:endParaRPr/>
          </a:p>
          <a:p>
            <a:pPr marL="0" lvl="0" indent="0" algn="l" rtl="0">
              <a:spcBef>
                <a:spcPts val="0"/>
              </a:spcBef>
              <a:spcAft>
                <a:spcPts val="0"/>
              </a:spcAft>
              <a:buNone/>
            </a:pPr>
            <a:r>
              <a:rPr lang="en-ID"/>
              <a:t>RENAME to nama_table_baru</a:t>
            </a:r>
            <a:endParaRPr/>
          </a:p>
          <a:p>
            <a:pPr marL="0" lvl="0" indent="0" algn="l" rtl="0">
              <a:spcBef>
                <a:spcPts val="0"/>
              </a:spcBef>
              <a:spcAft>
                <a:spcPts val="0"/>
              </a:spcAft>
              <a:buNone/>
            </a:pPr>
            <a:endParaRPr/>
          </a:p>
        </p:txBody>
      </p:sp>
      <p:sp>
        <p:nvSpPr>
          <p:cNvPr id="418" name="Google Shape;418;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060897d79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060897d798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g3060897d798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34</a:t>
            </a:fld>
            <a:endParaRPr/>
          </a:p>
        </p:txBody>
      </p:sp>
    </p:spTree>
    <p:extLst>
      <p:ext uri="{BB962C8B-B14F-4D97-AF65-F5344CB8AC3E}">
        <p14:creationId xmlns:p14="http://schemas.microsoft.com/office/powerpoint/2010/main" val="23210250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36</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69681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Dikerjakan berkelompok</a:t>
            </a:r>
          </a:p>
          <a:p>
            <a:pPr marL="0" lvl="0" indent="0" algn="l" rtl="0">
              <a:spcBef>
                <a:spcPts val="0"/>
              </a:spcBef>
              <a:spcAft>
                <a:spcPts val="0"/>
              </a:spcAft>
              <a:buNone/>
            </a:pPr>
            <a:r>
              <a:rPr lang="en-US"/>
              <a:t>1 kelompok terdiri dari 2 mahasiswa</a:t>
            </a:r>
          </a:p>
          <a:p>
            <a:pPr marL="0" lvl="0" indent="0" algn="l" rtl="0">
              <a:spcBef>
                <a:spcPts val="0"/>
              </a:spcBef>
              <a:spcAft>
                <a:spcPts val="0"/>
              </a:spcAft>
              <a:buNone/>
            </a:pPr>
            <a:r>
              <a:rPr lang="en-US"/>
              <a:t>Hasil pekerjaan disimpan pada mysql server</a:t>
            </a:r>
            <a:endParaRPr/>
          </a:p>
        </p:txBody>
      </p:sp>
      <p:sp>
        <p:nvSpPr>
          <p:cNvPr id="438" name="Google Shape;43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39</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95715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40</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4934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Noto Sans Symbols"/>
              <a:buChar char="❑"/>
            </a:pPr>
            <a:r>
              <a:rPr lang="en-ID" sz="1200" b="1"/>
              <a:t> INSERT</a:t>
            </a:r>
            <a:r>
              <a:rPr lang="en-ID" sz="1200"/>
              <a:t> </a:t>
            </a:r>
            <a:r>
              <a:rPr lang="en-ID" sz="1200" b="1"/>
              <a:t>INTO</a:t>
            </a:r>
            <a:r>
              <a:rPr lang="en-ID" sz="1200"/>
              <a:t> jenis_denda </a:t>
            </a:r>
            <a:r>
              <a:rPr lang="en-ID" sz="1200" b="1"/>
              <a:t>VALUES</a:t>
            </a:r>
            <a:r>
              <a:rPr lang="en-ID" sz="1200"/>
              <a:t> (01, ”terlambat”,5000);</a:t>
            </a:r>
            <a:endParaRPr/>
          </a:p>
          <a:p>
            <a:pPr marL="0" lvl="0" indent="-76200" algn="l" rtl="0">
              <a:spcBef>
                <a:spcPts val="0"/>
              </a:spcBef>
              <a:spcAft>
                <a:spcPts val="0"/>
              </a:spcAft>
              <a:buClr>
                <a:schemeClr val="dk1"/>
              </a:buClr>
              <a:buSzPts val="1200"/>
              <a:buFont typeface="Noto Sans Symbols"/>
              <a:buChar char="❑"/>
            </a:pPr>
            <a:r>
              <a:rPr lang="en-ID" sz="1200" b="1"/>
              <a:t> INSERT INTO </a:t>
            </a:r>
            <a:r>
              <a:rPr lang="en-ID" sz="1200" b="0"/>
              <a:t>jenis_denda </a:t>
            </a:r>
            <a:r>
              <a:rPr lang="en-ID" sz="1200"/>
              <a:t>(id_jenis_denda, nama_jenis_denda, harga_denda) </a:t>
            </a:r>
            <a:r>
              <a:rPr lang="en-ID" sz="1200" b="1"/>
              <a:t>VALUES</a:t>
            </a:r>
            <a:r>
              <a:rPr lang="en-ID" sz="1200"/>
              <a:t> (01, ”terlambat”,5000); </a:t>
            </a:r>
            <a:endParaRPr/>
          </a:p>
          <a:p>
            <a:pPr marL="0" lvl="0" indent="-76200" algn="l" rtl="0">
              <a:spcBef>
                <a:spcPts val="0"/>
              </a:spcBef>
              <a:spcAft>
                <a:spcPts val="0"/>
              </a:spcAft>
              <a:buClr>
                <a:schemeClr val="dk1"/>
              </a:buClr>
              <a:buSzPts val="1200"/>
              <a:buFont typeface="Noto Sans Symbols"/>
              <a:buChar char="❑"/>
            </a:pPr>
            <a:r>
              <a:rPr lang="en-ID" sz="1200" b="1"/>
              <a:t> INSERT INTO </a:t>
            </a:r>
            <a:r>
              <a:rPr lang="en-ID" sz="1200"/>
              <a:t>jenis_denda </a:t>
            </a:r>
            <a:r>
              <a:rPr lang="en-ID" sz="1200" b="1"/>
              <a:t>VALUES</a:t>
            </a:r>
            <a:r>
              <a:rPr lang="en-ID" sz="1200"/>
              <a:t> (01, ”terlambat”,5000), (02, ”hilang”,100000); </a:t>
            </a:r>
            <a:endParaRPr/>
          </a:p>
          <a:p>
            <a:pPr marL="0" lvl="0" indent="0" algn="l" rtl="0">
              <a:spcBef>
                <a:spcPts val="0"/>
              </a:spcBef>
              <a:spcAft>
                <a:spcPts val="0"/>
              </a:spcAft>
              <a:buNone/>
            </a:pPr>
            <a:endParaRPr/>
          </a:p>
        </p:txBody>
      </p:sp>
      <p:sp>
        <p:nvSpPr>
          <p:cNvPr id="471" name="Google Shape;47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9215d3ce6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g29215d3ce6f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Noto Sans Symbols"/>
              <a:buChar char="❑"/>
            </a:pPr>
            <a:r>
              <a:rPr lang="en-ID" sz="1200" b="1"/>
              <a:t> INSERT</a:t>
            </a:r>
            <a:r>
              <a:rPr lang="en-ID" sz="1200"/>
              <a:t> </a:t>
            </a:r>
            <a:r>
              <a:rPr lang="en-ID" sz="1200" b="1"/>
              <a:t>INTO</a:t>
            </a:r>
            <a:r>
              <a:rPr lang="en-ID" sz="1200"/>
              <a:t> jenis_denda </a:t>
            </a:r>
            <a:r>
              <a:rPr lang="en-ID" sz="1200" b="1"/>
              <a:t>VALUES</a:t>
            </a:r>
            <a:r>
              <a:rPr lang="en-ID" sz="1200"/>
              <a:t> (01, ”terlambat”,5000);</a:t>
            </a:r>
            <a:endParaRPr/>
          </a:p>
          <a:p>
            <a:pPr marL="0" lvl="0" indent="-76200" algn="l" rtl="0">
              <a:spcBef>
                <a:spcPts val="0"/>
              </a:spcBef>
              <a:spcAft>
                <a:spcPts val="0"/>
              </a:spcAft>
              <a:buClr>
                <a:schemeClr val="dk1"/>
              </a:buClr>
              <a:buSzPts val="1200"/>
              <a:buFont typeface="Noto Sans Symbols"/>
              <a:buChar char="❑"/>
            </a:pPr>
            <a:r>
              <a:rPr lang="en-ID" sz="1200" b="1"/>
              <a:t> INSERT INTO </a:t>
            </a:r>
            <a:r>
              <a:rPr lang="en-ID" sz="1200" b="0"/>
              <a:t>jenis_denda </a:t>
            </a:r>
            <a:r>
              <a:rPr lang="en-ID" sz="1200"/>
              <a:t>(id_jenis_denda, nama_jenis_denda, harga_denda) </a:t>
            </a:r>
            <a:r>
              <a:rPr lang="en-ID" sz="1200" b="1"/>
              <a:t>VALUES</a:t>
            </a:r>
            <a:r>
              <a:rPr lang="en-ID" sz="1200"/>
              <a:t> (01, ”terlambat”,5000); </a:t>
            </a:r>
            <a:endParaRPr/>
          </a:p>
          <a:p>
            <a:pPr marL="0" lvl="0" indent="-76200" algn="l" rtl="0">
              <a:spcBef>
                <a:spcPts val="0"/>
              </a:spcBef>
              <a:spcAft>
                <a:spcPts val="0"/>
              </a:spcAft>
              <a:buClr>
                <a:schemeClr val="dk1"/>
              </a:buClr>
              <a:buSzPts val="1200"/>
              <a:buFont typeface="Noto Sans Symbols"/>
              <a:buChar char="❑"/>
            </a:pPr>
            <a:r>
              <a:rPr lang="en-ID" sz="1200" b="1"/>
              <a:t> INSERT INTO </a:t>
            </a:r>
            <a:r>
              <a:rPr lang="en-ID" sz="1200"/>
              <a:t>jenis_denda </a:t>
            </a:r>
            <a:r>
              <a:rPr lang="en-ID" sz="1200" b="1"/>
              <a:t>VALUES</a:t>
            </a:r>
            <a:r>
              <a:rPr lang="en-ID" sz="1200"/>
              <a:t> (01, ”terlambat”,5000), (02, ”hilang”,100000); </a:t>
            </a:r>
            <a:endParaRPr/>
          </a:p>
          <a:p>
            <a:pPr marL="0" lvl="0" indent="0" algn="l" rtl="0">
              <a:spcBef>
                <a:spcPts val="0"/>
              </a:spcBef>
              <a:spcAft>
                <a:spcPts val="0"/>
              </a:spcAft>
              <a:buNone/>
            </a:pPr>
            <a:endParaRPr/>
          </a:p>
        </p:txBody>
      </p:sp>
      <p:sp>
        <p:nvSpPr>
          <p:cNvPr id="478" name="Google Shape;478;g29215d3ce6f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7160" indent="0">
              <a:buNone/>
            </a:pPr>
            <a:r>
              <a:rPr lang="en-ID"/>
              <a:t>INSERT INTO buku (kategori, judul_buku, penulis, penerbit) </a:t>
            </a:r>
          </a:p>
          <a:p>
            <a:pPr marL="137160" indent="0">
              <a:buNone/>
            </a:pPr>
            <a:r>
              <a:rPr lang="en-ID"/>
              <a:t>VALUES ('Teknologi', 'Pemrograman Python', 'John Doe', 'Penerbit A’), </a:t>
            </a:r>
          </a:p>
          <a:p>
            <a:pPr marL="137160" indent="0">
              <a:buNone/>
            </a:pPr>
            <a:r>
              <a:rPr lang="en-ID"/>
              <a:t>('Sains', 'Fisika Dasar', 'Jane Smith', 'Penerbit B’), </a:t>
            </a:r>
          </a:p>
          <a:p>
            <a:pPr marL="137160" indent="0">
              <a:buNone/>
            </a:pPr>
            <a:r>
              <a:rPr lang="en-ID"/>
              <a:t>('Sastra', 'Sebuah Seni Untuk Bersikap Bodo Amat', 'Mark Manson', 'Penerbit C’), </a:t>
            </a:r>
          </a:p>
          <a:p>
            <a:pPr marL="137160" indent="0">
              <a:buNone/>
            </a:pPr>
            <a:r>
              <a:rPr lang="en-ID"/>
              <a:t>('Ekonomi', 'Pengantar Akuntansi', 'Dewi Larasati', 'Penerbit D’), </a:t>
            </a:r>
          </a:p>
          <a:p>
            <a:pPr marL="137160" indent="0">
              <a:buNone/>
            </a:pPr>
            <a:r>
              <a:rPr lang="en-ID"/>
              <a:t>('Psikologi', 'Psikologi Perkembangan', 'Fajar Nugraha', 'Penerbit E');</a:t>
            </a:r>
          </a:p>
          <a:p>
            <a:endParaRPr lang="en-ID"/>
          </a:p>
          <a:p>
            <a:endParaRPr lang="en-ID"/>
          </a:p>
          <a:p>
            <a:r>
              <a:rPr lang="en-ID"/>
              <a:t>INSERT INTO anggota (nama, alamat, jenis_kelamin, telepon)</a:t>
            </a:r>
          </a:p>
          <a:p>
            <a:r>
              <a:rPr lang="en-ID"/>
              <a:t>VALUES</a:t>
            </a:r>
          </a:p>
          <a:p>
            <a:r>
              <a:rPr lang="en-ID"/>
              <a:t>('Ahmad Fadli', 'Jl. Merpati No. 3', 'Laki-laki', '081234567891'),</a:t>
            </a:r>
          </a:p>
          <a:p>
            <a:r>
              <a:rPr lang="en-ID"/>
              <a:t>('Budi Santoso', 'Jl. Kenari No. 12', 'Laki-laki', '081234567892'),</a:t>
            </a:r>
          </a:p>
          <a:p>
            <a:r>
              <a:rPr lang="en-ID"/>
              <a:t>('Citra Larasati', 'Jl. Anggrek No. 15', 'Perempuan', '081234567893'),</a:t>
            </a:r>
          </a:p>
          <a:p>
            <a:r>
              <a:rPr lang="en-ID"/>
              <a:t>('Dina Rahmawati', 'Jl. Melati No. 7', 'Perempuan', '081234567894'),</a:t>
            </a:r>
          </a:p>
          <a:p>
            <a:r>
              <a:rPr lang="en-ID"/>
              <a:t>('Eko Prasetyo', 'Jl. Mawar No. 9', 'Laki-laki', '081234567895’);</a:t>
            </a:r>
          </a:p>
          <a:p>
            <a:endParaRPr lang="en-ID"/>
          </a:p>
          <a:p>
            <a:endParaRPr lang="en-ID"/>
          </a:p>
          <a:p>
            <a:r>
              <a:rPr lang="en-ID"/>
              <a:t>INSERT INTO petugas (nama, alamat, jenis_kelamin, telepon)</a:t>
            </a:r>
          </a:p>
          <a:p>
            <a:r>
              <a:rPr lang="en-ID"/>
              <a:t>VALUES</a:t>
            </a:r>
          </a:p>
          <a:p>
            <a:r>
              <a:rPr lang="en-ID"/>
              <a:t>('Siti Aisyah', 'Jl. Cemara No. 4', 'Perempuan', '081234567896'),</a:t>
            </a:r>
          </a:p>
          <a:p>
            <a:r>
              <a:rPr lang="en-ID"/>
              <a:t>('Andi Saputra', 'Jl. Anggur No. 2', 'Laki-laki', '081234567897’);</a:t>
            </a:r>
          </a:p>
          <a:p>
            <a:endParaRPr lang="en-ID"/>
          </a:p>
          <a:p>
            <a:r>
              <a:rPr lang="en-ID"/>
              <a:t>INSERT INTO jenis_denda (nama_jenis_denda, harga_denda)</a:t>
            </a:r>
          </a:p>
          <a:p>
            <a:r>
              <a:rPr lang="en-ID"/>
              <a:t>VALUES</a:t>
            </a:r>
          </a:p>
          <a:p>
            <a:r>
              <a:rPr lang="en-ID"/>
              <a:t>('Kehilangan Buku', 50000),</a:t>
            </a:r>
          </a:p>
          <a:p>
            <a:r>
              <a:rPr lang="en-ID"/>
              <a:t>('Merusak Buku', 30000),</a:t>
            </a:r>
          </a:p>
          <a:p>
            <a:r>
              <a:rPr lang="en-ID"/>
              <a:t>('Menghilangkan Sampul', 10000);</a:t>
            </a:r>
          </a:p>
          <a:p>
            <a:endParaRPr lang="en-ID"/>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46</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48875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47</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889813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48</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2985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4" name="Google Shape;48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ID" sz="1200" b="1"/>
              <a:t>UPDATE</a:t>
            </a:r>
            <a:r>
              <a:rPr lang="en-ID" sz="1200"/>
              <a:t> jenis_denda </a:t>
            </a:r>
            <a:r>
              <a:rPr lang="en-ID" sz="1200" b="1"/>
              <a:t>SET</a:t>
            </a:r>
            <a:r>
              <a:rPr lang="en-ID" sz="1200"/>
              <a:t> harga_denda = 50000 </a:t>
            </a:r>
            <a:r>
              <a:rPr lang="en-ID" sz="1200" b="1"/>
              <a:t>WHERE</a:t>
            </a:r>
            <a:r>
              <a:rPr lang="en-ID" sz="1200"/>
              <a:t> id_jenis_denda=2;</a:t>
            </a:r>
            <a:endParaRPr sz="1200" b="1"/>
          </a:p>
          <a:p>
            <a:pPr marL="0" lvl="0" indent="0" algn="l" rtl="0">
              <a:spcBef>
                <a:spcPts val="0"/>
              </a:spcBef>
              <a:spcAft>
                <a:spcPts val="0"/>
              </a:spcAft>
              <a:buNone/>
            </a:pPr>
            <a:endParaRPr/>
          </a:p>
        </p:txBody>
      </p:sp>
      <p:sp>
        <p:nvSpPr>
          <p:cNvPr id="485" name="Google Shape;48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29215d3ce6f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g29215d3ce6f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29215d3ce6f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Noto Sans Symbols"/>
              <a:buChar char="❑"/>
            </a:pPr>
            <a:r>
              <a:rPr lang="en-ID" sz="1200" b="1"/>
              <a:t> DELETE FROM </a:t>
            </a:r>
            <a:r>
              <a:rPr lang="en-ID" sz="1200"/>
              <a:t>jenis_denda; </a:t>
            </a:r>
            <a:endParaRPr/>
          </a:p>
          <a:p>
            <a:pPr marL="0" lvl="0" indent="-76200" algn="l" rtl="0">
              <a:spcBef>
                <a:spcPts val="0"/>
              </a:spcBef>
              <a:spcAft>
                <a:spcPts val="0"/>
              </a:spcAft>
              <a:buClr>
                <a:schemeClr val="dk1"/>
              </a:buClr>
              <a:buSzPts val="1200"/>
              <a:buFont typeface="Noto Sans Symbols"/>
              <a:buChar char="❑"/>
            </a:pPr>
            <a:r>
              <a:rPr lang="en-ID" sz="1200" b="1"/>
              <a:t> DELETE FROM </a:t>
            </a:r>
            <a:r>
              <a:rPr lang="en-ID" sz="1200" b="0"/>
              <a:t>jenis_denda</a:t>
            </a:r>
            <a:r>
              <a:rPr lang="en-ID" sz="1200"/>
              <a:t> </a:t>
            </a:r>
            <a:r>
              <a:rPr lang="en-ID" sz="1200" b="1"/>
              <a:t>WHERE </a:t>
            </a:r>
            <a:r>
              <a:rPr lang="en-ID" sz="1200"/>
              <a:t>id_jenis_denda=2;</a:t>
            </a:r>
            <a:endParaRPr/>
          </a:p>
        </p:txBody>
      </p:sp>
      <p:sp>
        <p:nvSpPr>
          <p:cNvPr id="499" name="Google Shape;499;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9215d3ce6f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g29215d3ce6f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g29215d3ce6f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53</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94215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94b5420dc4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g294b5420dc4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976b235820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5" name="Google Shape;635;g2976b235820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sz="1200"/>
          </a:p>
        </p:txBody>
      </p:sp>
      <p:sp>
        <p:nvSpPr>
          <p:cNvPr id="636" name="Google Shape;636;g2976b235820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56</a:t>
            </a:fld>
            <a:endParaRPr/>
          </a:p>
        </p:txBody>
      </p:sp>
    </p:spTree>
    <p:extLst>
      <p:ext uri="{BB962C8B-B14F-4D97-AF65-F5344CB8AC3E}">
        <p14:creationId xmlns:p14="http://schemas.microsoft.com/office/powerpoint/2010/main" val="9210652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 from orders limit 10;</a:t>
            </a:r>
          </a:p>
          <a:p>
            <a:pPr marL="0" lvl="0" indent="0" algn="l" rtl="0">
              <a:spcBef>
                <a:spcPts val="0"/>
              </a:spcBef>
              <a:spcAft>
                <a:spcPts val="0"/>
              </a:spcAft>
              <a:buClr>
                <a:schemeClr val="dk1"/>
              </a:buClr>
              <a:buSzPts val="1200"/>
              <a:buFont typeface="Noto Sans Symbols"/>
              <a:buNone/>
            </a:pPr>
            <a:r>
              <a:rPr lang="en-US" sz="1200"/>
              <a:t>select account_id, total, total_amt_usd from orders limit 10;</a:t>
            </a:r>
          </a:p>
          <a:p>
            <a:pPr marL="0" lvl="0" indent="0" algn="l" rtl="0">
              <a:spcBef>
                <a:spcPts val="0"/>
              </a:spcBef>
              <a:spcAft>
                <a:spcPts val="0"/>
              </a:spcAft>
              <a:buClr>
                <a:schemeClr val="dk1"/>
              </a:buClr>
              <a:buSzPts val="1200"/>
              <a:buFont typeface="Noto Sans Symbols"/>
              <a:buNone/>
            </a:pPr>
            <a:r>
              <a:rPr lang="en-US" sz="1200"/>
              <a:t>select account_id, total, total_amt_usd from orders where account_id=1001; </a:t>
            </a:r>
            <a:endParaRPr sz="1200"/>
          </a:p>
        </p:txBody>
      </p:sp>
      <p:sp>
        <p:nvSpPr>
          <p:cNvPr id="520" name="Google Shape;520;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57</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account_id, total, total_amt_usd from orders where total&lt;100;</a:t>
            </a:r>
            <a:endParaRPr sz="1200"/>
          </a:p>
        </p:txBody>
      </p:sp>
      <p:sp>
        <p:nvSpPr>
          <p:cNvPr id="527" name="Google Shape;527;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58</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94b5420dc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g294b5420dc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account_id, total, total_amt_usd from orders where total&lt;100 and total_amt_usd&gt;=500;</a:t>
            </a:r>
            <a:endParaRPr sz="1200"/>
          </a:p>
        </p:txBody>
      </p:sp>
      <p:sp>
        <p:nvSpPr>
          <p:cNvPr id="535" name="Google Shape;535;g294b5420dc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59</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294b5420dc4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294b5420dc4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rtl="0"/>
            <a:r>
              <a:rPr lang="en-ID">
                <a:solidFill>
                  <a:srgbClr val="1B1C1D"/>
                </a:solidFill>
                <a:effectLst/>
                <a:latin typeface="Google Sans Text"/>
              </a:rPr>
              <a:t>Tentu, berikut adalah contoh-contoh query SQL untuk klausa LIKE, BETWEEN, dan IN berdasarkan skema database "parch and posey" yang ada di materi Anda.</a:t>
            </a:r>
          </a:p>
          <a:p>
            <a:pPr rtl="0"/>
            <a:r>
              <a:rPr lang="en-ID" b="1">
                <a:solidFill>
                  <a:srgbClr val="1B1C1D"/>
                </a:solidFill>
                <a:effectLst/>
                <a:latin typeface="Google Sans"/>
              </a:rPr>
              <a:t>1. Klausa LIKE</a:t>
            </a:r>
          </a:p>
          <a:p>
            <a:pPr rtl="0"/>
            <a:r>
              <a:rPr lang="en-ID">
                <a:solidFill>
                  <a:srgbClr val="1B1C1D"/>
                </a:solidFill>
                <a:effectLst/>
                <a:latin typeface="Google Sans Text"/>
              </a:rPr>
              <a:t>Klausa </a:t>
            </a:r>
            <a:r>
              <a:rPr lang="en-ID">
                <a:solidFill>
                  <a:srgbClr val="444746"/>
                </a:solidFill>
                <a:effectLst/>
                <a:latin typeface="Google Sans Text"/>
              </a:rPr>
              <a:t>LIKE</a:t>
            </a:r>
            <a:r>
              <a:rPr lang="en-ID">
                <a:solidFill>
                  <a:srgbClr val="1B1C1D"/>
                </a:solidFill>
                <a:effectLst/>
                <a:latin typeface="Google Sans Text"/>
              </a:rPr>
              <a:t> digunakan dalam </a:t>
            </a:r>
            <a:r>
              <a:rPr lang="en-ID">
                <a:solidFill>
                  <a:srgbClr val="444746"/>
                </a:solidFill>
                <a:effectLst/>
                <a:latin typeface="Google Sans Text"/>
              </a:rPr>
              <a:t>WHERE</a:t>
            </a:r>
            <a:r>
              <a:rPr lang="en-ID">
                <a:solidFill>
                  <a:srgbClr val="1B1C1D"/>
                </a:solidFill>
                <a:effectLst/>
                <a:latin typeface="Google Sans Text"/>
              </a:rPr>
              <a:t> untuk mencari pola tertentu dalam sebuah kolom</a:t>
            </a:r>
            <a:r>
              <a:rPr lang="en-ID" baseline="30000">
                <a:solidFill>
                  <a:srgbClr val="444746"/>
                </a:solidFill>
                <a:effectLst/>
                <a:latin typeface="Google Sans Text"/>
              </a:rPr>
              <a:t>1</a:t>
            </a:r>
            <a:r>
              <a:rPr lang="en-ID">
                <a:solidFill>
                  <a:srgbClr val="1B1C1D"/>
                </a:solidFill>
                <a:effectLst/>
                <a:latin typeface="Google Sans Text"/>
              </a:rPr>
              <a:t>. Ini sangat berguna untuk pencarian data teks (string).</a:t>
            </a:r>
          </a:p>
          <a:p>
            <a:pPr rtl="0">
              <a:buFont typeface="Arial" panose="020B0604020202020204" pitchFamily="34" charset="0"/>
              <a:buChar char="•"/>
            </a:pPr>
            <a:r>
              <a:rPr lang="en-ID" b="1">
                <a:solidFill>
                  <a:srgbClr val="1B1C1D"/>
                </a:solidFill>
                <a:effectLst/>
                <a:latin typeface="Google Sans Text"/>
              </a:rPr>
              <a:t>% (Persen):</a:t>
            </a:r>
            <a:r>
              <a:rPr lang="en-ID">
                <a:solidFill>
                  <a:srgbClr val="1B1C1D"/>
                </a:solidFill>
                <a:effectLst/>
                <a:latin typeface="Google Sans Text"/>
              </a:rPr>
              <a:t> Mewakili nol, satu, atau banyak karakter.</a:t>
            </a:r>
          </a:p>
          <a:p>
            <a:pPr rtl="0">
              <a:buFont typeface="Arial" panose="020B0604020202020204" pitchFamily="34" charset="0"/>
              <a:buChar char="•"/>
            </a:pPr>
            <a:r>
              <a:rPr lang="en-ID" b="1">
                <a:solidFill>
                  <a:srgbClr val="1B1C1D"/>
                </a:solidFill>
                <a:effectLst/>
                <a:latin typeface="Google Sans Text"/>
              </a:rPr>
              <a:t>_ (Garis bawah):</a:t>
            </a:r>
            <a:r>
              <a:rPr lang="en-ID">
                <a:solidFill>
                  <a:srgbClr val="1B1C1D"/>
                </a:solidFill>
                <a:effectLst/>
                <a:latin typeface="Google Sans Text"/>
              </a:rPr>
              <a:t> Mewakili tepat satu karakter.</a:t>
            </a:r>
          </a:p>
          <a:p>
            <a:pPr rtl="0"/>
            <a:r>
              <a:rPr lang="en-ID" b="1">
                <a:solidFill>
                  <a:srgbClr val="1B1C1D"/>
                </a:solidFill>
                <a:effectLst/>
                <a:latin typeface="Google Sans"/>
              </a:rPr>
              <a:t>Contoh 1: Mencari nama yang diawali dengan huruf 'W'</a:t>
            </a:r>
          </a:p>
          <a:p>
            <a:pPr rtl="0"/>
            <a:r>
              <a:rPr lang="en-ID">
                <a:solidFill>
                  <a:srgbClr val="1B1C1D"/>
                </a:solidFill>
                <a:effectLst/>
                <a:latin typeface="Google Sans Text"/>
              </a:rPr>
              <a:t>Query ini akan mencari semua akun di tabel accounts yang kolom name-nya dimulai dengan huruf 'W'.</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name, website </a:t>
            </a:r>
            <a:r>
              <a:rPr lang="en-ID" b="0" i="0">
                <a:solidFill>
                  <a:srgbClr val="8430CE"/>
                </a:solidFill>
                <a:effectLst/>
                <a:latin typeface="Google Sans Text"/>
              </a:rPr>
              <a:t>FROM</a:t>
            </a:r>
            <a:r>
              <a:rPr lang="en-ID">
                <a:solidFill>
                  <a:srgbClr val="1B1C1D"/>
                </a:solidFill>
                <a:effectLst/>
                <a:latin typeface="Google Sans Text"/>
              </a:rPr>
              <a:t> accounts </a:t>
            </a:r>
            <a:r>
              <a:rPr lang="en-ID" b="0" i="0">
                <a:solidFill>
                  <a:srgbClr val="8430CE"/>
                </a:solidFill>
                <a:effectLst/>
                <a:latin typeface="Google Sans Text"/>
              </a:rPr>
              <a:t>WHERE</a:t>
            </a:r>
            <a:r>
              <a:rPr lang="en-ID">
                <a:solidFill>
                  <a:srgbClr val="1B1C1D"/>
                </a:solidFill>
                <a:effectLst/>
                <a:latin typeface="Google Sans Text"/>
              </a:rPr>
              <a:t> name </a:t>
            </a:r>
            <a:r>
              <a:rPr lang="en-ID" b="0" i="0">
                <a:solidFill>
                  <a:srgbClr val="8430CE"/>
                </a:solidFill>
                <a:effectLst/>
                <a:latin typeface="Google Sans Text"/>
              </a:rPr>
              <a:t>LIKE</a:t>
            </a:r>
            <a:r>
              <a:rPr lang="en-ID">
                <a:solidFill>
                  <a:srgbClr val="1B1C1D"/>
                </a:solidFill>
                <a:effectLst/>
                <a:latin typeface="Google Sans Text"/>
              </a:rPr>
              <a:t> </a:t>
            </a:r>
            <a:r>
              <a:rPr lang="en-ID" b="0" i="0">
                <a:solidFill>
                  <a:srgbClr val="188038"/>
                </a:solidFill>
                <a:effectLst/>
                <a:latin typeface="Google Sans Text"/>
              </a:rPr>
              <a:t>'W%'</a:t>
            </a:r>
            <a:r>
              <a:rPr lang="en-ID">
                <a:solidFill>
                  <a:srgbClr val="1B1C1D"/>
                </a:solidFill>
                <a:effectLst/>
                <a:latin typeface="Google Sans Text"/>
              </a:rPr>
              <a:t>; </a:t>
            </a:r>
          </a:p>
          <a:p>
            <a:pPr rtl="0"/>
            <a:r>
              <a:rPr lang="en-ID" i="1">
                <a:solidFill>
                  <a:srgbClr val="1B1C1D"/>
                </a:solidFill>
                <a:effectLst/>
                <a:latin typeface="Google Sans Text"/>
              </a:rPr>
              <a:t>Hasil yang mungkin: 'Walmart', 'Walt Disney', dll.</a:t>
            </a:r>
            <a:endParaRPr lang="en-ID">
              <a:solidFill>
                <a:srgbClr val="1B1C1D"/>
              </a:solidFill>
              <a:effectLst/>
              <a:latin typeface="Google Sans Text"/>
            </a:endParaRPr>
          </a:p>
          <a:p>
            <a:pPr rtl="0"/>
            <a:r>
              <a:rPr lang="en-ID" b="1">
                <a:solidFill>
                  <a:srgbClr val="1B1C1D"/>
                </a:solidFill>
                <a:effectLst/>
                <a:latin typeface="Google Sans"/>
              </a:rPr>
              <a:t>Contoh 2: Mencari website yang berakhiran .com</a:t>
            </a:r>
          </a:p>
          <a:p>
            <a:pPr rtl="0"/>
            <a:r>
              <a:rPr lang="en-ID">
                <a:solidFill>
                  <a:srgbClr val="1B1C1D"/>
                </a:solidFill>
                <a:effectLst/>
                <a:latin typeface="Google Sans Text"/>
              </a:rPr>
              <a:t>Query ini akan mencari semua akun di tabel accounts yang kolom website-nya diakhiri dengan string '.com'.</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name, website </a:t>
            </a:r>
            <a:r>
              <a:rPr lang="en-ID" b="0" i="0">
                <a:solidFill>
                  <a:srgbClr val="8430CE"/>
                </a:solidFill>
                <a:effectLst/>
                <a:latin typeface="Google Sans Text"/>
              </a:rPr>
              <a:t>FROM</a:t>
            </a:r>
            <a:r>
              <a:rPr lang="en-ID">
                <a:solidFill>
                  <a:srgbClr val="1B1C1D"/>
                </a:solidFill>
                <a:effectLst/>
                <a:latin typeface="Google Sans Text"/>
              </a:rPr>
              <a:t> accounts </a:t>
            </a:r>
            <a:r>
              <a:rPr lang="en-ID" b="0" i="0">
                <a:solidFill>
                  <a:srgbClr val="8430CE"/>
                </a:solidFill>
                <a:effectLst/>
                <a:latin typeface="Google Sans Text"/>
              </a:rPr>
              <a:t>WHERE</a:t>
            </a:r>
            <a:r>
              <a:rPr lang="en-ID">
                <a:solidFill>
                  <a:srgbClr val="1B1C1D"/>
                </a:solidFill>
                <a:effectLst/>
                <a:latin typeface="Google Sans Text"/>
              </a:rPr>
              <a:t> website </a:t>
            </a:r>
            <a:r>
              <a:rPr lang="en-ID" b="0" i="0">
                <a:solidFill>
                  <a:srgbClr val="8430CE"/>
                </a:solidFill>
                <a:effectLst/>
                <a:latin typeface="Google Sans Text"/>
              </a:rPr>
              <a:t>LIKE</a:t>
            </a:r>
            <a:r>
              <a:rPr lang="en-ID">
                <a:solidFill>
                  <a:srgbClr val="1B1C1D"/>
                </a:solidFill>
                <a:effectLst/>
                <a:latin typeface="Google Sans Text"/>
              </a:rPr>
              <a:t> </a:t>
            </a:r>
            <a:r>
              <a:rPr lang="en-ID" b="0" i="0">
                <a:solidFill>
                  <a:srgbClr val="188038"/>
                </a:solidFill>
                <a:effectLst/>
                <a:latin typeface="Google Sans Text"/>
              </a:rPr>
              <a:t>'%.com'</a:t>
            </a:r>
            <a:r>
              <a:rPr lang="en-ID">
                <a:solidFill>
                  <a:srgbClr val="1B1C1D"/>
                </a:solidFill>
                <a:effectLst/>
                <a:latin typeface="Google Sans Text"/>
              </a:rPr>
              <a:t>; </a:t>
            </a:r>
          </a:p>
          <a:p>
            <a:pPr rtl="0"/>
            <a:r>
              <a:rPr lang="en-ID" b="1">
                <a:solidFill>
                  <a:srgbClr val="1B1C1D"/>
                </a:solidFill>
                <a:effectLst/>
                <a:latin typeface="Google Sans"/>
              </a:rPr>
              <a:t>Contoh 3: Mencari nama yang mengandung kata 'Group'</a:t>
            </a:r>
          </a:p>
          <a:p>
            <a:pPr rtl="0"/>
            <a:r>
              <a:rPr lang="en-ID">
                <a:solidFill>
                  <a:srgbClr val="1B1C1D"/>
                </a:solidFill>
                <a:effectLst/>
                <a:latin typeface="Google Sans Text"/>
              </a:rPr>
              <a:t>Query ini akan mencari semua akun di tabel accounts yang kolom name-nya mengandung kata 'Group' di mana saja (awal, tengah, atau akhir).</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name </a:t>
            </a:r>
            <a:r>
              <a:rPr lang="en-ID" b="0" i="0">
                <a:solidFill>
                  <a:srgbClr val="8430CE"/>
                </a:solidFill>
                <a:effectLst/>
                <a:latin typeface="Google Sans Text"/>
              </a:rPr>
              <a:t>FROM</a:t>
            </a:r>
            <a:r>
              <a:rPr lang="en-ID">
                <a:solidFill>
                  <a:srgbClr val="1B1C1D"/>
                </a:solidFill>
                <a:effectLst/>
                <a:latin typeface="Google Sans Text"/>
              </a:rPr>
              <a:t> accounts </a:t>
            </a:r>
            <a:r>
              <a:rPr lang="en-ID" b="0" i="0">
                <a:solidFill>
                  <a:srgbClr val="8430CE"/>
                </a:solidFill>
                <a:effectLst/>
                <a:latin typeface="Google Sans Text"/>
              </a:rPr>
              <a:t>WHERE</a:t>
            </a:r>
            <a:r>
              <a:rPr lang="en-ID">
                <a:solidFill>
                  <a:srgbClr val="1B1C1D"/>
                </a:solidFill>
                <a:effectLst/>
                <a:latin typeface="Google Sans Text"/>
              </a:rPr>
              <a:t> name </a:t>
            </a:r>
            <a:r>
              <a:rPr lang="en-ID" b="0" i="0">
                <a:solidFill>
                  <a:srgbClr val="8430CE"/>
                </a:solidFill>
                <a:effectLst/>
                <a:latin typeface="Google Sans Text"/>
              </a:rPr>
              <a:t>LIKE</a:t>
            </a:r>
            <a:r>
              <a:rPr lang="en-ID">
                <a:solidFill>
                  <a:srgbClr val="1B1C1D"/>
                </a:solidFill>
                <a:effectLst/>
                <a:latin typeface="Google Sans Text"/>
              </a:rPr>
              <a:t> </a:t>
            </a:r>
            <a:r>
              <a:rPr lang="en-ID" b="0" i="0">
                <a:solidFill>
                  <a:srgbClr val="188038"/>
                </a:solidFill>
                <a:effectLst/>
                <a:latin typeface="Google Sans Text"/>
              </a:rPr>
              <a:t>'%Group%'</a:t>
            </a:r>
            <a:r>
              <a:rPr lang="en-ID">
                <a:solidFill>
                  <a:srgbClr val="1B1C1D"/>
                </a:solidFill>
                <a:effectLst/>
                <a:latin typeface="Google Sans Text"/>
              </a:rPr>
              <a:t>; </a:t>
            </a:r>
          </a:p>
          <a:p>
            <a:pPr rtl="0"/>
            <a:r>
              <a:rPr lang="en-ID" i="1">
                <a:solidFill>
                  <a:srgbClr val="1B1C1D"/>
                </a:solidFill>
                <a:effectLst/>
                <a:latin typeface="Google Sans Text"/>
              </a:rPr>
              <a:t>Hasil yang mungkin: 'American Airlines Group', 'UnitedHealth Group', dll.</a:t>
            </a:r>
            <a:endParaRPr lang="en-ID">
              <a:solidFill>
                <a:srgbClr val="1B1C1D"/>
              </a:solidFill>
              <a:effectLst/>
              <a:latin typeface="Google Sans Text"/>
            </a:endParaRPr>
          </a:p>
          <a:p>
            <a:pPr rtl="0"/>
            <a:r>
              <a:rPr lang="en-ID" b="1">
                <a:solidFill>
                  <a:srgbClr val="1B1C1D"/>
                </a:solidFill>
                <a:effectLst/>
                <a:latin typeface="Google Sans"/>
              </a:rPr>
              <a:t>2. Klausa BETWEEN</a:t>
            </a:r>
          </a:p>
          <a:p>
            <a:pPr rtl="0"/>
            <a:r>
              <a:rPr lang="en-ID">
                <a:solidFill>
                  <a:srgbClr val="1B1C1D"/>
                </a:solidFill>
                <a:effectLst/>
                <a:latin typeface="Google Sans Text"/>
              </a:rPr>
              <a:t>Klausa </a:t>
            </a:r>
            <a:r>
              <a:rPr lang="en-ID">
                <a:solidFill>
                  <a:srgbClr val="444746"/>
                </a:solidFill>
                <a:effectLst/>
                <a:latin typeface="Google Sans Text"/>
              </a:rPr>
              <a:t>BETWEEN</a:t>
            </a:r>
            <a:r>
              <a:rPr lang="en-ID">
                <a:solidFill>
                  <a:srgbClr val="1B1C1D"/>
                </a:solidFill>
                <a:effectLst/>
                <a:latin typeface="Google Sans Text"/>
              </a:rPr>
              <a:t> digunakan untuk memilih nilai dalam rentang tertentu</a:t>
            </a:r>
            <a:r>
              <a:rPr lang="en-ID" baseline="30000">
                <a:solidFill>
                  <a:srgbClr val="444746"/>
                </a:solidFill>
                <a:effectLst/>
                <a:latin typeface="Google Sans Text"/>
              </a:rPr>
              <a:t>2</a:t>
            </a:r>
            <a:r>
              <a:rPr lang="en-ID">
                <a:solidFill>
                  <a:srgbClr val="1B1C1D"/>
                </a:solidFill>
                <a:effectLst/>
                <a:latin typeface="Google Sans Text"/>
              </a:rPr>
              <a:t>. Nilai bisa berupa angka, teks, atau tanggal. Klausa ini inklusif, artinya nilai awal dan akhir termasuk dalam hasil.</a:t>
            </a:r>
          </a:p>
          <a:p>
            <a:pPr rtl="0"/>
            <a:r>
              <a:rPr lang="en-ID" b="1">
                <a:solidFill>
                  <a:srgbClr val="1B1C1D"/>
                </a:solidFill>
                <a:effectLst/>
                <a:latin typeface="Google Sans"/>
              </a:rPr>
              <a:t>Contoh 1: Mencari pesanan dengan jumlah numerik</a:t>
            </a:r>
          </a:p>
          <a:p>
            <a:pPr rtl="0"/>
            <a:r>
              <a:rPr lang="en-ID">
                <a:solidFill>
                  <a:srgbClr val="1B1C1D"/>
                </a:solidFill>
                <a:effectLst/>
                <a:latin typeface="Google Sans Text"/>
              </a:rPr>
              <a:t>Query ini akan menampilkan semua pesanan dari tabel orders yang total penjualannya (total_amt_usd) berada di antara $1000 dan $5000.</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id, account_id, total_amt_usd </a:t>
            </a:r>
            <a:r>
              <a:rPr lang="en-ID" b="0" i="0">
                <a:solidFill>
                  <a:srgbClr val="8430CE"/>
                </a:solidFill>
                <a:effectLst/>
                <a:latin typeface="Google Sans Text"/>
              </a:rPr>
              <a:t>FROM</a:t>
            </a:r>
            <a:r>
              <a:rPr lang="en-ID">
                <a:solidFill>
                  <a:srgbClr val="1B1C1D"/>
                </a:solidFill>
                <a:effectLst/>
                <a:latin typeface="Google Sans Text"/>
              </a:rPr>
              <a:t> orders </a:t>
            </a:r>
            <a:r>
              <a:rPr lang="en-ID" b="0" i="0">
                <a:solidFill>
                  <a:srgbClr val="8430CE"/>
                </a:solidFill>
                <a:effectLst/>
                <a:latin typeface="Google Sans Text"/>
              </a:rPr>
              <a:t>WHERE</a:t>
            </a:r>
            <a:r>
              <a:rPr lang="en-ID">
                <a:solidFill>
                  <a:srgbClr val="1B1C1D"/>
                </a:solidFill>
                <a:effectLst/>
                <a:latin typeface="Google Sans Text"/>
              </a:rPr>
              <a:t> total_amt_usd </a:t>
            </a:r>
            <a:r>
              <a:rPr lang="en-ID" b="0" i="0">
                <a:solidFill>
                  <a:srgbClr val="8430CE"/>
                </a:solidFill>
                <a:effectLst/>
                <a:latin typeface="Google Sans Text"/>
              </a:rPr>
              <a:t>BETWEEN</a:t>
            </a:r>
            <a:r>
              <a:rPr lang="en-ID">
                <a:solidFill>
                  <a:srgbClr val="1B1C1D"/>
                </a:solidFill>
                <a:effectLst/>
                <a:latin typeface="Google Sans Text"/>
              </a:rPr>
              <a:t> </a:t>
            </a:r>
            <a:r>
              <a:rPr lang="en-ID" b="0" i="0">
                <a:solidFill>
                  <a:srgbClr val="B55908"/>
                </a:solidFill>
                <a:effectLst/>
                <a:latin typeface="Google Sans Text"/>
              </a:rPr>
              <a:t>1000</a:t>
            </a:r>
            <a:r>
              <a:rPr lang="en-ID">
                <a:solidFill>
                  <a:srgbClr val="1B1C1D"/>
                </a:solidFill>
                <a:effectLst/>
                <a:latin typeface="Google Sans Text"/>
              </a:rPr>
              <a:t> </a:t>
            </a:r>
            <a:r>
              <a:rPr lang="en-ID" b="0" i="0">
                <a:solidFill>
                  <a:srgbClr val="8430CE"/>
                </a:solidFill>
                <a:effectLst/>
                <a:latin typeface="Google Sans Text"/>
              </a:rPr>
              <a:t>AND</a:t>
            </a:r>
            <a:r>
              <a:rPr lang="en-ID">
                <a:solidFill>
                  <a:srgbClr val="1B1C1D"/>
                </a:solidFill>
                <a:effectLst/>
                <a:latin typeface="Google Sans Text"/>
              </a:rPr>
              <a:t> </a:t>
            </a:r>
            <a:r>
              <a:rPr lang="en-ID" b="0" i="0">
                <a:solidFill>
                  <a:srgbClr val="B55908"/>
                </a:solidFill>
                <a:effectLst/>
                <a:latin typeface="Google Sans Text"/>
              </a:rPr>
              <a:t>5000</a:t>
            </a:r>
            <a:r>
              <a:rPr lang="en-ID">
                <a:solidFill>
                  <a:srgbClr val="1B1C1D"/>
                </a:solidFill>
                <a:effectLst/>
                <a:latin typeface="Google Sans Text"/>
              </a:rPr>
              <a:t>; </a:t>
            </a:r>
          </a:p>
          <a:p>
            <a:pPr rtl="0"/>
            <a:r>
              <a:rPr lang="en-ID" b="1">
                <a:solidFill>
                  <a:srgbClr val="1B1C1D"/>
                </a:solidFill>
                <a:effectLst/>
                <a:latin typeface="Google Sans"/>
              </a:rPr>
              <a:t>Contoh 2: Mencari data dalam rentang tanggal</a:t>
            </a:r>
          </a:p>
          <a:p>
            <a:pPr rtl="0"/>
            <a:r>
              <a:rPr lang="en-ID">
                <a:solidFill>
                  <a:srgbClr val="1B1C1D"/>
                </a:solidFill>
                <a:effectLst/>
                <a:latin typeface="Google Sans Text"/>
              </a:rPr>
              <a:t>Query ini akan menampilkan semua web_events yang terjadi selama Kuartal Pertama (Januari hingga Maret) tahun 2016.</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id, channel, occurred_at </a:t>
            </a:r>
            <a:r>
              <a:rPr lang="en-ID" b="0" i="0">
                <a:solidFill>
                  <a:srgbClr val="8430CE"/>
                </a:solidFill>
                <a:effectLst/>
                <a:latin typeface="Google Sans Text"/>
              </a:rPr>
              <a:t>FROM</a:t>
            </a:r>
            <a:r>
              <a:rPr lang="en-ID">
                <a:solidFill>
                  <a:srgbClr val="1B1C1D"/>
                </a:solidFill>
                <a:effectLst/>
                <a:latin typeface="Google Sans Text"/>
              </a:rPr>
              <a:t> web_events </a:t>
            </a:r>
            <a:r>
              <a:rPr lang="en-ID" b="0" i="0">
                <a:solidFill>
                  <a:srgbClr val="8430CE"/>
                </a:solidFill>
                <a:effectLst/>
                <a:latin typeface="Google Sans Text"/>
              </a:rPr>
              <a:t>WHERE</a:t>
            </a:r>
            <a:r>
              <a:rPr lang="en-ID">
                <a:solidFill>
                  <a:srgbClr val="1B1C1D"/>
                </a:solidFill>
                <a:effectLst/>
                <a:latin typeface="Google Sans Text"/>
              </a:rPr>
              <a:t> occurred_at </a:t>
            </a:r>
            <a:r>
              <a:rPr lang="en-ID" b="0" i="0">
                <a:solidFill>
                  <a:srgbClr val="8430CE"/>
                </a:solidFill>
                <a:effectLst/>
                <a:latin typeface="Google Sans Text"/>
              </a:rPr>
              <a:t>BETWEEN</a:t>
            </a:r>
            <a:r>
              <a:rPr lang="en-ID">
                <a:solidFill>
                  <a:srgbClr val="1B1C1D"/>
                </a:solidFill>
                <a:effectLst/>
                <a:latin typeface="Google Sans Text"/>
              </a:rPr>
              <a:t> </a:t>
            </a:r>
            <a:r>
              <a:rPr lang="en-ID" b="0" i="0">
                <a:solidFill>
                  <a:srgbClr val="188038"/>
                </a:solidFill>
                <a:effectLst/>
                <a:latin typeface="Google Sans Text"/>
              </a:rPr>
              <a:t>'2016-01-01'</a:t>
            </a:r>
            <a:r>
              <a:rPr lang="en-ID">
                <a:solidFill>
                  <a:srgbClr val="1B1C1D"/>
                </a:solidFill>
                <a:effectLst/>
                <a:latin typeface="Google Sans Text"/>
              </a:rPr>
              <a:t> </a:t>
            </a:r>
            <a:r>
              <a:rPr lang="en-ID" b="0" i="0">
                <a:solidFill>
                  <a:srgbClr val="8430CE"/>
                </a:solidFill>
                <a:effectLst/>
                <a:latin typeface="Google Sans Text"/>
              </a:rPr>
              <a:t>AND</a:t>
            </a:r>
            <a:r>
              <a:rPr lang="en-ID">
                <a:solidFill>
                  <a:srgbClr val="1B1C1D"/>
                </a:solidFill>
                <a:effectLst/>
                <a:latin typeface="Google Sans Text"/>
              </a:rPr>
              <a:t> </a:t>
            </a:r>
            <a:r>
              <a:rPr lang="en-ID" b="0" i="0">
                <a:solidFill>
                  <a:srgbClr val="188038"/>
                </a:solidFill>
                <a:effectLst/>
                <a:latin typeface="Google Sans Text"/>
              </a:rPr>
              <a:t>'2016-03-31 23:59:59'</a:t>
            </a:r>
            <a:r>
              <a:rPr lang="en-ID">
                <a:solidFill>
                  <a:srgbClr val="1B1C1D"/>
                </a:solidFill>
                <a:effectLst/>
                <a:latin typeface="Google Sans Text"/>
              </a:rPr>
              <a:t>; </a:t>
            </a:r>
          </a:p>
          <a:p>
            <a:pPr rtl="0"/>
            <a:r>
              <a:rPr lang="en-ID" i="1">
                <a:solidFill>
                  <a:srgbClr val="1B1C1D"/>
                </a:solidFill>
                <a:effectLst/>
                <a:latin typeface="Google Sans Text"/>
              </a:rPr>
              <a:t>(Catatan: Penting untuk menyertakan '23:59:59' jika tipe datanya adalah DATETIME agar mencakup keseluruhan hari terakhir).</a:t>
            </a:r>
            <a:endParaRPr lang="en-ID">
              <a:solidFill>
                <a:srgbClr val="1B1C1D"/>
              </a:solidFill>
              <a:effectLst/>
              <a:latin typeface="Google Sans Text"/>
            </a:endParaRPr>
          </a:p>
          <a:p>
            <a:pPr rtl="0"/>
            <a:r>
              <a:rPr lang="en-ID" b="1">
                <a:solidFill>
                  <a:srgbClr val="1B1C1D"/>
                </a:solidFill>
                <a:effectLst/>
                <a:latin typeface="Google Sans"/>
              </a:rPr>
              <a:t>3. Klausa IN</a:t>
            </a:r>
          </a:p>
          <a:p>
            <a:pPr rtl="0"/>
            <a:r>
              <a:rPr lang="en-ID">
                <a:solidFill>
                  <a:srgbClr val="1B1C1D"/>
                </a:solidFill>
                <a:effectLst/>
                <a:latin typeface="Google Sans Text"/>
              </a:rPr>
              <a:t>Klausa </a:t>
            </a:r>
            <a:r>
              <a:rPr lang="en-ID">
                <a:solidFill>
                  <a:srgbClr val="444746"/>
                </a:solidFill>
                <a:effectLst/>
                <a:latin typeface="Google Sans Text"/>
              </a:rPr>
              <a:t>IN</a:t>
            </a:r>
            <a:r>
              <a:rPr lang="en-ID">
                <a:solidFill>
                  <a:srgbClr val="1B1C1D"/>
                </a:solidFill>
                <a:effectLst/>
                <a:latin typeface="Google Sans Text"/>
              </a:rPr>
              <a:t> memungkinkan Anda untuk menentukan beberapa nilai dalam klausa </a:t>
            </a:r>
            <a:r>
              <a:rPr lang="en-ID">
                <a:solidFill>
                  <a:srgbClr val="444746"/>
                </a:solidFill>
                <a:effectLst/>
                <a:latin typeface="Google Sans Text"/>
              </a:rPr>
              <a:t>WHERE</a:t>
            </a:r>
            <a:r>
              <a:rPr lang="en-ID" baseline="30000">
                <a:solidFill>
                  <a:srgbClr val="444746"/>
                </a:solidFill>
                <a:effectLst/>
                <a:latin typeface="Google Sans Text"/>
              </a:rPr>
              <a:t>3</a:t>
            </a:r>
            <a:r>
              <a:rPr lang="en-ID">
                <a:solidFill>
                  <a:srgbClr val="1B1C1D"/>
                </a:solidFill>
                <a:effectLst/>
                <a:latin typeface="Google Sans Text"/>
              </a:rPr>
              <a:t>. Ini adalah singkatan untuk beberapa kondisi OR.</a:t>
            </a:r>
          </a:p>
          <a:p>
            <a:pPr rtl="0"/>
            <a:r>
              <a:rPr lang="en-ID" b="1">
                <a:solidFill>
                  <a:srgbClr val="1B1C1D"/>
                </a:solidFill>
                <a:effectLst/>
                <a:latin typeface="Google Sans"/>
              </a:rPr>
              <a:t>Contoh 1: Mencari beberapa nilai teks (string)</a:t>
            </a:r>
          </a:p>
          <a:p>
            <a:pPr rtl="0"/>
            <a:r>
              <a:rPr lang="en-ID">
                <a:solidFill>
                  <a:srgbClr val="1B1C1D"/>
                </a:solidFill>
                <a:effectLst/>
                <a:latin typeface="Google Sans Text"/>
              </a:rPr>
              <a:t>Query ini akan mencari semua web_events yang berasal dari channel 'facebook' atau 'direct'.</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id, account_id, channel </a:t>
            </a:r>
            <a:r>
              <a:rPr lang="en-ID" b="0" i="0">
                <a:solidFill>
                  <a:srgbClr val="8430CE"/>
                </a:solidFill>
                <a:effectLst/>
                <a:latin typeface="Google Sans Text"/>
              </a:rPr>
              <a:t>FROM</a:t>
            </a:r>
            <a:r>
              <a:rPr lang="en-ID">
                <a:solidFill>
                  <a:srgbClr val="1B1C1D"/>
                </a:solidFill>
                <a:effectLst/>
                <a:latin typeface="Google Sans Text"/>
              </a:rPr>
              <a:t> web_events </a:t>
            </a:r>
            <a:r>
              <a:rPr lang="en-ID" b="0" i="0">
                <a:solidFill>
                  <a:srgbClr val="8430CE"/>
                </a:solidFill>
                <a:effectLst/>
                <a:latin typeface="Google Sans Text"/>
              </a:rPr>
              <a:t>WHERE</a:t>
            </a:r>
            <a:r>
              <a:rPr lang="en-ID">
                <a:solidFill>
                  <a:srgbClr val="1B1C1D"/>
                </a:solidFill>
                <a:effectLst/>
                <a:latin typeface="Google Sans Text"/>
              </a:rPr>
              <a:t> channel </a:t>
            </a:r>
            <a:r>
              <a:rPr lang="en-ID" b="0" i="0">
                <a:solidFill>
                  <a:srgbClr val="8430CE"/>
                </a:solidFill>
                <a:effectLst/>
                <a:latin typeface="Google Sans Text"/>
              </a:rPr>
              <a:t>IN</a:t>
            </a:r>
            <a:r>
              <a:rPr lang="en-ID">
                <a:solidFill>
                  <a:srgbClr val="1B1C1D"/>
                </a:solidFill>
                <a:effectLst/>
                <a:latin typeface="Google Sans Text"/>
              </a:rPr>
              <a:t> (</a:t>
            </a:r>
            <a:r>
              <a:rPr lang="en-ID" b="0" i="0">
                <a:solidFill>
                  <a:srgbClr val="188038"/>
                </a:solidFill>
                <a:effectLst/>
                <a:latin typeface="Google Sans Text"/>
              </a:rPr>
              <a:t>'facebook'</a:t>
            </a:r>
            <a:r>
              <a:rPr lang="en-ID">
                <a:solidFill>
                  <a:srgbClr val="1B1C1D"/>
                </a:solidFill>
                <a:effectLst/>
                <a:latin typeface="Google Sans Text"/>
              </a:rPr>
              <a:t>, </a:t>
            </a:r>
            <a:r>
              <a:rPr lang="en-ID" b="0" i="0">
                <a:solidFill>
                  <a:srgbClr val="188038"/>
                </a:solidFill>
                <a:effectLst/>
                <a:latin typeface="Google Sans Text"/>
              </a:rPr>
              <a:t>'direct'</a:t>
            </a:r>
            <a:r>
              <a:rPr lang="en-ID">
                <a:solidFill>
                  <a:srgbClr val="1B1C1D"/>
                </a:solidFill>
                <a:effectLst/>
                <a:latin typeface="Google Sans Text"/>
              </a:rPr>
              <a:t>); </a:t>
            </a:r>
          </a:p>
          <a:p>
            <a:pPr rtl="0"/>
            <a:r>
              <a:rPr lang="en-ID" i="1">
                <a:solidFill>
                  <a:srgbClr val="1B1C1D"/>
                </a:solidFill>
                <a:effectLst/>
                <a:latin typeface="Google Sans Text"/>
              </a:rPr>
              <a:t>Ini sama dengan: WHERE channel = 'facebook' OR channel = 'direct'</a:t>
            </a:r>
            <a:endParaRPr lang="en-ID">
              <a:solidFill>
                <a:srgbClr val="1B1C1D"/>
              </a:solidFill>
              <a:effectLst/>
              <a:latin typeface="Google Sans Text"/>
            </a:endParaRPr>
          </a:p>
          <a:p>
            <a:pPr rtl="0"/>
            <a:r>
              <a:rPr lang="en-ID" b="1">
                <a:solidFill>
                  <a:srgbClr val="1B1C1D"/>
                </a:solidFill>
                <a:effectLst/>
                <a:latin typeface="Google Sans"/>
              </a:rPr>
              <a:t>Contoh 2: Mencari beberapa nilai angka (numerik)</a:t>
            </a:r>
          </a:p>
          <a:p>
            <a:pPr rtl="0"/>
            <a:r>
              <a:rPr lang="en-ID">
                <a:solidFill>
                  <a:srgbClr val="1B1C1D"/>
                </a:solidFill>
                <a:effectLst/>
                <a:latin typeface="Google Sans Text"/>
              </a:rPr>
              <a:t>Query ini akan mencari semua sales_reps yang berada di region_id 1 atau 2.</a:t>
            </a:r>
          </a:p>
          <a:p>
            <a:pPr rtl="0"/>
            <a:r>
              <a:rPr lang="en-ID">
                <a:solidFill>
                  <a:srgbClr val="444746"/>
                </a:solidFill>
                <a:effectLst/>
                <a:latin typeface="Google Sans Text"/>
              </a:rPr>
              <a:t>SQL</a:t>
            </a:r>
          </a:p>
          <a:p>
            <a:pPr rtl="0"/>
            <a:r>
              <a:rPr lang="en-ID" b="0" i="0">
                <a:solidFill>
                  <a:srgbClr val="8430CE"/>
                </a:solidFill>
                <a:effectLst/>
                <a:latin typeface="Google Sans Text"/>
              </a:rPr>
              <a:t>SELECT</a:t>
            </a:r>
            <a:r>
              <a:rPr lang="en-ID">
                <a:solidFill>
                  <a:srgbClr val="1B1C1D"/>
                </a:solidFill>
                <a:effectLst/>
                <a:latin typeface="Google Sans Text"/>
              </a:rPr>
              <a:t> name, region_id </a:t>
            </a:r>
            <a:r>
              <a:rPr lang="en-ID" b="0" i="0">
                <a:solidFill>
                  <a:srgbClr val="8430CE"/>
                </a:solidFill>
                <a:effectLst/>
                <a:latin typeface="Google Sans Text"/>
              </a:rPr>
              <a:t>FROM</a:t>
            </a:r>
            <a:r>
              <a:rPr lang="en-ID">
                <a:solidFill>
                  <a:srgbClr val="1B1C1D"/>
                </a:solidFill>
                <a:effectLst/>
                <a:latin typeface="Google Sans Text"/>
              </a:rPr>
              <a:t> sales_reps </a:t>
            </a:r>
            <a:r>
              <a:rPr lang="en-ID" b="0" i="0">
                <a:solidFill>
                  <a:srgbClr val="8430CE"/>
                </a:solidFill>
                <a:effectLst/>
                <a:latin typeface="Google Sans Text"/>
              </a:rPr>
              <a:t>WHERE</a:t>
            </a:r>
            <a:r>
              <a:rPr lang="en-ID">
                <a:solidFill>
                  <a:srgbClr val="1B1C1D"/>
                </a:solidFill>
                <a:effectLst/>
                <a:latin typeface="Google Sans Text"/>
              </a:rPr>
              <a:t> region_id </a:t>
            </a:r>
            <a:r>
              <a:rPr lang="en-ID" b="0" i="0">
                <a:solidFill>
                  <a:srgbClr val="8430CE"/>
                </a:solidFill>
                <a:effectLst/>
                <a:latin typeface="Google Sans Text"/>
              </a:rPr>
              <a:t>IN</a:t>
            </a:r>
            <a:r>
              <a:rPr lang="en-ID">
                <a:solidFill>
                  <a:srgbClr val="1B1C1D"/>
                </a:solidFill>
                <a:effectLst/>
                <a:latin typeface="Google Sans Text"/>
              </a:rPr>
              <a:t> (</a:t>
            </a:r>
            <a:r>
              <a:rPr lang="en-ID" b="0" i="0">
                <a:solidFill>
                  <a:srgbClr val="B55908"/>
                </a:solidFill>
                <a:effectLst/>
                <a:latin typeface="Google Sans Text"/>
              </a:rPr>
              <a:t>1</a:t>
            </a:r>
            <a:r>
              <a:rPr lang="en-ID">
                <a:solidFill>
                  <a:srgbClr val="1B1C1D"/>
                </a:solidFill>
                <a:effectLst/>
                <a:latin typeface="Google Sans Text"/>
              </a:rPr>
              <a:t>, </a:t>
            </a:r>
            <a:r>
              <a:rPr lang="en-ID" b="0" i="0">
                <a:solidFill>
                  <a:srgbClr val="B55908"/>
                </a:solidFill>
                <a:effectLst/>
                <a:latin typeface="Google Sans Text"/>
              </a:rPr>
              <a:t>2</a:t>
            </a:r>
            <a:r>
              <a:rPr lang="en-ID">
                <a:solidFill>
                  <a:srgbClr val="1B1C1D"/>
                </a:solidFill>
                <a:effectLst/>
                <a:latin typeface="Google Sans Text"/>
              </a:rPr>
              <a:t>); </a:t>
            </a:r>
          </a:p>
          <a:p>
            <a:pPr rtl="0"/>
            <a:r>
              <a:rPr lang="en-ID">
                <a:solidFill>
                  <a:srgbClr val="1B1C1D"/>
                </a:solidFill>
                <a:effectLst/>
                <a:latin typeface="Google Sans Text"/>
              </a:rPr>
              <a:t>Apakah Anda ingin melihat contoh penggunaan negasi dari operator ini (seperti NOT LIKE, NOT BETWEEN, atau NOT IN)?</a:t>
            </a:r>
          </a:p>
          <a:p>
            <a:pPr marL="0" lvl="0" indent="0" algn="l" rtl="0">
              <a:spcBef>
                <a:spcPts val="0"/>
              </a:spcBef>
              <a:spcAft>
                <a:spcPts val="0"/>
              </a:spcAft>
              <a:buNone/>
            </a:pPr>
            <a:endParaRPr/>
          </a:p>
        </p:txBody>
      </p:sp>
      <p:sp>
        <p:nvSpPr>
          <p:cNvPr id="542" name="Google Shape;542;g294b5420dc4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60</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distinct(channel) from web_events;</a:t>
            </a:r>
            <a:endParaRPr sz="1200"/>
          </a:p>
        </p:txBody>
      </p:sp>
      <p:sp>
        <p:nvSpPr>
          <p:cNvPr id="549" name="Google Shape;54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61</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account_id, total, total_amt_usd from orders order by total;</a:t>
            </a:r>
          </a:p>
          <a:p>
            <a:pPr marL="0" marR="0" lvl="0" indent="0" algn="l" defTabSz="914400" rtl="0" eaLnBrk="1" fontAlgn="auto" latinLnBrk="0" hangingPunct="1">
              <a:lnSpc>
                <a:spcPct val="100000"/>
              </a:lnSpc>
              <a:spcBef>
                <a:spcPts val="0"/>
              </a:spcBef>
              <a:spcAft>
                <a:spcPts val="0"/>
              </a:spcAft>
              <a:buClr>
                <a:schemeClr val="dk1"/>
              </a:buClr>
              <a:buSzPts val="1200"/>
              <a:buFont typeface="Noto Sans Symbols"/>
              <a:buNone/>
              <a:tabLst/>
              <a:defRPr/>
            </a:pPr>
            <a:r>
              <a:rPr lang="en-US" sz="1200"/>
              <a:t>select account_id, total, total_amt_usd from orders order by total desc;</a:t>
            </a:r>
          </a:p>
          <a:p>
            <a:pPr marL="0" marR="0" lvl="0" indent="0" algn="l" defTabSz="914400" rtl="0" eaLnBrk="1" fontAlgn="auto" latinLnBrk="0" hangingPunct="1">
              <a:lnSpc>
                <a:spcPct val="100000"/>
              </a:lnSpc>
              <a:spcBef>
                <a:spcPts val="0"/>
              </a:spcBef>
              <a:spcAft>
                <a:spcPts val="0"/>
              </a:spcAft>
              <a:buClr>
                <a:schemeClr val="dk1"/>
              </a:buClr>
              <a:buSzPts val="1200"/>
              <a:buFont typeface="Noto Sans Symbols"/>
              <a:buNone/>
              <a:tabLst/>
              <a:defRPr/>
            </a:pPr>
            <a:endParaRPr lang="en-US" sz="1200"/>
          </a:p>
          <a:p>
            <a:pPr marL="0" lvl="0" indent="0" algn="l" rtl="0">
              <a:spcBef>
                <a:spcPts val="0"/>
              </a:spcBef>
              <a:spcAft>
                <a:spcPts val="0"/>
              </a:spcAft>
              <a:buClr>
                <a:schemeClr val="dk1"/>
              </a:buClr>
              <a:buSzPts val="1200"/>
              <a:buFont typeface="Noto Sans Symbols"/>
              <a:buNone/>
            </a:pPr>
            <a:endParaRPr sz="1200"/>
          </a:p>
        </p:txBody>
      </p:sp>
      <p:sp>
        <p:nvSpPr>
          <p:cNvPr id="556" name="Google Shape;556;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62</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94bc07ec3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g294bc07ec3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account_id, count(total), sum(total_amt_usd) from orders </a:t>
            </a:r>
          </a:p>
          <a:p>
            <a:pPr marL="0" lvl="0" indent="0" algn="l" rtl="0">
              <a:spcBef>
                <a:spcPts val="0"/>
              </a:spcBef>
              <a:spcAft>
                <a:spcPts val="0"/>
              </a:spcAft>
              <a:buClr>
                <a:schemeClr val="dk1"/>
              </a:buClr>
              <a:buSzPts val="1200"/>
              <a:buFont typeface="Noto Sans Symbols"/>
              <a:buNone/>
            </a:pPr>
            <a:r>
              <a:rPr lang="en-US" sz="1200"/>
              <a:t>group by  account_id </a:t>
            </a:r>
          </a:p>
          <a:p>
            <a:pPr marL="0" lvl="0" indent="0" algn="l" rtl="0">
              <a:spcBef>
                <a:spcPts val="0"/>
              </a:spcBef>
              <a:spcAft>
                <a:spcPts val="0"/>
              </a:spcAft>
              <a:buClr>
                <a:schemeClr val="dk1"/>
              </a:buClr>
              <a:buSzPts val="1200"/>
              <a:buFont typeface="Noto Sans Symbols"/>
              <a:buNone/>
            </a:pPr>
            <a:r>
              <a:rPr lang="en-US" sz="1200"/>
              <a:t>order by count(total) desc;</a:t>
            </a:r>
            <a:endParaRPr sz="1200"/>
          </a:p>
        </p:txBody>
      </p:sp>
      <p:sp>
        <p:nvSpPr>
          <p:cNvPr id="563" name="Google Shape;563;g294bc07ec3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63</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sz="1200"/>
              <a:t>select account_id, count(total), sum(total_amt_usd) from orders </a:t>
            </a:r>
          </a:p>
          <a:p>
            <a:pPr marL="0" lvl="0" indent="0" algn="l" rtl="0">
              <a:spcBef>
                <a:spcPts val="0"/>
              </a:spcBef>
              <a:spcAft>
                <a:spcPts val="0"/>
              </a:spcAft>
              <a:buClr>
                <a:schemeClr val="dk1"/>
              </a:buClr>
              <a:buSzPts val="1200"/>
              <a:buFont typeface="Noto Sans Symbols"/>
              <a:buNone/>
            </a:pPr>
            <a:r>
              <a:rPr lang="en-US" sz="1200"/>
              <a:t>group by  account_id </a:t>
            </a:r>
          </a:p>
          <a:p>
            <a:pPr marL="0" lvl="0" indent="0" algn="l" rtl="0">
              <a:spcBef>
                <a:spcPts val="0"/>
              </a:spcBef>
              <a:spcAft>
                <a:spcPts val="0"/>
              </a:spcAft>
              <a:buClr>
                <a:schemeClr val="dk1"/>
              </a:buClr>
              <a:buSzPts val="1200"/>
              <a:buFont typeface="Noto Sans Symbols"/>
              <a:buNone/>
            </a:pPr>
            <a:r>
              <a:rPr lang="en-US" sz="1200"/>
              <a:t>order by count(total) desc</a:t>
            </a:r>
          </a:p>
          <a:p>
            <a:pPr marL="0" lvl="0" indent="0" algn="l" rtl="0">
              <a:spcBef>
                <a:spcPts val="0"/>
              </a:spcBef>
              <a:spcAft>
                <a:spcPts val="0"/>
              </a:spcAft>
              <a:buClr>
                <a:schemeClr val="dk1"/>
              </a:buClr>
              <a:buSzPts val="1200"/>
              <a:buFont typeface="Noto Sans Symbols"/>
              <a:buNone/>
            </a:pPr>
            <a:r>
              <a:rPr lang="en-US" sz="1200"/>
              <a:t>Limit 5;</a:t>
            </a:r>
          </a:p>
          <a:p>
            <a:pPr marL="0" lvl="0" indent="0" algn="l" rtl="0">
              <a:spcBef>
                <a:spcPts val="0"/>
              </a:spcBef>
              <a:spcAft>
                <a:spcPts val="0"/>
              </a:spcAft>
              <a:buClr>
                <a:schemeClr val="dk1"/>
              </a:buClr>
              <a:buSzPts val="1200"/>
              <a:buFont typeface="Noto Sans Symbols"/>
              <a:buNone/>
            </a:pPr>
            <a:endParaRPr sz="1200"/>
          </a:p>
        </p:txBody>
      </p:sp>
      <p:sp>
        <p:nvSpPr>
          <p:cNvPr id="570" name="Google Shape;57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64</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US">
                <a:latin typeface="Courier New"/>
                <a:ea typeface="Courier New"/>
                <a:cs typeface="Courier New"/>
                <a:sym typeface="Courier New"/>
              </a:rPr>
              <a:t>select account_id, count(total) </a:t>
            </a:r>
            <a:r>
              <a:rPr lang="en-US" b="1">
                <a:latin typeface="Courier New"/>
                <a:ea typeface="Courier New"/>
                <a:cs typeface="Courier New"/>
                <a:sym typeface="Courier New"/>
              </a:rPr>
              <a:t>as </a:t>
            </a:r>
            <a:r>
              <a:rPr lang="en-US">
                <a:latin typeface="Courier New"/>
                <a:ea typeface="Courier New"/>
                <a:cs typeface="Courier New"/>
                <a:sym typeface="Courier New"/>
              </a:rPr>
              <a:t>count_orders, sum(total_amt_usd) </a:t>
            </a:r>
            <a:r>
              <a:rPr lang="en-US" b="1">
                <a:latin typeface="Courier New"/>
                <a:ea typeface="Courier New"/>
                <a:cs typeface="Courier New"/>
                <a:sym typeface="Courier New"/>
              </a:rPr>
              <a:t>as </a:t>
            </a:r>
            <a:r>
              <a:rPr lang="en-US">
                <a:latin typeface="Courier New"/>
                <a:ea typeface="Courier New"/>
                <a:cs typeface="Courier New"/>
                <a:sym typeface="Courier New"/>
              </a:rPr>
              <a:t>total_usd from orders limit 5</a:t>
            </a:r>
            <a:endParaRPr sz="1200"/>
          </a:p>
        </p:txBody>
      </p:sp>
      <p:sp>
        <p:nvSpPr>
          <p:cNvPr id="577" name="Google Shape;577;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65</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26244765c84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3" name="Google Shape;583;g26244765c84_0_2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latin typeface="Century Gothic"/>
                <a:ea typeface="Century Gothic"/>
                <a:cs typeface="Century Gothic"/>
                <a:sym typeface="Century Gothic"/>
              </a:rPr>
              <a:t>Contoh : </a:t>
            </a:r>
            <a:r>
              <a:rPr lang="en-ID" sz="1050">
                <a:latin typeface="Century Gothic"/>
                <a:ea typeface="Century Gothic"/>
                <a:cs typeface="Century Gothic"/>
                <a:sym typeface="Century Gothic"/>
              </a:rPr>
              <a:t>Menampilkan kelompok perusahaan dengan rata-rata total amount di atas 2000</a:t>
            </a:r>
            <a:endParaRPr>
              <a:latin typeface="Century Gothic"/>
              <a:ea typeface="Century Gothic"/>
              <a:cs typeface="Century Gothic"/>
              <a:sym typeface="Century Gothic"/>
            </a:endParaRPr>
          </a:p>
          <a:p>
            <a:pPr marL="457200" lvl="0" indent="-317500" algn="l" rtl="0">
              <a:spcBef>
                <a:spcPts val="0"/>
              </a:spcBef>
              <a:spcAft>
                <a:spcPts val="0"/>
              </a:spcAft>
              <a:buSzPts val="1400"/>
              <a:buFont typeface="Courier New"/>
              <a:buChar char="-"/>
            </a:pPr>
            <a:r>
              <a:rPr lang="en-ID">
                <a:latin typeface="Courier New"/>
                <a:ea typeface="Courier New"/>
                <a:cs typeface="Courier New"/>
                <a:sym typeface="Courier New"/>
              </a:rPr>
              <a:t>SELECT account_id, avg(total_amt_usd) FROM orders GROUP BY 1 HAVING AVG(total_amt_usd) &gt; 1000</a:t>
            </a:r>
            <a:endParaRPr>
              <a:latin typeface="Courier New"/>
              <a:ea typeface="Courier New"/>
              <a:cs typeface="Courier New"/>
              <a:sym typeface="Courier New"/>
            </a:endParaRPr>
          </a:p>
          <a:p>
            <a:pPr marL="457200" lvl="0" indent="-317500" algn="l" rtl="0">
              <a:spcBef>
                <a:spcPts val="0"/>
              </a:spcBef>
              <a:spcAft>
                <a:spcPts val="0"/>
              </a:spcAft>
              <a:buSzPts val="1400"/>
              <a:buFont typeface="Courier New"/>
              <a:buChar char="-"/>
            </a:pPr>
            <a:r>
              <a:rPr lang="en-ID">
                <a:latin typeface="Courier New"/>
                <a:ea typeface="Courier New"/>
                <a:cs typeface="Courier New"/>
                <a:sym typeface="Courier New"/>
              </a:rPr>
              <a:t>SELECT account_id, format(avg(total_amt_usd), 2) FROM orders GROUP BY 1 HAVING AVG(total_amt_usd) &gt; 2000</a:t>
            </a:r>
          </a:p>
          <a:p>
            <a:pPr marL="457200" lvl="0" indent="-317500" algn="l" rtl="0">
              <a:spcBef>
                <a:spcPts val="0"/>
              </a:spcBef>
              <a:spcAft>
                <a:spcPts val="0"/>
              </a:spcAft>
              <a:buSzPts val="1400"/>
              <a:buFont typeface="Courier New"/>
              <a:buChar char="-"/>
            </a:pPr>
            <a:r>
              <a:rPr lang="en-US">
                <a:latin typeface="Courier New"/>
                <a:ea typeface="Courier New"/>
                <a:cs typeface="Courier New"/>
                <a:sym typeface="Courier New"/>
              </a:rPr>
              <a:t>select account_id as acc_id, count(total) as count_orders from orders group by 1 having count_orders&lt;10;</a:t>
            </a:r>
          </a:p>
          <a:p>
            <a:pPr marL="457200" lvl="0" indent="-317500" algn="l" rtl="0">
              <a:spcBef>
                <a:spcPts val="0"/>
              </a:spcBef>
              <a:spcAft>
                <a:spcPts val="0"/>
              </a:spcAft>
              <a:buSzPts val="1400"/>
              <a:buFont typeface="Courier New"/>
              <a:buChar char="-"/>
            </a:pPr>
            <a:r>
              <a:rPr lang="en-US">
                <a:latin typeface="Courier New"/>
                <a:ea typeface="Courier New"/>
                <a:cs typeface="Courier New"/>
                <a:sym typeface="Courier New"/>
              </a:rPr>
              <a:t>select account_id, count(total) as count_orders, sum(total_amt_usd) as total_usd from orders group by account_id;</a:t>
            </a:r>
            <a:endParaRPr>
              <a:latin typeface="Courier New"/>
              <a:ea typeface="Courier New"/>
              <a:cs typeface="Courier New"/>
              <a:sym typeface="Courier New"/>
            </a:endParaRPr>
          </a:p>
          <a:p>
            <a:pPr marL="457200" lvl="0" indent="-317500" algn="l" rtl="0">
              <a:spcBef>
                <a:spcPts val="0"/>
              </a:spcBef>
              <a:spcAft>
                <a:spcPts val="0"/>
              </a:spcAft>
              <a:buSzPts val="1400"/>
              <a:buFont typeface="Courier New"/>
              <a:buChar char="-"/>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584" name="Google Shape;584;g26244765c84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66</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6244765c84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26244765c84_0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ID" b="1"/>
              <a:t>Contoh 1: Hanya Menggunakan WHERE (Filter Baris Individual)</a:t>
            </a:r>
          </a:p>
          <a:p>
            <a:r>
              <a:rPr lang="en-ID" b="1"/>
              <a:t>Tujuan:</a:t>
            </a:r>
            <a:r>
              <a:rPr lang="en-ID"/>
              <a:t> Tampilkan semua pesanan individual yang nilainya (total_amt_usd) di atas $8,000.</a:t>
            </a:r>
          </a:p>
          <a:p>
            <a:r>
              <a:rPr lang="en-ID"/>
              <a:t>Di sini, kita tidak perlu mengelompokkan apa pun. Kita hanya melihat setiap baris satu per satu dan memutuskan apakah akan menampilkannya atau tidak.</a:t>
            </a:r>
          </a:p>
          <a:p>
            <a:r>
              <a:rPr lang="en-ID">
                <a:effectLst/>
              </a:rPr>
              <a:t>SQL</a:t>
            </a:r>
          </a:p>
          <a:p>
            <a:r>
              <a:rPr lang="en-ID">
                <a:effectLst/>
              </a:rPr>
              <a:t>SELECT id AS id_pesanan, account_id, total_amt_usd FROM orders WHERE total_amt_usd &gt; 8000;</a:t>
            </a:r>
          </a:p>
          <a:p>
            <a:endParaRPr lang="en-ID">
              <a:effectLst/>
            </a:endParaRPr>
          </a:p>
          <a:p>
            <a:r>
              <a:rPr lang="en-ID" b="1"/>
              <a:t>Contoh 2: Hanya Menggunakan HAVING (Filter Grup / Agregasi)</a:t>
            </a:r>
          </a:p>
          <a:p>
            <a:r>
              <a:rPr lang="en-ID" b="1"/>
              <a:t>Tujuan:</a:t>
            </a:r>
            <a:r>
              <a:rPr lang="en-ID"/>
              <a:t> Tampilkan semua akun (account_id) yang </a:t>
            </a:r>
            <a:r>
              <a:rPr lang="en-ID" b="1"/>
              <a:t>total nilai semua pesanannya</a:t>
            </a:r>
            <a:r>
              <a:rPr lang="en-ID"/>
              <a:t> (akumulasi) melebihi $30,000.</a:t>
            </a:r>
          </a:p>
          <a:p>
            <a:r>
              <a:rPr lang="en-ID"/>
              <a:t>Di sini, kita tidak bisa pakai WHERE untuk memfilter total SUM. Kita harus:</a:t>
            </a:r>
          </a:p>
          <a:p>
            <a:pPr>
              <a:buFont typeface="+mj-lt"/>
              <a:buAutoNum type="arabicPeriod"/>
            </a:pPr>
            <a:r>
              <a:rPr lang="en-ID"/>
              <a:t>Mengelompokkan pesanan berdasarkan account_id (GROUP BY).</a:t>
            </a:r>
          </a:p>
          <a:p>
            <a:pPr>
              <a:buFont typeface="+mj-lt"/>
              <a:buAutoNum type="arabicPeriod"/>
            </a:pPr>
            <a:r>
              <a:rPr lang="en-ID"/>
              <a:t>Menjumlahkan total_amt_usd untuk </a:t>
            </a:r>
            <a:r>
              <a:rPr lang="en-ID" i="1"/>
              <a:t>setiap grup</a:t>
            </a:r>
            <a:r>
              <a:rPr lang="en-ID"/>
              <a:t> (SUM(...)).</a:t>
            </a:r>
          </a:p>
          <a:p>
            <a:pPr>
              <a:buFont typeface="+mj-lt"/>
              <a:buAutoNum type="arabicPeriod"/>
            </a:pPr>
            <a:r>
              <a:rPr lang="en-ID"/>
              <a:t>Memfilter </a:t>
            </a:r>
            <a:r>
              <a:rPr lang="en-ID" i="1"/>
              <a:t>grup-grup</a:t>
            </a:r>
            <a:r>
              <a:rPr lang="en-ID"/>
              <a:t> tersebut menggunakan HAVING.</a:t>
            </a:r>
          </a:p>
          <a:p>
            <a:r>
              <a:rPr lang="en-ID">
                <a:effectLst/>
              </a:rPr>
              <a:t>SQL</a:t>
            </a:r>
          </a:p>
          <a:p>
            <a:r>
              <a:rPr lang="en-ID">
                <a:effectLst/>
              </a:rPr>
              <a:t>SELECT account_id, SUM(total_amt_usd) AS total_penjualan_akun FROM orders GROUP BY account_id HAVING SUM(total_amt_usd) &gt; 30000;</a:t>
            </a:r>
          </a:p>
          <a:p>
            <a:endParaRPr lang="en-ID">
              <a:effectLst/>
            </a:endParaRPr>
          </a:p>
          <a:p>
            <a:r>
              <a:rPr lang="en-ID" b="1"/>
              <a:t>Contoh 3: Menggunakan WHERE dan HAVING Bersamaan (Pembeda Terbaik)</a:t>
            </a:r>
          </a:p>
          <a:p>
            <a:r>
              <a:rPr lang="en-ID" b="1"/>
              <a:t>Tujuan:</a:t>
            </a:r>
            <a:r>
              <a:rPr lang="en-ID"/>
              <a:t> Tampilkan total penjualan per akun (account_id), tapi </a:t>
            </a:r>
            <a:r>
              <a:rPr lang="en-ID" b="1"/>
              <a:t>hanya hitung pesanan poster (poster_qty &gt; 0)</a:t>
            </a:r>
            <a:r>
              <a:rPr lang="en-ID"/>
              <a:t>. Setelah itu, </a:t>
            </a:r>
            <a:r>
              <a:rPr lang="en-ID" b="1"/>
              <a:t>hanya tampilkan akun yang total penjualan posternya</a:t>
            </a:r>
            <a:r>
              <a:rPr lang="en-ID"/>
              <a:t> di atas $5,000.</a:t>
            </a:r>
          </a:p>
          <a:p>
            <a:r>
              <a:rPr lang="en-ID"/>
              <a:t>Ini adalah contoh sempurna untuk melihat urutan operasinya:</a:t>
            </a:r>
          </a:p>
          <a:p>
            <a:pPr>
              <a:buFont typeface="+mj-lt"/>
              <a:buAutoNum type="arabicPeriod"/>
            </a:pPr>
            <a:r>
              <a:rPr lang="en-ID" b="1"/>
              <a:t>WHERE (Filter Baris):</a:t>
            </a:r>
            <a:r>
              <a:rPr lang="en-ID"/>
              <a:t> Pertama, kita buang semua baris pesanan yang </a:t>
            </a:r>
            <a:r>
              <a:rPr lang="en-ID" i="1"/>
              <a:t>bukan</a:t>
            </a:r>
            <a:r>
              <a:rPr lang="en-ID"/>
              <a:t> pesanan poster.</a:t>
            </a:r>
          </a:p>
          <a:p>
            <a:pPr>
              <a:buFont typeface="+mj-lt"/>
              <a:buAutoNum type="arabicPeriod"/>
            </a:pPr>
            <a:r>
              <a:rPr lang="en-ID" b="1"/>
              <a:t>GROUP BY (Kelompokkan):</a:t>
            </a:r>
            <a:r>
              <a:rPr lang="en-ID"/>
              <a:t> Sisa baris (yang sudah pasti pesanan poster) dikelompokkan per account_id.</a:t>
            </a:r>
          </a:p>
          <a:p>
            <a:pPr>
              <a:buFont typeface="+mj-lt"/>
              <a:buAutoNum type="arabicPeriod"/>
            </a:pPr>
            <a:r>
              <a:rPr lang="en-ID" b="1"/>
              <a:t>HAVING (Filter Grup):</a:t>
            </a:r>
            <a:r>
              <a:rPr lang="en-ID"/>
              <a:t> Kita hitung total penjualan dari grup-grup tadi, lalu buang grup yang totalnya tidak lebih dari $5,000.</a:t>
            </a:r>
          </a:p>
          <a:p>
            <a:r>
              <a:rPr lang="en-ID">
                <a:effectLst/>
              </a:rPr>
              <a:t>SQL</a:t>
            </a:r>
          </a:p>
          <a:p>
            <a:r>
              <a:rPr lang="en-ID">
                <a:effectLst/>
              </a:rPr>
              <a:t>SELECT account_id, SUM(total_amt_usd) AS total_penjualan_poster FROM orders WHERE poster_qty &gt; 0 -- 1. WHERE memfilter baris individual DULU GROUP BY account_id -- 2. Data yang tersisa (hanya pesanan poster) dikelompokkan HAVING SUM(total_amt_usd) &gt; 5000; -- 3. HAVING memfilter hasil grup SETELAHNYA</a:t>
            </a:r>
          </a:p>
          <a:p>
            <a:endParaRPr lang="en-ID">
              <a:effectLst/>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605" name="Google Shape;605;g26244765c84_0_2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67</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6244765c84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26244765c84_0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605" name="Google Shape;605;g26244765c84_0_2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68</a:t>
            </a:fld>
            <a:endParaRPr/>
          </a:p>
        </p:txBody>
      </p:sp>
    </p:spTree>
    <p:extLst>
      <p:ext uri="{BB962C8B-B14F-4D97-AF65-F5344CB8AC3E}">
        <p14:creationId xmlns:p14="http://schemas.microsoft.com/office/powerpoint/2010/main" val="11531322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6244765c84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26244765c84_0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605" name="Google Shape;605;g26244765c84_0_2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69</a:t>
            </a:fld>
            <a:endParaRPr/>
          </a:p>
        </p:txBody>
      </p:sp>
    </p:spTree>
    <p:extLst>
      <p:ext uri="{BB962C8B-B14F-4D97-AF65-F5344CB8AC3E}">
        <p14:creationId xmlns:p14="http://schemas.microsoft.com/office/powerpoint/2010/main" val="6726806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6244765c84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26244765c84_0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605" name="Google Shape;605;g26244765c84_0_2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70</a:t>
            </a:fld>
            <a:endParaRPr/>
          </a:p>
        </p:txBody>
      </p:sp>
    </p:spTree>
    <p:extLst>
      <p:ext uri="{BB962C8B-B14F-4D97-AF65-F5344CB8AC3E}">
        <p14:creationId xmlns:p14="http://schemas.microsoft.com/office/powerpoint/2010/main" val="274237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3" name="Google Shape;613;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sz="1200"/>
          </a:p>
        </p:txBody>
      </p:sp>
      <p:sp>
        <p:nvSpPr>
          <p:cNvPr id="614" name="Google Shape;614;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71</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976b23582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g2976b23582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976b235820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976b235820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g2976b235820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74</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976b235820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5" name="Google Shape;635;g2976b235820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sz="1200"/>
          </a:p>
        </p:txBody>
      </p:sp>
      <p:sp>
        <p:nvSpPr>
          <p:cNvPr id="636" name="Google Shape;636;g2976b235820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75</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2976b235820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2" name="Google Shape;642;g2976b235820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t># Try pulling all the data from the accounts table, and all the data from the orders table.</a:t>
            </a:r>
            <a:endParaRPr/>
          </a:p>
          <a:p>
            <a:pPr marL="0" lvl="0" indent="0" algn="l" rtl="0">
              <a:spcBef>
                <a:spcPts val="0"/>
              </a:spcBef>
              <a:spcAft>
                <a:spcPts val="0"/>
              </a:spcAft>
              <a:buClr>
                <a:schemeClr val="dk1"/>
              </a:buClr>
              <a:buSzPts val="1100"/>
              <a:buFont typeface="Arial"/>
              <a:buNone/>
            </a:pPr>
            <a:r>
              <a:rPr lang="en-ID"/>
              <a:t>SELECT orders.*, accounts.*</a:t>
            </a:r>
            <a:endParaRPr/>
          </a:p>
          <a:p>
            <a:pPr marL="0" lvl="0" indent="0" algn="l" rtl="0">
              <a:spcBef>
                <a:spcPts val="0"/>
              </a:spcBef>
              <a:spcAft>
                <a:spcPts val="0"/>
              </a:spcAft>
              <a:buClr>
                <a:schemeClr val="dk1"/>
              </a:buClr>
              <a:buSzPts val="1100"/>
              <a:buFont typeface="Arial"/>
              <a:buNone/>
            </a:pPr>
            <a:r>
              <a:rPr lang="en-ID"/>
              <a:t>FROM accounts</a:t>
            </a:r>
            <a:endParaRPr/>
          </a:p>
          <a:p>
            <a:pPr marL="0" lvl="0" indent="0" algn="l" rtl="0">
              <a:spcBef>
                <a:spcPts val="0"/>
              </a:spcBef>
              <a:spcAft>
                <a:spcPts val="0"/>
              </a:spcAft>
              <a:buClr>
                <a:schemeClr val="dk1"/>
              </a:buClr>
              <a:buSzPts val="1100"/>
              <a:buFont typeface="Arial"/>
              <a:buNone/>
            </a:pPr>
            <a:r>
              <a:rPr lang="en-ID"/>
              <a:t>JOIN orders</a:t>
            </a:r>
            <a:endParaRPr/>
          </a:p>
          <a:p>
            <a:pPr marL="0" lvl="0" indent="0" algn="l" rtl="0">
              <a:spcBef>
                <a:spcPts val="0"/>
              </a:spcBef>
              <a:spcAft>
                <a:spcPts val="0"/>
              </a:spcAft>
              <a:buClr>
                <a:schemeClr val="dk1"/>
              </a:buClr>
              <a:buSzPts val="1100"/>
              <a:buFont typeface="Arial"/>
              <a:buNone/>
            </a:pPr>
            <a:r>
              <a:rPr lang="en-ID"/>
              <a:t>ON accounts.id = orders.account_id;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ID"/>
              <a:t># Try pulling standard_qty, gloss_qty, and poster_qty from the orders table, and the website and the primary_poc from the accounts table.</a:t>
            </a:r>
            <a:endParaRPr/>
          </a:p>
          <a:p>
            <a:pPr marL="0" lvl="0" indent="0" algn="l" rtl="0">
              <a:spcBef>
                <a:spcPts val="0"/>
              </a:spcBef>
              <a:spcAft>
                <a:spcPts val="0"/>
              </a:spcAft>
              <a:buClr>
                <a:schemeClr val="dk1"/>
              </a:buClr>
              <a:buSzPts val="1100"/>
              <a:buFont typeface="Arial"/>
              <a:buNone/>
            </a:pPr>
            <a:r>
              <a:rPr lang="en-ID"/>
              <a:t>SELECT orders.standard_qty, orders.gloss_qty, </a:t>
            </a:r>
            <a:endParaRPr/>
          </a:p>
          <a:p>
            <a:pPr marL="0" lvl="0" indent="0" algn="l" rtl="0">
              <a:spcBef>
                <a:spcPts val="0"/>
              </a:spcBef>
              <a:spcAft>
                <a:spcPts val="0"/>
              </a:spcAft>
              <a:buClr>
                <a:schemeClr val="dk1"/>
              </a:buClr>
              <a:buSzPts val="1100"/>
              <a:buFont typeface="Arial"/>
              <a:buNone/>
            </a:pPr>
            <a:r>
              <a:rPr lang="en-ID"/>
              <a:t>          orders.poster_qty,  accounts.website, </a:t>
            </a:r>
            <a:endParaRPr/>
          </a:p>
          <a:p>
            <a:pPr marL="0" lvl="0" indent="0" algn="l" rtl="0">
              <a:spcBef>
                <a:spcPts val="0"/>
              </a:spcBef>
              <a:spcAft>
                <a:spcPts val="0"/>
              </a:spcAft>
              <a:buClr>
                <a:schemeClr val="dk1"/>
              </a:buClr>
              <a:buSzPts val="1100"/>
              <a:buFont typeface="Arial"/>
              <a:buNone/>
            </a:pPr>
            <a:r>
              <a:rPr lang="en-ID"/>
              <a:t>          accounts.primary_poc</a:t>
            </a:r>
            <a:endParaRPr/>
          </a:p>
          <a:p>
            <a:pPr marL="0" lvl="0" indent="0" algn="l" rtl="0">
              <a:spcBef>
                <a:spcPts val="0"/>
              </a:spcBef>
              <a:spcAft>
                <a:spcPts val="0"/>
              </a:spcAft>
              <a:buClr>
                <a:schemeClr val="dk1"/>
              </a:buClr>
              <a:buSzPts val="1100"/>
              <a:buFont typeface="Arial"/>
              <a:buNone/>
            </a:pPr>
            <a:r>
              <a:rPr lang="en-ID"/>
              <a:t>FROM orders</a:t>
            </a:r>
            <a:endParaRPr/>
          </a:p>
          <a:p>
            <a:pPr marL="0" lvl="0" indent="0" algn="l" rtl="0">
              <a:spcBef>
                <a:spcPts val="0"/>
              </a:spcBef>
              <a:spcAft>
                <a:spcPts val="0"/>
              </a:spcAft>
              <a:buClr>
                <a:schemeClr val="dk1"/>
              </a:buClr>
              <a:buSzPts val="1100"/>
              <a:buFont typeface="Arial"/>
              <a:buNone/>
            </a:pPr>
            <a:r>
              <a:rPr lang="en-ID"/>
              <a:t>JOIN accounts</a:t>
            </a:r>
            <a:endParaRPr/>
          </a:p>
          <a:p>
            <a:pPr marL="0" lvl="0" indent="0" algn="l" rtl="0">
              <a:spcBef>
                <a:spcPts val="0"/>
              </a:spcBef>
              <a:spcAft>
                <a:spcPts val="0"/>
              </a:spcAft>
              <a:buClr>
                <a:schemeClr val="dk1"/>
              </a:buClr>
              <a:buSzPts val="1100"/>
              <a:buFont typeface="Arial"/>
              <a:buNone/>
            </a:pPr>
            <a:r>
              <a:rPr lang="en-ID"/>
              <a:t>ON orders.account_id = accounts.id;</a:t>
            </a:r>
          </a:p>
          <a:p>
            <a:pPr marL="0" lvl="0" indent="0" algn="l" rtl="0">
              <a:spcBef>
                <a:spcPts val="0"/>
              </a:spcBef>
              <a:spcAft>
                <a:spcPts val="0"/>
              </a:spcAft>
              <a:buClr>
                <a:schemeClr val="dk1"/>
              </a:buClr>
              <a:buSzPts val="1100"/>
              <a:buFont typeface="Arial"/>
              <a:buNone/>
            </a:pPr>
            <a:endParaRPr lang="en-ID"/>
          </a:p>
          <a:p>
            <a:pPr marL="0" lvl="0" indent="0" algn="l" rtl="0">
              <a:spcBef>
                <a:spcPts val="0"/>
              </a:spcBef>
              <a:spcAft>
                <a:spcPts val="0"/>
              </a:spcAft>
              <a:buClr>
                <a:schemeClr val="dk1"/>
              </a:buClr>
              <a:buSzPts val="1100"/>
              <a:buFont typeface="Arial"/>
              <a:buNone/>
            </a:pPr>
            <a:endParaRPr lang="en-ID"/>
          </a:p>
          <a:p>
            <a:pPr marL="0" lvl="0" indent="0" algn="l" rtl="0">
              <a:spcBef>
                <a:spcPts val="0"/>
              </a:spcBef>
              <a:spcAft>
                <a:spcPts val="0"/>
              </a:spcAft>
              <a:buClr>
                <a:schemeClr val="dk1"/>
              </a:buClr>
              <a:buSzPts val="1100"/>
              <a:buFont typeface="Arial"/>
              <a:buNone/>
            </a:pPr>
            <a:r>
              <a:rPr lang="en-ID"/>
              <a:t># Tampilkan total_item dan total_usd berdasarkan nama, urutkan 5 total terbanyak dan 5 total omset terbesar</a:t>
            </a:r>
          </a:p>
          <a:p>
            <a:pPr marL="0" lvl="0" indent="0" algn="l" rtl="0">
              <a:spcBef>
                <a:spcPts val="0"/>
              </a:spcBef>
              <a:spcAft>
                <a:spcPts val="0"/>
              </a:spcAft>
              <a:buClr>
                <a:schemeClr val="dk1"/>
              </a:buClr>
              <a:buSzPts val="1100"/>
              <a:buFont typeface="Arial"/>
              <a:buNone/>
            </a:pPr>
            <a:r>
              <a:rPr lang="en-ID"/>
              <a:t>SELECT a.name as Nama_Pelanggan, </a:t>
            </a:r>
          </a:p>
          <a:p>
            <a:pPr marL="0" lvl="0" indent="0" algn="l" rtl="0">
              <a:spcBef>
                <a:spcPts val="0"/>
              </a:spcBef>
              <a:spcAft>
                <a:spcPts val="0"/>
              </a:spcAft>
              <a:buClr>
                <a:schemeClr val="dk1"/>
              </a:buClr>
              <a:buSzPts val="1100"/>
              <a:buFont typeface="Arial"/>
              <a:buNone/>
            </a:pPr>
            <a:r>
              <a:rPr lang="en-ID"/>
              <a:t>	sum(o.total) as Tota_Item, </a:t>
            </a:r>
          </a:p>
          <a:p>
            <a:pPr marL="0" lvl="0" indent="0" algn="l" rtl="0">
              <a:spcBef>
                <a:spcPts val="0"/>
              </a:spcBef>
              <a:spcAft>
                <a:spcPts val="0"/>
              </a:spcAft>
              <a:buClr>
                <a:schemeClr val="dk1"/>
              </a:buClr>
              <a:buSzPts val="1100"/>
              <a:buFont typeface="Arial"/>
              <a:buNone/>
            </a:pPr>
            <a:r>
              <a:rPr lang="en-ID"/>
              <a:t>	sum(o.total_amt_usd) as Total_Pembelian</a:t>
            </a:r>
            <a:endParaRPr/>
          </a:p>
          <a:p>
            <a:pPr marL="0" lvl="0" indent="0" algn="l" rtl="0">
              <a:spcBef>
                <a:spcPts val="0"/>
              </a:spcBef>
              <a:spcAft>
                <a:spcPts val="0"/>
              </a:spcAft>
              <a:buClr>
                <a:schemeClr val="dk1"/>
              </a:buClr>
              <a:buSzPts val="1200"/>
              <a:buFont typeface="Noto Sans Symbols"/>
              <a:buNone/>
            </a:pPr>
            <a:r>
              <a:rPr lang="en-US"/>
              <a:t>FROM accounts a</a:t>
            </a:r>
          </a:p>
          <a:p>
            <a:pPr marL="0" lvl="0" indent="0" algn="l" rtl="0">
              <a:spcBef>
                <a:spcPts val="0"/>
              </a:spcBef>
              <a:spcAft>
                <a:spcPts val="0"/>
              </a:spcAft>
              <a:buClr>
                <a:schemeClr val="dk1"/>
              </a:buClr>
              <a:buSzPts val="1200"/>
              <a:buFont typeface="Noto Sans Symbols"/>
              <a:buNone/>
            </a:pPr>
            <a:r>
              <a:rPr lang="en-US"/>
              <a:t>JOIN orders o </a:t>
            </a:r>
          </a:p>
          <a:p>
            <a:pPr marL="0" lvl="0" indent="0" algn="l" rtl="0">
              <a:spcBef>
                <a:spcPts val="0"/>
              </a:spcBef>
              <a:spcAft>
                <a:spcPts val="0"/>
              </a:spcAft>
              <a:buClr>
                <a:schemeClr val="dk1"/>
              </a:buClr>
              <a:buSzPts val="1200"/>
              <a:buFont typeface="Noto Sans Symbols"/>
              <a:buNone/>
            </a:pPr>
            <a:r>
              <a:rPr lang="en-US"/>
              <a:t>ON o.account_id = a.id</a:t>
            </a:r>
          </a:p>
          <a:p>
            <a:pPr marL="0" lvl="0" indent="0" algn="l" rtl="0">
              <a:spcBef>
                <a:spcPts val="0"/>
              </a:spcBef>
              <a:spcAft>
                <a:spcPts val="0"/>
              </a:spcAft>
              <a:buClr>
                <a:schemeClr val="dk1"/>
              </a:buClr>
              <a:buSzPts val="1200"/>
              <a:buFont typeface="Noto Sans Symbols"/>
              <a:buNone/>
            </a:pPr>
            <a:r>
              <a:rPr lang="en-US"/>
              <a:t>GROUP BY Nama_Pelanggan;</a:t>
            </a:r>
          </a:p>
          <a:p>
            <a:pPr marL="0" lvl="0" indent="0" algn="l" rtl="0">
              <a:spcBef>
                <a:spcPts val="0"/>
              </a:spcBef>
              <a:spcAft>
                <a:spcPts val="0"/>
              </a:spcAft>
              <a:buClr>
                <a:schemeClr val="dk1"/>
              </a:buClr>
              <a:buSzPts val="1200"/>
              <a:buFont typeface="Noto Sans Symbols"/>
              <a:buNone/>
            </a:pPr>
            <a:endParaRPr lang="en-US"/>
          </a:p>
          <a:p>
            <a:pPr marL="0" lvl="0" indent="0" algn="l" rtl="0">
              <a:spcBef>
                <a:spcPts val="0"/>
              </a:spcBef>
              <a:spcAft>
                <a:spcPts val="0"/>
              </a:spcAft>
              <a:buClr>
                <a:schemeClr val="dk1"/>
              </a:buClr>
              <a:buSzPts val="1200"/>
              <a:buFont typeface="Noto Sans Symbols"/>
              <a:buNone/>
            </a:pPr>
            <a:r>
              <a:rPr lang="en-ID"/>
              <a:t>1. Tampilkan semua kolom yang ada di kedua tabel akun dan order</a:t>
            </a:r>
          </a:p>
          <a:p>
            <a:pPr marL="0" lvl="0" indent="0" algn="l" rtl="0">
              <a:spcBef>
                <a:spcPts val="0"/>
              </a:spcBef>
              <a:spcAft>
                <a:spcPts val="0"/>
              </a:spcAft>
              <a:buClr>
                <a:schemeClr val="dk1"/>
              </a:buClr>
              <a:buSzPts val="1200"/>
              <a:buFont typeface="Noto Sans Symbols"/>
              <a:buNone/>
            </a:pPr>
            <a:r>
              <a:rPr lang="en-ID"/>
              <a:t>2. Tampilkan beberapa kolom pada kedua tabel (Nama, Jumlah order, total jumlah order, total jumlah bayar)</a:t>
            </a:r>
          </a:p>
          <a:p>
            <a:pPr marL="0" lvl="0" indent="0" algn="l" rtl="0">
              <a:spcBef>
                <a:spcPts val="0"/>
              </a:spcBef>
              <a:spcAft>
                <a:spcPts val="0"/>
              </a:spcAft>
              <a:buClr>
                <a:schemeClr val="dk1"/>
              </a:buClr>
              <a:buSzPts val="1200"/>
              <a:buFont typeface="Noto Sans Symbols"/>
              <a:buNone/>
            </a:pPr>
            <a:r>
              <a:rPr lang="en-ID"/>
              <a:t>3. Pada nomor 2, tampilkan hanya beberapa nama client saja, nama client pada Walmart, Ford Motor, dan HP</a:t>
            </a:r>
          </a:p>
          <a:p>
            <a:pPr marL="0" lvl="0" indent="0" algn="l" rtl="0">
              <a:spcBef>
                <a:spcPts val="0"/>
              </a:spcBef>
              <a:spcAft>
                <a:spcPts val="0"/>
              </a:spcAft>
              <a:buClr>
                <a:schemeClr val="dk1"/>
              </a:buClr>
              <a:buSzPts val="1200"/>
              <a:buFont typeface="Noto Sans Symbols"/>
              <a:buNone/>
            </a:pPr>
            <a:r>
              <a:rPr lang="en-ID"/>
              <a:t>4. Pada nomor 2, kelompokan berdasarkan nama client, (group by)</a:t>
            </a:r>
          </a:p>
          <a:p>
            <a:pPr marL="0" lvl="0" indent="0" algn="l" rtl="0">
              <a:spcBef>
                <a:spcPts val="0"/>
              </a:spcBef>
              <a:spcAft>
                <a:spcPts val="0"/>
              </a:spcAft>
              <a:buClr>
                <a:schemeClr val="dk1"/>
              </a:buClr>
              <a:buSzPts val="1200"/>
              <a:buFont typeface="Noto Sans Symbols"/>
              <a:buNone/>
            </a:pPr>
            <a:r>
              <a:rPr lang="en-ID"/>
              <a:t>5. Pada nomor 3, siapa saja 5 nama client dengan nilai bayar paling besar?</a:t>
            </a:r>
          </a:p>
          <a:p>
            <a:pPr marL="0" lvl="0" indent="0" algn="l" rtl="0">
              <a:spcBef>
                <a:spcPts val="0"/>
              </a:spcBef>
              <a:spcAft>
                <a:spcPts val="0"/>
              </a:spcAft>
              <a:buClr>
                <a:schemeClr val="dk1"/>
              </a:buClr>
              <a:buSzPts val="1200"/>
              <a:buFont typeface="Noto Sans Symbols"/>
              <a:buNone/>
            </a:pPr>
            <a:r>
              <a:rPr lang="en-ID"/>
              <a:t>6. Tampilkan nama, total order pada akun 'walmart’</a:t>
            </a:r>
          </a:p>
          <a:p>
            <a:pPr marL="0" lvl="0" indent="0" algn="l" rtl="0">
              <a:spcBef>
                <a:spcPts val="0"/>
              </a:spcBef>
              <a:spcAft>
                <a:spcPts val="0"/>
              </a:spcAft>
              <a:buClr>
                <a:schemeClr val="dk1"/>
              </a:buClr>
              <a:buSzPts val="1200"/>
              <a:buFont typeface="Noto Sans Symbols"/>
              <a:buNone/>
            </a:pPr>
            <a:r>
              <a:rPr lang="en-ID"/>
              <a:t>7. Berapa rata-rata jumlah bayar untuk semua clien?</a:t>
            </a:r>
          </a:p>
          <a:p>
            <a:pPr marL="0" marR="0" lvl="0" indent="0" algn="l" defTabSz="914400" rtl="0" eaLnBrk="1" fontAlgn="auto" latinLnBrk="0" hangingPunct="1">
              <a:lnSpc>
                <a:spcPct val="100000"/>
              </a:lnSpc>
              <a:spcBef>
                <a:spcPts val="0"/>
              </a:spcBef>
              <a:spcAft>
                <a:spcPts val="0"/>
              </a:spcAft>
              <a:buClr>
                <a:schemeClr val="dk1"/>
              </a:buClr>
              <a:buSzPts val="1200"/>
              <a:buFont typeface="Noto Sans Symbols"/>
              <a:buNone/>
              <a:tabLst/>
              <a:defRPr/>
            </a:pPr>
            <a:r>
              <a:rPr lang="en-ID"/>
              <a:t>8. Berapa jumlah client dalam basis data? </a:t>
            </a:r>
          </a:p>
          <a:p>
            <a:pPr marL="0" lvl="0" indent="0" algn="l" rtl="0">
              <a:spcBef>
                <a:spcPts val="0"/>
              </a:spcBef>
              <a:spcAft>
                <a:spcPts val="0"/>
              </a:spcAft>
              <a:buClr>
                <a:schemeClr val="dk1"/>
              </a:buClr>
              <a:buSzPts val="1200"/>
              <a:buFont typeface="Noto Sans Symbols"/>
              <a:buNone/>
            </a:pPr>
            <a:endParaRPr lang="en-ID"/>
          </a:p>
          <a:p>
            <a:pPr marL="0" lvl="0" indent="0" algn="l" rtl="0">
              <a:spcBef>
                <a:spcPts val="0"/>
              </a:spcBef>
              <a:spcAft>
                <a:spcPts val="0"/>
              </a:spcAft>
              <a:buClr>
                <a:schemeClr val="dk1"/>
              </a:buClr>
              <a:buSzPts val="1200"/>
              <a:buFont typeface="Noto Sans Symbols"/>
              <a:buNone/>
            </a:pPr>
            <a:endParaRPr/>
          </a:p>
        </p:txBody>
      </p:sp>
      <p:sp>
        <p:nvSpPr>
          <p:cNvPr id="643" name="Google Shape;643;g2976b235820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76</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2976b235820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2976b235820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D" b="1">
                <a:solidFill>
                  <a:srgbClr val="0F2B3D"/>
                </a:solidFill>
                <a:highlight>
                  <a:srgbClr val="F7F7F8"/>
                </a:highlight>
                <a:latin typeface="Courier New"/>
                <a:ea typeface="Courier New"/>
                <a:cs typeface="Courier New"/>
                <a:sym typeface="Courier New"/>
              </a:rPr>
              <a:t>SELECT</a:t>
            </a:r>
            <a:r>
              <a:rPr lang="en-ID">
                <a:solidFill>
                  <a:srgbClr val="0F2B3D"/>
                </a:solidFill>
                <a:highlight>
                  <a:srgbClr val="F7F7F8"/>
                </a:highlight>
                <a:latin typeface="Courier New"/>
                <a:ea typeface="Courier New"/>
                <a:cs typeface="Courier New"/>
                <a:sym typeface="Courier New"/>
              </a:rPr>
              <a:t> * </a:t>
            </a:r>
            <a:r>
              <a:rPr lang="en-ID" b="1">
                <a:solidFill>
                  <a:srgbClr val="0F2B3D"/>
                </a:solidFill>
                <a:highlight>
                  <a:srgbClr val="F7F7F8"/>
                </a:highlight>
                <a:latin typeface="Courier New"/>
                <a:ea typeface="Courier New"/>
                <a:cs typeface="Courier New"/>
                <a:sym typeface="Courier New"/>
              </a:rPr>
              <a:t>FROM</a:t>
            </a:r>
            <a:r>
              <a:rPr lang="en-ID">
                <a:solidFill>
                  <a:srgbClr val="0F2B3D"/>
                </a:solidFill>
                <a:highlight>
                  <a:srgbClr val="F7F7F8"/>
                </a:highlight>
                <a:latin typeface="Courier New"/>
                <a:ea typeface="Courier New"/>
                <a:cs typeface="Courier New"/>
                <a:sym typeface="Courier New"/>
              </a:rPr>
              <a:t> web_events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accounts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web_events.account_id = accounts.id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orders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accounts.id = orders.account_id</a:t>
            </a:r>
            <a:endParaRPr/>
          </a:p>
        </p:txBody>
      </p:sp>
      <p:sp>
        <p:nvSpPr>
          <p:cNvPr id="653" name="Google Shape;653;g2976b235820_0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77</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976b235820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2976b235820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D" b="1">
                <a:solidFill>
                  <a:srgbClr val="0F2B3D"/>
                </a:solidFill>
                <a:highlight>
                  <a:srgbClr val="F7F7F8"/>
                </a:highlight>
                <a:latin typeface="Courier New"/>
                <a:ea typeface="Courier New"/>
                <a:cs typeface="Courier New"/>
                <a:sym typeface="Courier New"/>
              </a:rPr>
              <a:t>SELECT</a:t>
            </a:r>
            <a:r>
              <a:rPr lang="en-ID">
                <a:solidFill>
                  <a:srgbClr val="0F2B3D"/>
                </a:solidFill>
                <a:highlight>
                  <a:srgbClr val="F7F7F8"/>
                </a:highlight>
                <a:latin typeface="Courier New"/>
                <a:ea typeface="Courier New"/>
                <a:cs typeface="Courier New"/>
                <a:sym typeface="Courier New"/>
              </a:rPr>
              <a:t> a.primary_poc, w.occurred_at, w.channel, a.name </a:t>
            </a:r>
            <a:r>
              <a:rPr lang="en-ID" b="1">
                <a:solidFill>
                  <a:srgbClr val="0F2B3D"/>
                </a:solidFill>
                <a:highlight>
                  <a:srgbClr val="F7F7F8"/>
                </a:highlight>
                <a:latin typeface="Courier New"/>
                <a:ea typeface="Courier New"/>
                <a:cs typeface="Courier New"/>
                <a:sym typeface="Courier New"/>
              </a:rPr>
              <a:t>FROM</a:t>
            </a:r>
            <a:r>
              <a:rPr lang="en-ID">
                <a:solidFill>
                  <a:srgbClr val="0F2B3D"/>
                </a:solidFill>
                <a:highlight>
                  <a:srgbClr val="F7F7F8"/>
                </a:highlight>
                <a:latin typeface="Courier New"/>
                <a:ea typeface="Courier New"/>
                <a:cs typeface="Courier New"/>
                <a:sym typeface="Courier New"/>
              </a:rPr>
              <a:t> web_events w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accounts a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w.account_id = a.id </a:t>
            </a:r>
            <a:r>
              <a:rPr lang="en-ID" b="1">
                <a:solidFill>
                  <a:srgbClr val="0F2B3D"/>
                </a:solidFill>
                <a:highlight>
                  <a:srgbClr val="F7F7F8"/>
                </a:highlight>
                <a:latin typeface="Courier New"/>
                <a:ea typeface="Courier New"/>
                <a:cs typeface="Courier New"/>
                <a:sym typeface="Courier New"/>
              </a:rPr>
              <a:t>WHERE</a:t>
            </a:r>
            <a:r>
              <a:rPr lang="en-ID">
                <a:solidFill>
                  <a:srgbClr val="0F2B3D"/>
                </a:solidFill>
                <a:highlight>
                  <a:srgbClr val="F7F7F8"/>
                </a:highlight>
                <a:latin typeface="Courier New"/>
                <a:ea typeface="Courier New"/>
                <a:cs typeface="Courier New"/>
                <a:sym typeface="Courier New"/>
              </a:rPr>
              <a:t> a.name = </a:t>
            </a:r>
            <a:r>
              <a:rPr lang="en-ID">
                <a:solidFill>
                  <a:srgbClr val="DD1144"/>
                </a:solidFill>
                <a:highlight>
                  <a:srgbClr val="F7F7F8"/>
                </a:highlight>
                <a:latin typeface="Courier New"/>
                <a:ea typeface="Courier New"/>
                <a:cs typeface="Courier New"/>
                <a:sym typeface="Courier New"/>
              </a:rPr>
              <a:t>'Walmart'</a:t>
            </a:r>
            <a:r>
              <a:rPr lang="en-ID">
                <a:solidFill>
                  <a:srgbClr val="0F2B3D"/>
                </a:solidFill>
                <a:highlight>
                  <a:srgbClr val="F7F7F8"/>
                </a:highlight>
                <a:latin typeface="Courier New"/>
                <a:ea typeface="Courier New"/>
                <a:cs typeface="Courier New"/>
                <a:sym typeface="Courier New"/>
              </a:rPr>
              <a:t>;</a:t>
            </a: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r>
              <a:rPr lang="en-ID" b="1">
                <a:solidFill>
                  <a:srgbClr val="0F2B3D"/>
                </a:solidFill>
                <a:highlight>
                  <a:srgbClr val="F7F7F8"/>
                </a:highlight>
                <a:latin typeface="Courier New"/>
                <a:ea typeface="Courier New"/>
                <a:cs typeface="Courier New"/>
                <a:sym typeface="Courier New"/>
              </a:rPr>
              <a:t>SELECT</a:t>
            </a:r>
            <a:r>
              <a:rPr lang="en-ID">
                <a:solidFill>
                  <a:srgbClr val="0F2B3D"/>
                </a:solidFill>
                <a:highlight>
                  <a:srgbClr val="F7F7F8"/>
                </a:highlight>
                <a:latin typeface="Courier New"/>
                <a:ea typeface="Courier New"/>
                <a:cs typeface="Courier New"/>
                <a:sym typeface="Courier New"/>
              </a:rPr>
              <a:t> r.name region, s.name rep, a.name account </a:t>
            </a:r>
            <a:r>
              <a:rPr lang="en-ID" b="1">
                <a:solidFill>
                  <a:srgbClr val="0F2B3D"/>
                </a:solidFill>
                <a:highlight>
                  <a:srgbClr val="F7F7F8"/>
                </a:highlight>
                <a:latin typeface="Courier New"/>
                <a:ea typeface="Courier New"/>
                <a:cs typeface="Courier New"/>
                <a:sym typeface="Courier New"/>
              </a:rPr>
              <a:t>FROM</a:t>
            </a:r>
            <a:r>
              <a:rPr lang="en-ID">
                <a:solidFill>
                  <a:srgbClr val="0F2B3D"/>
                </a:solidFill>
                <a:highlight>
                  <a:srgbClr val="F7F7F8"/>
                </a:highlight>
                <a:latin typeface="Courier New"/>
                <a:ea typeface="Courier New"/>
                <a:cs typeface="Courier New"/>
                <a:sym typeface="Courier New"/>
              </a:rPr>
              <a:t> sales_reps s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region r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s.region_id = r.id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accounts a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a.sales_rep_id = s.id </a:t>
            </a:r>
            <a:r>
              <a:rPr lang="en-ID" b="1">
                <a:solidFill>
                  <a:srgbClr val="0F2B3D"/>
                </a:solidFill>
                <a:highlight>
                  <a:srgbClr val="F7F7F8"/>
                </a:highlight>
                <a:latin typeface="Courier New"/>
                <a:ea typeface="Courier New"/>
                <a:cs typeface="Courier New"/>
                <a:sym typeface="Courier New"/>
              </a:rPr>
              <a:t>ORDER</a:t>
            </a:r>
            <a:r>
              <a:rPr lang="en-ID">
                <a:solidFill>
                  <a:srgbClr val="0F2B3D"/>
                </a:solidFill>
                <a:highlight>
                  <a:srgbClr val="F7F7F8"/>
                </a:highlight>
                <a:latin typeface="Courier New"/>
                <a:ea typeface="Courier New"/>
                <a:cs typeface="Courier New"/>
                <a:sym typeface="Courier New"/>
              </a:rPr>
              <a:t> </a:t>
            </a:r>
            <a:r>
              <a:rPr lang="en-ID" b="1">
                <a:solidFill>
                  <a:srgbClr val="0F2B3D"/>
                </a:solidFill>
                <a:highlight>
                  <a:srgbClr val="F7F7F8"/>
                </a:highlight>
                <a:latin typeface="Courier New"/>
                <a:ea typeface="Courier New"/>
                <a:cs typeface="Courier New"/>
                <a:sym typeface="Courier New"/>
              </a:rPr>
              <a:t>BY</a:t>
            </a:r>
            <a:r>
              <a:rPr lang="en-ID">
                <a:solidFill>
                  <a:srgbClr val="0F2B3D"/>
                </a:solidFill>
                <a:highlight>
                  <a:srgbClr val="F7F7F8"/>
                </a:highlight>
                <a:latin typeface="Courier New"/>
                <a:ea typeface="Courier New"/>
                <a:cs typeface="Courier New"/>
                <a:sym typeface="Courier New"/>
              </a:rPr>
              <a:t> a.name;</a:t>
            </a: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r>
              <a:rPr lang="en-ID" b="1">
                <a:solidFill>
                  <a:srgbClr val="0F2B3D"/>
                </a:solidFill>
                <a:highlight>
                  <a:srgbClr val="F7F7F8"/>
                </a:highlight>
                <a:latin typeface="Courier New"/>
                <a:ea typeface="Courier New"/>
                <a:cs typeface="Courier New"/>
                <a:sym typeface="Courier New"/>
              </a:rPr>
              <a:t>SELECT</a:t>
            </a:r>
            <a:r>
              <a:rPr lang="en-ID">
                <a:solidFill>
                  <a:srgbClr val="0F2B3D"/>
                </a:solidFill>
                <a:highlight>
                  <a:srgbClr val="F7F7F8"/>
                </a:highlight>
                <a:latin typeface="Courier New"/>
                <a:ea typeface="Courier New"/>
                <a:cs typeface="Courier New"/>
                <a:sym typeface="Courier New"/>
              </a:rPr>
              <a:t> r.name region, a.name account, o.total_amt_usd/(o.total + </a:t>
            </a:r>
            <a:r>
              <a:rPr lang="en-ID">
                <a:solidFill>
                  <a:srgbClr val="027C7C"/>
                </a:solidFill>
                <a:highlight>
                  <a:srgbClr val="F7F7F8"/>
                </a:highlight>
                <a:latin typeface="Courier New"/>
                <a:ea typeface="Courier New"/>
                <a:cs typeface="Courier New"/>
                <a:sym typeface="Courier New"/>
              </a:rPr>
              <a:t>0.01</a:t>
            </a:r>
            <a:r>
              <a:rPr lang="en-ID">
                <a:solidFill>
                  <a:srgbClr val="0F2B3D"/>
                </a:solidFill>
                <a:highlight>
                  <a:srgbClr val="F7F7F8"/>
                </a:highlight>
                <a:latin typeface="Courier New"/>
                <a:ea typeface="Courier New"/>
                <a:cs typeface="Courier New"/>
                <a:sym typeface="Courier New"/>
              </a:rPr>
              <a:t>) unit_price </a:t>
            </a:r>
            <a:r>
              <a:rPr lang="en-ID" b="1">
                <a:solidFill>
                  <a:srgbClr val="0F2B3D"/>
                </a:solidFill>
                <a:highlight>
                  <a:srgbClr val="F7F7F8"/>
                </a:highlight>
                <a:latin typeface="Courier New"/>
                <a:ea typeface="Courier New"/>
                <a:cs typeface="Courier New"/>
                <a:sym typeface="Courier New"/>
              </a:rPr>
              <a:t>FROM</a:t>
            </a:r>
            <a:r>
              <a:rPr lang="en-ID">
                <a:solidFill>
                  <a:srgbClr val="0F2B3D"/>
                </a:solidFill>
                <a:highlight>
                  <a:srgbClr val="F7F7F8"/>
                </a:highlight>
                <a:latin typeface="Courier New"/>
                <a:ea typeface="Courier New"/>
                <a:cs typeface="Courier New"/>
                <a:sym typeface="Courier New"/>
              </a:rPr>
              <a:t> region r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sales_reps s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s.region_id = r.id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accounts a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a.sales_rep_id = s.id </a:t>
            </a:r>
            <a:r>
              <a:rPr lang="en-ID" b="1">
                <a:solidFill>
                  <a:srgbClr val="0F2B3D"/>
                </a:solidFill>
                <a:highlight>
                  <a:srgbClr val="F7F7F8"/>
                </a:highlight>
                <a:latin typeface="Courier New"/>
                <a:ea typeface="Courier New"/>
                <a:cs typeface="Courier New"/>
                <a:sym typeface="Courier New"/>
              </a:rPr>
              <a:t>JOIN</a:t>
            </a:r>
            <a:r>
              <a:rPr lang="en-ID">
                <a:solidFill>
                  <a:srgbClr val="0F2B3D"/>
                </a:solidFill>
                <a:highlight>
                  <a:srgbClr val="F7F7F8"/>
                </a:highlight>
                <a:latin typeface="Courier New"/>
                <a:ea typeface="Courier New"/>
                <a:cs typeface="Courier New"/>
                <a:sym typeface="Courier New"/>
              </a:rPr>
              <a:t> orders o </a:t>
            </a:r>
            <a:r>
              <a:rPr lang="en-ID" b="1">
                <a:solidFill>
                  <a:srgbClr val="0F2B3D"/>
                </a:solidFill>
                <a:highlight>
                  <a:srgbClr val="F7F7F8"/>
                </a:highlight>
                <a:latin typeface="Courier New"/>
                <a:ea typeface="Courier New"/>
                <a:cs typeface="Courier New"/>
                <a:sym typeface="Courier New"/>
              </a:rPr>
              <a:t>ON</a:t>
            </a:r>
            <a:r>
              <a:rPr lang="en-ID">
                <a:solidFill>
                  <a:srgbClr val="0F2B3D"/>
                </a:solidFill>
                <a:highlight>
                  <a:srgbClr val="F7F7F8"/>
                </a:highlight>
                <a:latin typeface="Courier New"/>
                <a:ea typeface="Courier New"/>
                <a:cs typeface="Courier New"/>
                <a:sym typeface="Courier New"/>
              </a:rPr>
              <a:t> o.account_id = a.id;</a:t>
            </a: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endParaRPr>
              <a:solidFill>
                <a:srgbClr val="0F2B3D"/>
              </a:solidFill>
              <a:highlight>
                <a:srgbClr val="F7F7F8"/>
              </a:highlight>
              <a:latin typeface="Courier New"/>
              <a:ea typeface="Courier New"/>
              <a:cs typeface="Courier New"/>
              <a:sym typeface="Courier New"/>
            </a:endParaRPr>
          </a:p>
          <a:p>
            <a:pPr marL="0" lvl="0" indent="0" algn="l" rtl="0">
              <a:spcBef>
                <a:spcPts val="0"/>
              </a:spcBef>
              <a:spcAft>
                <a:spcPts val="0"/>
              </a:spcAft>
              <a:buNone/>
            </a:pPr>
            <a:r>
              <a:rPr lang="en-ID">
                <a:solidFill>
                  <a:srgbClr val="0F2B3D"/>
                </a:solidFill>
                <a:highlight>
                  <a:srgbClr val="F7F7F8"/>
                </a:highlight>
                <a:latin typeface="Courier New"/>
                <a:ea typeface="Courier New"/>
                <a:cs typeface="Courier New"/>
                <a:sym typeface="Courier New"/>
              </a:rPr>
              <a:t># latihan sql lain</a:t>
            </a:r>
            <a:endParaRPr>
              <a:solidFill>
                <a:srgbClr val="0F2B3D"/>
              </a:solidFill>
              <a:highlight>
                <a:srgbClr val="F7F7F8"/>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accounts</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name, website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accounts</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name, website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accounts </a:t>
            </a:r>
            <a:r>
              <a:rPr lang="en-ID" sz="1000" b="1">
                <a:solidFill>
                  <a:srgbClr val="800000"/>
                </a:solidFill>
                <a:highlight>
                  <a:schemeClr val="lt1"/>
                </a:highlight>
                <a:latin typeface="Courier New"/>
                <a:ea typeface="Courier New"/>
                <a:cs typeface="Courier New"/>
                <a:sym typeface="Courier New"/>
              </a:rPr>
              <a:t>WHERE</a:t>
            </a:r>
            <a:r>
              <a:rPr lang="en-ID" sz="1000">
                <a:highlight>
                  <a:schemeClr val="lt1"/>
                </a:highlight>
                <a:latin typeface="Courier New"/>
                <a:ea typeface="Courier New"/>
                <a:cs typeface="Courier New"/>
                <a:sym typeface="Courier New"/>
              </a:rPr>
              <a:t> name=</a:t>
            </a:r>
            <a:r>
              <a:rPr lang="en-ID" sz="1000">
                <a:solidFill>
                  <a:srgbClr val="008000"/>
                </a:solidFill>
                <a:highlight>
                  <a:schemeClr val="lt1"/>
                </a:highlight>
                <a:latin typeface="Courier New"/>
                <a:ea typeface="Courier New"/>
                <a:cs typeface="Courier New"/>
                <a:sym typeface="Courier New"/>
              </a:rPr>
              <a:t>'Apple'</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orders </a:t>
            </a:r>
            <a:r>
              <a:rPr lang="en-ID" sz="1000" b="1">
                <a:solidFill>
                  <a:srgbClr val="800000"/>
                </a:solidFill>
                <a:highlight>
                  <a:schemeClr val="lt1"/>
                </a:highlight>
                <a:latin typeface="Courier New"/>
                <a:ea typeface="Courier New"/>
                <a:cs typeface="Courier New"/>
                <a:sym typeface="Courier New"/>
              </a:rPr>
              <a:t>WHERE</a:t>
            </a:r>
            <a:r>
              <a:rPr lang="en-ID" sz="1000">
                <a:highlight>
                  <a:schemeClr val="lt1"/>
                </a:highlight>
                <a:latin typeface="Courier New"/>
                <a:ea typeface="Courier New"/>
                <a:cs typeface="Courier New"/>
                <a:sym typeface="Courier New"/>
              </a:rPr>
              <a:t> total &lt; </a:t>
            </a:r>
            <a:r>
              <a:rPr lang="en-ID" sz="1000">
                <a:solidFill>
                  <a:srgbClr val="0000FF"/>
                </a:solidFill>
                <a:highlight>
                  <a:schemeClr val="lt1"/>
                </a:highlight>
                <a:latin typeface="Courier New"/>
                <a:ea typeface="Courier New"/>
                <a:cs typeface="Courier New"/>
                <a:sym typeface="Courier New"/>
              </a:rPr>
              <a:t>100</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web_events </a:t>
            </a:r>
            <a:r>
              <a:rPr lang="en-ID" sz="1000" b="1">
                <a:solidFill>
                  <a:srgbClr val="800000"/>
                </a:solidFill>
                <a:highlight>
                  <a:schemeClr val="lt1"/>
                </a:highlight>
                <a:latin typeface="Courier New"/>
                <a:ea typeface="Courier New"/>
                <a:cs typeface="Courier New"/>
                <a:sym typeface="Courier New"/>
              </a:rPr>
              <a:t>WHERE</a:t>
            </a:r>
            <a:r>
              <a:rPr lang="en-ID" sz="1000">
                <a:highlight>
                  <a:schemeClr val="lt1"/>
                </a:highlight>
                <a:latin typeface="Courier New"/>
                <a:ea typeface="Courier New"/>
                <a:cs typeface="Courier New"/>
                <a:sym typeface="Courier New"/>
              </a:rPr>
              <a:t> channel </a:t>
            </a:r>
            <a:r>
              <a:rPr lang="en-ID" sz="1000" b="1">
                <a:solidFill>
                  <a:srgbClr val="800000"/>
                </a:solidFill>
                <a:highlight>
                  <a:schemeClr val="lt1"/>
                </a:highlight>
                <a:latin typeface="Courier New"/>
                <a:ea typeface="Courier New"/>
                <a:cs typeface="Courier New"/>
                <a:sym typeface="Courier New"/>
              </a:rPr>
              <a:t>not</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IN</a:t>
            </a:r>
            <a:r>
              <a:rPr lang="en-ID" sz="1000">
                <a:highlight>
                  <a:schemeClr val="lt1"/>
                </a:highlight>
                <a:latin typeface="Courier New"/>
                <a:ea typeface="Courier New"/>
                <a:cs typeface="Courier New"/>
                <a:sym typeface="Courier New"/>
              </a:rPr>
              <a:t> (</a:t>
            </a:r>
            <a:r>
              <a:rPr lang="en-ID" sz="1000">
                <a:solidFill>
                  <a:srgbClr val="008000"/>
                </a:solidFill>
                <a:highlight>
                  <a:schemeClr val="lt1"/>
                </a:highlight>
                <a:latin typeface="Courier New"/>
                <a:ea typeface="Courier New"/>
                <a:cs typeface="Courier New"/>
                <a:sym typeface="Courier New"/>
              </a:rPr>
              <a:t>'banner'</a:t>
            </a:r>
            <a:r>
              <a:rPr lang="en-ID" sz="1000">
                <a:highlight>
                  <a:schemeClr val="lt1"/>
                </a:highlight>
                <a:latin typeface="Courier New"/>
                <a:ea typeface="Courier New"/>
                <a:cs typeface="Courier New"/>
                <a:sym typeface="Courier New"/>
              </a:rPr>
              <a:t>,</a:t>
            </a:r>
            <a:r>
              <a:rPr lang="en-ID" sz="1000">
                <a:solidFill>
                  <a:srgbClr val="008000"/>
                </a:solidFill>
                <a:highlight>
                  <a:schemeClr val="lt1"/>
                </a:highlight>
                <a:latin typeface="Courier New"/>
                <a:ea typeface="Courier New"/>
                <a:cs typeface="Courier New"/>
                <a:sym typeface="Courier New"/>
              </a:rPr>
              <a:t>'facebook'</a:t>
            </a:r>
            <a:r>
              <a:rPr lang="en-ID" sz="1000">
                <a:highlight>
                  <a:schemeClr val="lt1"/>
                </a:highlight>
                <a:latin typeface="Courier New"/>
                <a:ea typeface="Courier New"/>
                <a:cs typeface="Courier New"/>
                <a:sym typeface="Courier New"/>
              </a:rPr>
              <a:t>)</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web_events </a:t>
            </a:r>
            <a:r>
              <a:rPr lang="en-ID" sz="1000" b="1">
                <a:solidFill>
                  <a:srgbClr val="800000"/>
                </a:solidFill>
                <a:highlight>
                  <a:schemeClr val="lt1"/>
                </a:highlight>
                <a:latin typeface="Courier New"/>
                <a:ea typeface="Courier New"/>
                <a:cs typeface="Courier New"/>
                <a:sym typeface="Courier New"/>
              </a:rPr>
              <a:t>WHERE</a:t>
            </a:r>
            <a:r>
              <a:rPr lang="en-ID" sz="1000">
                <a:highlight>
                  <a:schemeClr val="lt1"/>
                </a:highlight>
                <a:latin typeface="Courier New"/>
                <a:ea typeface="Courier New"/>
                <a:cs typeface="Courier New"/>
                <a:sym typeface="Courier New"/>
              </a:rPr>
              <a:t> occurred_at </a:t>
            </a:r>
            <a:r>
              <a:rPr lang="en-ID" sz="1000" b="1">
                <a:solidFill>
                  <a:srgbClr val="800000"/>
                </a:solidFill>
                <a:highlight>
                  <a:schemeClr val="lt1"/>
                </a:highlight>
                <a:latin typeface="Courier New"/>
                <a:ea typeface="Courier New"/>
                <a:cs typeface="Courier New"/>
                <a:sym typeface="Courier New"/>
              </a:rPr>
              <a:t>BETWEEN</a:t>
            </a:r>
            <a:r>
              <a:rPr lang="en-ID" sz="1000">
                <a:highlight>
                  <a:schemeClr val="lt1"/>
                </a:highlight>
                <a:latin typeface="Courier New"/>
                <a:ea typeface="Courier New"/>
                <a:cs typeface="Courier New"/>
                <a:sym typeface="Courier New"/>
              </a:rPr>
              <a:t> </a:t>
            </a:r>
            <a:r>
              <a:rPr lang="en-ID" sz="1000">
                <a:solidFill>
                  <a:srgbClr val="008000"/>
                </a:solidFill>
                <a:highlight>
                  <a:schemeClr val="lt1"/>
                </a:highlight>
                <a:latin typeface="Courier New"/>
                <a:ea typeface="Courier New"/>
                <a:cs typeface="Courier New"/>
                <a:sym typeface="Courier New"/>
              </a:rPr>
              <a:t>'2015-01-01'</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AND</a:t>
            </a:r>
            <a:r>
              <a:rPr lang="en-ID" sz="1000">
                <a:highlight>
                  <a:schemeClr val="lt1"/>
                </a:highlight>
                <a:latin typeface="Courier New"/>
                <a:ea typeface="Courier New"/>
                <a:cs typeface="Courier New"/>
                <a:sym typeface="Courier New"/>
              </a:rPr>
              <a:t> </a:t>
            </a:r>
            <a:r>
              <a:rPr lang="en-ID" sz="1000">
                <a:solidFill>
                  <a:srgbClr val="008000"/>
                </a:solidFill>
                <a:highlight>
                  <a:schemeClr val="lt1"/>
                </a:highlight>
                <a:latin typeface="Courier New"/>
                <a:ea typeface="Courier New"/>
                <a:cs typeface="Courier New"/>
                <a:sym typeface="Courier New"/>
              </a:rPr>
              <a:t>'2015-03-31'</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name, website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accounts </a:t>
            </a:r>
            <a:r>
              <a:rPr lang="en-ID" sz="1000" b="1">
                <a:solidFill>
                  <a:srgbClr val="800000"/>
                </a:solidFill>
                <a:highlight>
                  <a:schemeClr val="lt1"/>
                </a:highlight>
                <a:latin typeface="Courier New"/>
                <a:ea typeface="Courier New"/>
                <a:cs typeface="Courier New"/>
                <a:sym typeface="Courier New"/>
              </a:rPr>
              <a:t>WHERE</a:t>
            </a:r>
            <a:r>
              <a:rPr lang="en-ID" sz="1000">
                <a:highlight>
                  <a:schemeClr val="lt1"/>
                </a:highlight>
                <a:latin typeface="Courier New"/>
                <a:ea typeface="Courier New"/>
                <a:cs typeface="Courier New"/>
                <a:sym typeface="Courier New"/>
              </a:rPr>
              <a:t> name </a:t>
            </a:r>
            <a:r>
              <a:rPr lang="en-ID" sz="1000" b="1">
                <a:solidFill>
                  <a:srgbClr val="800000"/>
                </a:solidFill>
                <a:highlight>
                  <a:schemeClr val="lt1"/>
                </a:highlight>
                <a:latin typeface="Courier New"/>
                <a:ea typeface="Courier New"/>
                <a:cs typeface="Courier New"/>
                <a:sym typeface="Courier New"/>
              </a:rPr>
              <a:t>LIKE</a:t>
            </a:r>
            <a:r>
              <a:rPr lang="en-ID" sz="1000">
                <a:highlight>
                  <a:schemeClr val="lt1"/>
                </a:highlight>
                <a:latin typeface="Courier New"/>
                <a:ea typeface="Courier New"/>
                <a:cs typeface="Courier New"/>
                <a:sym typeface="Courier New"/>
              </a:rPr>
              <a:t> </a:t>
            </a:r>
            <a:r>
              <a:rPr lang="en-ID" sz="1000">
                <a:solidFill>
                  <a:srgbClr val="008000"/>
                </a:solidFill>
                <a:highlight>
                  <a:schemeClr val="lt1"/>
                </a:highlight>
                <a:latin typeface="Courier New"/>
                <a:ea typeface="Courier New"/>
                <a:cs typeface="Courier New"/>
                <a:sym typeface="Courier New"/>
              </a:rPr>
              <a:t>'%p__'</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DISTINCT</a:t>
            </a:r>
            <a:r>
              <a:rPr lang="en-ID" sz="1000">
                <a:highlight>
                  <a:schemeClr val="lt1"/>
                </a:highlight>
                <a:latin typeface="Courier New"/>
                <a:ea typeface="Courier New"/>
                <a:cs typeface="Courier New"/>
                <a:sym typeface="Courier New"/>
              </a:rPr>
              <a:t>(channel)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web_events</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name, website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accounts </a:t>
            </a: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name </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sales_reps sr </a:t>
            </a: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region_id , name </a:t>
            </a:r>
            <a:r>
              <a:rPr lang="en-ID" sz="1000" b="1">
                <a:solidFill>
                  <a:srgbClr val="800000"/>
                </a:solidFill>
                <a:highlight>
                  <a:schemeClr val="lt1"/>
                </a:highlight>
                <a:latin typeface="Courier New"/>
                <a:ea typeface="Courier New"/>
                <a:cs typeface="Courier New"/>
                <a:sym typeface="Courier New"/>
              </a:rPr>
              <a:t>desc</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a:t>
            </a:r>
            <a:r>
              <a:rPr lang="en-ID" sz="1000" b="1">
                <a:solidFill>
                  <a:srgbClr val="000080"/>
                </a:solidFill>
                <a:highlight>
                  <a:schemeClr val="lt1"/>
                </a:highlight>
                <a:latin typeface="Courier New"/>
                <a:ea typeface="Courier New"/>
                <a:cs typeface="Courier New"/>
                <a:sym typeface="Courier New"/>
              </a:rPr>
              <a:t>COUNT</a:t>
            </a:r>
            <a:r>
              <a:rPr lang="en-ID" sz="1000">
                <a:highlight>
                  <a:schemeClr val="lt1"/>
                </a:highlight>
                <a:latin typeface="Courier New"/>
                <a:ea typeface="Courier New"/>
                <a:cs typeface="Courier New"/>
                <a:sym typeface="Courier New"/>
              </a:rPr>
              <a:t>(id) </a:t>
            </a:r>
            <a:r>
              <a:rPr lang="en-ID" sz="1000" b="1">
                <a:solidFill>
                  <a:srgbClr val="800000"/>
                </a:solidFill>
                <a:highlight>
                  <a:schemeClr val="lt1"/>
                </a:highlight>
                <a:latin typeface="Courier New"/>
                <a:ea typeface="Courier New"/>
                <a:cs typeface="Courier New"/>
                <a:sym typeface="Courier New"/>
              </a:rPr>
              <a:t>as</a:t>
            </a:r>
            <a:r>
              <a:rPr lang="en-ID" sz="1000">
                <a:highlight>
                  <a:schemeClr val="lt1"/>
                </a:highlight>
                <a:latin typeface="Courier New"/>
                <a:ea typeface="Courier New"/>
                <a:cs typeface="Courier New"/>
                <a:sym typeface="Courier New"/>
              </a:rPr>
              <a:t> sales_representation, region_id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sales_reps </a:t>
            </a: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region_id </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orders</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a:t>
            </a:r>
            <a:r>
              <a:rPr lang="en-ID" sz="1000" b="1">
                <a:solidFill>
                  <a:srgbClr val="000080"/>
                </a:solidFill>
                <a:highlight>
                  <a:schemeClr val="lt1"/>
                </a:highlight>
                <a:latin typeface="Courier New"/>
                <a:ea typeface="Courier New"/>
                <a:cs typeface="Courier New"/>
                <a:sym typeface="Courier New"/>
              </a:rPr>
              <a:t>SUM</a:t>
            </a:r>
            <a:r>
              <a:rPr lang="en-ID" sz="1000">
                <a:highlight>
                  <a:schemeClr val="lt1"/>
                </a:highlight>
                <a:latin typeface="Courier New"/>
                <a:ea typeface="Courier New"/>
                <a:cs typeface="Courier New"/>
                <a:sym typeface="Courier New"/>
              </a:rPr>
              <a:t>(total_amt_usd) </a:t>
            </a:r>
            <a:r>
              <a:rPr lang="en-ID" sz="1000" b="1">
                <a:solidFill>
                  <a:srgbClr val="800000"/>
                </a:solidFill>
                <a:highlight>
                  <a:schemeClr val="lt1"/>
                </a:highlight>
                <a:latin typeface="Courier New"/>
                <a:ea typeface="Courier New"/>
                <a:cs typeface="Courier New"/>
                <a:sym typeface="Courier New"/>
              </a:rPr>
              <a:t>as</a:t>
            </a:r>
            <a:r>
              <a:rPr lang="en-ID" sz="1000">
                <a:highlight>
                  <a:schemeClr val="lt1"/>
                </a:highlight>
                <a:latin typeface="Courier New"/>
                <a:ea typeface="Courier New"/>
                <a:cs typeface="Courier New"/>
                <a:sym typeface="Courier New"/>
              </a:rPr>
              <a:t> jumlah_total_transaksi_usd,account_id  </a:t>
            </a: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orders </a:t>
            </a: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account_id </a:t>
            </a: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a:t>
            </a:r>
            <a:r>
              <a:rPr lang="en-ID" sz="1000" b="1">
                <a:solidFill>
                  <a:srgbClr val="000080"/>
                </a:solidFill>
                <a:highlight>
                  <a:schemeClr val="lt1"/>
                </a:highlight>
                <a:latin typeface="Courier New"/>
                <a:ea typeface="Courier New"/>
                <a:cs typeface="Courier New"/>
                <a:sym typeface="Courier New"/>
              </a:rPr>
              <a:t>SUM</a:t>
            </a:r>
            <a:r>
              <a:rPr lang="en-ID" sz="1000">
                <a:highlight>
                  <a:schemeClr val="lt1"/>
                </a:highlight>
                <a:latin typeface="Courier New"/>
                <a:ea typeface="Courier New"/>
                <a:cs typeface="Courier New"/>
                <a:sym typeface="Courier New"/>
              </a:rPr>
              <a:t>(total_amt_usd) </a:t>
            </a:r>
            <a:r>
              <a:rPr lang="en-ID" sz="1000" b="1">
                <a:solidFill>
                  <a:srgbClr val="800000"/>
                </a:solidFill>
                <a:highlight>
                  <a:schemeClr val="lt1"/>
                </a:highlight>
                <a:latin typeface="Courier New"/>
                <a:ea typeface="Courier New"/>
                <a:cs typeface="Courier New"/>
                <a:sym typeface="Courier New"/>
              </a:rPr>
              <a:t>DESC</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limit</a:t>
            </a:r>
            <a:r>
              <a:rPr lang="en-ID" sz="1000">
                <a:highlight>
                  <a:schemeClr val="lt1"/>
                </a:highlight>
                <a:latin typeface="Courier New"/>
                <a:ea typeface="Courier New"/>
                <a:cs typeface="Courier New"/>
                <a:sym typeface="Courier New"/>
              </a:rPr>
              <a:t> </a:t>
            </a:r>
            <a:r>
              <a:rPr lang="en-ID" sz="1000">
                <a:solidFill>
                  <a:srgbClr val="0000FF"/>
                </a:solidFill>
                <a:highlight>
                  <a:schemeClr val="lt1"/>
                </a:highlight>
                <a:latin typeface="Courier New"/>
                <a:ea typeface="Courier New"/>
                <a:cs typeface="Courier New"/>
                <a:sym typeface="Courier New"/>
              </a:rPr>
              <a:t>10</a:t>
            </a:r>
            <a:r>
              <a:rPr lang="en-ID" sz="1000">
                <a:solidFill>
                  <a:srgbClr val="FF0000"/>
                </a:solidFill>
                <a:highlight>
                  <a:schemeClr val="lt1"/>
                </a:highlight>
                <a:latin typeface="Courier New"/>
                <a:ea typeface="Courier New"/>
                <a:cs typeface="Courier New"/>
                <a:sym typeface="Courier New"/>
              </a:rPr>
              <a:t>;</a:t>
            </a:r>
            <a:endParaRPr sz="1000">
              <a:solidFill>
                <a:srgbClr val="FF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 urutan perintah dalam penggunaan query</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FROM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WHERE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LIMIT …</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None/>
            </a:pP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808080"/>
                </a:solidFill>
                <a:highlight>
                  <a:schemeClr val="lt1"/>
                </a:highlight>
                <a:latin typeface="Courier New"/>
                <a:ea typeface="Courier New"/>
                <a:cs typeface="Courier New"/>
                <a:sym typeface="Courier New"/>
              </a:rPr>
              <a:t># Berapa jumlah sales reps pada setiap region? (count, join, group by)</a:t>
            </a: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region.name, </a:t>
            </a:r>
            <a:r>
              <a:rPr lang="en-ID" sz="1000" b="1">
                <a:solidFill>
                  <a:srgbClr val="000080"/>
                </a:solidFill>
                <a:highlight>
                  <a:schemeClr val="lt1"/>
                </a:highlight>
                <a:latin typeface="Courier New"/>
                <a:ea typeface="Courier New"/>
                <a:cs typeface="Courier New"/>
                <a:sym typeface="Courier New"/>
              </a:rPr>
              <a:t>COUNT</a:t>
            </a:r>
            <a:r>
              <a:rPr lang="en-ID" sz="1000">
                <a:highlight>
                  <a:schemeClr val="lt1"/>
                </a:highlight>
                <a:latin typeface="Courier New"/>
                <a:ea typeface="Courier New"/>
                <a:cs typeface="Courier New"/>
                <a:sym typeface="Courier New"/>
              </a:rPr>
              <a:t>(sales_reps.name) </a:t>
            </a:r>
            <a:r>
              <a:rPr lang="en-ID" sz="1000" b="1">
                <a:solidFill>
                  <a:srgbClr val="800000"/>
                </a:solidFill>
                <a:highlight>
                  <a:schemeClr val="lt1"/>
                </a:highlight>
                <a:latin typeface="Courier New"/>
                <a:ea typeface="Courier New"/>
                <a:cs typeface="Courier New"/>
                <a:sym typeface="Courier New"/>
              </a:rPr>
              <a:t>as</a:t>
            </a:r>
            <a:r>
              <a:rPr lang="en-ID" sz="1000">
                <a:highlight>
                  <a:schemeClr val="lt1"/>
                </a:highlight>
                <a:latin typeface="Courier New"/>
                <a:ea typeface="Courier New"/>
                <a:cs typeface="Courier New"/>
                <a:sym typeface="Courier New"/>
              </a:rPr>
              <a:t> jumlah_sales_reps</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sales_reps</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join</a:t>
            </a:r>
            <a:r>
              <a:rPr lang="en-ID" sz="1000">
                <a:highlight>
                  <a:schemeClr val="lt1"/>
                </a:highlight>
                <a:latin typeface="Courier New"/>
                <a:ea typeface="Courier New"/>
                <a:cs typeface="Courier New"/>
                <a:sym typeface="Courier New"/>
              </a:rPr>
              <a:t> region </a:t>
            </a:r>
            <a:r>
              <a:rPr lang="en-ID" sz="1000" b="1">
                <a:solidFill>
                  <a:srgbClr val="800000"/>
                </a:solidFill>
                <a:highlight>
                  <a:schemeClr val="lt1"/>
                </a:highlight>
                <a:latin typeface="Courier New"/>
                <a:ea typeface="Courier New"/>
                <a:cs typeface="Courier New"/>
                <a:sym typeface="Courier New"/>
              </a:rPr>
              <a:t>on</a:t>
            </a:r>
            <a:r>
              <a:rPr lang="en-ID" sz="1000">
                <a:highlight>
                  <a:schemeClr val="lt1"/>
                </a:highlight>
                <a:latin typeface="Courier New"/>
                <a:ea typeface="Courier New"/>
                <a:cs typeface="Courier New"/>
                <a:sym typeface="Courier New"/>
              </a:rPr>
              <a:t> region.id = sales_reps.region_id</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region.name</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None/>
            </a:pP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808080"/>
                </a:solidFill>
                <a:highlight>
                  <a:schemeClr val="lt1"/>
                </a:highlight>
                <a:latin typeface="Courier New"/>
                <a:ea typeface="Courier New"/>
                <a:cs typeface="Courier New"/>
                <a:sym typeface="Courier New"/>
              </a:rPr>
              <a:t># Region mana yang memiliki jumlah sales reps paling sedikit?</a:t>
            </a: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region.name, </a:t>
            </a:r>
            <a:r>
              <a:rPr lang="en-ID" sz="1000" b="1">
                <a:solidFill>
                  <a:srgbClr val="000080"/>
                </a:solidFill>
                <a:highlight>
                  <a:schemeClr val="lt1"/>
                </a:highlight>
                <a:latin typeface="Courier New"/>
                <a:ea typeface="Courier New"/>
                <a:cs typeface="Courier New"/>
                <a:sym typeface="Courier New"/>
              </a:rPr>
              <a:t>COUNT</a:t>
            </a:r>
            <a:r>
              <a:rPr lang="en-ID" sz="1000">
                <a:highlight>
                  <a:schemeClr val="lt1"/>
                </a:highlight>
                <a:latin typeface="Courier New"/>
                <a:ea typeface="Courier New"/>
                <a:cs typeface="Courier New"/>
                <a:sym typeface="Courier New"/>
              </a:rPr>
              <a:t>(sales_reps.name) </a:t>
            </a:r>
            <a:r>
              <a:rPr lang="en-ID" sz="1000" b="1">
                <a:solidFill>
                  <a:srgbClr val="800000"/>
                </a:solidFill>
                <a:highlight>
                  <a:schemeClr val="lt1"/>
                </a:highlight>
                <a:latin typeface="Courier New"/>
                <a:ea typeface="Courier New"/>
                <a:cs typeface="Courier New"/>
                <a:sym typeface="Courier New"/>
              </a:rPr>
              <a:t>as</a:t>
            </a:r>
            <a:r>
              <a:rPr lang="en-ID" sz="1000">
                <a:highlight>
                  <a:schemeClr val="lt1"/>
                </a:highlight>
                <a:latin typeface="Courier New"/>
                <a:ea typeface="Courier New"/>
                <a:cs typeface="Courier New"/>
                <a:sym typeface="Courier New"/>
              </a:rPr>
              <a:t> jumlah_sales_reps</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sales_reps</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join</a:t>
            </a:r>
            <a:r>
              <a:rPr lang="en-ID" sz="1000">
                <a:highlight>
                  <a:schemeClr val="lt1"/>
                </a:highlight>
                <a:latin typeface="Courier New"/>
                <a:ea typeface="Courier New"/>
                <a:cs typeface="Courier New"/>
                <a:sym typeface="Courier New"/>
              </a:rPr>
              <a:t> region </a:t>
            </a:r>
            <a:r>
              <a:rPr lang="en-ID" sz="1000" b="1">
                <a:solidFill>
                  <a:srgbClr val="800000"/>
                </a:solidFill>
                <a:highlight>
                  <a:schemeClr val="lt1"/>
                </a:highlight>
                <a:latin typeface="Courier New"/>
                <a:ea typeface="Courier New"/>
                <a:cs typeface="Courier New"/>
                <a:sym typeface="Courier New"/>
              </a:rPr>
              <a:t>on</a:t>
            </a:r>
            <a:r>
              <a:rPr lang="en-ID" sz="1000">
                <a:highlight>
                  <a:schemeClr val="lt1"/>
                </a:highlight>
                <a:latin typeface="Courier New"/>
                <a:ea typeface="Courier New"/>
                <a:cs typeface="Courier New"/>
                <a:sym typeface="Courier New"/>
              </a:rPr>
              <a:t> region.id = sales_reps.region_id</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region.name</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jumlah_sales_reps </a:t>
            </a:r>
            <a:r>
              <a:rPr lang="en-ID" sz="1000" b="1">
                <a:solidFill>
                  <a:srgbClr val="800000"/>
                </a:solidFill>
                <a:highlight>
                  <a:schemeClr val="lt1"/>
                </a:highlight>
                <a:latin typeface="Courier New"/>
                <a:ea typeface="Courier New"/>
                <a:cs typeface="Courier New"/>
                <a:sym typeface="Courier New"/>
              </a:rPr>
              <a:t>desc</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LIMIT</a:t>
            </a:r>
            <a:r>
              <a:rPr lang="en-ID" sz="1000">
                <a:highlight>
                  <a:schemeClr val="lt1"/>
                </a:highlight>
                <a:latin typeface="Courier New"/>
                <a:ea typeface="Courier New"/>
                <a:cs typeface="Courier New"/>
                <a:sym typeface="Courier New"/>
              </a:rPr>
              <a:t> </a:t>
            </a:r>
            <a:r>
              <a:rPr lang="en-ID" sz="1000">
                <a:solidFill>
                  <a:srgbClr val="0000FF"/>
                </a:solidFill>
                <a:highlight>
                  <a:schemeClr val="lt1"/>
                </a:highlight>
                <a:latin typeface="Courier New"/>
                <a:ea typeface="Courier New"/>
                <a:cs typeface="Courier New"/>
                <a:sym typeface="Courier New"/>
              </a:rPr>
              <a:t>1</a:t>
            </a:r>
            <a:endParaRPr sz="1000">
              <a:solidFill>
                <a:srgbClr val="0000FF"/>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None/>
            </a:pP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808080"/>
                </a:solidFill>
                <a:highlight>
                  <a:schemeClr val="lt1"/>
                </a:highlight>
                <a:latin typeface="Courier New"/>
                <a:ea typeface="Courier New"/>
                <a:cs typeface="Courier New"/>
                <a:sym typeface="Courier New"/>
              </a:rPr>
              <a:t># Perusahaan apa yang memiliki jumlah pembayaran terbanyak?</a:t>
            </a: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SELECT</a:t>
            </a:r>
            <a:r>
              <a:rPr lang="en-ID" sz="1000">
                <a:highlight>
                  <a:schemeClr val="lt1"/>
                </a:highlight>
                <a:latin typeface="Courier New"/>
                <a:ea typeface="Courier New"/>
                <a:cs typeface="Courier New"/>
                <a:sym typeface="Courier New"/>
              </a:rPr>
              <a:t> a.name, </a:t>
            </a:r>
            <a:r>
              <a:rPr lang="en-ID" sz="1000" b="1">
                <a:solidFill>
                  <a:srgbClr val="000080"/>
                </a:solidFill>
                <a:highlight>
                  <a:schemeClr val="lt1"/>
                </a:highlight>
                <a:latin typeface="Courier New"/>
                <a:ea typeface="Courier New"/>
                <a:cs typeface="Courier New"/>
                <a:sym typeface="Courier New"/>
              </a:rPr>
              <a:t>sum</a:t>
            </a:r>
            <a:r>
              <a:rPr lang="en-ID" sz="1000">
                <a:highlight>
                  <a:schemeClr val="lt1"/>
                </a:highlight>
                <a:latin typeface="Courier New"/>
                <a:ea typeface="Courier New"/>
                <a:cs typeface="Courier New"/>
                <a:sym typeface="Courier New"/>
              </a:rPr>
              <a:t>(o.total_amt_usd) </a:t>
            </a:r>
            <a:r>
              <a:rPr lang="en-ID" sz="1000" b="1">
                <a:solidFill>
                  <a:srgbClr val="800000"/>
                </a:solidFill>
                <a:highlight>
                  <a:schemeClr val="lt1"/>
                </a:highlight>
                <a:latin typeface="Courier New"/>
                <a:ea typeface="Courier New"/>
                <a:cs typeface="Courier New"/>
                <a:sym typeface="Courier New"/>
              </a:rPr>
              <a:t>as</a:t>
            </a:r>
            <a:r>
              <a:rPr lang="en-ID" sz="1000">
                <a:highlight>
                  <a:schemeClr val="lt1"/>
                </a:highlight>
                <a:latin typeface="Courier New"/>
                <a:ea typeface="Courier New"/>
                <a:cs typeface="Courier New"/>
                <a:sym typeface="Courier New"/>
              </a:rPr>
              <a:t> transaksi_terbesar</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FROM</a:t>
            </a:r>
            <a:r>
              <a:rPr lang="en-ID" sz="1000">
                <a:highlight>
                  <a:schemeClr val="lt1"/>
                </a:highlight>
                <a:latin typeface="Courier New"/>
                <a:ea typeface="Courier New"/>
                <a:cs typeface="Courier New"/>
                <a:sym typeface="Courier New"/>
              </a:rPr>
              <a:t> orders o</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join</a:t>
            </a:r>
            <a:r>
              <a:rPr lang="en-ID" sz="1000">
                <a:highlight>
                  <a:schemeClr val="lt1"/>
                </a:highlight>
                <a:latin typeface="Courier New"/>
                <a:ea typeface="Courier New"/>
                <a:cs typeface="Courier New"/>
                <a:sym typeface="Courier New"/>
              </a:rPr>
              <a:t> accounts a </a:t>
            </a:r>
            <a:r>
              <a:rPr lang="en-ID" sz="1000" b="1">
                <a:solidFill>
                  <a:srgbClr val="800000"/>
                </a:solidFill>
                <a:highlight>
                  <a:schemeClr val="lt1"/>
                </a:highlight>
                <a:latin typeface="Courier New"/>
                <a:ea typeface="Courier New"/>
                <a:cs typeface="Courier New"/>
                <a:sym typeface="Courier New"/>
              </a:rPr>
              <a:t>ON</a:t>
            </a:r>
            <a:r>
              <a:rPr lang="en-ID" sz="1000">
                <a:highlight>
                  <a:schemeClr val="lt1"/>
                </a:highlight>
                <a:latin typeface="Courier New"/>
                <a:ea typeface="Courier New"/>
                <a:cs typeface="Courier New"/>
                <a:sym typeface="Courier New"/>
              </a:rPr>
              <a:t> o.account_id = a.id</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group</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a.name</a:t>
            </a:r>
            <a:endParaRPr sz="1000">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ORDER</a:t>
            </a:r>
            <a:r>
              <a:rPr lang="en-ID" sz="1000">
                <a:highlight>
                  <a:schemeClr val="lt1"/>
                </a:highlight>
                <a:latin typeface="Courier New"/>
                <a:ea typeface="Courier New"/>
                <a:cs typeface="Courier New"/>
                <a:sym typeface="Courier New"/>
              </a:rPr>
              <a:t> </a:t>
            </a:r>
            <a:r>
              <a:rPr lang="en-ID" sz="1000" b="1">
                <a:solidFill>
                  <a:srgbClr val="800000"/>
                </a:solidFill>
                <a:highlight>
                  <a:schemeClr val="lt1"/>
                </a:highlight>
                <a:latin typeface="Courier New"/>
                <a:ea typeface="Courier New"/>
                <a:cs typeface="Courier New"/>
                <a:sym typeface="Courier New"/>
              </a:rPr>
              <a:t>BY</a:t>
            </a:r>
            <a:r>
              <a:rPr lang="en-ID" sz="1000">
                <a:highlight>
                  <a:schemeClr val="lt1"/>
                </a:highlight>
                <a:latin typeface="Courier New"/>
                <a:ea typeface="Courier New"/>
                <a:cs typeface="Courier New"/>
                <a:sym typeface="Courier New"/>
              </a:rPr>
              <a:t> transaksi_terbesar </a:t>
            </a:r>
            <a:r>
              <a:rPr lang="en-ID" sz="1000" b="1">
                <a:solidFill>
                  <a:srgbClr val="800000"/>
                </a:solidFill>
                <a:highlight>
                  <a:schemeClr val="lt1"/>
                </a:highlight>
                <a:latin typeface="Courier New"/>
                <a:ea typeface="Courier New"/>
                <a:cs typeface="Courier New"/>
                <a:sym typeface="Courier New"/>
              </a:rPr>
              <a:t>DESC</a:t>
            </a:r>
            <a:endParaRPr sz="1000" b="1">
              <a:solidFill>
                <a:srgbClr val="80000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800000"/>
                </a:solidFill>
                <a:highlight>
                  <a:schemeClr val="lt1"/>
                </a:highlight>
                <a:latin typeface="Courier New"/>
                <a:ea typeface="Courier New"/>
                <a:cs typeface="Courier New"/>
                <a:sym typeface="Courier New"/>
              </a:rPr>
              <a:t>LIMIT</a:t>
            </a:r>
            <a:r>
              <a:rPr lang="en-ID" sz="1000">
                <a:highlight>
                  <a:schemeClr val="lt1"/>
                </a:highlight>
                <a:latin typeface="Courier New"/>
                <a:ea typeface="Courier New"/>
                <a:cs typeface="Courier New"/>
                <a:sym typeface="Courier New"/>
              </a:rPr>
              <a:t> </a:t>
            </a:r>
            <a:r>
              <a:rPr lang="en-ID" sz="1000">
                <a:solidFill>
                  <a:srgbClr val="0000FF"/>
                </a:solidFill>
                <a:highlight>
                  <a:schemeClr val="lt1"/>
                </a:highlight>
                <a:latin typeface="Courier New"/>
                <a:ea typeface="Courier New"/>
                <a:cs typeface="Courier New"/>
                <a:sym typeface="Courier New"/>
              </a:rPr>
              <a:t>5</a:t>
            </a:r>
            <a:endParaRPr sz="1000">
              <a:solidFill>
                <a:srgbClr val="0000FF"/>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endParaRPr sz="1000">
              <a:solidFill>
                <a:srgbClr val="0000FF"/>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None/>
            </a:pPr>
            <a:r>
              <a:rPr lang="en-ID" sz="1000">
                <a:solidFill>
                  <a:srgbClr val="808080"/>
                </a:solidFill>
                <a:highlight>
                  <a:schemeClr val="lt1"/>
                </a:highlight>
                <a:latin typeface="Courier New"/>
                <a:ea typeface="Courier New"/>
                <a:cs typeface="Courier New"/>
                <a:sym typeface="Courier New"/>
              </a:rPr>
              <a:t># dari region mana perusahaan yang memiliki permbayaran paling banyak?</a:t>
            </a:r>
            <a:endParaRPr sz="1000">
              <a:solidFill>
                <a:srgbClr val="808080"/>
              </a:solidFill>
              <a:highlight>
                <a:schemeClr val="lt1"/>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808080"/>
                </a:solidFill>
                <a:highlight>
                  <a:schemeClr val="lt1"/>
                </a:highlight>
                <a:latin typeface="Courier New"/>
                <a:ea typeface="Courier New"/>
                <a:cs typeface="Courier New"/>
                <a:sym typeface="Courier New"/>
              </a:rPr>
              <a:t>???</a:t>
            </a:r>
            <a:endParaRPr sz="1000">
              <a:solidFill>
                <a:srgbClr val="808080"/>
              </a:solidFill>
              <a:highlight>
                <a:schemeClr val="lt1"/>
              </a:highlight>
              <a:latin typeface="Courier New"/>
              <a:ea typeface="Courier New"/>
              <a:cs typeface="Courier New"/>
              <a:sym typeface="Courier New"/>
            </a:endParaRPr>
          </a:p>
        </p:txBody>
      </p:sp>
      <p:sp>
        <p:nvSpPr>
          <p:cNvPr id="660" name="Google Shape;660;g2976b235820_0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78</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976b23582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g2976b23582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8618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264eb977ef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0" name="Google Shape;590;g264eb977eff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Menambahkan Kolom Kategori Berdasarkan Total Amt USD: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SELECT id,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total_amt_usd,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CASE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total_amt_usd &gt; 10000 THEN 'High'</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total_amt_usd &gt; 5000 THEN 'Medium'</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ELSE 'Low'</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END AS sales_category</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FROM orders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Menambahkan Kolom Status Berdasarkan Tanggal Kejadian Web Events: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SELECT id,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occurred_at,</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CASE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DATE(occurred_at) &gt; '2023-01-01' THEN 'Recent'</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ELSE 'Old'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END AS event_status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FROM web_events;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Menampilkan Nama Sales Representative dan Kategori Jumlah Total Penjualan:</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SELECT sales_reps.name,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SUM(orders.total_amt_usd) AS total_sales,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CASE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SUM(orders.total_amt_usd) &gt; 20000 THEN 'Top Performer'</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SUM(orders.total_amt_usd) &gt; 10000 THEN 'Good Performer'</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ELSE 'Average Performer'</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END AS sales_category</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FROM sales_reps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JOIN accounts ON sales_reps.id = accounts.sales_rep_id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JOIN orders ON accounts.id = orders.account_id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GROUP BY sales_reps.id, sales_reps.name;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Menampilkan Nama Akun dan Kategori Berdasarkan Jumlah Total Penjualan:</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SELECT accounts.name,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SUM(orders.total_amt_usd) AS total_sales,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CASE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SUM(orders.total_amt_usd) &gt; 15000 THEN 'High Sales'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WHEN SUM(orders.total_amt_usd) &gt; 5000 THEN 'Medium Sales'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ELSE 'Low Sales'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       END AS sales_category</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FROM accounts</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LEFT JOIN orders ON accounts.id = orders.account_id</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solidFill>
                  <a:srgbClr val="EBF2FA"/>
                </a:solidFill>
                <a:latin typeface="Courier New"/>
                <a:ea typeface="Courier New"/>
                <a:cs typeface="Courier New"/>
                <a:sym typeface="Courier New"/>
              </a:rPr>
              <a:t>GROUP BY accounts.id, accounts.name</a:t>
            </a:r>
            <a:endParaRPr>
              <a:solidFill>
                <a:srgbClr val="EBF2FA"/>
              </a:solidFill>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solidFill>
                <a:srgbClr val="EBF2FA"/>
              </a:solidFill>
              <a:latin typeface="Courier New"/>
              <a:ea typeface="Courier New"/>
              <a:cs typeface="Courier New"/>
              <a:sym typeface="Courier New"/>
            </a:endParaRPr>
          </a:p>
        </p:txBody>
      </p:sp>
      <p:sp>
        <p:nvSpPr>
          <p:cNvPr id="591" name="Google Shape;591;g264eb977eff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81</a:t>
            </a:fld>
            <a:endParaRPr/>
          </a:p>
        </p:txBody>
      </p:sp>
    </p:spTree>
    <p:extLst>
      <p:ext uri="{BB962C8B-B14F-4D97-AF65-F5344CB8AC3E}">
        <p14:creationId xmlns:p14="http://schemas.microsoft.com/office/powerpoint/2010/main" val="135422304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264eb977eff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264eb977eff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D"/>
              <a:t># Tampilkan Nama-nama Sales Representative berdasarkan kategori berikut:</a:t>
            </a:r>
          </a:p>
          <a:p>
            <a:pPr marL="0" lvl="0" indent="0" algn="l" rtl="0">
              <a:spcBef>
                <a:spcPts val="0"/>
              </a:spcBef>
              <a:spcAft>
                <a:spcPts val="0"/>
              </a:spcAft>
              <a:buNone/>
            </a:pPr>
            <a:endParaRPr lang="en-US"/>
          </a:p>
          <a:p>
            <a:pPr marL="0" lvl="0" indent="0" algn="l" rtl="0">
              <a:spcBef>
                <a:spcPts val="0"/>
              </a:spcBef>
              <a:spcAft>
                <a:spcPts val="0"/>
              </a:spcAft>
              <a:buNone/>
            </a:pPr>
            <a:r>
              <a:rPr lang="en-US"/>
              <a:t>SELECT sr.name AS Sales_Reps_Name, sum(o.total_amt_usd) AS Total,</a:t>
            </a:r>
          </a:p>
          <a:p>
            <a:pPr marL="0" lvl="0" indent="0" algn="l" rtl="0">
              <a:spcBef>
                <a:spcPts val="0"/>
              </a:spcBef>
              <a:spcAft>
                <a:spcPts val="0"/>
              </a:spcAft>
              <a:buNone/>
            </a:pPr>
            <a:r>
              <a:rPr lang="en-US"/>
              <a:t>     CASE</a:t>
            </a:r>
          </a:p>
          <a:p>
            <a:pPr marL="0" lvl="0" indent="0" algn="l" rtl="0">
              <a:spcBef>
                <a:spcPts val="0"/>
              </a:spcBef>
              <a:spcAft>
                <a:spcPts val="0"/>
              </a:spcAft>
              <a:buNone/>
            </a:pPr>
            <a:r>
              <a:rPr lang="en-US"/>
              <a:t>         WHEN sum(o.total_amt_usd) &gt; 800000 THEN "Top Performer"</a:t>
            </a:r>
          </a:p>
          <a:p>
            <a:pPr marL="0" lvl="0" indent="0" algn="l" rtl="0">
              <a:spcBef>
                <a:spcPts val="0"/>
              </a:spcBef>
              <a:spcAft>
                <a:spcPts val="0"/>
              </a:spcAft>
              <a:buNone/>
            </a:pPr>
            <a:r>
              <a:rPr lang="en-US"/>
              <a:t>         WHEN sum(o.total_amt_usd) &gt; 400000 THEN "Good Performer"</a:t>
            </a:r>
          </a:p>
          <a:p>
            <a:pPr marL="0" lvl="0" indent="0" algn="l" rtl="0">
              <a:spcBef>
                <a:spcPts val="0"/>
              </a:spcBef>
              <a:spcAft>
                <a:spcPts val="0"/>
              </a:spcAft>
              <a:buNone/>
            </a:pPr>
            <a:r>
              <a:rPr lang="en-US"/>
              <a:t>         ELSE "Average Peroformer"</a:t>
            </a:r>
          </a:p>
          <a:p>
            <a:pPr marL="0" lvl="0" indent="0" algn="l" rtl="0">
              <a:spcBef>
                <a:spcPts val="0"/>
              </a:spcBef>
              <a:spcAft>
                <a:spcPts val="0"/>
              </a:spcAft>
              <a:buNone/>
            </a:pPr>
            <a:r>
              <a:rPr lang="en-US"/>
              <a:t>     END AS Category_Sales</a:t>
            </a:r>
          </a:p>
          <a:p>
            <a:pPr marL="0" lvl="0" indent="0" algn="l" rtl="0">
              <a:spcBef>
                <a:spcPts val="0"/>
              </a:spcBef>
              <a:spcAft>
                <a:spcPts val="0"/>
              </a:spcAft>
              <a:buNone/>
            </a:pPr>
            <a:r>
              <a:rPr lang="en-US"/>
              <a:t>FROM sales_reps sr</a:t>
            </a:r>
          </a:p>
          <a:p>
            <a:pPr marL="0" lvl="0" indent="0" algn="l" rtl="0">
              <a:spcBef>
                <a:spcPts val="0"/>
              </a:spcBef>
              <a:spcAft>
                <a:spcPts val="0"/>
              </a:spcAft>
              <a:buNone/>
            </a:pPr>
            <a:r>
              <a:rPr lang="en-US"/>
              <a:t>JOIN accounts a</a:t>
            </a:r>
          </a:p>
          <a:p>
            <a:pPr marL="0" lvl="0" indent="0" algn="l" rtl="0">
              <a:spcBef>
                <a:spcPts val="0"/>
              </a:spcBef>
              <a:spcAft>
                <a:spcPts val="0"/>
              </a:spcAft>
              <a:buNone/>
            </a:pPr>
            <a:r>
              <a:rPr lang="en-US"/>
              <a:t>     ON a.sales_rep_id = sr.id</a:t>
            </a:r>
          </a:p>
          <a:p>
            <a:pPr marL="0" lvl="0" indent="0" algn="l" rtl="0">
              <a:spcBef>
                <a:spcPts val="0"/>
              </a:spcBef>
              <a:spcAft>
                <a:spcPts val="0"/>
              </a:spcAft>
              <a:buNone/>
            </a:pPr>
            <a:r>
              <a:rPr lang="en-US"/>
              <a:t>JOIN orders o</a:t>
            </a:r>
          </a:p>
          <a:p>
            <a:pPr marL="0" lvl="0" indent="0" algn="l" rtl="0">
              <a:spcBef>
                <a:spcPts val="0"/>
              </a:spcBef>
              <a:spcAft>
                <a:spcPts val="0"/>
              </a:spcAft>
              <a:buNone/>
            </a:pPr>
            <a:r>
              <a:rPr lang="en-US"/>
              <a:t>     ON a.id = o.account_id</a:t>
            </a:r>
          </a:p>
          <a:p>
            <a:pPr marL="0" lvl="0" indent="0" algn="l" rtl="0">
              <a:spcBef>
                <a:spcPts val="0"/>
              </a:spcBef>
              <a:spcAft>
                <a:spcPts val="0"/>
              </a:spcAft>
              <a:buNone/>
            </a:pPr>
            <a:r>
              <a:rPr lang="en-US"/>
              <a:t>GROUP BY Sales_Reps_Name;</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SELECT *,</a:t>
            </a:r>
          </a:p>
          <a:p>
            <a:pPr marL="0" lvl="0" indent="0" algn="l" rtl="0">
              <a:spcBef>
                <a:spcPts val="0"/>
              </a:spcBef>
              <a:spcAft>
                <a:spcPts val="0"/>
              </a:spcAft>
              <a:buNone/>
            </a:pPr>
            <a:r>
              <a:rPr lang="en-US"/>
              <a:t>     CASE</a:t>
            </a:r>
          </a:p>
          <a:p>
            <a:pPr marL="0" lvl="0" indent="0" algn="l" rtl="0">
              <a:spcBef>
                <a:spcPts val="0"/>
              </a:spcBef>
              <a:spcAft>
                <a:spcPts val="0"/>
              </a:spcAft>
              <a:buNone/>
            </a:pPr>
            <a:r>
              <a:rPr lang="en-US"/>
              <a:t>          WHEN occurred_at &gt; "2016-01-01" THEN "New Activity"</a:t>
            </a:r>
          </a:p>
          <a:p>
            <a:pPr marL="0" lvl="0" indent="0" algn="l" rtl="0">
              <a:spcBef>
                <a:spcPts val="0"/>
              </a:spcBef>
              <a:spcAft>
                <a:spcPts val="0"/>
              </a:spcAft>
              <a:buNone/>
            </a:pPr>
            <a:r>
              <a:rPr lang="en-US"/>
              <a:t>          ELSE "Old Activity"</a:t>
            </a:r>
          </a:p>
          <a:p>
            <a:pPr marL="0" lvl="0" indent="0" algn="l" rtl="0">
              <a:spcBef>
                <a:spcPts val="0"/>
              </a:spcBef>
              <a:spcAft>
                <a:spcPts val="0"/>
              </a:spcAft>
              <a:buNone/>
            </a:pPr>
            <a:r>
              <a:rPr lang="en-US"/>
              <a:t>    END AS STATUS</a:t>
            </a:r>
          </a:p>
          <a:p>
            <a:pPr marL="0" lvl="0" indent="0" algn="l" rtl="0">
              <a:spcBef>
                <a:spcPts val="0"/>
              </a:spcBef>
              <a:spcAft>
                <a:spcPts val="0"/>
              </a:spcAft>
              <a:buNone/>
            </a:pPr>
            <a:r>
              <a:rPr lang="en-US"/>
              <a:t>FROM web_events;</a:t>
            </a:r>
          </a:p>
        </p:txBody>
      </p:sp>
      <p:sp>
        <p:nvSpPr>
          <p:cNvPr id="598" name="Google Shape;598;g264eb977eff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82</a:t>
            </a:fld>
            <a:endParaRPr/>
          </a:p>
        </p:txBody>
      </p:sp>
    </p:spTree>
    <p:extLst>
      <p:ext uri="{BB962C8B-B14F-4D97-AF65-F5344CB8AC3E}">
        <p14:creationId xmlns:p14="http://schemas.microsoft.com/office/powerpoint/2010/main" val="10231258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29a5a70a483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29a5a70a483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g29a5a70a483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83</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84</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6675858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1000"/>
              </a:spcBef>
              <a:spcAft>
                <a:spcPts val="0"/>
              </a:spcAft>
              <a:buNone/>
            </a:pPr>
            <a:r>
              <a:rPr lang="en-US" sz="1200" b="1">
                <a:solidFill>
                  <a:srgbClr val="3F3F3F"/>
                </a:solidFill>
                <a:latin typeface="Century Gothic"/>
                <a:ea typeface="Century Gothic"/>
                <a:cs typeface="Century Gothic"/>
                <a:sym typeface="Century Gothic"/>
              </a:rPr>
              <a:t>CREATE VIEW </a:t>
            </a:r>
            <a:r>
              <a:rPr lang="en-US" sz="1200">
                <a:solidFill>
                  <a:srgbClr val="3F3F3F"/>
                </a:solidFill>
                <a:latin typeface="Century Gothic"/>
                <a:ea typeface="Century Gothic"/>
                <a:cs typeface="Century Gothic"/>
                <a:sym typeface="Century Gothic"/>
              </a:rPr>
              <a:t>sales_reps_perform </a:t>
            </a:r>
            <a:r>
              <a:rPr lang="en-US" sz="1200" b="1">
                <a:solidFill>
                  <a:srgbClr val="3F3F3F"/>
                </a:solidFill>
                <a:latin typeface="Century Gothic"/>
                <a:ea typeface="Century Gothic"/>
                <a:cs typeface="Century Gothic"/>
                <a:sym typeface="Century Gothic"/>
              </a:rPr>
              <a:t>AS </a:t>
            </a:r>
          </a:p>
          <a:p>
            <a:pPr marL="0" lvl="0" indent="0" algn="l" rtl="0">
              <a:spcBef>
                <a:spcPts val="1000"/>
              </a:spcBef>
              <a:spcAft>
                <a:spcPts val="0"/>
              </a:spcAft>
              <a:buNone/>
            </a:pPr>
            <a:r>
              <a:rPr lang="en-US" sz="1200">
                <a:solidFill>
                  <a:srgbClr val="3F3F3F"/>
                </a:solidFill>
                <a:latin typeface="Century Gothic"/>
                <a:ea typeface="Century Gothic"/>
                <a:cs typeface="Century Gothic"/>
                <a:sym typeface="Century Gothic"/>
              </a:rPr>
              <a:t>	</a:t>
            </a:r>
            <a:r>
              <a:rPr lang="en-US" sz="1200" b="1">
                <a:solidFill>
                  <a:srgbClr val="3F3F3F"/>
                </a:solidFill>
                <a:latin typeface="Century Gothic"/>
                <a:ea typeface="Century Gothic"/>
                <a:cs typeface="Century Gothic"/>
                <a:sym typeface="Century Gothic"/>
              </a:rPr>
              <a:t>SELECT </a:t>
            </a:r>
            <a:r>
              <a:rPr lang="en-US" sz="1200">
                <a:solidFill>
                  <a:srgbClr val="3F3F3F"/>
                </a:solidFill>
                <a:latin typeface="Century Gothic"/>
                <a:ea typeface="Century Gothic"/>
                <a:cs typeface="Century Gothic"/>
                <a:sym typeface="Century Gothic"/>
              </a:rPr>
              <a:t>sr.name AS sales_reps_name, a.name AS company, r.name AS region</a:t>
            </a:r>
          </a:p>
          <a:p>
            <a:pPr marL="0" lvl="0" indent="0" algn="l" rtl="0">
              <a:spcBef>
                <a:spcPts val="1000"/>
              </a:spcBef>
              <a:spcAft>
                <a:spcPts val="0"/>
              </a:spcAft>
              <a:buNone/>
            </a:pPr>
            <a:r>
              <a:rPr lang="en-US" sz="1200">
                <a:solidFill>
                  <a:srgbClr val="3F3F3F"/>
                </a:solidFill>
                <a:latin typeface="Century Gothic"/>
                <a:ea typeface="Century Gothic"/>
                <a:cs typeface="Century Gothic"/>
                <a:sym typeface="Century Gothic"/>
              </a:rPr>
              <a:t>	</a:t>
            </a:r>
            <a:r>
              <a:rPr lang="en-US" sz="1200" b="1">
                <a:solidFill>
                  <a:srgbClr val="3F3F3F"/>
                </a:solidFill>
                <a:latin typeface="Century Gothic"/>
                <a:ea typeface="Century Gothic"/>
                <a:cs typeface="Century Gothic"/>
                <a:sym typeface="Century Gothic"/>
              </a:rPr>
              <a:t>FROM </a:t>
            </a:r>
            <a:r>
              <a:rPr lang="en-US" sz="1200">
                <a:solidFill>
                  <a:srgbClr val="3F3F3F"/>
                </a:solidFill>
                <a:latin typeface="Century Gothic"/>
                <a:ea typeface="Century Gothic"/>
                <a:cs typeface="Century Gothic"/>
                <a:sym typeface="Century Gothic"/>
              </a:rPr>
              <a:t>sales_reps sr</a:t>
            </a:r>
          </a:p>
          <a:p>
            <a:pPr marL="0" lvl="0" indent="0" algn="l" rtl="0">
              <a:spcBef>
                <a:spcPts val="1000"/>
              </a:spcBef>
              <a:spcAft>
                <a:spcPts val="0"/>
              </a:spcAft>
              <a:buNone/>
            </a:pPr>
            <a:r>
              <a:rPr lang="en-US" sz="1200">
                <a:solidFill>
                  <a:srgbClr val="3F3F3F"/>
                </a:solidFill>
                <a:latin typeface="Century Gothic"/>
                <a:ea typeface="Century Gothic"/>
                <a:cs typeface="Century Gothic"/>
                <a:sym typeface="Century Gothic"/>
              </a:rPr>
              <a:t>	</a:t>
            </a:r>
            <a:r>
              <a:rPr lang="en-US" sz="1200" b="1">
                <a:solidFill>
                  <a:srgbClr val="3F3F3F"/>
                </a:solidFill>
                <a:latin typeface="Century Gothic"/>
                <a:ea typeface="Century Gothic"/>
                <a:cs typeface="Century Gothic"/>
                <a:sym typeface="Century Gothic"/>
              </a:rPr>
              <a:t>JOIN </a:t>
            </a:r>
            <a:r>
              <a:rPr lang="en-US" sz="1200">
                <a:solidFill>
                  <a:srgbClr val="3F3F3F"/>
                </a:solidFill>
                <a:latin typeface="Century Gothic"/>
                <a:ea typeface="Century Gothic"/>
                <a:cs typeface="Century Gothic"/>
                <a:sym typeface="Century Gothic"/>
              </a:rPr>
              <a:t>region r </a:t>
            </a:r>
            <a:r>
              <a:rPr lang="en-US" sz="1200" b="1">
                <a:solidFill>
                  <a:srgbClr val="3F3F3F"/>
                </a:solidFill>
                <a:latin typeface="Century Gothic"/>
                <a:ea typeface="Century Gothic"/>
                <a:cs typeface="Century Gothic"/>
                <a:sym typeface="Century Gothic"/>
              </a:rPr>
              <a:t>ON </a:t>
            </a:r>
            <a:r>
              <a:rPr lang="en-US" sz="1200">
                <a:solidFill>
                  <a:srgbClr val="3F3F3F"/>
                </a:solidFill>
                <a:latin typeface="Century Gothic"/>
                <a:ea typeface="Century Gothic"/>
                <a:cs typeface="Century Gothic"/>
                <a:sym typeface="Century Gothic"/>
              </a:rPr>
              <a:t>sr.region_id = r.id</a:t>
            </a:r>
          </a:p>
          <a:p>
            <a:pPr marL="0" lvl="0" indent="0" algn="l" rtl="0">
              <a:spcBef>
                <a:spcPts val="1000"/>
              </a:spcBef>
              <a:spcAft>
                <a:spcPts val="0"/>
              </a:spcAft>
              <a:buNone/>
            </a:pPr>
            <a:r>
              <a:rPr lang="en-US" sz="1200">
                <a:solidFill>
                  <a:srgbClr val="3F3F3F"/>
                </a:solidFill>
                <a:latin typeface="Century Gothic"/>
                <a:ea typeface="Century Gothic"/>
                <a:cs typeface="Century Gothic"/>
                <a:sym typeface="Century Gothic"/>
              </a:rPr>
              <a:t>	</a:t>
            </a:r>
            <a:r>
              <a:rPr lang="en-US" sz="1200" b="1">
                <a:solidFill>
                  <a:srgbClr val="3F3F3F"/>
                </a:solidFill>
                <a:latin typeface="Century Gothic"/>
                <a:ea typeface="Century Gothic"/>
                <a:cs typeface="Century Gothic"/>
                <a:sym typeface="Century Gothic"/>
              </a:rPr>
              <a:t>JOIN </a:t>
            </a:r>
            <a:r>
              <a:rPr lang="en-US" sz="1200">
                <a:solidFill>
                  <a:srgbClr val="3F3F3F"/>
                </a:solidFill>
                <a:latin typeface="Century Gothic"/>
                <a:ea typeface="Century Gothic"/>
                <a:cs typeface="Century Gothic"/>
                <a:sym typeface="Century Gothic"/>
              </a:rPr>
              <a:t>accounts a </a:t>
            </a:r>
            <a:r>
              <a:rPr lang="en-US" sz="1200" b="1">
                <a:solidFill>
                  <a:srgbClr val="3F3F3F"/>
                </a:solidFill>
                <a:latin typeface="Century Gothic"/>
                <a:ea typeface="Century Gothic"/>
                <a:cs typeface="Century Gothic"/>
                <a:sym typeface="Century Gothic"/>
              </a:rPr>
              <a:t>ON </a:t>
            </a:r>
            <a:r>
              <a:rPr lang="en-US" sz="1200">
                <a:solidFill>
                  <a:srgbClr val="3F3F3F"/>
                </a:solidFill>
                <a:latin typeface="Century Gothic"/>
                <a:ea typeface="Century Gothic"/>
                <a:cs typeface="Century Gothic"/>
                <a:sym typeface="Century Gothic"/>
              </a:rPr>
              <a:t>a.sales_rep_id = sr.id;</a:t>
            </a:r>
            <a:endParaRPr lang="en-US" sz="1200"/>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85</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190875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976b235820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976b235820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g2976b235820_0_7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86</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9a5a70a483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g29a5a70a483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9a5a70a483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g29a5a70a483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244765c84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244765c84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ID">
                <a:solidFill>
                  <a:srgbClr val="ECECF1"/>
                </a:solidFill>
                <a:highlight>
                  <a:schemeClr val="dk1"/>
                </a:highlight>
                <a:latin typeface="Roboto"/>
                <a:ea typeface="Roboto"/>
                <a:cs typeface="Roboto"/>
                <a:sym typeface="Roboto"/>
              </a:rPr>
              <a:t>Menampilkan nama akun dan total pembelian (jumlah dari kolom </a:t>
            </a:r>
            <a:r>
              <a:rPr lang="en-ID" sz="950">
                <a:solidFill>
                  <a:srgbClr val="188038"/>
                </a:solidFill>
                <a:highlight>
                  <a:schemeClr val="dk1"/>
                </a:highlight>
                <a:latin typeface="Courier New"/>
                <a:ea typeface="Courier New"/>
                <a:cs typeface="Courier New"/>
                <a:sym typeface="Courier New"/>
              </a:rPr>
              <a:t>total_amt_usd</a:t>
            </a:r>
            <a:r>
              <a:rPr lang="en-ID">
                <a:solidFill>
                  <a:srgbClr val="ECECF1"/>
                </a:solidFill>
                <a:highlight>
                  <a:schemeClr val="dk1"/>
                </a:highlight>
                <a:latin typeface="Roboto"/>
                <a:ea typeface="Roboto"/>
                <a:cs typeface="Roboto"/>
                <a:sym typeface="Roboto"/>
              </a:rPr>
              <a:t>) untuk setiap akun.</a:t>
            </a:r>
            <a:endParaRPr>
              <a:solidFill>
                <a:srgbClr val="ECECF1"/>
              </a:solidFill>
              <a:highlight>
                <a:schemeClr val="dk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name </a:t>
            </a:r>
            <a:r>
              <a:rPr lang="en-ID" sz="1050">
                <a:solidFill>
                  <a:srgbClr val="2E95D3"/>
                </a:solidFill>
                <a:highlight>
                  <a:schemeClr val="dk1"/>
                </a:highlight>
                <a:latin typeface="Courier New"/>
                <a:ea typeface="Courier New"/>
                <a:cs typeface="Courier New"/>
                <a:sym typeface="Courier New"/>
              </a:rPr>
              <a:t>AS</a:t>
            </a:r>
            <a:r>
              <a:rPr lang="en-ID" sz="1050">
                <a:solidFill>
                  <a:srgbClr val="FFFFFF"/>
                </a:solidFill>
                <a:highlight>
                  <a:schemeClr val="dk1"/>
                </a:highlight>
                <a:latin typeface="Courier New"/>
                <a:ea typeface="Courier New"/>
                <a:cs typeface="Courier New"/>
                <a:sym typeface="Courier New"/>
              </a:rPr>
              <a:t> nama_akun, </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FFFFFF"/>
                </a:solidFill>
                <a:highlight>
                  <a:schemeClr val="dk1"/>
                </a:highlight>
                <a:latin typeface="Courier New"/>
                <a:ea typeface="Courier New"/>
                <a:cs typeface="Courier New"/>
                <a:sym typeface="Courier New"/>
              </a:rPr>
              <a:t>       (</a:t>
            </a: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a:t>
            </a:r>
            <a:r>
              <a:rPr lang="en-ID" sz="1050">
                <a:solidFill>
                  <a:srgbClr val="E9950C"/>
                </a:solidFill>
                <a:highlight>
                  <a:schemeClr val="dk1"/>
                </a:highlight>
                <a:latin typeface="Courier New"/>
                <a:ea typeface="Courier New"/>
                <a:cs typeface="Courier New"/>
                <a:sym typeface="Courier New"/>
              </a:rPr>
              <a:t>SUM</a:t>
            </a:r>
            <a:r>
              <a:rPr lang="en-ID" sz="1050">
                <a:solidFill>
                  <a:srgbClr val="FFFFFF"/>
                </a:solidFill>
                <a:highlight>
                  <a:schemeClr val="dk1"/>
                </a:highlight>
                <a:latin typeface="Courier New"/>
                <a:ea typeface="Courier New"/>
                <a:cs typeface="Courier New"/>
                <a:sym typeface="Courier New"/>
              </a:rPr>
              <a:t>(total_amt_usd) </a:t>
            </a: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orders o </a:t>
            </a:r>
            <a:r>
              <a:rPr lang="en-ID" sz="1050">
                <a:solidFill>
                  <a:srgbClr val="2E95D3"/>
                </a:solidFill>
                <a:highlight>
                  <a:schemeClr val="dk1"/>
                </a:highlight>
                <a:latin typeface="Courier New"/>
                <a:ea typeface="Courier New"/>
                <a:cs typeface="Courier New"/>
                <a:sym typeface="Courier New"/>
              </a:rPr>
              <a:t>WHERE</a:t>
            </a:r>
            <a:r>
              <a:rPr lang="en-ID" sz="1050">
                <a:solidFill>
                  <a:srgbClr val="FFFFFF"/>
                </a:solidFill>
                <a:highlight>
                  <a:schemeClr val="dk1"/>
                </a:highlight>
                <a:latin typeface="Courier New"/>
                <a:ea typeface="Courier New"/>
                <a:cs typeface="Courier New"/>
                <a:sym typeface="Courier New"/>
              </a:rPr>
              <a:t> o.account_id = a.id) </a:t>
            </a:r>
            <a:r>
              <a:rPr lang="en-ID" sz="1050">
                <a:solidFill>
                  <a:srgbClr val="2E95D3"/>
                </a:solidFill>
                <a:highlight>
                  <a:schemeClr val="dk1"/>
                </a:highlight>
                <a:latin typeface="Courier New"/>
                <a:ea typeface="Courier New"/>
                <a:cs typeface="Courier New"/>
                <a:sym typeface="Courier New"/>
              </a:rPr>
              <a:t>AS</a:t>
            </a:r>
            <a:r>
              <a:rPr lang="en-ID" sz="1050">
                <a:solidFill>
                  <a:srgbClr val="FFFFFF"/>
                </a:solidFill>
                <a:highlight>
                  <a:schemeClr val="dk1"/>
                </a:highlight>
                <a:latin typeface="Courier New"/>
                <a:ea typeface="Courier New"/>
                <a:cs typeface="Courier New"/>
                <a:sym typeface="Courier New"/>
              </a:rPr>
              <a:t> total_pembelian</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accounts a;</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a:solidFill>
                  <a:srgbClr val="ECECF1"/>
                </a:solidFill>
                <a:highlight>
                  <a:srgbClr val="343541"/>
                </a:highlight>
                <a:latin typeface="Roboto"/>
                <a:ea typeface="Roboto"/>
                <a:cs typeface="Roboto"/>
                <a:sym typeface="Roboto"/>
              </a:rPr>
              <a:t>Menampilkan nama sales representative yang memiliki total penjualan (jumlah dari kolom </a:t>
            </a:r>
            <a:r>
              <a:rPr lang="en-ID" sz="950">
                <a:solidFill>
                  <a:srgbClr val="188038"/>
                </a:solidFill>
                <a:highlight>
                  <a:srgbClr val="343541"/>
                </a:highlight>
                <a:latin typeface="Courier New"/>
                <a:ea typeface="Courier New"/>
                <a:cs typeface="Courier New"/>
                <a:sym typeface="Courier New"/>
              </a:rPr>
              <a:t>total_amt_usd</a:t>
            </a:r>
            <a:r>
              <a:rPr lang="en-ID">
                <a:solidFill>
                  <a:srgbClr val="ECECF1"/>
                </a:solidFill>
                <a:highlight>
                  <a:srgbClr val="343541"/>
                </a:highlight>
                <a:latin typeface="Roboto"/>
                <a:ea typeface="Roboto"/>
                <a:cs typeface="Roboto"/>
                <a:sym typeface="Roboto"/>
              </a:rPr>
              <a:t>) tertinggi.</a:t>
            </a:r>
            <a:endParaRPr>
              <a:solidFill>
                <a:srgbClr val="ECECF1"/>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name </a:t>
            </a:r>
            <a:r>
              <a:rPr lang="en-ID" sz="1050">
                <a:solidFill>
                  <a:srgbClr val="2E95D3"/>
                </a:solidFill>
                <a:highlight>
                  <a:schemeClr val="dk1"/>
                </a:highlight>
                <a:latin typeface="Courier New"/>
                <a:ea typeface="Courier New"/>
                <a:cs typeface="Courier New"/>
                <a:sym typeface="Courier New"/>
              </a:rPr>
              <a:t>AS</a:t>
            </a:r>
            <a:r>
              <a:rPr lang="en-ID" sz="1050">
                <a:solidFill>
                  <a:srgbClr val="FFFFFF"/>
                </a:solidFill>
                <a:highlight>
                  <a:schemeClr val="dk1"/>
                </a:highlight>
                <a:latin typeface="Courier New"/>
                <a:ea typeface="Courier New"/>
                <a:cs typeface="Courier New"/>
                <a:sym typeface="Courier New"/>
              </a:rPr>
              <a:t> nama_sales_rep</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sales_reps sr</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WHERE</a:t>
            </a:r>
            <a:r>
              <a:rPr lang="en-ID" sz="1050">
                <a:solidFill>
                  <a:srgbClr val="FFFFFF"/>
                </a:solidFill>
                <a:highlight>
                  <a:schemeClr val="dk1"/>
                </a:highlight>
                <a:latin typeface="Courier New"/>
                <a:ea typeface="Courier New"/>
                <a:cs typeface="Courier New"/>
                <a:sym typeface="Courier New"/>
              </a:rPr>
              <a:t> id = (</a:t>
            </a: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sales_rep_id </a:t>
            </a: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accounts </a:t>
            </a:r>
            <a:r>
              <a:rPr lang="en-ID" sz="1050">
                <a:solidFill>
                  <a:srgbClr val="2E95D3"/>
                </a:solidFill>
                <a:highlight>
                  <a:schemeClr val="dk1"/>
                </a:highlight>
                <a:latin typeface="Courier New"/>
                <a:ea typeface="Courier New"/>
                <a:cs typeface="Courier New"/>
                <a:sym typeface="Courier New"/>
              </a:rPr>
              <a:t>ORDER</a:t>
            </a:r>
            <a:r>
              <a:rPr lang="en-ID" sz="1050">
                <a:solidFill>
                  <a:srgbClr val="FFFFFF"/>
                </a:solidFill>
                <a:highlight>
                  <a:schemeClr val="dk1"/>
                </a:highlight>
                <a:latin typeface="Courier New"/>
                <a:ea typeface="Courier New"/>
                <a:cs typeface="Courier New"/>
                <a:sym typeface="Courier New"/>
              </a:rPr>
              <a:t> </a:t>
            </a:r>
            <a:r>
              <a:rPr lang="en-ID" sz="1050">
                <a:solidFill>
                  <a:srgbClr val="2E95D3"/>
                </a:solidFill>
                <a:highlight>
                  <a:schemeClr val="dk1"/>
                </a:highlight>
                <a:latin typeface="Courier New"/>
                <a:ea typeface="Courier New"/>
                <a:cs typeface="Courier New"/>
                <a:sym typeface="Courier New"/>
              </a:rPr>
              <a:t>BY</a:t>
            </a:r>
            <a:r>
              <a:rPr lang="en-ID" sz="1050">
                <a:solidFill>
                  <a:srgbClr val="FFFFFF"/>
                </a:solidFill>
                <a:highlight>
                  <a:schemeClr val="dk1"/>
                </a:highlight>
                <a:latin typeface="Courier New"/>
                <a:ea typeface="Courier New"/>
                <a:cs typeface="Courier New"/>
                <a:sym typeface="Courier New"/>
              </a:rPr>
              <a:t> (</a:t>
            </a: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a:t>
            </a:r>
            <a:r>
              <a:rPr lang="en-ID" sz="1050">
                <a:solidFill>
                  <a:srgbClr val="E9950C"/>
                </a:solidFill>
                <a:highlight>
                  <a:schemeClr val="dk1"/>
                </a:highlight>
                <a:latin typeface="Courier New"/>
                <a:ea typeface="Courier New"/>
                <a:cs typeface="Courier New"/>
                <a:sym typeface="Courier New"/>
              </a:rPr>
              <a:t>SUM</a:t>
            </a:r>
            <a:r>
              <a:rPr lang="en-ID" sz="1050">
                <a:solidFill>
                  <a:srgbClr val="FFFFFF"/>
                </a:solidFill>
                <a:highlight>
                  <a:schemeClr val="dk1"/>
                </a:highlight>
                <a:latin typeface="Courier New"/>
                <a:ea typeface="Courier New"/>
                <a:cs typeface="Courier New"/>
                <a:sym typeface="Courier New"/>
              </a:rPr>
              <a:t>(total_amt_usd) </a:t>
            </a: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orders </a:t>
            </a:r>
            <a:r>
              <a:rPr lang="en-ID" sz="1050">
                <a:solidFill>
                  <a:srgbClr val="2E95D3"/>
                </a:solidFill>
                <a:highlight>
                  <a:schemeClr val="dk1"/>
                </a:highlight>
                <a:latin typeface="Courier New"/>
                <a:ea typeface="Courier New"/>
                <a:cs typeface="Courier New"/>
                <a:sym typeface="Courier New"/>
              </a:rPr>
              <a:t>WHERE</a:t>
            </a:r>
            <a:r>
              <a:rPr lang="en-ID" sz="1050">
                <a:solidFill>
                  <a:srgbClr val="FFFFFF"/>
                </a:solidFill>
                <a:highlight>
                  <a:schemeClr val="dk1"/>
                </a:highlight>
                <a:latin typeface="Courier New"/>
                <a:ea typeface="Courier New"/>
                <a:cs typeface="Courier New"/>
                <a:sym typeface="Courier New"/>
              </a:rPr>
              <a:t> account_id = accounts.id) </a:t>
            </a:r>
            <a:r>
              <a:rPr lang="en-ID" sz="1050">
                <a:solidFill>
                  <a:srgbClr val="2E95D3"/>
                </a:solidFill>
                <a:highlight>
                  <a:schemeClr val="dk1"/>
                </a:highlight>
                <a:latin typeface="Courier New"/>
                <a:ea typeface="Courier New"/>
                <a:cs typeface="Courier New"/>
                <a:sym typeface="Courier New"/>
              </a:rPr>
              <a:t>DESC</a:t>
            </a:r>
            <a:r>
              <a:rPr lang="en-ID" sz="1050">
                <a:solidFill>
                  <a:srgbClr val="FFFFFF"/>
                </a:solidFill>
                <a:highlight>
                  <a:schemeClr val="dk1"/>
                </a:highlight>
                <a:latin typeface="Courier New"/>
                <a:ea typeface="Courier New"/>
                <a:cs typeface="Courier New"/>
                <a:sym typeface="Courier New"/>
              </a:rPr>
              <a:t> LIMIT </a:t>
            </a:r>
            <a:r>
              <a:rPr lang="en-ID" sz="1050">
                <a:solidFill>
                  <a:srgbClr val="DF3079"/>
                </a:solidFill>
                <a:highlight>
                  <a:schemeClr val="dk1"/>
                </a:highlight>
                <a:latin typeface="Courier New"/>
                <a:ea typeface="Courier New"/>
                <a:cs typeface="Courier New"/>
                <a:sym typeface="Courier New"/>
              </a:rPr>
              <a:t>1</a:t>
            </a:r>
            <a:r>
              <a:rPr lang="en-ID" sz="1050">
                <a:solidFill>
                  <a:srgbClr val="FFFFFF"/>
                </a:solidFill>
                <a:highlight>
                  <a:schemeClr val="dk1"/>
                </a:highlight>
                <a:latin typeface="Courier New"/>
                <a:ea typeface="Courier New"/>
                <a:cs typeface="Courier New"/>
                <a:sym typeface="Courier New"/>
              </a:rPr>
              <a:t>);</a:t>
            </a:r>
            <a:endParaRPr b="1">
              <a:solidFill>
                <a:srgbClr val="ECECF1"/>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sz="1050">
              <a:solidFill>
                <a:srgbClr val="FFFFFF"/>
              </a:solidFill>
              <a:highlight>
                <a:schemeClr val="dk1"/>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ID">
                <a:solidFill>
                  <a:srgbClr val="ECECF1"/>
                </a:solidFill>
                <a:highlight>
                  <a:srgbClr val="343541"/>
                </a:highlight>
                <a:latin typeface="Roboto"/>
                <a:ea typeface="Roboto"/>
                <a:cs typeface="Roboto"/>
                <a:sym typeface="Roboto"/>
              </a:rPr>
              <a:t>Menampilkan nama akun dan rata-rata jumlah poster yang dibeli per akun.</a:t>
            </a:r>
            <a:endParaRPr>
              <a:solidFill>
                <a:srgbClr val="ECECF1"/>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name </a:t>
            </a:r>
            <a:r>
              <a:rPr lang="en-ID" sz="1050">
                <a:solidFill>
                  <a:srgbClr val="2E95D3"/>
                </a:solidFill>
                <a:highlight>
                  <a:schemeClr val="dk1"/>
                </a:highlight>
                <a:latin typeface="Courier New"/>
                <a:ea typeface="Courier New"/>
                <a:cs typeface="Courier New"/>
                <a:sym typeface="Courier New"/>
              </a:rPr>
              <a:t>AS</a:t>
            </a:r>
            <a:r>
              <a:rPr lang="en-ID" sz="1050">
                <a:solidFill>
                  <a:srgbClr val="FFFFFF"/>
                </a:solidFill>
                <a:highlight>
                  <a:schemeClr val="dk1"/>
                </a:highlight>
                <a:latin typeface="Courier New"/>
                <a:ea typeface="Courier New"/>
                <a:cs typeface="Courier New"/>
                <a:sym typeface="Courier New"/>
              </a:rPr>
              <a:t> nama_akun,</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FFFFFF"/>
                </a:solidFill>
                <a:highlight>
                  <a:schemeClr val="dk1"/>
                </a:highlight>
                <a:latin typeface="Courier New"/>
                <a:ea typeface="Courier New"/>
                <a:cs typeface="Courier New"/>
                <a:sym typeface="Courier New"/>
              </a:rPr>
              <a:t>       (</a:t>
            </a:r>
            <a:r>
              <a:rPr lang="en-ID" sz="1050">
                <a:solidFill>
                  <a:srgbClr val="2E95D3"/>
                </a:solidFill>
                <a:highlight>
                  <a:schemeClr val="dk1"/>
                </a:highlight>
                <a:latin typeface="Courier New"/>
                <a:ea typeface="Courier New"/>
                <a:cs typeface="Courier New"/>
                <a:sym typeface="Courier New"/>
              </a:rPr>
              <a:t>SELECT</a:t>
            </a:r>
            <a:r>
              <a:rPr lang="en-ID" sz="1050">
                <a:solidFill>
                  <a:srgbClr val="FFFFFF"/>
                </a:solidFill>
                <a:highlight>
                  <a:schemeClr val="dk1"/>
                </a:highlight>
                <a:latin typeface="Courier New"/>
                <a:ea typeface="Courier New"/>
                <a:cs typeface="Courier New"/>
                <a:sym typeface="Courier New"/>
              </a:rPr>
              <a:t> </a:t>
            </a:r>
            <a:r>
              <a:rPr lang="en-ID" sz="1050">
                <a:solidFill>
                  <a:srgbClr val="E9950C"/>
                </a:solidFill>
                <a:highlight>
                  <a:schemeClr val="dk1"/>
                </a:highlight>
                <a:latin typeface="Courier New"/>
                <a:ea typeface="Courier New"/>
                <a:cs typeface="Courier New"/>
                <a:sym typeface="Courier New"/>
              </a:rPr>
              <a:t>AVG</a:t>
            </a:r>
            <a:r>
              <a:rPr lang="en-ID" sz="1050">
                <a:solidFill>
                  <a:srgbClr val="FFFFFF"/>
                </a:solidFill>
                <a:highlight>
                  <a:schemeClr val="dk1"/>
                </a:highlight>
                <a:latin typeface="Courier New"/>
                <a:ea typeface="Courier New"/>
                <a:cs typeface="Courier New"/>
                <a:sym typeface="Courier New"/>
              </a:rPr>
              <a:t>(poster_qty) </a:t>
            </a: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orders o </a:t>
            </a:r>
            <a:r>
              <a:rPr lang="en-ID" sz="1050">
                <a:solidFill>
                  <a:srgbClr val="2E95D3"/>
                </a:solidFill>
                <a:highlight>
                  <a:schemeClr val="dk1"/>
                </a:highlight>
                <a:latin typeface="Courier New"/>
                <a:ea typeface="Courier New"/>
                <a:cs typeface="Courier New"/>
                <a:sym typeface="Courier New"/>
              </a:rPr>
              <a:t>WHERE</a:t>
            </a:r>
            <a:r>
              <a:rPr lang="en-ID" sz="1050">
                <a:solidFill>
                  <a:srgbClr val="FFFFFF"/>
                </a:solidFill>
                <a:highlight>
                  <a:schemeClr val="dk1"/>
                </a:highlight>
                <a:latin typeface="Courier New"/>
                <a:ea typeface="Courier New"/>
                <a:cs typeface="Courier New"/>
                <a:sym typeface="Courier New"/>
              </a:rPr>
              <a:t> o.account_id = a.id) </a:t>
            </a:r>
            <a:r>
              <a:rPr lang="en-ID" sz="1050">
                <a:solidFill>
                  <a:srgbClr val="2E95D3"/>
                </a:solidFill>
                <a:highlight>
                  <a:schemeClr val="dk1"/>
                </a:highlight>
                <a:latin typeface="Courier New"/>
                <a:ea typeface="Courier New"/>
                <a:cs typeface="Courier New"/>
                <a:sym typeface="Courier New"/>
              </a:rPr>
              <a:t>AS</a:t>
            </a:r>
            <a:r>
              <a:rPr lang="en-ID" sz="1050">
                <a:solidFill>
                  <a:srgbClr val="FFFFFF"/>
                </a:solidFill>
                <a:highlight>
                  <a:schemeClr val="dk1"/>
                </a:highlight>
                <a:latin typeface="Courier New"/>
                <a:ea typeface="Courier New"/>
                <a:cs typeface="Courier New"/>
                <a:sym typeface="Courier New"/>
              </a:rPr>
              <a:t> rata_rata_poster</a:t>
            </a:r>
            <a:endParaRPr sz="1050">
              <a:solidFill>
                <a:srgbClr val="FFFFFF"/>
              </a:solidFill>
              <a:highlight>
                <a:schemeClr val="dk1"/>
              </a:highlight>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sz="1050">
                <a:solidFill>
                  <a:srgbClr val="2E95D3"/>
                </a:solidFill>
                <a:highlight>
                  <a:schemeClr val="dk1"/>
                </a:highlight>
                <a:latin typeface="Courier New"/>
                <a:ea typeface="Courier New"/>
                <a:cs typeface="Courier New"/>
                <a:sym typeface="Courier New"/>
              </a:rPr>
              <a:t>FROM</a:t>
            </a:r>
            <a:r>
              <a:rPr lang="en-ID" sz="1050">
                <a:solidFill>
                  <a:srgbClr val="FFFFFF"/>
                </a:solidFill>
                <a:highlight>
                  <a:schemeClr val="dk1"/>
                </a:highlight>
                <a:latin typeface="Courier New"/>
                <a:ea typeface="Courier New"/>
                <a:cs typeface="Courier New"/>
                <a:sym typeface="Courier New"/>
              </a:rPr>
              <a:t> accounts a;</a:t>
            </a:r>
            <a:endParaRPr sz="1050">
              <a:solidFill>
                <a:srgbClr val="FFFFFF"/>
              </a:solidFill>
              <a:highlight>
                <a:schemeClr val="dk1"/>
              </a:highlight>
              <a:latin typeface="Courier New"/>
              <a:ea typeface="Courier New"/>
              <a:cs typeface="Courier New"/>
              <a:sym typeface="Courier New"/>
            </a:endParaRPr>
          </a:p>
        </p:txBody>
      </p:sp>
      <p:sp>
        <p:nvSpPr>
          <p:cNvPr id="723" name="Google Shape;723;g26244765c84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90</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6244765c84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6244765c84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nama_sales_rep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Dawna Agnew</a:t>
            </a: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732" name="Google Shape;732;g26244765c84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91</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11697ddf75238608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11697ddf75238608_2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latin typeface="Century Gothic"/>
                <a:ea typeface="Century Gothic"/>
                <a:cs typeface="Century Gothic"/>
                <a:sym typeface="Century Gothic"/>
              </a:rPr>
              <a:t>## Menampilkan nama sales rep yang memiliki total amt tertinggi</a:t>
            </a:r>
            <a:endParaRPr>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WITH t1 AS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sales_rep_id, total_amt_usd FROM accounts a JOIN orders o</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ON a.id=o.account_id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ORDER BY 2 DESC LIMIT 1)</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SELECT name AS nama_sales_rep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FROM sales_reps sr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WHERE id = (SELECT sales_rep_id FROM t1)</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nama_sales_rep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Dawna Agnew</a:t>
            </a: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739" name="Google Shape;739;g11697ddf75238608_2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92</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244765c84_0_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26244765c84_0_3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WITH t1 AS (</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SELECT a.id, a.name, SUM(o.total_amt_usd) tot_spent</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FROM orders o</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JOIN accounts a</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ON a.id = o.account_id</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GROUP BY a.id, a.name</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ORDER BY 3 DESC</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      LIMIT 1)</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SELECT a.name, w.channel, COUNT(*)</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FROM accounts a</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JOIN web_events w</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ON a.id = w.account_id</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WHERE NAME = (SELECT NAME FROM t1)</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GROUP BY 1, 2</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b="1">
                <a:solidFill>
                  <a:srgbClr val="ECECF1"/>
                </a:solidFill>
                <a:highlight>
                  <a:srgbClr val="EBF2FA"/>
                </a:highlight>
                <a:latin typeface="Courier New"/>
                <a:ea typeface="Courier New"/>
                <a:cs typeface="Courier New"/>
                <a:sym typeface="Courier New"/>
              </a:rPr>
              <a:t>ORDER BY 3 DESC</a:t>
            </a:r>
            <a:endParaRPr b="1">
              <a:solidFill>
                <a:srgbClr val="ECECF1"/>
              </a:solidFill>
              <a:highlight>
                <a:srgbClr val="EBF2FA"/>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b="1">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ECECF1"/>
                </a:solidFill>
                <a:latin typeface="Courier New"/>
                <a:ea typeface="Courier New"/>
                <a:cs typeface="Courier New"/>
                <a:sym typeface="Courier New"/>
              </a:rPr>
              <a:t>with</a:t>
            </a:r>
            <a:r>
              <a:rPr lang="en-ID" sz="1000">
                <a:solidFill>
                  <a:srgbClr val="ECECF1"/>
                </a:solidFill>
                <a:latin typeface="Courier New"/>
                <a:ea typeface="Courier New"/>
                <a:cs typeface="Courier New"/>
                <a:sym typeface="Courier New"/>
              </a:rPr>
              <a:t> t1 </a:t>
            </a:r>
            <a:r>
              <a:rPr lang="en-ID" sz="1000" b="1">
                <a:solidFill>
                  <a:srgbClr val="ECECF1"/>
                </a:solidFill>
                <a:latin typeface="Courier New"/>
                <a:ea typeface="Courier New"/>
                <a:cs typeface="Courier New"/>
                <a:sym typeface="Courier New"/>
              </a:rPr>
              <a:t>as</a:t>
            </a:r>
            <a:r>
              <a:rPr lang="en-ID" sz="1000">
                <a:solidFill>
                  <a:srgbClr val="ECECF1"/>
                </a:solidFill>
                <a:latin typeface="Courier New"/>
                <a:ea typeface="Courier New"/>
                <a:cs typeface="Courier New"/>
                <a:sym typeface="Courier New"/>
              </a:rPr>
              <a:t>(</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ECECF1"/>
                </a:solidFill>
                <a:latin typeface="Courier New"/>
                <a:ea typeface="Courier New"/>
                <a:cs typeface="Courier New"/>
                <a:sym typeface="Courier New"/>
              </a:rPr>
              <a:t>SELECT</a:t>
            </a:r>
            <a:r>
              <a:rPr lang="en-ID" sz="1000">
                <a:solidFill>
                  <a:srgbClr val="ECECF1"/>
                </a:solidFill>
                <a:latin typeface="Courier New"/>
                <a:ea typeface="Courier New"/>
                <a:cs typeface="Courier New"/>
                <a:sym typeface="Courier New"/>
              </a:rPr>
              <a:t> a.id, a.name </a:t>
            </a:r>
            <a:r>
              <a:rPr lang="en-ID" sz="1000" b="1">
                <a:solidFill>
                  <a:srgbClr val="ECECF1"/>
                </a:solidFill>
                <a:latin typeface="Courier New"/>
                <a:ea typeface="Courier New"/>
                <a:cs typeface="Courier New"/>
                <a:sym typeface="Courier New"/>
              </a:rPr>
              <a:t>as</a:t>
            </a:r>
            <a:r>
              <a:rPr lang="en-ID" sz="1000">
                <a:solidFill>
                  <a:srgbClr val="ECECF1"/>
                </a:solidFill>
                <a:latin typeface="Courier New"/>
                <a:ea typeface="Courier New"/>
                <a:cs typeface="Courier New"/>
                <a:sym typeface="Courier New"/>
              </a:rPr>
              <a:t> name_customer, </a:t>
            </a:r>
            <a:r>
              <a:rPr lang="en-ID" sz="1000" b="1">
                <a:solidFill>
                  <a:srgbClr val="ECECF1"/>
                </a:solidFill>
                <a:latin typeface="Courier New"/>
                <a:ea typeface="Courier New"/>
                <a:cs typeface="Courier New"/>
                <a:sym typeface="Courier New"/>
              </a:rPr>
              <a:t>sum</a:t>
            </a:r>
            <a:r>
              <a:rPr lang="en-ID" sz="1000">
                <a:solidFill>
                  <a:srgbClr val="ECECF1"/>
                </a:solidFill>
                <a:latin typeface="Courier New"/>
                <a:ea typeface="Courier New"/>
                <a:cs typeface="Courier New"/>
                <a:sym typeface="Courier New"/>
              </a:rPr>
              <a:t>(o.total_amt_usd) </a:t>
            </a:r>
            <a:r>
              <a:rPr lang="en-ID" sz="1000" b="1">
                <a:solidFill>
                  <a:srgbClr val="ECECF1"/>
                </a:solidFill>
                <a:latin typeface="Courier New"/>
                <a:ea typeface="Courier New"/>
                <a:cs typeface="Courier New"/>
                <a:sym typeface="Courier New"/>
              </a:rPr>
              <a:t>as</a:t>
            </a:r>
            <a:r>
              <a:rPr lang="en-ID" sz="1000">
                <a:solidFill>
                  <a:srgbClr val="ECECF1"/>
                </a:solidFill>
                <a:latin typeface="Courier New"/>
                <a:ea typeface="Courier New"/>
                <a:cs typeface="Courier New"/>
                <a:sym typeface="Courier New"/>
              </a:rPr>
              <a:t> most_spent</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FROM</a:t>
            </a:r>
            <a:r>
              <a:rPr lang="en-ID" sz="1000">
                <a:solidFill>
                  <a:srgbClr val="ECECF1"/>
                </a:solidFill>
                <a:latin typeface="Courier New"/>
                <a:ea typeface="Courier New"/>
                <a:cs typeface="Courier New"/>
                <a:sym typeface="Courier New"/>
              </a:rPr>
              <a:t> accounts a</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join</a:t>
            </a:r>
            <a:r>
              <a:rPr lang="en-ID" sz="1000">
                <a:solidFill>
                  <a:srgbClr val="ECECF1"/>
                </a:solidFill>
                <a:latin typeface="Courier New"/>
                <a:ea typeface="Courier New"/>
                <a:cs typeface="Courier New"/>
                <a:sym typeface="Courier New"/>
              </a:rPr>
              <a:t> orders o </a:t>
            </a:r>
            <a:r>
              <a:rPr lang="en-ID" sz="1000" b="1">
                <a:solidFill>
                  <a:srgbClr val="ECECF1"/>
                </a:solidFill>
                <a:latin typeface="Courier New"/>
                <a:ea typeface="Courier New"/>
                <a:cs typeface="Courier New"/>
                <a:sym typeface="Courier New"/>
              </a:rPr>
              <a:t>ON</a:t>
            </a:r>
            <a:r>
              <a:rPr lang="en-ID" sz="1000">
                <a:solidFill>
                  <a:srgbClr val="ECECF1"/>
                </a:solidFill>
                <a:latin typeface="Courier New"/>
                <a:ea typeface="Courier New"/>
                <a:cs typeface="Courier New"/>
                <a:sym typeface="Courier New"/>
              </a:rPr>
              <a:t> a.id = o.account_id</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GROUP</a:t>
            </a: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BY</a:t>
            </a:r>
            <a:r>
              <a:rPr lang="en-ID" sz="1000">
                <a:solidFill>
                  <a:srgbClr val="ECECF1"/>
                </a:solidFill>
                <a:latin typeface="Courier New"/>
                <a:ea typeface="Courier New"/>
                <a:cs typeface="Courier New"/>
                <a:sym typeface="Courier New"/>
              </a:rPr>
              <a:t> 1,2</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ORDER</a:t>
            </a: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BY</a:t>
            </a:r>
            <a:r>
              <a:rPr lang="en-ID" sz="1000">
                <a:solidFill>
                  <a:srgbClr val="ECECF1"/>
                </a:solidFill>
                <a:latin typeface="Courier New"/>
                <a:ea typeface="Courier New"/>
                <a:cs typeface="Courier New"/>
                <a:sym typeface="Courier New"/>
              </a:rPr>
              <a:t> 3 </a:t>
            </a:r>
            <a:r>
              <a:rPr lang="en-ID" sz="1000" b="1">
                <a:solidFill>
                  <a:srgbClr val="ECECF1"/>
                </a:solidFill>
                <a:latin typeface="Courier New"/>
                <a:ea typeface="Courier New"/>
                <a:cs typeface="Courier New"/>
                <a:sym typeface="Courier New"/>
              </a:rPr>
              <a:t>DESC</a:t>
            </a:r>
            <a:endParaRPr sz="1000" b="1">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limit</a:t>
            </a:r>
            <a:r>
              <a:rPr lang="en-ID" sz="1000">
                <a:solidFill>
                  <a:srgbClr val="ECECF1"/>
                </a:solidFill>
                <a:latin typeface="Courier New"/>
                <a:ea typeface="Courier New"/>
                <a:cs typeface="Courier New"/>
                <a:sym typeface="Courier New"/>
              </a:rPr>
              <a:t> 1</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t2 </a:t>
            </a:r>
            <a:r>
              <a:rPr lang="en-ID" sz="1000" b="1">
                <a:solidFill>
                  <a:srgbClr val="ECECF1"/>
                </a:solidFill>
                <a:latin typeface="Courier New"/>
                <a:ea typeface="Courier New"/>
                <a:cs typeface="Courier New"/>
                <a:sym typeface="Courier New"/>
              </a:rPr>
              <a:t>as</a:t>
            </a:r>
            <a:r>
              <a:rPr lang="en-ID" sz="1000">
                <a:solidFill>
                  <a:srgbClr val="ECECF1"/>
                </a:solidFill>
                <a:latin typeface="Courier New"/>
                <a:ea typeface="Courier New"/>
                <a:cs typeface="Courier New"/>
                <a:sym typeface="Courier New"/>
              </a:rPr>
              <a:t>(</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ECECF1"/>
                </a:solidFill>
                <a:latin typeface="Courier New"/>
                <a:ea typeface="Courier New"/>
                <a:cs typeface="Courier New"/>
                <a:sym typeface="Courier New"/>
              </a:rPr>
              <a:t>SELECT</a:t>
            </a:r>
            <a:r>
              <a:rPr lang="en-ID" sz="1000">
                <a:solidFill>
                  <a:srgbClr val="ECECF1"/>
                </a:solidFill>
                <a:latin typeface="Courier New"/>
                <a:ea typeface="Courier New"/>
                <a:cs typeface="Courier New"/>
                <a:sym typeface="Courier New"/>
              </a:rPr>
              <a:t> we.account_id, we.channel, </a:t>
            </a:r>
            <a:r>
              <a:rPr lang="en-ID" sz="1000" b="1">
                <a:solidFill>
                  <a:srgbClr val="ECECF1"/>
                </a:solidFill>
                <a:latin typeface="Courier New"/>
                <a:ea typeface="Courier New"/>
                <a:cs typeface="Courier New"/>
                <a:sym typeface="Courier New"/>
              </a:rPr>
              <a:t>COUNT</a:t>
            </a:r>
            <a:r>
              <a:rPr lang="en-ID" sz="1000">
                <a:solidFill>
                  <a:srgbClr val="ECECF1"/>
                </a:solidFill>
                <a:latin typeface="Courier New"/>
                <a:ea typeface="Courier New"/>
                <a:cs typeface="Courier New"/>
                <a:sym typeface="Courier New"/>
              </a:rPr>
              <a:t>(we.id) jml_we</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from</a:t>
            </a:r>
            <a:r>
              <a:rPr lang="en-ID" sz="1000">
                <a:solidFill>
                  <a:srgbClr val="ECECF1"/>
                </a:solidFill>
                <a:latin typeface="Courier New"/>
                <a:ea typeface="Courier New"/>
                <a:cs typeface="Courier New"/>
                <a:sym typeface="Courier New"/>
              </a:rPr>
              <a:t> web_events we</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group</a:t>
            </a: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by</a:t>
            </a:r>
            <a:r>
              <a:rPr lang="en-ID" sz="1000">
                <a:solidFill>
                  <a:srgbClr val="ECECF1"/>
                </a:solidFill>
                <a:latin typeface="Courier New"/>
                <a:ea typeface="Courier New"/>
                <a:cs typeface="Courier New"/>
                <a:sym typeface="Courier New"/>
              </a:rPr>
              <a:t> 1, 2</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b="1">
                <a:solidFill>
                  <a:srgbClr val="ECECF1"/>
                </a:solidFill>
                <a:latin typeface="Courier New"/>
                <a:ea typeface="Courier New"/>
                <a:cs typeface="Courier New"/>
                <a:sym typeface="Courier New"/>
              </a:rPr>
              <a:t>SELECT</a:t>
            </a:r>
            <a:r>
              <a:rPr lang="en-ID" sz="1000">
                <a:solidFill>
                  <a:srgbClr val="ECECF1"/>
                </a:solidFill>
                <a:latin typeface="Courier New"/>
                <a:ea typeface="Courier New"/>
                <a:cs typeface="Courier New"/>
                <a:sym typeface="Courier New"/>
              </a:rPr>
              <a:t> t1.name_customer, channel, jml_we</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from</a:t>
            </a:r>
            <a:r>
              <a:rPr lang="en-ID" sz="1000">
                <a:solidFill>
                  <a:srgbClr val="ECECF1"/>
                </a:solidFill>
                <a:latin typeface="Courier New"/>
                <a:ea typeface="Courier New"/>
                <a:cs typeface="Courier New"/>
                <a:sym typeface="Courier New"/>
              </a:rPr>
              <a:t> t1</a:t>
            </a:r>
            <a:endParaRPr sz="1000">
              <a:solidFill>
                <a:srgbClr val="ECECF1"/>
              </a:solidFill>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ID" sz="1000">
                <a:solidFill>
                  <a:srgbClr val="ECECF1"/>
                </a:solidFill>
                <a:latin typeface="Courier New"/>
                <a:ea typeface="Courier New"/>
                <a:cs typeface="Courier New"/>
                <a:sym typeface="Courier New"/>
              </a:rPr>
              <a:t>	</a:t>
            </a:r>
            <a:r>
              <a:rPr lang="en-ID" sz="1000" b="1">
                <a:solidFill>
                  <a:srgbClr val="ECECF1"/>
                </a:solidFill>
                <a:latin typeface="Courier New"/>
                <a:ea typeface="Courier New"/>
                <a:cs typeface="Courier New"/>
                <a:sym typeface="Courier New"/>
              </a:rPr>
              <a:t>join</a:t>
            </a:r>
            <a:r>
              <a:rPr lang="en-ID" sz="1000">
                <a:solidFill>
                  <a:srgbClr val="ECECF1"/>
                </a:solidFill>
                <a:latin typeface="Courier New"/>
                <a:ea typeface="Courier New"/>
                <a:cs typeface="Courier New"/>
                <a:sym typeface="Courier New"/>
              </a:rPr>
              <a:t> t2 </a:t>
            </a:r>
            <a:r>
              <a:rPr lang="en-ID" sz="1000" b="1">
                <a:solidFill>
                  <a:srgbClr val="ECECF1"/>
                </a:solidFill>
                <a:latin typeface="Courier New"/>
                <a:ea typeface="Courier New"/>
                <a:cs typeface="Courier New"/>
                <a:sym typeface="Courier New"/>
              </a:rPr>
              <a:t>ON</a:t>
            </a:r>
            <a:r>
              <a:rPr lang="en-ID" sz="1000">
                <a:solidFill>
                  <a:srgbClr val="ECECF1"/>
                </a:solidFill>
                <a:latin typeface="Courier New"/>
                <a:ea typeface="Courier New"/>
                <a:cs typeface="Courier New"/>
                <a:sym typeface="Courier New"/>
              </a:rPr>
              <a:t> t1.id = t2.account_id</a:t>
            </a:r>
            <a:endParaRPr sz="1000">
              <a:solidFill>
                <a:srgbClr val="ECECF1"/>
              </a:solidFill>
              <a:latin typeface="Courier New"/>
              <a:ea typeface="Courier New"/>
              <a:cs typeface="Courier New"/>
              <a:sym typeface="Courier New"/>
            </a:endParaRPr>
          </a:p>
          <a:p>
            <a:pPr marL="0" lvl="0" indent="0" algn="l" rtl="0">
              <a:spcBef>
                <a:spcPts val="0"/>
              </a:spcBef>
              <a:spcAft>
                <a:spcPts val="0"/>
              </a:spcAft>
              <a:buNone/>
            </a:pPr>
            <a:endParaRPr>
              <a:solidFill>
                <a:srgbClr val="ECECF1"/>
              </a:solidFill>
            </a:endParaRPr>
          </a:p>
        </p:txBody>
      </p:sp>
      <p:sp>
        <p:nvSpPr>
          <p:cNvPr id="748" name="Google Shape;748;g26244765c84_0_3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93</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1697ddf75238608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1697ddf75238608_2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5" name="Google Shape;755;g11697ddf75238608_2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94</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1697ddf75238608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1697ddf75238608_2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with a1 as (</a:t>
            </a:r>
          </a:p>
          <a:p>
            <a:pPr marL="0" lvl="0" indent="0" algn="l" rtl="0">
              <a:spcBef>
                <a:spcPts val="0"/>
              </a:spcBef>
              <a:spcAft>
                <a:spcPts val="0"/>
              </a:spcAft>
              <a:buNone/>
            </a:pPr>
            <a:r>
              <a:rPr lang="en-US"/>
              <a:t>select account_id </a:t>
            </a:r>
          </a:p>
          <a:p>
            <a:pPr marL="0" lvl="0" indent="0" algn="l" rtl="0">
              <a:spcBef>
                <a:spcPts val="0"/>
              </a:spcBef>
              <a:spcAft>
                <a:spcPts val="0"/>
              </a:spcAft>
              <a:buNone/>
            </a:pPr>
            <a:r>
              <a:rPr lang="en-US"/>
              <a:t>	from orders </a:t>
            </a:r>
          </a:p>
          <a:p>
            <a:pPr marL="0" lvl="0" indent="0" algn="l" rtl="0">
              <a:spcBef>
                <a:spcPts val="0"/>
              </a:spcBef>
              <a:spcAft>
                <a:spcPts val="0"/>
              </a:spcAft>
              <a:buNone/>
            </a:pPr>
            <a:r>
              <a:rPr lang="en-US"/>
              <a:t>	order by total_amt_usd desc </a:t>
            </a:r>
          </a:p>
          <a:p>
            <a:pPr marL="0" lvl="0" indent="0" algn="l" rtl="0">
              <a:spcBef>
                <a:spcPts val="0"/>
              </a:spcBef>
              <a:spcAft>
                <a:spcPts val="0"/>
              </a:spcAft>
              <a:buNone/>
            </a:pPr>
            <a:r>
              <a:rPr lang="en-US"/>
              <a:t>	limit 5</a:t>
            </a:r>
          </a:p>
          <a:p>
            <a:pPr marL="0" lvl="0" indent="0" algn="l" rtl="0">
              <a:spcBef>
                <a:spcPts val="0"/>
              </a:spcBef>
              <a:spcAft>
                <a:spcPts val="0"/>
              </a:spcAft>
              <a:buNone/>
            </a:pPr>
            <a:r>
              <a:rPr lang="en-US"/>
              <a:t>) </a:t>
            </a:r>
          </a:p>
          <a:p>
            <a:pPr marL="0" lvl="0" indent="0" algn="l" rtl="0">
              <a:spcBef>
                <a:spcPts val="0"/>
              </a:spcBef>
              <a:spcAft>
                <a:spcPts val="0"/>
              </a:spcAft>
              <a:buNone/>
            </a:pPr>
            <a:r>
              <a:rPr lang="en-US"/>
              <a:t>Select name </a:t>
            </a:r>
          </a:p>
          <a:p>
            <a:pPr marL="0" lvl="0" indent="0" algn="l" rtl="0">
              <a:spcBef>
                <a:spcPts val="0"/>
              </a:spcBef>
              <a:spcAft>
                <a:spcPts val="0"/>
              </a:spcAft>
              <a:buNone/>
            </a:pPr>
            <a:r>
              <a:rPr lang="en-US"/>
              <a:t>	from accounts </a:t>
            </a:r>
          </a:p>
          <a:p>
            <a:pPr marL="0" lvl="0" indent="0" algn="l" rtl="0">
              <a:spcBef>
                <a:spcPts val="0"/>
              </a:spcBef>
              <a:spcAft>
                <a:spcPts val="0"/>
              </a:spcAft>
              <a:buNone/>
            </a:pPr>
            <a:r>
              <a:rPr lang="en-US"/>
              <a:t>	where id in (</a:t>
            </a:r>
          </a:p>
          <a:p>
            <a:pPr marL="0" lvl="0" indent="0" algn="l" rtl="0">
              <a:spcBef>
                <a:spcPts val="0"/>
              </a:spcBef>
              <a:spcAft>
                <a:spcPts val="0"/>
              </a:spcAft>
              <a:buNone/>
            </a:pPr>
            <a:r>
              <a:rPr lang="en-US"/>
              <a:t>		select * from a1</a:t>
            </a:r>
          </a:p>
          <a:p>
            <a:pPr marL="0" lvl="0" indent="0" algn="l" rtl="0">
              <a:spcBef>
                <a:spcPts val="0"/>
              </a:spcBef>
              <a:spcAft>
                <a:spcPts val="0"/>
              </a:spcAft>
              <a:buNone/>
            </a:pPr>
            <a:r>
              <a:rPr lang="en-US"/>
              <a:t>	);</a:t>
            </a:r>
          </a:p>
        </p:txBody>
      </p:sp>
      <p:sp>
        <p:nvSpPr>
          <p:cNvPr id="755" name="Google Shape;755;g11697ddf75238608_2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95</a:t>
            </a:fld>
            <a:endParaRPr/>
          </a:p>
        </p:txBody>
      </p:sp>
    </p:spTree>
    <p:extLst>
      <p:ext uri="{BB962C8B-B14F-4D97-AF65-F5344CB8AC3E}">
        <p14:creationId xmlns:p14="http://schemas.microsoft.com/office/powerpoint/2010/main" val="32619837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11697ddf75238608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11697ddf75238608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D" b="1">
                <a:solidFill>
                  <a:srgbClr val="EBF2FA"/>
                </a:solidFill>
                <a:latin typeface="Courier New"/>
                <a:ea typeface="Courier New"/>
                <a:cs typeface="Courier New"/>
                <a:sym typeface="Courier New"/>
              </a:rPr>
              <a:t>WITH </a:t>
            </a:r>
            <a:r>
              <a:rPr lang="en-ID">
                <a:solidFill>
                  <a:srgbClr val="EBF2FA"/>
                </a:solidFill>
                <a:latin typeface="Courier New"/>
                <a:ea typeface="Courier New"/>
                <a:cs typeface="Courier New"/>
                <a:sym typeface="Courier New"/>
              </a:rPr>
              <a:t>t1 </a:t>
            </a:r>
            <a:r>
              <a:rPr lang="en-ID" b="1">
                <a:solidFill>
                  <a:srgbClr val="EBF2FA"/>
                </a:solidFill>
                <a:latin typeface="Courier New"/>
                <a:ea typeface="Courier New"/>
                <a:cs typeface="Courier New"/>
                <a:sym typeface="Courier New"/>
              </a:rPr>
              <a:t>AS </a:t>
            </a:r>
            <a:r>
              <a:rPr lang="en-ID">
                <a:solidFill>
                  <a:srgbClr val="EBF2FA"/>
                </a:solidFill>
                <a:latin typeface="Courier New"/>
                <a:ea typeface="Courier New"/>
                <a:cs typeface="Courier New"/>
                <a:sym typeface="Courier New"/>
              </a:rPr>
              <a:t>(</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SELECT </a:t>
            </a:r>
            <a:r>
              <a:rPr lang="en-ID">
                <a:solidFill>
                  <a:srgbClr val="EBF2FA"/>
                </a:solidFill>
                <a:latin typeface="Courier New"/>
                <a:ea typeface="Courier New"/>
                <a:cs typeface="Courier New"/>
                <a:sym typeface="Courier New"/>
              </a:rPr>
              <a:t>r.name, </a:t>
            </a:r>
            <a:r>
              <a:rPr lang="en-ID" b="1">
                <a:solidFill>
                  <a:srgbClr val="EBF2FA"/>
                </a:solidFill>
                <a:latin typeface="Courier New"/>
                <a:ea typeface="Courier New"/>
                <a:cs typeface="Courier New"/>
                <a:sym typeface="Courier New"/>
              </a:rPr>
              <a:t>SUM</a:t>
            </a:r>
            <a:r>
              <a:rPr lang="en-ID">
                <a:solidFill>
                  <a:srgbClr val="EBF2FA"/>
                </a:solidFill>
                <a:latin typeface="Courier New"/>
                <a:ea typeface="Courier New"/>
                <a:cs typeface="Courier New"/>
                <a:sym typeface="Courier New"/>
              </a:rPr>
              <a:t>(total_amt_usd) </a:t>
            </a:r>
            <a:r>
              <a:rPr lang="en-ID" b="1">
                <a:solidFill>
                  <a:srgbClr val="EBF2FA"/>
                </a:solidFill>
                <a:latin typeface="Courier New"/>
                <a:ea typeface="Courier New"/>
                <a:cs typeface="Courier New"/>
                <a:sym typeface="Courier New"/>
              </a:rPr>
              <a:t>AS </a:t>
            </a:r>
            <a:r>
              <a:rPr lang="en-ID">
                <a:solidFill>
                  <a:srgbClr val="EBF2FA"/>
                </a:solidFill>
                <a:latin typeface="Courier New"/>
                <a:ea typeface="Courier New"/>
                <a:cs typeface="Courier New"/>
                <a:sym typeface="Courier New"/>
              </a:rPr>
              <a:t>amount</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FROM </a:t>
            </a:r>
            <a:r>
              <a:rPr lang="en-ID">
                <a:solidFill>
                  <a:srgbClr val="EBF2FA"/>
                </a:solidFill>
                <a:latin typeface="Courier New"/>
                <a:ea typeface="Courier New"/>
                <a:cs typeface="Courier New"/>
                <a:sym typeface="Courier New"/>
              </a:rPr>
              <a:t>region r</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JOIN </a:t>
            </a:r>
            <a:r>
              <a:rPr lang="en-ID">
                <a:solidFill>
                  <a:srgbClr val="EBF2FA"/>
                </a:solidFill>
                <a:latin typeface="Courier New"/>
                <a:ea typeface="Courier New"/>
                <a:cs typeface="Courier New"/>
                <a:sym typeface="Courier New"/>
              </a:rPr>
              <a:t>sales_reps sr ON r.id = sr.region_id</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JOIN </a:t>
            </a:r>
            <a:r>
              <a:rPr lang="en-ID">
                <a:solidFill>
                  <a:srgbClr val="EBF2FA"/>
                </a:solidFill>
                <a:latin typeface="Courier New"/>
                <a:ea typeface="Courier New"/>
                <a:cs typeface="Courier New"/>
                <a:sym typeface="Courier New"/>
              </a:rPr>
              <a:t>accounts a ON sr.id = a.sales_rep_id</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JOIN </a:t>
            </a:r>
            <a:r>
              <a:rPr lang="en-ID">
                <a:solidFill>
                  <a:srgbClr val="EBF2FA"/>
                </a:solidFill>
                <a:latin typeface="Courier New"/>
                <a:ea typeface="Courier New"/>
                <a:cs typeface="Courier New"/>
                <a:sym typeface="Courier New"/>
              </a:rPr>
              <a:t>orders o ON a.id = o.account_id</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		</a:t>
            </a:r>
            <a:r>
              <a:rPr lang="en-ID" b="1">
                <a:solidFill>
                  <a:srgbClr val="EBF2FA"/>
                </a:solidFill>
                <a:latin typeface="Courier New"/>
                <a:ea typeface="Courier New"/>
                <a:cs typeface="Courier New"/>
                <a:sym typeface="Courier New"/>
              </a:rPr>
              <a:t>GROUP BY </a:t>
            </a:r>
            <a:r>
              <a:rPr lang="en-ID">
                <a:solidFill>
                  <a:srgbClr val="EBF2FA"/>
                </a:solidFill>
                <a:latin typeface="Courier New"/>
                <a:ea typeface="Courier New"/>
                <a:cs typeface="Courier New"/>
                <a:sym typeface="Courier New"/>
              </a:rPr>
              <a:t>r.name</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a:solidFill>
                  <a:srgbClr val="EBF2FA"/>
                </a:solidFill>
                <a:latin typeface="Courier New"/>
                <a:ea typeface="Courier New"/>
                <a:cs typeface="Courier New"/>
                <a:sym typeface="Courier New"/>
              </a:rPr>
              <a:t>)</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r>
              <a:rPr lang="en-ID" b="1">
                <a:solidFill>
                  <a:srgbClr val="EBF2FA"/>
                </a:solidFill>
                <a:latin typeface="Courier New"/>
                <a:ea typeface="Courier New"/>
                <a:cs typeface="Courier New"/>
                <a:sym typeface="Courier New"/>
              </a:rPr>
              <a:t>SELECT </a:t>
            </a:r>
            <a:r>
              <a:rPr lang="en-ID">
                <a:solidFill>
                  <a:srgbClr val="EBF2FA"/>
                </a:solidFill>
                <a:latin typeface="Courier New"/>
                <a:ea typeface="Courier New"/>
                <a:cs typeface="Courier New"/>
                <a:sym typeface="Courier New"/>
              </a:rPr>
              <a:t>name </a:t>
            </a:r>
            <a:r>
              <a:rPr lang="en-ID" b="1">
                <a:solidFill>
                  <a:srgbClr val="EBF2FA"/>
                </a:solidFill>
                <a:latin typeface="Courier New"/>
                <a:ea typeface="Courier New"/>
                <a:cs typeface="Courier New"/>
                <a:sym typeface="Courier New"/>
              </a:rPr>
              <a:t>FROM </a:t>
            </a:r>
            <a:r>
              <a:rPr lang="en-ID">
                <a:solidFill>
                  <a:srgbClr val="EBF2FA"/>
                </a:solidFill>
                <a:latin typeface="Courier New"/>
                <a:ea typeface="Courier New"/>
                <a:cs typeface="Courier New"/>
                <a:sym typeface="Courier New"/>
              </a:rPr>
              <a:t>t1 </a:t>
            </a:r>
            <a:r>
              <a:rPr lang="en-ID" b="1">
                <a:solidFill>
                  <a:srgbClr val="EBF2FA"/>
                </a:solidFill>
                <a:latin typeface="Courier New"/>
                <a:ea typeface="Courier New"/>
                <a:cs typeface="Courier New"/>
                <a:sym typeface="Courier New"/>
              </a:rPr>
              <a:t>WHERE </a:t>
            </a:r>
            <a:r>
              <a:rPr lang="en-ID">
                <a:solidFill>
                  <a:srgbClr val="EBF2FA"/>
                </a:solidFill>
                <a:latin typeface="Courier New"/>
                <a:ea typeface="Courier New"/>
                <a:cs typeface="Courier New"/>
                <a:sym typeface="Courier New"/>
              </a:rPr>
              <a:t>amount = (</a:t>
            </a:r>
            <a:r>
              <a:rPr lang="en-ID" b="1">
                <a:solidFill>
                  <a:srgbClr val="EBF2FA"/>
                </a:solidFill>
                <a:latin typeface="Courier New"/>
                <a:ea typeface="Courier New"/>
                <a:cs typeface="Courier New"/>
                <a:sym typeface="Courier New"/>
              </a:rPr>
              <a:t>SELECT MAX</a:t>
            </a:r>
            <a:r>
              <a:rPr lang="en-ID">
                <a:solidFill>
                  <a:srgbClr val="EBF2FA"/>
                </a:solidFill>
                <a:latin typeface="Courier New"/>
                <a:ea typeface="Courier New"/>
                <a:cs typeface="Courier New"/>
                <a:sym typeface="Courier New"/>
              </a:rPr>
              <a:t>(amount) </a:t>
            </a:r>
            <a:r>
              <a:rPr lang="en-ID" b="1">
                <a:solidFill>
                  <a:srgbClr val="EBF2FA"/>
                </a:solidFill>
                <a:latin typeface="Courier New"/>
                <a:ea typeface="Courier New"/>
                <a:cs typeface="Courier New"/>
                <a:sym typeface="Courier New"/>
              </a:rPr>
              <a:t>FROM </a:t>
            </a:r>
            <a:r>
              <a:rPr lang="en-ID">
                <a:solidFill>
                  <a:srgbClr val="EBF2FA"/>
                </a:solidFill>
                <a:latin typeface="Courier New"/>
                <a:ea typeface="Courier New"/>
                <a:cs typeface="Courier New"/>
                <a:sym typeface="Courier New"/>
              </a:rPr>
              <a:t>t1)</a:t>
            </a:r>
            <a:endParaRPr>
              <a:solidFill>
                <a:srgbClr val="EBF2FA"/>
              </a:solidFill>
              <a:latin typeface="Courier New"/>
              <a:ea typeface="Courier New"/>
              <a:cs typeface="Courier New"/>
              <a:sym typeface="Courier New"/>
            </a:endParaRPr>
          </a:p>
          <a:p>
            <a:pPr marL="0" lvl="0" indent="0" algn="l" rtl="0">
              <a:spcBef>
                <a:spcPts val="0"/>
              </a:spcBef>
              <a:spcAft>
                <a:spcPts val="0"/>
              </a:spcAft>
              <a:buNone/>
            </a:pPr>
            <a:endParaRPr>
              <a:solidFill>
                <a:srgbClr val="EBF2FA"/>
              </a:solidFill>
              <a:latin typeface="Courier New"/>
              <a:ea typeface="Courier New"/>
              <a:cs typeface="Courier New"/>
              <a:sym typeface="Courier New"/>
            </a:endParaRPr>
          </a:p>
        </p:txBody>
      </p:sp>
      <p:sp>
        <p:nvSpPr>
          <p:cNvPr id="764" name="Google Shape;764;g11697ddf75238608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96</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244765c84_0_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26244765c84_0_3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ID" sz="1800" b="1" i="0" u="none" strike="noStrike" baseline="0">
                <a:solidFill>
                  <a:srgbClr val="0000FF"/>
                </a:solidFill>
                <a:latin typeface="Courier New" panose="02070309020205020404" pitchFamily="49" charset="0"/>
              </a:rPr>
              <a:t>with</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a1</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as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account_id</a:t>
            </a:r>
          </a:p>
          <a:p>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orders</a:t>
            </a:r>
            <a:r>
              <a:rPr lang="en-ID" sz="1800" b="0" i="0" u="none" strike="noStrike" baseline="0">
                <a:solidFill>
                  <a:srgbClr val="000000"/>
                </a:solidFill>
                <a:latin typeface="Courier New" panose="02070309020205020404" pitchFamily="49" charset="0"/>
              </a:rPr>
              <a:t> </a:t>
            </a:r>
          </a:p>
          <a:p>
            <a:r>
              <a:rPr lang="en-ID" sz="1800" b="1" i="0" u="none" strike="noStrike" baseline="0">
                <a:solidFill>
                  <a:srgbClr val="0000FF"/>
                </a:solidFill>
                <a:latin typeface="Courier New" panose="02070309020205020404" pitchFamily="49" charset="0"/>
              </a:rPr>
              <a:t>GROUP</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BY</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a:t>
            </a:r>
          </a:p>
          <a:p>
            <a:r>
              <a:rPr lang="en-US" sz="1800" b="1" i="0" u="none" strike="noStrike" baseline="0">
                <a:solidFill>
                  <a:srgbClr val="0000FF"/>
                </a:solidFill>
                <a:latin typeface="Courier New" panose="02070309020205020404" pitchFamily="49" charset="0"/>
              </a:rPr>
              <a:t>order</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by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80"/>
                </a:solidFill>
                <a:latin typeface="Courier New" panose="02070309020205020404" pitchFamily="49" charset="0"/>
              </a:rPr>
              <a:t>sum</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total_amt_usd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desc</a:t>
            </a:r>
            <a:r>
              <a:rPr lang="en-US" sz="1800" b="0" i="0" u="none" strike="noStrike" baseline="0">
                <a:solidFill>
                  <a:srgbClr val="000000"/>
                </a:solidFill>
                <a:latin typeface="Courier New" panose="02070309020205020404" pitchFamily="49" charset="0"/>
              </a:rPr>
              <a:t> </a:t>
            </a:r>
          </a:p>
          <a:p>
            <a:r>
              <a:rPr lang="en-ID" sz="1800" b="1" i="0" u="none" strike="noStrike" baseline="0">
                <a:solidFill>
                  <a:srgbClr val="0000FF"/>
                </a:solidFill>
                <a:latin typeface="Courier New" panose="02070309020205020404" pitchFamily="49" charset="0"/>
              </a:rPr>
              <a:t>LIMIT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a</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name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we</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channel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80"/>
                </a:solidFill>
                <a:latin typeface="Courier New" panose="02070309020205020404" pitchFamily="49" charset="0"/>
              </a:rPr>
              <a:t>COUNT</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CHANNEL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jumlah</a:t>
            </a:r>
          </a:p>
          <a:p>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web_events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we</a:t>
            </a:r>
          </a:p>
          <a:p>
            <a:r>
              <a:rPr lang="en-ID" sz="1800" b="1" i="0" u="none" strike="noStrike" baseline="0">
                <a:solidFill>
                  <a:srgbClr val="0000FF"/>
                </a:solidFill>
                <a:latin typeface="Courier New" panose="02070309020205020404" pitchFamily="49" charset="0"/>
              </a:rPr>
              <a:t>JOIN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accounts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a</a:t>
            </a:r>
          </a:p>
          <a:p>
            <a:r>
              <a:rPr lang="en-US" sz="1800" b="1" i="0" u="none" strike="noStrike" baseline="0">
                <a:solidFill>
                  <a:srgbClr val="0000FF"/>
                </a:solidFill>
                <a:latin typeface="Courier New" panose="02070309020205020404" pitchFamily="49" charset="0"/>
              </a:rPr>
              <a:t>ON</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we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account_id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a</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id</a:t>
            </a:r>
          </a:p>
          <a:p>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a</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a1</a:t>
            </a:r>
            <a:r>
              <a:rPr lang="en-US"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GROUP</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BY</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we</a:t>
            </a:r>
            <a:r>
              <a:rPr lang="en-ID" sz="1800" b="0" i="0" u="none" strike="noStrike" baseline="0">
                <a:solidFill>
                  <a:srgbClr val="0000FF"/>
                </a:solidFill>
                <a:latin typeface="Courier New" panose="02070309020205020404" pitchFamily="49" charset="0"/>
              </a:rPr>
              <a:t>.</a:t>
            </a:r>
            <a:r>
              <a:rPr lang="en-ID" sz="1800" b="1" i="0" u="none" strike="noStrike" baseline="0">
                <a:solidFill>
                  <a:srgbClr val="0000FF"/>
                </a:solidFill>
                <a:latin typeface="Courier New" panose="02070309020205020404" pitchFamily="49" charset="0"/>
              </a:rPr>
              <a:t>channel</a:t>
            </a:r>
          </a:p>
          <a:p>
            <a:r>
              <a:rPr lang="en-ID" sz="1800" b="1" i="0" u="none" strike="noStrike" baseline="0">
                <a:solidFill>
                  <a:srgbClr val="0000FF"/>
                </a:solidFill>
                <a:latin typeface="Courier New" panose="02070309020205020404" pitchFamily="49" charset="0"/>
              </a:rPr>
              <a:t>ORDER</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BY</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3</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desc</a:t>
            </a:r>
          </a:p>
          <a:p>
            <a:r>
              <a:rPr lang="en-ID" sz="1800" b="0" i="0" u="none" strike="noStrike" baseline="0">
                <a:solidFill>
                  <a:srgbClr val="0000FF"/>
                </a:solidFill>
                <a:latin typeface="Courier New" panose="02070309020205020404" pitchFamily="49" charset="0"/>
              </a:rPr>
              <a:t>;</a:t>
            </a:r>
          </a:p>
          <a:p>
            <a:pPr marL="0" lvl="0" indent="0" algn="l" rtl="0">
              <a:spcBef>
                <a:spcPts val="0"/>
              </a:spcBef>
              <a:spcAft>
                <a:spcPts val="0"/>
              </a:spcAft>
              <a:buNone/>
            </a:pPr>
            <a:endParaRPr b="1">
              <a:solidFill>
                <a:srgbClr val="EBF2FA"/>
              </a:solidFill>
              <a:highlight>
                <a:srgbClr val="EBF2FA"/>
              </a:highlight>
              <a:latin typeface="Courier New"/>
              <a:ea typeface="Courier New"/>
              <a:cs typeface="Courier New"/>
              <a:sym typeface="Courier New"/>
            </a:endParaRPr>
          </a:p>
        </p:txBody>
      </p:sp>
      <p:sp>
        <p:nvSpPr>
          <p:cNvPr id="772" name="Google Shape;772;g26244765c84_0_3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97</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a550b50268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g2a550b50268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9a5a70a483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g29a5a70a483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a56a6785b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2a56a6785b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g2a56a6785b8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D"/>
              <a:t>100</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a56a6785b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2a56a6785b8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4" name="Google Shape;804;g2a56a6785b8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101</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a56a6785b8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2a56a6785b8_0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4" name="Google Shape;814;g2a56a6785b8_0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102</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a56a6785b8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2a56a6785b8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g2a56a6785b8_0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103</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a56a6785b8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2a56a6785b8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g2a56a6785b8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104</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a56a6785b8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2a56a6785b8_0_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g2a56a6785b8_0_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D"/>
              <a:t>105</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a550b5026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9" name="Google Shape;849;g2a550b5026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2c511ebcc_1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2c511ebcc_1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t># Contoh</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ID"/>
              <a:t>use parrchnposey;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ID"/>
              <a:t>start transaction;</a:t>
            </a:r>
            <a:endParaRPr/>
          </a:p>
          <a:p>
            <a:pPr marL="0" lvl="0" indent="457200" algn="l" rtl="0">
              <a:spcBef>
                <a:spcPts val="0"/>
              </a:spcBef>
              <a:spcAft>
                <a:spcPts val="0"/>
              </a:spcAft>
              <a:buClr>
                <a:schemeClr val="dk1"/>
              </a:buClr>
              <a:buSzPts val="1100"/>
              <a:buFont typeface="Arial"/>
              <a:buNone/>
            </a:pPr>
            <a:r>
              <a:rPr lang="en-ID"/>
              <a:t>insert into region values (5, ‘Easteast’)</a:t>
            </a:r>
            <a:endParaRPr/>
          </a:p>
          <a:p>
            <a:pPr marL="0" lvl="0" indent="457200" algn="l" rtl="0">
              <a:spcBef>
                <a:spcPts val="0"/>
              </a:spcBef>
              <a:spcAft>
                <a:spcPts val="0"/>
              </a:spcAft>
              <a:buClr>
                <a:schemeClr val="dk1"/>
              </a:buClr>
              <a:buSzPts val="1100"/>
              <a:buFont typeface="Arial"/>
              <a:buNone/>
            </a:pPr>
            <a:r>
              <a:rPr lang="en-ID"/>
              <a:t>insert into region values (6, ‘Mideast’)</a:t>
            </a:r>
            <a:endParaRPr/>
          </a:p>
          <a:p>
            <a:pPr marL="0" lvl="0" indent="0" algn="l" rtl="0">
              <a:spcBef>
                <a:spcPts val="0"/>
              </a:spcBef>
              <a:spcAft>
                <a:spcPts val="0"/>
              </a:spcAft>
              <a:buClr>
                <a:schemeClr val="dk1"/>
              </a:buClr>
              <a:buSzPts val="1100"/>
              <a:buFont typeface="Arial"/>
              <a:buNone/>
            </a:pPr>
            <a:r>
              <a:rPr lang="en-ID"/>
              <a:t>rollback / commit;	</a:t>
            </a:r>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857" name="Google Shape;857;g262c511ebcc_1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108</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CREATE TABLE rekening (</a:t>
            </a:r>
          </a:p>
          <a:p>
            <a:r>
              <a:rPr lang="en-ID"/>
              <a:t>    id INT AUTO_INCREMENT PRIMARY KEY,</a:t>
            </a:r>
          </a:p>
          <a:p>
            <a:r>
              <a:rPr lang="en-ID"/>
              <a:t>    nama VARCHAR(50),</a:t>
            </a:r>
          </a:p>
          <a:p>
            <a:r>
              <a:rPr lang="en-ID"/>
              <a:t>    saldo DECIMAL(10,2)</a:t>
            </a:r>
          </a:p>
          <a:p>
            <a:r>
              <a:rPr lang="en-ID"/>
              <a:t>);</a:t>
            </a:r>
          </a:p>
          <a:p>
            <a:endParaRPr lang="en-ID"/>
          </a:p>
          <a:p>
            <a:r>
              <a:rPr lang="en-ID"/>
              <a:t>INSERT INTO rekening (nama, saldo)</a:t>
            </a:r>
          </a:p>
          <a:p>
            <a:r>
              <a:rPr lang="en-ID"/>
              <a:t>VALUES </a:t>
            </a:r>
          </a:p>
          <a:p>
            <a:r>
              <a:rPr lang="en-ID"/>
              <a:t>('Alice', 1000.00),</a:t>
            </a:r>
          </a:p>
          <a:p>
            <a:r>
              <a:rPr lang="en-ID"/>
              <a:t>('Bob', 500.00);</a:t>
            </a:r>
          </a:p>
          <a:p>
            <a:endParaRPr lang="en-ID"/>
          </a:p>
          <a:p>
            <a:endParaRPr lang="en-ID"/>
          </a:p>
          <a:p>
            <a:r>
              <a:rPr lang="en-ID"/>
              <a:t>START TRANSACTION;</a:t>
            </a:r>
          </a:p>
          <a:p>
            <a:endParaRPr lang="en-ID"/>
          </a:p>
          <a:p>
            <a:r>
              <a:rPr lang="en-ID"/>
              <a:t>-- Kurangi saldo Alice</a:t>
            </a:r>
          </a:p>
          <a:p>
            <a:r>
              <a:rPr lang="en-ID"/>
              <a:t>UPDATE rekening</a:t>
            </a:r>
          </a:p>
          <a:p>
            <a:r>
              <a:rPr lang="en-ID"/>
              <a:t>SET saldo = saldo - 200</a:t>
            </a:r>
          </a:p>
          <a:p>
            <a:r>
              <a:rPr lang="en-ID"/>
              <a:t>WHERE nama = 'Alice';</a:t>
            </a:r>
          </a:p>
          <a:p>
            <a:endParaRPr lang="en-ID"/>
          </a:p>
          <a:p>
            <a:r>
              <a:rPr lang="en-ID"/>
              <a:t>-- Tambah saldo Bob</a:t>
            </a:r>
          </a:p>
          <a:p>
            <a:r>
              <a:rPr lang="en-ID"/>
              <a:t>UPDATE rekening</a:t>
            </a:r>
          </a:p>
          <a:p>
            <a:r>
              <a:rPr lang="en-ID"/>
              <a:t>SET saldo = saldo + 200</a:t>
            </a:r>
          </a:p>
          <a:p>
            <a:r>
              <a:rPr lang="en-ID"/>
              <a:t>WHERE nama = 'Bob';</a:t>
            </a:r>
          </a:p>
          <a:p>
            <a:endParaRPr lang="en-ID"/>
          </a:p>
          <a:p>
            <a:r>
              <a:rPr lang="en-ID"/>
              <a:t>-- Simpan perubahan</a:t>
            </a:r>
          </a:p>
          <a:p>
            <a:r>
              <a:rPr lang="en-ID"/>
              <a:t>COMMIT;</a:t>
            </a:r>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111</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938725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62c511ebcc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62c511ebc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864" name="Google Shape;864;g262c511ebc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113</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62c511ebcc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62c511ebcc_1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Clr>
                <a:schemeClr val="dk1"/>
              </a:buClr>
              <a:buSzPts val="1100"/>
              <a:buFont typeface="Arial"/>
              <a:buNone/>
            </a:pPr>
            <a:r>
              <a:rPr lang="en-ID" sz="1400">
                <a:latin typeface="Century Gothic"/>
                <a:ea typeface="Century Gothic"/>
                <a:cs typeface="Century Gothic"/>
                <a:sym typeface="Century Gothic"/>
              </a:rPr>
              <a:t>1. Stored Procedure dengan Parameter IN:</a:t>
            </a:r>
            <a:endParaRPr sz="1400">
              <a:latin typeface="Century Gothic"/>
              <a:ea typeface="Century Gothic"/>
              <a:cs typeface="Century Gothic"/>
              <a:sym typeface="Century Gothic"/>
            </a:endParaRPr>
          </a:p>
          <a:p>
            <a:pPr marL="457200" lvl="0" indent="-317500" algn="l" rtl="0">
              <a:lnSpc>
                <a:spcPct val="115000"/>
              </a:lnSpc>
              <a:spcBef>
                <a:spcPts val="40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Deskripsi:</a:t>
            </a:r>
            <a:endParaRPr sz="1400">
              <a:latin typeface="Century Gothic"/>
              <a:ea typeface="Century Gothic"/>
              <a:cs typeface="Century Gothic"/>
              <a:sym typeface="Century Gothic"/>
            </a:endParaRPr>
          </a:p>
          <a:p>
            <a:pPr marL="914400" lvl="1"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Parameter IN digunakan untuk mengirim nilai ke stored procedure.</a:t>
            </a:r>
            <a:endParaRPr sz="1400">
              <a:latin typeface="Century Gothic"/>
              <a:ea typeface="Century Gothic"/>
              <a:cs typeface="Century Gothic"/>
              <a:sym typeface="Century Gothic"/>
            </a:endParaRPr>
          </a:p>
          <a:p>
            <a:pPr marL="914400" lvl="1"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Nilai parameter IN hanya dapat dibaca di dalam stored procedure dan tidak dapat dimodifikasi.</a:t>
            </a:r>
            <a:endParaRPr sz="1400">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Contoh:</a:t>
            </a:r>
            <a:endParaRPr sz="1400">
              <a:latin typeface="Century Gothic"/>
              <a:ea typeface="Century Gothic"/>
              <a:cs typeface="Century Gothic"/>
              <a:sym typeface="Century Gothic"/>
            </a:endParaRPr>
          </a:p>
          <a:p>
            <a:pPr marL="914400" lvl="1"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Buat stored procedure untuk mendapatkan informasi akun berdasarkan ID.</a:t>
            </a:r>
            <a:endParaRPr sz="1400">
              <a:latin typeface="Century Gothic"/>
              <a:ea typeface="Century Gothic"/>
              <a:cs typeface="Century Gothic"/>
              <a:sym typeface="Century Gothic"/>
            </a:endParaRPr>
          </a:p>
          <a:p>
            <a:pPr marL="0" lvl="0" indent="0" algn="l" rtl="0">
              <a:spcBef>
                <a:spcPts val="1500"/>
              </a:spcBef>
              <a:spcAft>
                <a:spcPts val="0"/>
              </a:spcAft>
              <a:buClr>
                <a:schemeClr val="dk1"/>
              </a:buClr>
              <a:buSzPts val="1100"/>
              <a:buFont typeface="Arial"/>
              <a:buNone/>
            </a:pPr>
            <a:r>
              <a:rPr lang="en-ID" sz="1400">
                <a:latin typeface="Courier New"/>
                <a:ea typeface="Courier New"/>
                <a:cs typeface="Courier New"/>
                <a:sym typeface="Courier New"/>
              </a:rPr>
              <a:t>DELIMITER //</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CREATE PROCEDURE GetAccountInfo(IN accountID INT)</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BEGIN</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    SELECT * FROM accounts WHERE id = accountID;</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END //</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DELIMITER ;</a:t>
            </a:r>
            <a:endParaRPr sz="14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400">
                <a:latin typeface="Courier New"/>
                <a:ea typeface="Courier New"/>
                <a:cs typeface="Courier New"/>
                <a:sym typeface="Courier New"/>
              </a:rPr>
              <a:t>CALL GetAccountInfo(1001);</a:t>
            </a:r>
            <a:endParaRPr sz="1400">
              <a:latin typeface="Century Gothic"/>
              <a:ea typeface="Century Gothic"/>
              <a:cs typeface="Century Gothic"/>
              <a:sym typeface="Century Gothic"/>
            </a:endParaRPr>
          </a:p>
          <a:p>
            <a:pPr marL="0" lvl="0" indent="0" algn="l" rtl="0">
              <a:lnSpc>
                <a:spcPct val="160000"/>
              </a:lnSpc>
              <a:spcBef>
                <a:spcPts val="1400"/>
              </a:spcBef>
              <a:spcAft>
                <a:spcPts val="0"/>
              </a:spcAft>
              <a:buClr>
                <a:schemeClr val="dk1"/>
              </a:buClr>
              <a:buSzPts val="1100"/>
              <a:buFont typeface="Arial"/>
              <a:buNone/>
            </a:pPr>
            <a:r>
              <a:rPr lang="en-ID" sz="1400">
                <a:latin typeface="Century Gothic"/>
                <a:ea typeface="Century Gothic"/>
                <a:cs typeface="Century Gothic"/>
                <a:sym typeface="Century Gothic"/>
              </a:rPr>
              <a:t>2. Stored Procedure dengan Parameter OUT:</a:t>
            </a:r>
            <a:endParaRPr sz="1400">
              <a:latin typeface="Century Gothic"/>
              <a:ea typeface="Century Gothic"/>
              <a:cs typeface="Century Gothic"/>
              <a:sym typeface="Century Gothic"/>
            </a:endParaRPr>
          </a:p>
          <a:p>
            <a:pPr marL="457200" lvl="0" indent="-317500" algn="l" rtl="0">
              <a:lnSpc>
                <a:spcPct val="115000"/>
              </a:lnSpc>
              <a:spcBef>
                <a:spcPts val="40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Deskripsi:</a:t>
            </a:r>
            <a:endParaRPr sz="1400">
              <a:latin typeface="Century Gothic"/>
              <a:ea typeface="Century Gothic"/>
              <a:cs typeface="Century Gothic"/>
              <a:sym typeface="Century Gothic"/>
            </a:endParaRPr>
          </a:p>
          <a:p>
            <a:pPr marL="914400" lvl="1"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Parameter OUT digunakan untuk mengembalikan nilai dari stored procedure.</a:t>
            </a:r>
            <a:endParaRPr sz="1400">
              <a:latin typeface="Century Gothic"/>
              <a:ea typeface="Century Gothic"/>
              <a:cs typeface="Century Gothic"/>
              <a:sym typeface="Century Gothic"/>
            </a:endParaRPr>
          </a:p>
          <a:p>
            <a:pPr marL="914400" lvl="1" indent="-317500" algn="l" rtl="0">
              <a:lnSpc>
                <a:spcPct val="115000"/>
              </a:lnSpc>
              <a:spcBef>
                <a:spcPts val="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Nilai parameter OUT dapat dimodifikasi di dalam stored procedure dan akan dikembalikan ke pemanggil stored procedure.</a:t>
            </a:r>
            <a:endParaRPr sz="1400">
              <a:latin typeface="Century Gothic"/>
              <a:ea typeface="Century Gothic"/>
              <a:cs typeface="Century Gothic"/>
              <a:sym typeface="Century Gothic"/>
            </a:endParaRPr>
          </a:p>
          <a:p>
            <a:pPr marL="457200" lvl="0" indent="-228600" algn="l" rtl="0">
              <a:lnSpc>
                <a:spcPct val="115000"/>
              </a:lnSpc>
              <a:spcBef>
                <a:spcPts val="1500"/>
              </a:spcBef>
              <a:spcAft>
                <a:spcPts val="0"/>
              </a:spcAft>
              <a:buClr>
                <a:schemeClr val="dk1"/>
              </a:buClr>
              <a:buSzPts val="1100"/>
              <a:buFont typeface="Arial"/>
              <a:buNone/>
            </a:pPr>
            <a:r>
              <a:rPr lang="en-ID" sz="1400">
                <a:latin typeface="Century Gothic"/>
                <a:ea typeface="Century Gothic"/>
                <a:cs typeface="Century Gothic"/>
                <a:sym typeface="Century Gothic"/>
              </a:rPr>
              <a:t>Contoh:</a:t>
            </a:r>
            <a:endParaRPr sz="1400">
              <a:latin typeface="Century Gothic"/>
              <a:ea typeface="Century Gothic"/>
              <a:cs typeface="Century Gothic"/>
              <a:sym typeface="Century Gothic"/>
            </a:endParaRPr>
          </a:p>
          <a:p>
            <a:pPr marL="457200" lvl="0" indent="-317500" algn="l" rtl="0">
              <a:lnSpc>
                <a:spcPct val="115000"/>
              </a:lnSpc>
              <a:spcBef>
                <a:spcPts val="1500"/>
              </a:spcBef>
              <a:spcAft>
                <a:spcPts val="0"/>
              </a:spcAft>
              <a:buClr>
                <a:schemeClr val="dk1"/>
              </a:buClr>
              <a:buSzPts val="1400"/>
              <a:buFont typeface="Century Gothic"/>
              <a:buChar char="●"/>
            </a:pPr>
            <a:r>
              <a:rPr lang="en-ID" sz="1400">
                <a:latin typeface="Century Gothic"/>
                <a:ea typeface="Century Gothic"/>
                <a:cs typeface="Century Gothic"/>
                <a:sym typeface="Century Gothic"/>
              </a:rPr>
              <a:t>Buat stored procedure untuk menghitung jumlah total penjualan dari suatu akun.</a:t>
            </a:r>
            <a:endParaRPr sz="1400">
              <a:latin typeface="Century Gothic"/>
              <a:ea typeface="Century Gothic"/>
              <a:cs typeface="Century Gothic"/>
              <a:sym typeface="Century Gothic"/>
            </a:endParaRPr>
          </a:p>
          <a:p>
            <a:pPr marL="457200" lvl="0" indent="0" algn="l" rtl="0">
              <a:lnSpc>
                <a:spcPct val="115000"/>
              </a:lnSpc>
              <a:spcBef>
                <a:spcPts val="0"/>
              </a:spcBef>
              <a:spcAft>
                <a:spcPts val="0"/>
              </a:spcAft>
              <a:buClr>
                <a:schemeClr val="dk1"/>
              </a:buClr>
              <a:buSzPts val="1100"/>
              <a:buFont typeface="Arial"/>
              <a:buNone/>
            </a:pPr>
            <a:endParaRPr sz="1400">
              <a:latin typeface="Century Gothic"/>
              <a:ea typeface="Century Gothic"/>
              <a:cs typeface="Century Gothic"/>
              <a:sym typeface="Century Gothic"/>
            </a:endParaRPr>
          </a:p>
          <a:p>
            <a:pPr marL="0" lvl="0" indent="0" algn="l" rtl="0">
              <a:spcBef>
                <a:spcPts val="1500"/>
              </a:spcBef>
              <a:spcAft>
                <a:spcPts val="0"/>
              </a:spcAft>
              <a:buClr>
                <a:schemeClr val="dk1"/>
              </a:buClr>
              <a:buSzPts val="1100"/>
              <a:buFont typeface="Arial"/>
              <a:buNone/>
            </a:pPr>
            <a:r>
              <a:rPr lang="en-ID">
                <a:latin typeface="Courier New"/>
                <a:ea typeface="Courier New"/>
                <a:cs typeface="Courier New"/>
                <a:sym typeface="Courier New"/>
              </a:rPr>
              <a:t>DELIMITER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CREATE PROCEDURE CalculateTotalSales(IN accountID INT, OUT totalSales INT)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BEGIN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SUM(total_amt_usd) INTO totalSales FROM orders WHERE account_id = accountID;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END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DELIMITER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CALL CalculateTotalSales(1, @totalSales);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SELECT @totalSales AS TotalSales;</a:t>
            </a: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sz="1400">
              <a:latin typeface="Century Gothic"/>
              <a:ea typeface="Century Gothic"/>
              <a:cs typeface="Century Gothic"/>
              <a:sym typeface="Century Gothic"/>
            </a:endParaRPr>
          </a:p>
        </p:txBody>
      </p:sp>
      <p:sp>
        <p:nvSpPr>
          <p:cNvPr id="871" name="Google Shape;871;g262c511ebcc_1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114</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62c511ebcc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62c511ebcc_1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500"/>
              </a:spcBef>
              <a:spcAft>
                <a:spcPts val="0"/>
              </a:spcAft>
              <a:buClr>
                <a:schemeClr val="dk1"/>
              </a:buClr>
              <a:buSzPts val="1100"/>
              <a:buFont typeface="Arial"/>
              <a:buNone/>
            </a:pPr>
            <a:r>
              <a:rPr lang="en-ID">
                <a:latin typeface="Roboto"/>
                <a:ea typeface="Roboto"/>
                <a:cs typeface="Roboto"/>
                <a:sym typeface="Roboto"/>
              </a:rPr>
              <a:t>Contoh 1: Menampilkan Informasi Akun Berdasarkan ID</a:t>
            </a:r>
            <a:endParaRPr>
              <a:latin typeface="Roboto"/>
              <a:ea typeface="Roboto"/>
              <a:cs typeface="Roboto"/>
              <a:sym typeface="Roboto"/>
            </a:endParaRPr>
          </a:p>
          <a:p>
            <a:pPr marL="0" lvl="0" indent="0" algn="l" rtl="0">
              <a:spcBef>
                <a:spcPts val="1500"/>
              </a:spcBef>
              <a:spcAft>
                <a:spcPts val="0"/>
              </a:spcAft>
              <a:buClr>
                <a:schemeClr val="dk1"/>
              </a:buClr>
              <a:buSzPts val="1100"/>
              <a:buFont typeface="Arial"/>
              <a:buNone/>
            </a:pPr>
            <a:r>
              <a:rPr lang="en-ID">
                <a:latin typeface="Courier New"/>
                <a:ea typeface="Courier New"/>
                <a:cs typeface="Courier New"/>
                <a:sym typeface="Courier New"/>
              </a:rPr>
              <a:t>CREATE OR REPLACE PROCEDURE get_account_info (IN account_id INT)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BEGIN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 FROM accounts WHERE id = account_id;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END;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ID">
                <a:latin typeface="Roboto"/>
                <a:ea typeface="Roboto"/>
                <a:cs typeface="Roboto"/>
                <a:sym typeface="Roboto"/>
              </a:rPr>
              <a:t>Contoh 2: Menambahkan Web Event Baru</a:t>
            </a:r>
            <a:endParaRPr>
              <a:latin typeface="Roboto"/>
              <a:ea typeface="Roboto"/>
              <a:cs typeface="Roboto"/>
              <a:sym typeface="Roboto"/>
            </a:endParaRPr>
          </a:p>
          <a:p>
            <a:pPr marL="0" lvl="0" indent="0" algn="l" rtl="0">
              <a:spcBef>
                <a:spcPts val="1500"/>
              </a:spcBef>
              <a:spcAft>
                <a:spcPts val="0"/>
              </a:spcAft>
              <a:buClr>
                <a:schemeClr val="dk1"/>
              </a:buClr>
              <a:buSzPts val="1100"/>
              <a:buFont typeface="Arial"/>
              <a:buNone/>
            </a:pPr>
            <a:r>
              <a:rPr lang="en-ID">
                <a:latin typeface="Courier New"/>
                <a:ea typeface="Courier New"/>
                <a:cs typeface="Courier New"/>
                <a:sym typeface="Courier New"/>
              </a:rPr>
              <a:t>CREATE OR REPLACE PROCEDURE add_web_event (IN account_id INT, IN occurred_at TIMESTAMP, IN channel VARCHAR(255))</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BEGIN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INSERT INTO web_events (account_id, occurred_at, channel) VALUES (account_id, occurred_at, channel);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END;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ID">
                <a:latin typeface="Roboto"/>
                <a:ea typeface="Roboto"/>
                <a:cs typeface="Roboto"/>
                <a:sym typeface="Roboto"/>
              </a:rPr>
              <a:t>Contoh 3: Menampilkan Daftar Penjualan Berdasarkan Rentang Tanggal</a:t>
            </a:r>
            <a:endParaRPr>
              <a:latin typeface="Roboto"/>
              <a:ea typeface="Roboto"/>
              <a:cs typeface="Roboto"/>
              <a:sym typeface="Roboto"/>
            </a:endParaRPr>
          </a:p>
          <a:p>
            <a:pPr marL="0" lvl="0" indent="0" algn="l" rtl="0">
              <a:spcBef>
                <a:spcPts val="1500"/>
              </a:spcBef>
              <a:spcAft>
                <a:spcPts val="0"/>
              </a:spcAft>
              <a:buClr>
                <a:schemeClr val="dk1"/>
              </a:buClr>
              <a:buSzPts val="1100"/>
              <a:buFont typeface="Arial"/>
              <a:buNone/>
            </a:pPr>
            <a:r>
              <a:rPr lang="en-ID">
                <a:latin typeface="Courier New"/>
                <a:ea typeface="Courier New"/>
                <a:cs typeface="Courier New"/>
                <a:sym typeface="Courier New"/>
              </a:rPr>
              <a:t>CREATE OR REPLACE PROCEDURE get_sales_by_date_range (IN start_date TIMESTAMP, IN end_date TIMESTAMP)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BEGIN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 FROM orders WHERE occurred_at BETWEEN start_date AND end_date;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END;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a:t>
            </a:r>
          </a:p>
          <a:p>
            <a:pPr marL="0" lvl="0" indent="0" algn="l" rtl="0">
              <a:spcBef>
                <a:spcPts val="0"/>
              </a:spcBef>
              <a:spcAft>
                <a:spcPts val="0"/>
              </a:spcAft>
              <a:buClr>
                <a:schemeClr val="dk1"/>
              </a:buClr>
              <a:buSzPts val="1100"/>
              <a:buFont typeface="Arial"/>
              <a:buNone/>
            </a:pPr>
            <a:endParaRPr lang="en-ID">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Call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US">
                <a:latin typeface="Courier New"/>
                <a:ea typeface="Courier New"/>
                <a:cs typeface="Courier New"/>
                <a:sym typeface="Courier New"/>
              </a:rPr>
              <a:t>Contoh 4: </a:t>
            </a: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PROCEDURE</a:t>
            </a:r>
            <a:r>
              <a:rPr lang="en-ID" sz="1800" b="0" i="0" u="none" strike="noStrike" baseline="0">
                <a:solidFill>
                  <a:srgbClr val="000000"/>
                </a:solidFill>
                <a:latin typeface="Courier New" panose="02070309020205020404" pitchFamily="49" charset="0"/>
              </a:rPr>
              <a:t> TransferUang</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IN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pengirim</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VARCHAR</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50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IN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penerima</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VARCHAR</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50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IN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jumlah</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DECIMAL</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10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2</a:t>
            </a:r>
            <a:r>
              <a:rPr lang="en-ID" sz="1800" b="0" i="0" u="none" strike="noStrike" baseline="0">
                <a:solidFill>
                  <a:srgbClr val="0000FF"/>
                </a:solidFill>
                <a:latin typeface="Courier New" panose="02070309020205020404" pitchFamily="49" charset="0"/>
              </a:rPr>
              <a:t>),</a:t>
            </a:r>
          </a:p>
          <a:p>
            <a:r>
              <a:rPr lang="pt-BR" sz="1800" b="0" i="0" u="none" strike="noStrike" baseline="0">
                <a:solidFill>
                  <a:srgbClr val="000000"/>
                </a:solidFill>
                <a:latin typeface="Courier New" panose="02070309020205020404" pitchFamily="49" charset="0"/>
              </a:rPr>
              <a:t>    </a:t>
            </a:r>
            <a:r>
              <a:rPr lang="pt-BR" sz="1800" b="1" i="0" u="none" strike="noStrike" baseline="0">
                <a:solidFill>
                  <a:srgbClr val="0000FF"/>
                </a:solidFill>
                <a:latin typeface="Courier New" panose="02070309020205020404" pitchFamily="49" charset="0"/>
              </a:rPr>
              <a:t>OUT</a:t>
            </a:r>
            <a:r>
              <a:rPr lang="pt-BR" sz="1800" b="0" i="0" u="none" strike="noStrike" baseline="0">
                <a:solidFill>
                  <a:srgbClr val="000000"/>
                </a:solidFill>
                <a:latin typeface="Courier New" panose="02070309020205020404" pitchFamily="49" charset="0"/>
              </a:rPr>
              <a:t> </a:t>
            </a:r>
            <a:r>
              <a:rPr lang="pt-BR" sz="1800" b="0" i="0" u="none" strike="noStrike" baseline="0">
                <a:solidFill>
                  <a:srgbClr val="808000"/>
                </a:solidFill>
                <a:latin typeface="Courier New" panose="02070309020205020404" pitchFamily="49" charset="0"/>
              </a:rPr>
              <a:t>saldo_pengirim</a:t>
            </a:r>
            <a:r>
              <a:rPr lang="pt-BR" sz="1800" b="0" i="0" u="none" strike="noStrike" baseline="0">
                <a:solidFill>
                  <a:srgbClr val="000000"/>
                </a:solidFill>
                <a:latin typeface="Courier New" panose="02070309020205020404" pitchFamily="49" charset="0"/>
              </a:rPr>
              <a:t> </a:t>
            </a:r>
            <a:r>
              <a:rPr lang="pt-BR" sz="1800" b="1" i="0" u="none" strike="noStrike" baseline="0">
                <a:solidFill>
                  <a:srgbClr val="800000"/>
                </a:solidFill>
                <a:latin typeface="Courier New" panose="02070309020205020404" pitchFamily="49" charset="0"/>
              </a:rPr>
              <a:t>DECIMAL</a:t>
            </a:r>
            <a:r>
              <a:rPr lang="pt-BR" sz="1800" b="0" i="0" u="none" strike="noStrike" baseline="0">
                <a:solidFill>
                  <a:srgbClr val="0000FF"/>
                </a:solidFill>
                <a:latin typeface="Courier New" panose="02070309020205020404" pitchFamily="49" charset="0"/>
              </a:rPr>
              <a:t>(</a:t>
            </a:r>
            <a:r>
              <a:rPr lang="pt-BR" sz="1800" b="0" i="0" u="none" strike="noStrike" baseline="0">
                <a:solidFill>
                  <a:srgbClr val="800080"/>
                </a:solidFill>
                <a:latin typeface="Courier New" panose="02070309020205020404" pitchFamily="49" charset="0"/>
              </a:rPr>
              <a:t>10</a:t>
            </a:r>
            <a:r>
              <a:rPr lang="pt-BR" sz="1800" b="0" i="0" u="none" strike="noStrike" baseline="0">
                <a:solidFill>
                  <a:srgbClr val="0000FF"/>
                </a:solidFill>
                <a:latin typeface="Courier New" panose="02070309020205020404" pitchFamily="49" charset="0"/>
              </a:rPr>
              <a:t>,</a:t>
            </a:r>
            <a:r>
              <a:rPr lang="pt-BR" sz="1800" b="0" i="0" u="none" strike="noStrike" baseline="0">
                <a:solidFill>
                  <a:srgbClr val="800080"/>
                </a:solidFill>
                <a:latin typeface="Courier New" panose="02070309020205020404" pitchFamily="49" charset="0"/>
              </a:rPr>
              <a:t>2</a:t>
            </a:r>
            <a:r>
              <a:rPr lang="pt-BR"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BEGIN</a:t>
            </a:r>
          </a:p>
          <a:p>
            <a:r>
              <a:rPr lang="en-ID" sz="1800" b="0" i="0" u="none" strike="noStrike" baseline="0">
                <a:solidFill>
                  <a:srgbClr val="000000"/>
                </a:solidFill>
                <a:latin typeface="Courier New" panose="02070309020205020404" pitchFamily="49" charset="0"/>
              </a:rPr>
              <a:t>    </a:t>
            </a:r>
            <a:r>
              <a:rPr lang="en-ID" sz="1800" b="0" i="1" u="none" strike="noStrike" baseline="0">
                <a:solidFill>
                  <a:srgbClr val="808080"/>
                </a:solidFill>
                <a:latin typeface="Courier New" panose="02070309020205020404" pitchFamily="49" charset="0"/>
              </a:rPr>
              <a:t>-- Mengurangi saldo pengirim</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rekening</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SET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saldo</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saldo</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jumlah</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WHERE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nama</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pengirim</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0" i="0" u="none" strike="noStrike" baseline="0">
                <a:solidFill>
                  <a:srgbClr val="000000"/>
                </a:solidFill>
                <a:latin typeface="Courier New" panose="02070309020205020404" pitchFamily="49" charset="0"/>
              </a:rPr>
              <a:t>    </a:t>
            </a:r>
            <a:r>
              <a:rPr lang="en-ID" sz="1800" b="0" i="1" u="none" strike="noStrike" baseline="0">
                <a:solidFill>
                  <a:srgbClr val="808080"/>
                </a:solidFill>
                <a:latin typeface="Courier New" panose="02070309020205020404" pitchFamily="49" charset="0"/>
              </a:rPr>
              <a:t>-- Menambahkan saldo penerima</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rekening</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SET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saldo</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saldo</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jumlah</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WHERE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nama</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penerima</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0" i="0" u="none" strike="noStrike" baseline="0">
                <a:solidFill>
                  <a:srgbClr val="000000"/>
                </a:solidFill>
                <a:latin typeface="Courier New" panose="02070309020205020404" pitchFamily="49" charset="0"/>
              </a:rPr>
              <a:t>    </a:t>
            </a:r>
            <a:r>
              <a:rPr lang="en-ID" sz="1800" b="0" i="1" u="none" strike="noStrike" baseline="0">
                <a:solidFill>
                  <a:srgbClr val="808080"/>
                </a:solidFill>
                <a:latin typeface="Courier New" panose="02070309020205020404" pitchFamily="49" charset="0"/>
              </a:rPr>
              <a:t>-- Mengambil saldo akhir pengirim</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saldo</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saldo_pengirim</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rekening</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WHERE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nama</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pengirim</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US" sz="1800" b="0" i="0" u="none" strike="noStrike" baseline="0">
                <a:solidFill>
                  <a:srgbClr val="0000FF"/>
                </a:solidFill>
                <a:latin typeface="Courier New" panose="02070309020205020404" pitchFamily="49" charset="0"/>
              </a:rPr>
              <a:t>CALL TransferUang('Alice', 'Bob', 200.00, @saldo_pengirim);</a:t>
            </a:r>
          </a:p>
          <a:p>
            <a:endParaRPr lang="en-ID" sz="1800" b="0" i="0" u="none" strike="noStrike" baseline="0">
              <a:solidFill>
                <a:srgbClr val="0000FF"/>
              </a:solidFill>
              <a:latin typeface="Courier New" panose="02070309020205020404" pitchFamily="49" charset="0"/>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878" name="Google Shape;878;g262c511ebcc_1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115</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a550b5026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9" name="Google Shape;849;g2a550b5026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64690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62c511ebcc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62c511ebc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886" name="Google Shape;886;g262c511ebc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119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2c511ebcc_1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2c511ebcc_1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893" name="Google Shape;893;g262c511ebcc_1_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2c511ebcc_1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2c511ebcc_1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00" name="Google Shape;900;g262c511ebcc_1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64d9b7c7a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64d9b7c7a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07" name="Google Shape;907;g2664d9b7c7a_3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122</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aee2debbaf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aee2debbaf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14" name="Google Shape;914;g2aee2debbaf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123</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aee2debbaf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aee2debbaf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21" name="Google Shape;921;g2aee2debbaf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124</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aee2debbaf_0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aee2debbaf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28" name="Google Shape;928;g2aee2debbaf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125</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aee2debbaf_0_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aee2debbaf_0_1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35" name="Google Shape;935;g2aee2debbaf_0_1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126</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aee2debbaf_0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aee2debbaf_0_1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42" name="Google Shape;942;g2aee2debbaf_0_1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127</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b="0" i="1" u="none" strike="noStrike" baseline="0">
                <a:solidFill>
                  <a:srgbClr val="808080"/>
                </a:solidFill>
                <a:latin typeface="Courier New" panose="02070309020205020404" pitchFamily="49" charset="0"/>
              </a:rPr>
              <a:t>-- Membuat basis data toko online</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DATABASE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toko_online</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USE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toko_online</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Membuat Tabel Produk</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TABLE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products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AUTO_INCREMENT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PRIMARY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name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VARCHAR</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stock</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INT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NOT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NULL</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DECIMAL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discount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DECIMAL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5</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DEFAULT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0</a:t>
            </a:r>
          </a:p>
          <a:p>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name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stock</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discount</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'Laptop'</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50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15000000.00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'Smartphone'</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8000000.00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5</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'Headset'</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250000.00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'Tablet'</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75</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5000000.00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15</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Membuat Tabel Orders</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TABLE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AUTO_INCREMENT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PRIMARY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customer_id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total_amount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DECIMAL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ENUM</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8000"/>
                </a:solidFill>
                <a:latin typeface="Courier New" panose="02070309020205020404" pitchFamily="49" charset="0"/>
              </a:rPr>
              <a:t>'pending'</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'completed'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'canceled'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DEFAULT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'pending'</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order_date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DATETIME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DEFAULT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80"/>
                </a:solidFill>
                <a:latin typeface="Courier New" panose="02070309020205020404" pitchFamily="49" charset="0"/>
              </a:rPr>
              <a:t>CURRENT_TIMESTAMP</a:t>
            </a:r>
          </a:p>
          <a:p>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customer_id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total_amount</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1</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8000"/>
                </a:solidFill>
                <a:latin typeface="Courier New" panose="02070309020205020404" pitchFamily="49" charset="0"/>
              </a:rPr>
              <a:t>'pending'</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2</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15000000.00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8000"/>
                </a:solidFill>
                <a:latin typeface="Courier New" panose="02070309020205020404" pitchFamily="49" charset="0"/>
              </a:rPr>
              <a:t>'completed'</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3</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8000000.00</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8000"/>
                </a:solidFill>
                <a:latin typeface="Courier New" panose="02070309020205020404" pitchFamily="49" charset="0"/>
              </a:rPr>
              <a:t>'canceled'</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Membuat Tabel Order_details</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TABLE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order_details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order_detail_id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AUTO_INCREMENT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PRIMARY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quantity</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INT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NOT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NULL</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FOREIGN</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REFERENCES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FOREIGN</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REFERENCES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order_details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quantity</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1</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2</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800080"/>
                </a:solidFill>
                <a:latin typeface="Courier New" panose="02070309020205020404" pitchFamily="49" charset="0"/>
              </a:rPr>
              <a:t>3</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3</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3</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sz="1800" b="0" i="0" u="none" strike="noStrike" baseline="0">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Membuat Tabel customers</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TABLE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customers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customer_id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AUTO_INCREMENT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PRIMARY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name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VARCHAR</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loyalty_points</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DEFAULT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0</a:t>
            </a:r>
          </a:p>
          <a:p>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customers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name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loyalty_points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'Andi'</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'Budi'</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100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'Citra'</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50</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r>
              <a:rPr lang="en-ID" sz="1800" b="0" i="0" u="none" strike="noStrike" baseline="0">
                <a:solidFill>
                  <a:srgbClr val="008000"/>
                </a:solidFill>
                <a:latin typeface="Courier New" panose="02070309020205020404" pitchFamily="49" charset="0"/>
              </a:rPr>
              <a:t>'Dewi'</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0080"/>
                </a:solidFill>
                <a:latin typeface="Courier New" panose="02070309020205020404" pitchFamily="49" charset="0"/>
              </a:rPr>
              <a:t>200</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Membuat Tabel price_changes</a:t>
            </a:r>
          </a:p>
          <a:p>
            <a:r>
              <a:rPr lang="en-ID" sz="1800" b="1" i="0" u="none" strike="noStrike" baseline="0">
                <a:solidFill>
                  <a:srgbClr val="0000FF"/>
                </a:solidFill>
                <a:latin typeface="Courier New" panose="02070309020205020404" pitchFamily="49" charset="0"/>
              </a:rPr>
              <a:t>CREATE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TABLE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price_changes</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change_id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AUTO_INCREMENT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PRIMARY</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INT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NOT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NULL</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old_price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DECIMAL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new_price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800000"/>
                </a:solidFill>
                <a:latin typeface="Courier New" panose="02070309020205020404" pitchFamily="49" charset="0"/>
              </a:rPr>
              <a:t>DECIMAL</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10</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0" i="0" u="none" strike="noStrike" baseline="0">
                <a:solidFill>
                  <a:srgbClr val="808000"/>
                </a:solidFill>
                <a:latin typeface="Courier New" panose="02070309020205020404" pitchFamily="49" charset="0"/>
              </a:rPr>
              <a:t>change_date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800000"/>
                </a:solidFill>
                <a:latin typeface="Courier New" panose="02070309020205020404" pitchFamily="49" charset="0"/>
              </a:rPr>
              <a:t>DATETIME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DEFAULT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80"/>
                </a:solidFill>
                <a:latin typeface="Courier New" panose="02070309020205020404" pitchFamily="49" charset="0"/>
              </a:rPr>
              <a:t>CURRENT_TIMESTAMP</a:t>
            </a:r>
            <a:r>
              <a:rPr lang="en-ID"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FOREIGN</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KEY</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REFERENCES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sz="1800" b="0" i="0" u="none" strike="noStrike" baseline="0">
              <a:solidFill>
                <a:srgbClr val="0000FF"/>
              </a:solidFill>
              <a:latin typeface="Courier New" panose="02070309020205020404" pitchFamily="49" charset="0"/>
            </a:endParaRP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products</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customers</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orders</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order_details</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price_changes</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128</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9652908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b="0" i="1" u="none" strike="noStrike" baseline="0">
                <a:solidFill>
                  <a:srgbClr val="808080"/>
                </a:solidFill>
                <a:latin typeface="Courier New" panose="02070309020205020404" pitchFamily="49" charset="0"/>
              </a:rPr>
              <a:t>-- 1. Studi Kasus: Update Stok Barang Otomatis</a:t>
            </a:r>
          </a:p>
          <a:p>
            <a:r>
              <a:rPr lang="en-ID" sz="1800" b="0" i="1" u="none" strike="noStrike" baseline="0">
                <a:solidFill>
                  <a:srgbClr val="808080"/>
                </a:solidFill>
                <a:latin typeface="Courier New" panose="02070309020205020404" pitchFamily="49" charset="0"/>
              </a:rPr>
              <a:t>-- Deskripsi: Ketika pelanggan melakukan pembelian, stok barang otomatis berkurang sesuai jumlah yang dibeli.</a:t>
            </a:r>
          </a:p>
          <a:p>
            <a:r>
              <a:rPr lang="en-US" sz="1800" b="0" i="1" u="none" strike="noStrike" baseline="0">
                <a:solidFill>
                  <a:srgbClr val="808080"/>
                </a:solidFill>
                <a:latin typeface="Courier New" panose="02070309020205020404" pitchFamily="49" charset="0"/>
              </a:rPr>
              <a:t>-- Nama: update_stock_after_purchase</a:t>
            </a:r>
          </a:p>
          <a:p>
            <a:r>
              <a:rPr lang="en-ID" sz="1800" b="0" i="1" u="none" strike="noStrike" baseline="0">
                <a:solidFill>
                  <a:srgbClr val="808080"/>
                </a:solidFill>
                <a:latin typeface="Courier New" panose="02070309020205020404" pitchFamily="49" charset="0"/>
              </a:rPr>
              <a:t>-- Kapan: AFTER INSERT pada tabel order_details.</a:t>
            </a:r>
          </a:p>
          <a:p>
            <a:endParaRPr lang="en-ID" sz="1800" b="0" i="1" u="none" strike="noStrike" baseline="0">
              <a:solidFill>
                <a:srgbClr val="808080"/>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CREATE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OR</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REPLACE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TRIGGER</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update_stock_after_purchase</a:t>
            </a:r>
          </a:p>
          <a:p>
            <a:r>
              <a:rPr lang="en-US" sz="1800" b="1" i="0" u="none" strike="noStrike" baseline="0">
                <a:solidFill>
                  <a:srgbClr val="0000FF"/>
                </a:solidFill>
                <a:latin typeface="Courier New" panose="02070309020205020404" pitchFamily="49" charset="0"/>
              </a:rPr>
              <a:t>AFTER</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ON</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order_details</a:t>
            </a:r>
          </a:p>
          <a:p>
            <a:r>
              <a:rPr lang="en-ID" sz="1800" b="1" i="0" u="none" strike="noStrike" baseline="0">
                <a:solidFill>
                  <a:srgbClr val="0000FF"/>
                </a:solidFill>
                <a:latin typeface="Courier New" panose="02070309020205020404" pitchFamily="49" charset="0"/>
              </a:rPr>
              <a:t>FOR</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EACH</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ROW</a:t>
            </a:r>
          </a:p>
          <a:p>
            <a:r>
              <a:rPr lang="en-ID" sz="1800" b="1" i="0" u="none" strike="noStrike" baseline="0">
                <a:solidFill>
                  <a:srgbClr val="0000FF"/>
                </a:solidFill>
                <a:latin typeface="Courier New" panose="02070309020205020404" pitchFamily="49" charset="0"/>
              </a:rPr>
              <a:t>BEGIN</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products</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stock</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stock</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quantity</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endParaRPr lang="en-ID" sz="1800" b="0" i="0" u="none" strike="noStrike" baseline="0">
              <a:solidFill>
                <a:srgbClr val="0000FF"/>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-- 2. Studi Kasus: Log Perubahan Harga Produk</a:t>
            </a:r>
          </a:p>
          <a:p>
            <a:r>
              <a:rPr lang="en-ID" sz="1800" b="0" i="1" u="none" strike="noStrike" baseline="0">
                <a:solidFill>
                  <a:srgbClr val="808080"/>
                </a:solidFill>
                <a:latin typeface="Courier New" panose="02070309020205020404" pitchFamily="49" charset="0"/>
              </a:rPr>
              <a:t>-- Deskripsi: Saat harga produk berubah, sistem mencatat log perubahan tersebut ke tabel price_changes untuk audit.</a:t>
            </a:r>
          </a:p>
          <a:p>
            <a:r>
              <a:rPr lang="en-ID" sz="1800" b="0" i="1" u="none" strike="noStrike" baseline="0">
                <a:solidFill>
                  <a:srgbClr val="808080"/>
                </a:solidFill>
                <a:latin typeface="Courier New" panose="02070309020205020404" pitchFamily="49" charset="0"/>
              </a:rPr>
              <a:t>-- Nama: log_price_change</a:t>
            </a:r>
          </a:p>
          <a:p>
            <a:r>
              <a:rPr lang="en-ID" sz="1800" b="0" i="1" u="none" strike="noStrike" baseline="0">
                <a:solidFill>
                  <a:srgbClr val="808080"/>
                </a:solidFill>
                <a:latin typeface="Courier New" panose="02070309020205020404" pitchFamily="49" charset="0"/>
              </a:rPr>
              <a:t>-- Kapan: BEFORE UPDATE pada tabel products.</a:t>
            </a:r>
          </a:p>
          <a:p>
            <a:endParaRPr lang="en-ID" sz="1800" b="0" i="1" u="none" strike="noStrike" baseline="0">
              <a:solidFill>
                <a:srgbClr val="808080"/>
              </a:solidFill>
              <a:latin typeface="Courier New" panose="02070309020205020404" pitchFamily="49" charset="0"/>
            </a:endParaRPr>
          </a:p>
          <a:p>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ON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products</a:t>
            </a:r>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CREATE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OR</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REPLACE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TRIGGER</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log_price_change</a:t>
            </a:r>
          </a:p>
          <a:p>
            <a:r>
              <a:rPr lang="en-ID" sz="1800" b="1" i="0" u="none" strike="noStrike" baseline="0">
                <a:solidFill>
                  <a:srgbClr val="0000FF"/>
                </a:solidFill>
                <a:latin typeface="Courier New" panose="02070309020205020404" pitchFamily="49" charset="0"/>
              </a:rPr>
              <a:t>BEFORE</a:t>
            </a:r>
            <a:r>
              <a:rPr lang="en-ID" sz="1800" b="0" i="0" u="none" strike="noStrike" baseline="0">
                <a:solidFill>
                  <a:srgbClr val="000000"/>
                </a:solidFill>
                <a:latin typeface="Courier New" panose="02070309020205020404" pitchFamily="49" charset="0"/>
              </a:rPr>
              <a:t> </a:t>
            </a:r>
            <a:endParaRPr lang="en-ID" sz="1800" b="0" i="0" u="none" strike="noStrike" baseline="0">
              <a:solidFill>
                <a:srgbClr val="FF00FF"/>
              </a:solidFill>
              <a:latin typeface="Courier New" panose="02070309020205020404" pitchFamily="49" charset="0"/>
            </a:endParaRPr>
          </a:p>
          <a:p>
            <a:r>
              <a:rPr lang="en-ID" sz="1800" b="1" i="0" u="none" strike="noStrike" baseline="0">
                <a:solidFill>
                  <a:srgbClr val="0000FF"/>
                </a:solidFill>
                <a:latin typeface="Courier New" panose="02070309020205020404" pitchFamily="49" charset="0"/>
              </a:rPr>
              <a:t>FOR</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EACH</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ROW</a:t>
            </a:r>
          </a:p>
          <a:p>
            <a:r>
              <a:rPr lang="en-ID" sz="1800" b="1" i="0" u="none" strike="noStrike" baseline="0">
                <a:solidFill>
                  <a:srgbClr val="0000FF"/>
                </a:solidFill>
                <a:latin typeface="Courier New" panose="02070309020205020404" pitchFamily="49" charset="0"/>
              </a:rPr>
              <a:t>BEGIN</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00"/>
                </a:solidFill>
                <a:latin typeface="Courier New" panose="02070309020205020404" pitchFamily="49" charset="0"/>
              </a:rPr>
              <a:t>IF</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OLD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&lt;&gt;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00"/>
                </a:solidFill>
                <a:latin typeface="Courier New" panose="02070309020205020404" pitchFamily="49" charset="0"/>
              </a:rPr>
              <a:t>THEN</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price_changes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old_price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new_price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change_date</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OLD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OLD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80"/>
                </a:solidFill>
                <a:latin typeface="Courier New" panose="02070309020205020404" pitchFamily="49" charset="0"/>
              </a:rPr>
              <a:t>NOW</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00"/>
                </a:solidFill>
                <a:latin typeface="Courier New" panose="02070309020205020404" pitchFamily="49" charset="0"/>
              </a:rPr>
              <a:t>IF</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129</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7501458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b="0" i="1" u="none" strike="noStrike" baseline="0">
                <a:solidFill>
                  <a:srgbClr val="808080"/>
                </a:solidFill>
                <a:latin typeface="Courier New" panose="02070309020205020404" pitchFamily="49" charset="0"/>
              </a:rPr>
              <a:t>-- 3. Studi Kasus: Mendeteksi Pembatalan Pesanan dan Mengembalikan Stok</a:t>
            </a:r>
          </a:p>
          <a:p>
            <a:r>
              <a:rPr lang="en-ID" sz="1800" b="0" i="1" u="none" strike="noStrike" baseline="0">
                <a:solidFill>
                  <a:srgbClr val="808080"/>
                </a:solidFill>
                <a:latin typeface="Courier New" panose="02070309020205020404" pitchFamily="49" charset="0"/>
              </a:rPr>
              <a:t>-- Deskripsi: Jika pesanan dibatalkan, sistem otomatis mengembalikan stok barang ke tabel products.</a:t>
            </a:r>
          </a:p>
          <a:p>
            <a:r>
              <a:rPr lang="en-US" sz="1800" b="0" i="1" u="none" strike="noStrike" baseline="0">
                <a:solidFill>
                  <a:srgbClr val="808080"/>
                </a:solidFill>
                <a:latin typeface="Courier New" panose="02070309020205020404" pitchFamily="49" charset="0"/>
              </a:rPr>
              <a:t>-- Nama: return_stock_on_order_cancel</a:t>
            </a:r>
          </a:p>
          <a:p>
            <a:r>
              <a:rPr lang="en-ID" sz="1800" b="0" i="1" u="none" strike="noStrike" baseline="0">
                <a:solidFill>
                  <a:srgbClr val="808080"/>
                </a:solidFill>
                <a:latin typeface="Courier New" panose="02070309020205020404" pitchFamily="49" charset="0"/>
              </a:rPr>
              <a:t>-- Kapan: AFTER UPDATE pada tabel orders (jika status berubah ke "canceled").</a:t>
            </a:r>
          </a:p>
          <a:p>
            <a:endParaRPr lang="en-ID" sz="1800" b="0" i="1" u="none" strike="noStrike" baseline="0">
              <a:solidFill>
                <a:srgbClr val="808080"/>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DELIMITER /</a:t>
            </a:r>
          </a:p>
          <a:p>
            <a:r>
              <a:rPr lang="en-ID" sz="1800" b="1" i="0" u="none" strike="noStrike" baseline="0">
                <a:solidFill>
                  <a:srgbClr val="808000"/>
                </a:solidFill>
                <a:latin typeface="Courier New" panose="02070309020205020404" pitchFamily="49" charset="0"/>
              </a:rPr>
              <a:t>CREATE OR REPLACE TRIGGER </a:t>
            </a:r>
            <a:r>
              <a:rPr lang="en-ID" sz="1800" b="0" i="0" u="none" strike="noStrike" baseline="0">
                <a:solidFill>
                  <a:srgbClr val="808000"/>
                </a:solidFill>
                <a:latin typeface="Courier New" panose="02070309020205020404" pitchFamily="49" charset="0"/>
              </a:rPr>
              <a:t>return_stock_on_order_cancel</a:t>
            </a:r>
          </a:p>
          <a:p>
            <a:r>
              <a:rPr lang="en-ID" sz="1800" b="1" i="0" u="none" strike="noStrike" baseline="0">
                <a:solidFill>
                  <a:srgbClr val="808000"/>
                </a:solidFill>
                <a:latin typeface="Courier New" panose="02070309020205020404" pitchFamily="49" charset="0"/>
              </a:rPr>
              <a:t>AFTER UPDATE </a:t>
            </a:r>
            <a:r>
              <a:rPr lang="en-ID" sz="1800" b="0" i="0" u="none" strike="noStrike" baseline="0">
                <a:solidFill>
                  <a:srgbClr val="808000"/>
                </a:solidFill>
                <a:latin typeface="Courier New" panose="02070309020205020404" pitchFamily="49" charset="0"/>
              </a:rPr>
              <a:t>ON orders</a:t>
            </a:r>
          </a:p>
          <a:p>
            <a:r>
              <a:rPr lang="en-ID" sz="1800" b="1" i="0" u="none" strike="noStrike" baseline="0">
                <a:solidFill>
                  <a:srgbClr val="808000"/>
                </a:solidFill>
                <a:latin typeface="Courier New" panose="02070309020205020404" pitchFamily="49" charset="0"/>
              </a:rPr>
              <a:t>FOR EACH ROW</a:t>
            </a:r>
          </a:p>
          <a:p>
            <a:r>
              <a:rPr lang="en-ID" sz="1800" b="1" i="0" u="none" strike="noStrike" baseline="0">
                <a:solidFill>
                  <a:srgbClr val="808000"/>
                </a:solidFill>
                <a:latin typeface="Courier New" panose="02070309020205020404" pitchFamily="49" charset="0"/>
              </a:rPr>
              <a:t>BEGIN</a:t>
            </a:r>
          </a:p>
          <a:p>
            <a:r>
              <a:rPr lang="en-ID" sz="1800" b="0" i="0" u="none" strike="noStrike" baseline="0">
                <a:solidFill>
                  <a:srgbClr val="808000"/>
                </a:solidFill>
                <a:latin typeface="Courier New" panose="02070309020205020404" pitchFamily="49" charset="0"/>
              </a:rPr>
              <a:t>    -- Pastikan hanya saat status BERUBAH ke canceled</a:t>
            </a:r>
          </a:p>
          <a:p>
            <a:r>
              <a:rPr lang="en-ID" sz="1800" b="1" i="0" u="none" strike="noStrike" baseline="0">
                <a:solidFill>
                  <a:srgbClr val="808000"/>
                </a:solidFill>
                <a:latin typeface="Courier New" panose="02070309020205020404" pitchFamily="49" charset="0"/>
              </a:rPr>
              <a:t>    IF OLD.status </a:t>
            </a:r>
            <a:r>
              <a:rPr lang="en-ID" sz="1800" b="0" i="0" u="none" strike="noStrike" baseline="0">
                <a:solidFill>
                  <a:srgbClr val="808000"/>
                </a:solidFill>
                <a:latin typeface="Courier New" panose="02070309020205020404" pitchFamily="49" charset="0"/>
              </a:rPr>
              <a:t>&lt;&gt; 'canceled' </a:t>
            </a:r>
            <a:r>
              <a:rPr lang="en-ID" sz="1800" b="1" i="0" u="none" strike="noStrike" baseline="0">
                <a:solidFill>
                  <a:srgbClr val="808000"/>
                </a:solidFill>
                <a:latin typeface="Courier New" panose="02070309020205020404" pitchFamily="49" charset="0"/>
              </a:rPr>
              <a:t>AND NEW.status </a:t>
            </a:r>
            <a:r>
              <a:rPr lang="en-ID" sz="1800" b="0" i="0" u="none" strike="noStrike" baseline="0">
                <a:solidFill>
                  <a:srgbClr val="808000"/>
                </a:solidFill>
                <a:latin typeface="Courier New" panose="02070309020205020404" pitchFamily="49" charset="0"/>
              </a:rPr>
              <a:t>= 'canceled' </a:t>
            </a:r>
            <a:r>
              <a:rPr lang="en-ID" sz="1800" b="1" i="0" u="none" strike="noStrike" baseline="0">
                <a:solidFill>
                  <a:srgbClr val="808000"/>
                </a:solidFill>
                <a:latin typeface="Courier New" panose="02070309020205020404" pitchFamily="49" charset="0"/>
              </a:rPr>
              <a:t>THEN</a:t>
            </a:r>
          </a:p>
          <a:p>
            <a:r>
              <a:rPr lang="en-ID" sz="1800" b="0" i="0" u="none" strike="noStrike" baseline="0">
                <a:solidFill>
                  <a:srgbClr val="808000"/>
                </a:solidFill>
                <a:latin typeface="Courier New" panose="02070309020205020404" pitchFamily="49" charset="0"/>
              </a:rPr>
              <a:t>        </a:t>
            </a:r>
          </a:p>
          <a:p>
            <a:r>
              <a:rPr lang="en-ID" sz="1800" b="0" i="0" u="none" strike="noStrike" baseline="0">
                <a:solidFill>
                  <a:srgbClr val="808000"/>
                </a:solidFill>
                <a:latin typeface="Courier New" panose="02070309020205020404" pitchFamily="49" charset="0"/>
              </a:rPr>
              <a:t>        -- Kembalikan stok berdasarkan SEMUA quantity terbaru di order_details</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UPDATE</a:t>
            </a:r>
            <a:r>
              <a:rPr lang="en-ID" sz="1800" b="0" i="0" u="none" strike="noStrike" baseline="0">
                <a:solidFill>
                  <a:srgbClr val="808000"/>
                </a:solidFill>
                <a:latin typeface="Courier New" panose="02070309020205020404" pitchFamily="49" charset="0"/>
              </a:rPr>
              <a:t> products p</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JOIN </a:t>
            </a:r>
            <a:r>
              <a:rPr lang="en-ID" sz="1800" b="0" i="0" u="none" strike="noStrike" baseline="0">
                <a:solidFill>
                  <a:srgbClr val="808000"/>
                </a:solidFill>
                <a:latin typeface="Courier New" panose="02070309020205020404" pitchFamily="49" charset="0"/>
              </a:rPr>
              <a:t>(</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SELECT</a:t>
            </a:r>
            <a:r>
              <a:rPr lang="en-ID" sz="1800" b="0" i="0" u="none" strike="noStrike" baseline="0">
                <a:solidFill>
                  <a:srgbClr val="808000"/>
                </a:solidFill>
                <a:latin typeface="Courier New" panose="02070309020205020404" pitchFamily="49" charset="0"/>
              </a:rPr>
              <a:t> product_id, SUM(quantity) </a:t>
            </a:r>
            <a:r>
              <a:rPr lang="en-ID" sz="1800" b="1" i="0" u="none" strike="noStrike" baseline="0">
                <a:solidFill>
                  <a:srgbClr val="808000"/>
                </a:solidFill>
                <a:latin typeface="Courier New" panose="02070309020205020404" pitchFamily="49" charset="0"/>
              </a:rPr>
              <a:t>AS</a:t>
            </a:r>
            <a:r>
              <a:rPr lang="en-ID" sz="1800" b="0" i="0" u="none" strike="noStrike" baseline="0">
                <a:solidFill>
                  <a:srgbClr val="808000"/>
                </a:solidFill>
                <a:latin typeface="Courier New" panose="02070309020205020404" pitchFamily="49" charset="0"/>
              </a:rPr>
              <a:t> total_qty</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FROM</a:t>
            </a:r>
            <a:r>
              <a:rPr lang="en-ID" sz="1800" b="0" i="0" u="none" strike="noStrike" baseline="0">
                <a:solidFill>
                  <a:srgbClr val="808000"/>
                </a:solidFill>
                <a:latin typeface="Courier New" panose="02070309020205020404" pitchFamily="49" charset="0"/>
              </a:rPr>
              <a:t> order_details</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WHERE</a:t>
            </a:r>
            <a:r>
              <a:rPr lang="en-ID" sz="1800" b="0" i="0" u="none" strike="noStrike" baseline="0">
                <a:solidFill>
                  <a:srgbClr val="808000"/>
                </a:solidFill>
                <a:latin typeface="Courier New" panose="02070309020205020404" pitchFamily="49" charset="0"/>
              </a:rPr>
              <a:t> order_id = NEW.order_id</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GROUP BY </a:t>
            </a:r>
            <a:r>
              <a:rPr lang="en-ID" sz="1800" b="0" i="0" u="none" strike="noStrike" baseline="0">
                <a:solidFill>
                  <a:srgbClr val="808000"/>
                </a:solidFill>
                <a:latin typeface="Courier New" panose="02070309020205020404" pitchFamily="49" charset="0"/>
              </a:rPr>
              <a:t>product_id</a:t>
            </a:r>
          </a:p>
          <a:p>
            <a:r>
              <a:rPr lang="en-ID" sz="1800" b="0" i="0" u="none" strike="noStrike" baseline="0">
                <a:solidFill>
                  <a:srgbClr val="808000"/>
                </a:solidFill>
                <a:latin typeface="Courier New" panose="02070309020205020404" pitchFamily="49" charset="0"/>
              </a:rPr>
              <a:t>        ) od ON p.product_id = od.product_id</a:t>
            </a: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SET</a:t>
            </a:r>
            <a:r>
              <a:rPr lang="en-ID" sz="1800" b="0" i="0" u="none" strike="noStrike" baseline="0">
                <a:solidFill>
                  <a:srgbClr val="808000"/>
                </a:solidFill>
                <a:latin typeface="Courier New" panose="02070309020205020404" pitchFamily="49" charset="0"/>
              </a:rPr>
              <a:t> p.stock = p.stock + od.total_qty;</a:t>
            </a:r>
          </a:p>
          <a:p>
            <a:endParaRPr lang="en-ID" sz="1800" b="0" i="0" u="none" strike="noStrike" baseline="0">
              <a:solidFill>
                <a:srgbClr val="808000"/>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    </a:t>
            </a:r>
            <a:r>
              <a:rPr lang="en-ID" sz="1800" b="1" i="0" u="none" strike="noStrike" baseline="0">
                <a:solidFill>
                  <a:srgbClr val="808000"/>
                </a:solidFill>
                <a:latin typeface="Courier New" panose="02070309020205020404" pitchFamily="49" charset="0"/>
              </a:rPr>
              <a:t>END IF;</a:t>
            </a:r>
          </a:p>
          <a:p>
            <a:r>
              <a:rPr lang="en-ID" sz="1800" b="1" i="0" u="none" strike="noStrike" baseline="0">
                <a:solidFill>
                  <a:srgbClr val="808000"/>
                </a:solidFill>
                <a:latin typeface="Courier New" panose="02070309020205020404" pitchFamily="49" charset="0"/>
              </a:rPr>
              <a:t>END /</a:t>
            </a:r>
          </a:p>
          <a:p>
            <a:r>
              <a:rPr lang="en-ID" sz="1800" b="0" i="0" u="none" strike="noStrike" baseline="0">
                <a:solidFill>
                  <a:srgbClr val="808000"/>
                </a:solidFill>
                <a:latin typeface="Courier New" panose="02070309020205020404" pitchFamily="49" charset="0"/>
              </a:rPr>
              <a:t>DELIMITER ;</a:t>
            </a:r>
            <a:endParaRPr lang="en-ID" sz="1800" b="0" i="0" u="none" strike="noStrike" baseline="0">
              <a:solidFill>
                <a:srgbClr val="0000FF"/>
              </a:solidFill>
              <a:latin typeface="Courier New" panose="02070309020205020404" pitchFamily="49" charset="0"/>
            </a:endParaRPr>
          </a:p>
          <a:p>
            <a:endParaRPr lang="en-ID" sz="1800" b="0" i="0" u="none" strike="noStrike" baseline="0">
              <a:solidFill>
                <a:srgbClr val="0000FF"/>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-- 4. Studi Kasus: Penetapan Poin Loyalty untuk Pelanggan</a:t>
            </a:r>
          </a:p>
          <a:p>
            <a:r>
              <a:rPr lang="en-ID" sz="1800" b="0" i="1" u="none" strike="noStrike" baseline="0">
                <a:solidFill>
                  <a:srgbClr val="808080"/>
                </a:solidFill>
                <a:latin typeface="Courier New" panose="02070309020205020404" pitchFamily="49" charset="0"/>
              </a:rPr>
              <a:t>-- Deskripsi: Ketika pesanan berhasil (status "completed"), pelanggan mendapatkan poin   loyalty berdasarkan total pembelian.</a:t>
            </a:r>
          </a:p>
          <a:p>
            <a:r>
              <a:rPr lang="en-ID" sz="1800" b="0" i="1" u="none" strike="noStrike" baseline="0">
                <a:solidFill>
                  <a:srgbClr val="808080"/>
                </a:solidFill>
                <a:latin typeface="Courier New" panose="02070309020205020404" pitchFamily="49" charset="0"/>
              </a:rPr>
              <a:t>-- Nama: add_loyalty_points</a:t>
            </a:r>
          </a:p>
          <a:p>
            <a:r>
              <a:rPr lang="en-ID" sz="1800" b="0" i="1" u="none" strike="noStrike" baseline="0">
                <a:solidFill>
                  <a:srgbClr val="808080"/>
                </a:solidFill>
                <a:latin typeface="Courier New" panose="02070309020205020404" pitchFamily="49" charset="0"/>
              </a:rPr>
              <a:t>-- Kapan: AFTER UPDATE pada tabel orders (jika status berubah ke "completed").</a:t>
            </a:r>
          </a:p>
          <a:p>
            <a:endParaRPr lang="en-ID" sz="1800" b="0" i="1" u="none" strike="noStrike" baseline="0">
              <a:solidFill>
                <a:srgbClr val="808080"/>
              </a:solidFill>
              <a:latin typeface="Courier New" panose="02070309020205020404" pitchFamily="49" charset="0"/>
            </a:endParaRP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CREATE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OR</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REPLACE</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TRIGGER</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add_loyalty_points</a:t>
            </a:r>
          </a:p>
          <a:p>
            <a:r>
              <a:rPr lang="en-ID" sz="1800" b="1" i="0" u="none" strike="noStrike" baseline="0">
                <a:solidFill>
                  <a:srgbClr val="0000FF"/>
                </a:solidFill>
                <a:latin typeface="Courier New" panose="02070309020205020404" pitchFamily="49" charset="0"/>
              </a:rPr>
              <a:t>AFTER</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ON</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orders</a:t>
            </a:r>
          </a:p>
          <a:p>
            <a:r>
              <a:rPr lang="en-ID" sz="1800" b="1" i="0" u="none" strike="noStrike" baseline="0">
                <a:solidFill>
                  <a:srgbClr val="0000FF"/>
                </a:solidFill>
                <a:latin typeface="Courier New" panose="02070309020205020404" pitchFamily="49" charset="0"/>
              </a:rPr>
              <a:t>FOR</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EACH</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ROW</a:t>
            </a:r>
          </a:p>
          <a:p>
            <a:r>
              <a:rPr lang="en-ID" sz="1800" b="1" i="0" u="none" strike="noStrike" baseline="0">
                <a:solidFill>
                  <a:srgbClr val="0000FF"/>
                </a:solidFill>
                <a:latin typeface="Courier New" panose="02070309020205020404" pitchFamily="49" charset="0"/>
              </a:rPr>
              <a:t>BEGIN</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00"/>
                </a:solidFill>
                <a:latin typeface="Courier New" panose="02070309020205020404" pitchFamily="49" charset="0"/>
              </a:rPr>
              <a:t>IF</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OLD</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&lt;&gt;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'completed'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AND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'completed'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00"/>
                </a:solidFill>
                <a:latin typeface="Courier New" panose="02070309020205020404" pitchFamily="49" charset="0"/>
              </a:rPr>
              <a:t>THEN</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UPDATE</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customers</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loyalty_points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loyalty_points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total_amount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DIV</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100</a:t>
            </a:r>
            <a:r>
              <a:rPr lang="en-US" sz="1800" b="0" i="0" u="none" strike="noStrike" baseline="0">
                <a:solidFill>
                  <a:srgbClr val="0000FF"/>
                </a:solidFill>
                <a:latin typeface="Courier New" panose="02070309020205020404" pitchFamily="49" charset="0"/>
              </a:rPr>
              <a:t>)</a:t>
            </a:r>
          </a:p>
          <a:p>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customer_id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NEW</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customer_id</a:t>
            </a:r>
            <a:r>
              <a:rPr lang="en-US" sz="1800" b="0" i="0" u="none" strike="noStrike" baseline="0">
                <a:solidFill>
                  <a:srgbClr val="0000FF"/>
                </a:solidFill>
                <a:latin typeface="Courier New" panose="02070309020205020404" pitchFamily="49" charset="0"/>
              </a:rPr>
              <a:t>;</a:t>
            </a:r>
          </a:p>
          <a:p>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00"/>
                </a:solidFill>
                <a:latin typeface="Courier New" panose="02070309020205020404" pitchFamily="49" charset="0"/>
              </a:rPr>
              <a:t>IF</a:t>
            </a:r>
            <a:r>
              <a:rPr lang="en-ID" sz="1800" b="0" i="0" u="none" strike="noStrike" baseline="0">
                <a:solidFill>
                  <a:srgbClr val="0000FF"/>
                </a:solidFill>
                <a:latin typeface="Courier New" panose="02070309020205020404" pitchFamily="49" charset="0"/>
              </a:rPr>
              <a:t>;</a:t>
            </a:r>
          </a:p>
          <a:p>
            <a:r>
              <a:rPr lang="en-ID" sz="1800" b="1" i="0" u="none" strike="noStrike" baseline="0">
                <a:solidFill>
                  <a:srgbClr val="0000FF"/>
                </a:solidFill>
                <a:latin typeface="Courier New" panose="02070309020205020404" pitchFamily="49" charset="0"/>
              </a:rPr>
              <a:t>END</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r>
              <a:rPr lang="en-ID" sz="1800" b="0" i="0" u="none" strike="noStrike" baseline="0">
                <a:solidFill>
                  <a:srgbClr val="808000"/>
                </a:solidFill>
                <a:latin typeface="Courier New" panose="02070309020205020404" pitchFamily="49" charset="0"/>
              </a:rPr>
              <a:t>DELIMITER</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p>
          <a:p>
            <a:endParaRPr lang="en-ID" sz="1800" b="0" i="0" u="none" strike="noStrike" baseline="0">
              <a:solidFill>
                <a:srgbClr val="0000FF"/>
              </a:solidFill>
              <a:latin typeface="Courier New" panose="02070309020205020404" pitchFamily="49"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130</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657902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b="0" i="1" u="none" strike="noStrike" baseline="0">
                <a:solidFill>
                  <a:srgbClr val="808080"/>
                </a:solidFill>
                <a:latin typeface="Courier New" panose="02070309020205020404" pitchFamily="49" charset="0"/>
              </a:rPr>
              <a:t>-- Trigger 1 (Update Stok Barang Otomatis):</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stok barang.</a:t>
            </a:r>
          </a:p>
          <a:p>
            <a:r>
              <a:rPr lang="en-US" sz="1800" b="1" i="0" u="none" strike="noStrike" baseline="0">
                <a:solidFill>
                  <a:srgbClr val="0000FF"/>
                </a:solidFill>
                <a:latin typeface="Courier New" panose="02070309020205020404" pitchFamily="49" charset="0"/>
              </a:rPr>
              <a:t>INSERT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INTO</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order_details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quantity</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VALUES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2</a:t>
            </a:r>
            <a:r>
              <a:rPr lang="en-US"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perubahan stok barang.</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order_details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order_details</a:t>
            </a:r>
          </a:p>
          <a:p>
            <a:endParaRPr lang="en-ID" sz="1800" b="0" i="1" u="none" strike="noStrike" baseline="0">
              <a:solidFill>
                <a:srgbClr val="808080"/>
              </a:solidFill>
              <a:latin typeface="Courier New" panose="02070309020205020404" pitchFamily="49" charset="0"/>
            </a:endParaRPr>
          </a:p>
          <a:p>
            <a:r>
              <a:rPr lang="en-ID" sz="1800" b="0" i="1" u="none" strike="noStrike" baseline="0">
                <a:solidFill>
                  <a:srgbClr val="808080"/>
                </a:solidFill>
                <a:latin typeface="Courier New" panose="02070309020205020404" pitchFamily="49" charset="0"/>
              </a:rPr>
              <a:t>-- Trigger 2 (Log Perubahan Harga):</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price_changes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log harga.</a:t>
            </a:r>
          </a:p>
          <a:p>
            <a:r>
              <a:rPr lang="en-US" sz="1800" b="1" i="0" u="none" strike="noStrike" baseline="0">
                <a:solidFill>
                  <a:srgbClr val="0000FF"/>
                </a:solidFill>
                <a:latin typeface="Courier New" panose="02070309020205020404" pitchFamily="49" charset="0"/>
              </a:rPr>
              <a:t>UPDATE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price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16000000.00</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product_id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1</a:t>
            </a:r>
            <a:r>
              <a:rPr lang="en-US"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price_changes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log perubahan harga.</a:t>
            </a:r>
          </a:p>
          <a:p>
            <a:endParaRPr lang="en-ID" sz="1800" b="0" i="1" u="none" strike="noStrike" baseline="0">
              <a:solidFill>
                <a:srgbClr val="808080"/>
              </a:solidFill>
              <a:latin typeface="Courier New" panose="02070309020205020404" pitchFamily="49"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131</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496955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sz="1800" b="0" i="1" u="none" strike="noStrike" baseline="0">
                <a:solidFill>
                  <a:srgbClr val="808080"/>
                </a:solidFill>
                <a:latin typeface="Courier New" panose="02070309020205020404" pitchFamily="49" charset="0"/>
              </a:rPr>
              <a:t>-- Trigger 3 (Pengembalian Stok):</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stok barang.</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order.</a:t>
            </a:r>
          </a:p>
          <a:p>
            <a:r>
              <a:rPr lang="en-US" sz="1800" b="1" i="0" u="none" strike="noStrike" baseline="0">
                <a:solidFill>
                  <a:srgbClr val="0000FF"/>
                </a:solidFill>
                <a:latin typeface="Courier New" panose="02070309020205020404" pitchFamily="49" charset="0"/>
              </a:rPr>
              <a:t>UPDATE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'completed'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1</a:t>
            </a:r>
            <a:r>
              <a:rPr lang="en-US"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products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stok barang.</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order.</a:t>
            </a:r>
          </a:p>
          <a:p>
            <a:endParaRPr lang="en-ID" sz="1800" b="0" i="1" u="none" strike="noStrike" baseline="0">
              <a:solidFill>
                <a:srgbClr val="808080"/>
              </a:solidFill>
              <a:latin typeface="Courier New" panose="02070309020205020404" pitchFamily="49" charset="0"/>
            </a:endParaRPr>
          </a:p>
          <a:p>
            <a:r>
              <a:rPr lang="en-US" sz="1800" b="0" i="1" u="none" strike="noStrike" baseline="0">
                <a:solidFill>
                  <a:srgbClr val="808080"/>
                </a:solidFill>
                <a:latin typeface="Courier New" panose="02070309020205020404" pitchFamily="49" charset="0"/>
              </a:rPr>
              <a:t>-- Trigger 4 (Penetapan Poin Loyalty):</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order.</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customers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customer.</a:t>
            </a:r>
          </a:p>
          <a:p>
            <a:r>
              <a:rPr lang="en-US" sz="1800" b="1" i="0" u="none" strike="noStrike" baseline="0">
                <a:solidFill>
                  <a:srgbClr val="0000FF"/>
                </a:solidFill>
                <a:latin typeface="Courier New" panose="02070309020205020404" pitchFamily="49" charset="0"/>
              </a:rPr>
              <a:t>UPDATE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SET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status</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8000"/>
                </a:solidFill>
                <a:latin typeface="Courier New" panose="02070309020205020404" pitchFamily="49" charset="0"/>
              </a:rPr>
              <a:t>'completed'</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order_id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0080"/>
                </a:solidFill>
                <a:latin typeface="Courier New" panose="02070309020205020404" pitchFamily="49" charset="0"/>
              </a:rPr>
              <a:t>1</a:t>
            </a:r>
            <a:r>
              <a:rPr lang="en-US" sz="1800" b="0" i="0" u="none" strike="noStrike" baseline="0">
                <a:solidFill>
                  <a:srgbClr val="0000FF"/>
                </a:solidFill>
                <a:latin typeface="Courier New" panose="02070309020205020404" pitchFamily="49" charset="0"/>
              </a:rPr>
              <a:t>;</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orders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order.</a:t>
            </a:r>
          </a:p>
          <a:p>
            <a:r>
              <a:rPr lang="en-US" sz="1800" b="1" i="0" u="none" strike="noStrike" baseline="0">
                <a:solidFill>
                  <a:srgbClr val="0000FF"/>
                </a:solidFill>
                <a:latin typeface="Courier New" panose="02070309020205020404" pitchFamily="49" charset="0"/>
              </a:rPr>
              <a:t>SELECT</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FROM</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FF00FF"/>
                </a:solidFill>
                <a:latin typeface="Courier New" panose="02070309020205020404" pitchFamily="49" charset="0"/>
              </a:rPr>
              <a:t>customers</a:t>
            </a:r>
            <a:r>
              <a:rPr lang="en-US" sz="1800" b="0" i="0" u="none" strike="noStrike" baseline="0">
                <a:solidFill>
                  <a:srgbClr val="0000FF"/>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 </a:t>
            </a:r>
            <a:r>
              <a:rPr lang="en-US" sz="1800" b="0" i="1" u="none" strike="noStrike" baseline="0">
                <a:solidFill>
                  <a:srgbClr val="808080"/>
                </a:solidFill>
                <a:latin typeface="Courier New" panose="02070309020205020404" pitchFamily="49" charset="0"/>
              </a:rPr>
              <a:t>-- Periksa status customer.</a:t>
            </a:r>
          </a:p>
          <a:p>
            <a:endParaRPr lang="en-ID" sz="1800" b="0" i="1" u="none" strike="noStrike" baseline="0">
              <a:solidFill>
                <a:srgbClr val="808080"/>
              </a:solidFill>
              <a:latin typeface="Courier New" panose="02070309020205020404" pitchFamily="49"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132</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327072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9a5a70a483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6" name="Google Shape;956;g29a5a70a483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134</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187369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a56a6785b8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a56a6785b8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64" name="Google Shape;964;g2a56a6785b8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135</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a56a6785b8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a56a6785b8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71" name="Google Shape;971;g2a56a6785b8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136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a56a6785b8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a56a6785b8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78" name="Google Shape;978;g2a56a6785b8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137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a56a6785b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a56a6785b8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85" name="Google Shape;985;g2a56a6785b8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138</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a56a6785b8_0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a56a6785b8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r>
              <a:rPr lang="en-ID">
                <a:latin typeface="Courier New"/>
                <a:ea typeface="Courier New"/>
                <a:cs typeface="Courier New"/>
                <a:sym typeface="Courier New"/>
              </a:rPr>
              <a:t># </a:t>
            </a:r>
            <a:r>
              <a:rPr lang="en-ID">
                <a:solidFill>
                  <a:srgbClr val="D1D5DB"/>
                </a:solidFill>
                <a:highlight>
                  <a:srgbClr val="343541"/>
                </a:highlight>
                <a:latin typeface="Roboto"/>
                <a:ea typeface="Roboto"/>
                <a:cs typeface="Roboto"/>
                <a:sym typeface="Roboto"/>
              </a:rPr>
              <a:t>Membuat Full Backup Pertama:</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mysqlbackup -u username -p --backup-dir=/path/to/backupdir --force backup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r>
              <a:rPr lang="en-ID">
                <a:latin typeface="Courier New"/>
                <a:ea typeface="Courier New"/>
                <a:cs typeface="Courier New"/>
                <a:sym typeface="Courier New"/>
              </a:rPr>
              <a:t># </a:t>
            </a:r>
            <a:r>
              <a:rPr lang="en-ID">
                <a:solidFill>
                  <a:srgbClr val="D1D5DB"/>
                </a:solidFill>
                <a:highlight>
                  <a:srgbClr val="343541"/>
                </a:highlight>
                <a:latin typeface="Roboto"/>
                <a:ea typeface="Roboto"/>
                <a:cs typeface="Roboto"/>
                <a:sym typeface="Roboto"/>
              </a:rPr>
              <a:t>Membuat Incremental Backup Berikutnya:</a:t>
            </a:r>
            <a:endParaRPr>
              <a:solidFill>
                <a:srgbClr val="D1D5DB"/>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mysqlbackup -u username -p --backup-dir=/path/to/backupdir --incremental --incremental-base=dir_of_last_full_backup backup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solidFill>
                <a:srgbClr val="D1D5DB"/>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ID">
                <a:solidFill>
                  <a:srgbClr val="D1D5DB"/>
                </a:solidFill>
                <a:highlight>
                  <a:srgbClr val="343541"/>
                </a:highlight>
                <a:latin typeface="Roboto"/>
                <a:ea typeface="Roboto"/>
                <a:cs typeface="Roboto"/>
                <a:sym typeface="Roboto"/>
              </a:rPr>
              <a:t># Untuk difference backup, mysql tidak memfasilitasinya, jadi perlu aplikasi pihak ketiga</a:t>
            </a:r>
            <a:endParaRPr>
              <a:solidFill>
                <a:srgbClr val="D1D5DB"/>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endParaRPr>
              <a:solidFill>
                <a:srgbClr val="D1D5DB"/>
              </a:solidFill>
              <a:highlight>
                <a:srgbClr val="343541"/>
              </a:highlight>
              <a:latin typeface="Roboto"/>
              <a:ea typeface="Roboto"/>
              <a:cs typeface="Roboto"/>
              <a:sym typeface="Roboto"/>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992" name="Google Shape;992;g2a56a6785b8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139</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141</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316762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142</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264392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143</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8380197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a:t>Berikut adalah langkah-langkah konfigurasi mirror database dengan konsep </a:t>
            </a:r>
            <a:r>
              <a:rPr lang="en-ID" b="1"/>
              <a:t>Master-Slave</a:t>
            </a:r>
            <a:r>
              <a:rPr lang="en-ID"/>
              <a:t> menggunakan MySQL/MariaDB pada dua PC berbasis Windows dengan XAMPP:</a:t>
            </a:r>
          </a:p>
          <a:p>
            <a:r>
              <a:rPr lang="en-ID" b="1"/>
              <a:t>Asumsi Awal</a:t>
            </a:r>
          </a:p>
          <a:p>
            <a:pPr>
              <a:buFont typeface="Arial" panose="020B0604020202020204" pitchFamily="34" charset="0"/>
              <a:buChar char="•"/>
            </a:pPr>
            <a:r>
              <a:rPr lang="en-ID" b="1"/>
              <a:t>PC1 (Master):</a:t>
            </a:r>
            <a:r>
              <a:rPr lang="en-ID"/>
              <a:t> IP Address: 192.168.1.101</a:t>
            </a:r>
          </a:p>
          <a:p>
            <a:pPr>
              <a:buFont typeface="Arial" panose="020B0604020202020204" pitchFamily="34" charset="0"/>
              <a:buChar char="•"/>
            </a:pPr>
            <a:r>
              <a:rPr lang="en-ID" b="1"/>
              <a:t>PC2 (Slave):</a:t>
            </a:r>
            <a:r>
              <a:rPr lang="en-ID"/>
              <a:t> IP Address: 192.168.1.102</a:t>
            </a:r>
          </a:p>
          <a:p>
            <a:pPr>
              <a:buFont typeface="Arial" panose="020B0604020202020204" pitchFamily="34" charset="0"/>
              <a:buChar char="•"/>
            </a:pPr>
            <a:r>
              <a:rPr lang="en-ID"/>
              <a:t>Database yang akan direplikasi: toko_online.</a:t>
            </a:r>
          </a:p>
          <a:p>
            <a:r>
              <a:rPr lang="en-ID" b="1"/>
              <a:t>1. Konfigurasi di Master (PC1)</a:t>
            </a:r>
          </a:p>
          <a:p>
            <a:r>
              <a:rPr lang="en-ID" b="1"/>
              <a:t>Langkah 1.1: Aktifkan Binary Logging</a:t>
            </a:r>
          </a:p>
          <a:p>
            <a:pPr>
              <a:buFont typeface="+mj-lt"/>
              <a:buAutoNum type="arabicPeriod"/>
            </a:pPr>
            <a:r>
              <a:rPr lang="en-ID"/>
              <a:t>Buka file konfigurasi MySQL pada PC1:</a:t>
            </a:r>
          </a:p>
          <a:p>
            <a:pPr>
              <a:buFont typeface="+mj-lt"/>
              <a:buAutoNum type="arabicPeriod"/>
            </a:pPr>
            <a:r>
              <a:rPr lang="en-ID"/>
              <a:t>C:\xampp\mysql\bin\my.ini </a:t>
            </a:r>
          </a:p>
          <a:p>
            <a:pPr>
              <a:buFont typeface="+mj-lt"/>
              <a:buAutoNum type="arabicPeriod"/>
            </a:pPr>
            <a:r>
              <a:rPr lang="en-ID"/>
              <a:t>Tambahkan atau ubah pengaturan berikut di bagian [mysqld]:</a:t>
            </a:r>
          </a:p>
          <a:p>
            <a:pPr>
              <a:buFont typeface="+mj-lt"/>
              <a:buAutoNum type="arabicPeriod"/>
            </a:pPr>
            <a:r>
              <a:rPr lang="en-ID"/>
              <a:t>[mysqld] log-bin = mysql-bin server-id = 1 bind-address = 0.0.0.0 </a:t>
            </a:r>
          </a:p>
          <a:p>
            <a:pPr marL="742950" lvl="1" indent="-285750">
              <a:buFont typeface="+mj-lt"/>
              <a:buAutoNum type="arabicPeriod"/>
            </a:pPr>
            <a:r>
              <a:rPr lang="en-ID"/>
              <a:t>log-bin: Mengaktifkan binary log.</a:t>
            </a:r>
          </a:p>
          <a:p>
            <a:pPr marL="742950" lvl="1" indent="-285750">
              <a:buFont typeface="+mj-lt"/>
              <a:buAutoNum type="arabicPeriod"/>
            </a:pPr>
            <a:r>
              <a:rPr lang="en-ID"/>
              <a:t>server-id: ID unik untuk server Master.</a:t>
            </a:r>
          </a:p>
          <a:p>
            <a:pPr>
              <a:buFont typeface="+mj-lt"/>
              <a:buAutoNum type="arabicPeriod"/>
            </a:pPr>
            <a:r>
              <a:rPr lang="en-ID"/>
              <a:t>Simpan file, lalu restart MySQL melalui XAMPP Control Panel.</a:t>
            </a:r>
          </a:p>
          <a:p>
            <a:r>
              <a:rPr lang="en-ID" b="1"/>
              <a:t>Langkah 1.2: Buat Akun Replikasi</a:t>
            </a:r>
          </a:p>
          <a:p>
            <a:pPr>
              <a:buFont typeface="+mj-lt"/>
              <a:buAutoNum type="arabicPeriod"/>
            </a:pPr>
            <a:r>
              <a:rPr lang="en-ID"/>
              <a:t>Buka MySQL pada PC1 (misalnya dengan phpMyAdmin atau Command Prompt):</a:t>
            </a:r>
          </a:p>
          <a:p>
            <a:pPr>
              <a:buFont typeface="+mj-lt"/>
              <a:buAutoNum type="arabicPeriod"/>
            </a:pPr>
            <a:r>
              <a:rPr lang="en-ID"/>
              <a:t>CREATE USER 'replicator'@'192.168.1.102' IDENTIFIED BY 'password_replikasi'; GRANT REPLICATION SLAVE ON *.* TO 'replicator'@'192.168.1.102'; FLUSH PRIVILEGES; </a:t>
            </a:r>
          </a:p>
          <a:p>
            <a:pPr>
              <a:buFont typeface="+mj-lt"/>
              <a:buAutoNum type="arabicPeriod"/>
            </a:pPr>
            <a:r>
              <a:rPr lang="en-ID"/>
              <a:t>Kunci status database agar sinkron dengan Slave:</a:t>
            </a:r>
          </a:p>
          <a:p>
            <a:pPr>
              <a:buFont typeface="+mj-lt"/>
              <a:buAutoNum type="arabicPeriod"/>
            </a:pPr>
            <a:r>
              <a:rPr lang="en-ID"/>
              <a:t>FLUSH TABLES WITH READ LOCK; SHOW MASTER STATUS; Output dari SHOW MASTER STATUS akan menampilkan:</a:t>
            </a:r>
          </a:p>
          <a:p>
            <a:pPr marL="742950" lvl="1" indent="-285750">
              <a:buFont typeface="+mj-lt"/>
              <a:buAutoNum type="arabicPeriod"/>
            </a:pPr>
            <a:r>
              <a:rPr lang="en-ID" b="1"/>
              <a:t>File</a:t>
            </a:r>
            <a:r>
              <a:rPr lang="en-ID"/>
              <a:t>: Nama file binary log (contoh: mysql-bin.000001).</a:t>
            </a:r>
          </a:p>
          <a:p>
            <a:pPr marL="742950" lvl="1" indent="-285750">
              <a:buFont typeface="+mj-lt"/>
              <a:buAutoNum type="arabicPeriod"/>
            </a:pPr>
            <a:r>
              <a:rPr lang="en-ID" b="1"/>
              <a:t>Position</a:t>
            </a:r>
            <a:r>
              <a:rPr lang="en-ID"/>
              <a:t>: Posisi byte di log (contoh: 154).</a:t>
            </a:r>
          </a:p>
          <a:p>
            <a:pPr>
              <a:buFont typeface="+mj-lt"/>
              <a:buAutoNum type="arabicPeriod"/>
            </a:pPr>
            <a:r>
              <a:rPr lang="en-ID"/>
              <a:t>Catat nilai File dan Position. Anda akan menggunakannya nanti di Slave.</a:t>
            </a:r>
          </a:p>
          <a:p>
            <a:pPr>
              <a:buFont typeface="+mj-lt"/>
              <a:buAutoNum type="arabicPeriod"/>
            </a:pPr>
            <a:r>
              <a:rPr lang="en-ID"/>
              <a:t>Setelah data dicatat, buka kunci dengan perintah:</a:t>
            </a:r>
          </a:p>
          <a:p>
            <a:pPr>
              <a:buFont typeface="+mj-lt"/>
              <a:buAutoNum type="arabicPeriod"/>
            </a:pPr>
            <a:r>
              <a:rPr lang="en-ID"/>
              <a:t>UNLOCK TABLES; </a:t>
            </a:r>
          </a:p>
          <a:p>
            <a:r>
              <a:rPr lang="en-ID" b="1"/>
              <a:t>2. Konfigurasi di Slave (PC2)</a:t>
            </a:r>
          </a:p>
          <a:p>
            <a:r>
              <a:rPr lang="en-ID" b="1"/>
              <a:t>Langkah 2.1: Konfigurasi MySQL untuk Slave</a:t>
            </a:r>
          </a:p>
          <a:p>
            <a:pPr>
              <a:buFont typeface="+mj-lt"/>
              <a:buAutoNum type="arabicPeriod"/>
            </a:pPr>
            <a:r>
              <a:rPr lang="en-ID"/>
              <a:t>Buka file my.ini pada PC2:</a:t>
            </a:r>
          </a:p>
          <a:p>
            <a:pPr>
              <a:buFont typeface="+mj-lt"/>
              <a:buAutoNum type="arabicPeriod"/>
            </a:pPr>
            <a:r>
              <a:rPr lang="en-ID"/>
              <a:t>C:\xampp\mysql\bin\my.ini </a:t>
            </a:r>
          </a:p>
          <a:p>
            <a:pPr>
              <a:buFont typeface="+mj-lt"/>
              <a:buAutoNum type="arabicPeriod"/>
            </a:pPr>
            <a:r>
              <a:rPr lang="en-ID"/>
              <a:t>Tambahkan atau ubah pengaturan berikut di bagian [mysqld]:</a:t>
            </a:r>
          </a:p>
          <a:p>
            <a:pPr>
              <a:buFont typeface="+mj-lt"/>
              <a:buAutoNum type="arabicPeriod"/>
            </a:pPr>
            <a:r>
              <a:rPr lang="en-ID"/>
              <a:t>[mysqld] server-id = 2 replicate-do-db = toko_online </a:t>
            </a:r>
          </a:p>
          <a:p>
            <a:pPr marL="742950" lvl="1" indent="-285750">
              <a:buFont typeface="+mj-lt"/>
              <a:buAutoNum type="arabicPeriod"/>
            </a:pPr>
            <a:r>
              <a:rPr lang="en-ID"/>
              <a:t>server-id: ID unik untuk server Slave.</a:t>
            </a:r>
          </a:p>
          <a:p>
            <a:pPr marL="742950" lvl="1" indent="-285750">
              <a:buFont typeface="+mj-lt"/>
              <a:buAutoNum type="arabicPeriod"/>
            </a:pPr>
            <a:r>
              <a:rPr lang="en-ID"/>
              <a:t>replicate-do-db: Menentukan database yang akan direplikasi.</a:t>
            </a:r>
          </a:p>
          <a:p>
            <a:pPr>
              <a:buFont typeface="+mj-lt"/>
              <a:buAutoNum type="arabicPeriod"/>
            </a:pPr>
            <a:r>
              <a:rPr lang="en-ID"/>
              <a:t>Simpan file, lalu restart MySQL melalui XAMPP Control Panel.</a:t>
            </a:r>
          </a:p>
          <a:p>
            <a:r>
              <a:rPr lang="en-ID" b="1"/>
              <a:t>Langkah 2.2: Hubungkan Slave ke Master</a:t>
            </a:r>
          </a:p>
          <a:p>
            <a:pPr>
              <a:buFont typeface="+mj-lt"/>
              <a:buAutoNum type="arabicPeriod"/>
            </a:pPr>
            <a:r>
              <a:rPr lang="en-ID"/>
              <a:t>Buka MySQL pada PC2 (phpMyAdmin atau Command Prompt), lalu jalankan perintah:</a:t>
            </a:r>
          </a:p>
          <a:p>
            <a:pPr>
              <a:buFont typeface="+mj-lt"/>
              <a:buAutoNum type="arabicPeriod"/>
            </a:pPr>
            <a:r>
              <a:rPr lang="en-ID"/>
              <a:t>CHANGE MASTER TO MASTER_HOST = '192.168.1.101', MASTER_USER = 'replicator', MASTER_PASSWORD = 'password_replikasi', MASTER_LOG_FILE = 'mysql-bin.000001', MASTER_LOG_POS = 154; </a:t>
            </a:r>
          </a:p>
          <a:p>
            <a:pPr marL="742950" lvl="1" indent="-285750">
              <a:buFont typeface="+mj-lt"/>
              <a:buAutoNum type="arabicPeriod"/>
            </a:pPr>
            <a:r>
              <a:rPr lang="en-ID"/>
              <a:t>Ganti MASTER_LOG_FILE dan MASTER_LOG_POS dengan nilai dari Master.</a:t>
            </a:r>
          </a:p>
          <a:p>
            <a:pPr>
              <a:buFont typeface="+mj-lt"/>
              <a:buAutoNum type="arabicPeriod"/>
            </a:pPr>
            <a:r>
              <a:rPr lang="en-ID"/>
              <a:t>Mulai proses replikasi di Slave:</a:t>
            </a:r>
          </a:p>
          <a:p>
            <a:pPr>
              <a:buFont typeface="+mj-lt"/>
              <a:buAutoNum type="arabicPeriod"/>
            </a:pPr>
            <a:r>
              <a:rPr lang="en-ID"/>
              <a:t>START SLAVE; </a:t>
            </a:r>
          </a:p>
          <a:p>
            <a:pPr>
              <a:buFont typeface="+mj-lt"/>
              <a:buAutoNum type="arabicPeriod"/>
            </a:pPr>
            <a:r>
              <a:rPr lang="en-ID"/>
              <a:t>Periksa status Slave:</a:t>
            </a:r>
          </a:p>
          <a:p>
            <a:pPr>
              <a:buFont typeface="+mj-lt"/>
              <a:buAutoNum type="arabicPeriod"/>
            </a:pPr>
            <a:r>
              <a:rPr lang="en-ID"/>
              <a:t>SHOW SLAVE STATUS\G; </a:t>
            </a:r>
          </a:p>
          <a:p>
            <a:pPr marL="742950" lvl="1" indent="-285750">
              <a:buFont typeface="+mj-lt"/>
              <a:buAutoNum type="arabicPeriod"/>
            </a:pPr>
            <a:r>
              <a:rPr lang="en-ID"/>
              <a:t>Pastikan nilai Slave_IO_Running dan Slave_SQL_Running adalah </a:t>
            </a:r>
            <a:r>
              <a:rPr lang="en-ID" b="1"/>
              <a:t>Yes</a:t>
            </a:r>
            <a:r>
              <a:rPr lang="en-ID"/>
              <a:t>.</a:t>
            </a:r>
          </a:p>
          <a:p>
            <a:r>
              <a:rPr lang="en-ID" b="1"/>
              <a:t>3. Verifikasi Replikasi</a:t>
            </a:r>
          </a:p>
          <a:p>
            <a:pPr>
              <a:buFont typeface="+mj-lt"/>
              <a:buAutoNum type="arabicPeriod"/>
            </a:pPr>
            <a:r>
              <a:rPr lang="en-ID"/>
              <a:t>Tambahkan data ke database toko_online di Master (PC1): INSERT INTO produk (nama_produk, harga) VALUES ('Produk A', 50000); </a:t>
            </a:r>
          </a:p>
          <a:p>
            <a:pPr>
              <a:buFont typeface="+mj-lt"/>
              <a:buAutoNum type="arabicPeriod"/>
            </a:pPr>
            <a:r>
              <a:rPr lang="en-ID"/>
              <a:t>Periksa apakah data secara otomatis direplikasi ke Slave (PC2): SELECT * FROM produk; </a:t>
            </a:r>
          </a:p>
          <a:p>
            <a:r>
              <a:rPr lang="en-ID" b="1"/>
              <a:t>Troubleshooting</a:t>
            </a:r>
          </a:p>
          <a:p>
            <a:pPr>
              <a:buFont typeface="Arial" panose="020B0604020202020204" pitchFamily="34" charset="0"/>
              <a:buChar char="•"/>
            </a:pPr>
            <a:r>
              <a:rPr lang="en-ID"/>
              <a:t>Jika Slave_IO_Running atau Slave_SQL_Running menunjukkan </a:t>
            </a:r>
            <a:r>
              <a:rPr lang="en-ID" b="1"/>
              <a:t>No</a:t>
            </a:r>
            <a:r>
              <a:rPr lang="en-ID"/>
              <a:t>: </a:t>
            </a:r>
          </a:p>
          <a:p>
            <a:pPr marL="742950" lvl="1" indent="-285750">
              <a:buFont typeface="Arial" panose="020B0604020202020204" pitchFamily="34" charset="0"/>
              <a:buChar char="•"/>
            </a:pPr>
            <a:r>
              <a:rPr lang="en-ID"/>
              <a:t>Periksa pengaturan IP dan firewall di kedua PC.</a:t>
            </a:r>
          </a:p>
          <a:p>
            <a:pPr marL="742950" lvl="1" indent="-285750">
              <a:buFont typeface="Arial" panose="020B0604020202020204" pitchFamily="34" charset="0"/>
              <a:buChar char="•"/>
            </a:pPr>
            <a:r>
              <a:rPr lang="en-ID"/>
              <a:t>Pastikan akun replicator memiliki izin replikasi.</a:t>
            </a:r>
          </a:p>
          <a:p>
            <a:pPr marL="742950" lvl="1" indent="-285750">
              <a:buFont typeface="Arial" panose="020B0604020202020204" pitchFamily="34" charset="0"/>
              <a:buChar char="•"/>
            </a:pPr>
            <a:r>
              <a:rPr lang="en-ID"/>
              <a:t>Cek log MySQL untuk error (mysql_error.log).</a:t>
            </a:r>
          </a:p>
          <a:p>
            <a:r>
              <a:rPr lang="en-ID"/>
              <a:t>Konfigurasi ini akan memastikan bahwa semua perubahan pada database Master otomatis direplikasi ke Slave. Jika memerlukan bantuan lebih lanjut, beri tahu saya! 😊</a:t>
            </a:r>
          </a:p>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144</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893866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145</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542653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D" sz="1200" b="0" i="0" u="none" strike="noStrike" cap="none" smtClean="0">
                <a:solidFill>
                  <a:schemeClr val="dk1"/>
                </a:solidFill>
                <a:latin typeface="Calibri"/>
                <a:ea typeface="Calibri"/>
                <a:cs typeface="Calibri"/>
                <a:sym typeface="Calibri"/>
              </a:rPr>
              <a:t>146</a:t>
            </a:fld>
            <a:endParaRPr lang="en-ID"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163840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9a5a70a483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8" name="Google Shape;998;g29a5a70a483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aee2debba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aee2debba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1006" name="Google Shape;1006;g2aee2debba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148</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aee2debbaf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aee2debbaf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1013" name="Google Shape;1013;g2aee2debbaf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149</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aee2debbaf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aee2debbaf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1021" name="Google Shape;1021;g2aee2debbaf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150</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aee2debbaf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aee2debbaf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Privilege types dalam MySQL dikelompokkan dalam beberapa kategori berjenjang. Berikut adalah beberapa macam privilege_type yang dapat diberikan secara berjenjang:</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1. **Global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**ALL PRIVILEGES:** Hak akses penuh ke seluruh sistem MySQL.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**CREATE USER:** Memungkinkan pengguna untuk membuat, mengubah, dan menghapus akun pengguna.</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2. **Database-Level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**CREATE:** Memungkinkan pembuatan objek dalam database, seperti tabel dan indeks.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**DROP:** Memungkinkan penghapusan objek dari database.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**ALTER:** Memungkinkan pengubahan struktur objek di dalam database.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**SHOW DATABASES:** Memungkinkan pengguna untuk melihat daftar database yang ada.</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3. **Table-Level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**SELECT:** Memungkinkan pengguna untuk membaca data dari tabel.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**INSERT:** Memungkinkan pengguna untuk menambahkan data ke dalam tabel.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**UPDATE:** Memungkinkan pengguna untuk memperbarui data di dalam tabel.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**DELETE:** Memungkinkan pengguna untuk menghapus data dari tabel.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**TRIGGER:** Memungkinkan pengguna untuk membuat dan mengelola trigger pada tabel.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4. **Column-Level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**SELECT (column1, column2):** Memungkinkan pengguna untuk membaca data dari kolom tertentu.</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**INSERT (column1, column2):** Memungkinkan pengguna untuk menambahkan data ke dalam kolom tertentu.</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**UPDATE (column1, column2):** Memungkinkan pengguna untuk memperbarui data di dalam kolom tertentu.</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5. **Routine Privileges (Procedures and Functions):**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**EXECUTE:** Memungkinkan pengguna untuk menjalankan prosedur atau fungsi.</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6. **Server Administration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**RELOAD:** Memungkinkan pengguna untuk mereload konfigurasi server.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**PROCESS:** Memungkinkan pengguna untuk melihat semua proses yang berjalan pada server.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**SUPER:** Memungkinkan pengguna untuk menjalankan perintah seperti CHANGE MASTER, KILL, dan lain-lain.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**SHUTDOWN:** Memungkinkan pengguna untuk mematikan server MySQL.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**SHOW DATABASES:** Memungkinkan pengguna untuk melihat semua database yang ada pada server.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7. **Other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**USAGE:** Memberikan hak akses pada level tertentu tanpa memberikan hak akses khusus pada objek tertentu.</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8. **Proxy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**PROXY:** Memungkinkan pengguna untuk menggunakan identitas (proxy) pengguna lain.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Contoh Pemberian Privilege: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GRANT SELECT, INSERT, UPDATE ON mydatabase.mytable TO 'john_doe'@'localhost';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**Maksud Contoh:** Memberikan hak akses SELECT, INSERT, dan UPDATE pada tabel 'mytable' dalam database 'mydatabase' kepada pengguna 'john_doe' dari host 'localhost'.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Jika perlu, Anda dapat mengombinasikan beberapa jenis hak akses atau memberikan hak akses secara spesifik pada objek tertentu sesuai dengan kebutuhan aplikasi atau kebijakan keamanan.</a:t>
            </a: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Berikut adalah contoh SQL untuk menjalankan perintah pada masing-masing jenis privilege_type yang disebutkan: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1. **Global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**ALL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 FROM mysql.user;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**CREATE USER:**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CREATE USER 'newuser'@'localhost' IDENTIFIED BY 'password';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2. **Database-Level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**CREATE:**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CREATE TABLE mydatabase.new_table (id INT, name VARCHAR(255));</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**DROP:**</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DROP TABLE mydatabase.unwanted_table;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**ALTER:**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ALTER TABLE mydatabase.existing_table ADD COLUMN new_column INT;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**SHOW DATABASES:**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SHOW DATABASES;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3. **Table-Level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**SELECT:**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 FROM mydatabase.mytable;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**INSERT:**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INSERT INTO mydatabase.mytable (column1, column2) VALUES (value1, value2);</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**UPDATE:**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UPDATE mydatabase.mytable SET column1 = 'new_value' WHERE condition;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**DELETE:**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DELETE FROM mydatabase.mytable WHERE condition;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**TRIGGER:**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CREATE TRIGGER my_trigger BEFORE INSERT ON mydatabase.mytable FOR EACH ROW SET NEW.column1 = 'new_value';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4. **Column-Level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**SELECT (column1, column2):**</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SELECT column1, column2 FROM mydatabase.mytable;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**INSERT (column1, column2):**</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INSERT INTO mydatabase.mytable (column1, column2) VALUES (value1, value2);</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**UPDATE (column1, column2):**</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UPDATE mydatabase.mytable SET column1 = 'new_value' WHERE condition;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5. **Routine Privileges (Procedures and Functions):**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**EXECUTE:**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CALL mydatabase.myprocedure();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6. **Server Administration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**RELOAD:**</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FLUSH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**PROCESS:**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SHOW PROCESSLIST;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**SUPER:**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SET GLOBAL time_zone = '+00:00';</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**SHUTDOWN:**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SHUTDOWN;</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**SHOW DATABASES:**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SHOW DATABASES;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7. **Other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**USAGE:**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GRANT USAGE ON *.* TO 'username'@'host';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8. **Proxy Privileges:**</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 **PROXY:**</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```sql</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SET ROLE 'rolename'@'host' FOR 'username'@'host';</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Pastikan untuk menjalankan perintah-perintah ini sesuai dengan hak akses yang telah diberikan kepada pengguna MySQL Anda. Beberapa perintah mungkin memerlukan hak akses khusus atau dijalankan oleh pengguna tertentu.</a:t>
            </a:r>
            <a:endParaRPr>
              <a:latin typeface="Courier New"/>
              <a:ea typeface="Courier New"/>
              <a:cs typeface="Courier New"/>
              <a:sym typeface="Courier New"/>
            </a:endParaRPr>
          </a:p>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1028" name="Google Shape;1028;g2aee2debbaf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151</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aee2debbaf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aee2debbaf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latin typeface="Courier New"/>
              <a:ea typeface="Courier New"/>
              <a:cs typeface="Courier New"/>
              <a:sym typeface="Courier New"/>
            </a:endParaRPr>
          </a:p>
        </p:txBody>
      </p:sp>
      <p:sp>
        <p:nvSpPr>
          <p:cNvPr id="1035" name="Google Shape;1035;g2aee2debbaf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152</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aee2debbaf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aee2debbaf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 Melihat semua user dan hak aksesnya:</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SELECT user, host, authentication_string, plugin, grantee, table_name, privilege_type</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FROM mysql.user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LEFT JOIN mysql.db ON mysql.user.user = mysql.db.user</a:t>
            </a: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a:latin typeface="Courier New"/>
                <a:ea typeface="Courier New"/>
                <a:cs typeface="Courier New"/>
                <a:sym typeface="Courier New"/>
              </a:rPr>
              <a:t>LEFT JOIN mysql.tables_priv ON mysql.db.user = mysql.tables_priv.user;</a:t>
            </a:r>
            <a:endParaRPr>
              <a:latin typeface="Courier New"/>
              <a:ea typeface="Courier New"/>
              <a:cs typeface="Courier New"/>
              <a:sym typeface="Courier New"/>
            </a:endParaRPr>
          </a:p>
        </p:txBody>
      </p:sp>
      <p:sp>
        <p:nvSpPr>
          <p:cNvPr id="1042" name="Google Shape;1042;g2aee2debbaf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ID"/>
              <a:t>153</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541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
        <p:cNvGrpSpPr/>
        <p:nvPr/>
      </p:nvGrpSpPr>
      <p:grpSpPr>
        <a:xfrm>
          <a:off x="0" y="0"/>
          <a:ext cx="0" cy="0"/>
          <a:chOff x="0" y="0"/>
          <a:chExt cx="0" cy="0"/>
        </a:xfrm>
      </p:grpSpPr>
      <p:grpSp>
        <p:nvGrpSpPr>
          <p:cNvPr id="27" name="Google Shape;27;p43"/>
          <p:cNvGrpSpPr/>
          <p:nvPr/>
        </p:nvGrpSpPr>
        <p:grpSpPr>
          <a:xfrm>
            <a:off x="0" y="0"/>
            <a:ext cx="12192000" cy="6858000"/>
            <a:chOff x="0" y="0"/>
            <a:chExt cx="12192000" cy="6858000"/>
          </a:xfrm>
        </p:grpSpPr>
        <p:sp>
          <p:nvSpPr>
            <p:cNvPr id="28" name="Google Shape;28;p43"/>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3"/>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43"/>
          <p:cNvSpPr txBox="1">
            <a:spLocks noGrp="1"/>
          </p:cNvSpPr>
          <p:nvPr>
            <p:ph type="ctrTitle"/>
          </p:nvPr>
        </p:nvSpPr>
        <p:spPr>
          <a:xfrm>
            <a:off x="1154955" y="2099733"/>
            <a:ext cx="8825658" cy="267764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3"/>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440"/>
              <a:buNone/>
              <a:defRPr cap="none">
                <a:solidFill>
                  <a:srgbClr val="EE52A4"/>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2" name="Google Shape;32;p43"/>
          <p:cNvSpPr txBox="1">
            <a:spLocks noGrp="1"/>
          </p:cNvSpPr>
          <p:nvPr>
            <p:ph type="dt" idx="10"/>
          </p:nvPr>
        </p:nvSpPr>
        <p:spPr>
          <a:xfrm rot="5400000">
            <a:off x="10158984" y="1792224"/>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3"/>
          <p:cNvSpPr txBox="1">
            <a:spLocks noGrp="1"/>
          </p:cNvSpPr>
          <p:nvPr>
            <p:ph type="ftr" idx="11"/>
          </p:nvPr>
        </p:nvSpPr>
        <p:spPr>
          <a:xfrm rot="5400000">
            <a:off x="8951976" y="3227832"/>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3"/>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4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4"/>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39" name="Google Shape;39;p44"/>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4"/>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2"/>
        <p:cNvGrpSpPr/>
        <p:nvPr/>
      </p:nvGrpSpPr>
      <p:grpSpPr>
        <a:xfrm>
          <a:off x="0" y="0"/>
          <a:ext cx="0" cy="0"/>
          <a:chOff x="0" y="0"/>
          <a:chExt cx="0" cy="0"/>
        </a:xfrm>
      </p:grpSpPr>
      <p:grpSp>
        <p:nvGrpSpPr>
          <p:cNvPr id="43" name="Google Shape;43;p45"/>
          <p:cNvGrpSpPr/>
          <p:nvPr/>
        </p:nvGrpSpPr>
        <p:grpSpPr>
          <a:xfrm>
            <a:off x="0" y="0"/>
            <a:ext cx="12192000" cy="6858000"/>
            <a:chOff x="0" y="0"/>
            <a:chExt cx="12192000" cy="6858000"/>
          </a:xfrm>
        </p:grpSpPr>
        <p:sp>
          <p:nvSpPr>
            <p:cNvPr id="44" name="Google Shape;44;p45"/>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5"/>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5"/>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5"/>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5"/>
            <p:cNvSpPr/>
            <p:nvPr/>
          </p:nvSpPr>
          <p:spPr>
            <a:xfrm>
              <a:off x="7289800" y="402165"/>
              <a:ext cx="4478865"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5"/>
            <p:cNvSpPr/>
            <p:nvPr/>
          </p:nvSpPr>
          <p:spPr>
            <a:xfrm rot="-5400000">
              <a:off x="3787244"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45"/>
            <p:cNvSpPr/>
            <p:nvPr/>
          </p:nvSpPr>
          <p:spPr>
            <a:xfrm rot="-5677511">
              <a:off x="4698352"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5"/>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45"/>
          <p:cNvSpPr txBox="1">
            <a:spLocks noGrp="1"/>
          </p:cNvSpPr>
          <p:nvPr>
            <p:ph type="title"/>
          </p:nvPr>
        </p:nvSpPr>
        <p:spPr>
          <a:xfrm>
            <a:off x="1154954" y="2677645"/>
            <a:ext cx="4351025" cy="228382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5"/>
          <p:cNvSpPr txBox="1">
            <a:spLocks noGrp="1"/>
          </p:cNvSpPr>
          <p:nvPr>
            <p:ph type="body" idx="1"/>
          </p:nvPr>
        </p:nvSpPr>
        <p:spPr>
          <a:xfrm>
            <a:off x="6895559" y="2677644"/>
            <a:ext cx="3757545" cy="228382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6" name="Google Shape;56;p45"/>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5"/>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5"/>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4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6"/>
          <p:cNvSpPr txBox="1">
            <a:spLocks noGrp="1"/>
          </p:cNvSpPr>
          <p:nvPr>
            <p:ph type="body" idx="1"/>
          </p:nvPr>
        </p:nvSpPr>
        <p:spPr>
          <a:xfrm>
            <a:off x="1154954" y="2603500"/>
            <a:ext cx="4825158" cy="341630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3" name="Google Shape;63;p46"/>
          <p:cNvSpPr txBox="1">
            <a:spLocks noGrp="1"/>
          </p:cNvSpPr>
          <p:nvPr>
            <p:ph type="body" idx="2"/>
          </p:nvPr>
        </p:nvSpPr>
        <p:spPr>
          <a:xfrm>
            <a:off x="6208712" y="2603500"/>
            <a:ext cx="4825159" cy="3416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46"/>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6"/>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7"/>
        <p:cNvGrpSpPr/>
        <p:nvPr/>
      </p:nvGrpSpPr>
      <p:grpSpPr>
        <a:xfrm>
          <a:off x="0" y="0"/>
          <a:ext cx="0" cy="0"/>
          <a:chOff x="0" y="0"/>
          <a:chExt cx="0" cy="0"/>
        </a:xfrm>
      </p:grpSpPr>
      <p:sp>
        <p:nvSpPr>
          <p:cNvPr id="68" name="Google Shape;68;p4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7"/>
          <p:cNvSpPr txBox="1">
            <a:spLocks noGrp="1"/>
          </p:cNvSpPr>
          <p:nvPr>
            <p:ph type="body" idx="1"/>
          </p:nvPr>
        </p:nvSpPr>
        <p:spPr>
          <a:xfrm>
            <a:off x="1154954" y="2603500"/>
            <a:ext cx="4825157"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70" name="Google Shape;70;p47"/>
          <p:cNvSpPr txBox="1">
            <a:spLocks noGrp="1"/>
          </p:cNvSpPr>
          <p:nvPr>
            <p:ph type="body" idx="2"/>
          </p:nvPr>
        </p:nvSpPr>
        <p:spPr>
          <a:xfrm>
            <a:off x="1154954" y="3179762"/>
            <a:ext cx="4825158" cy="284003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1" name="Google Shape;71;p47"/>
          <p:cNvSpPr txBox="1">
            <a:spLocks noGrp="1"/>
          </p:cNvSpPr>
          <p:nvPr>
            <p:ph type="body" idx="3"/>
          </p:nvPr>
        </p:nvSpPr>
        <p:spPr>
          <a:xfrm>
            <a:off x="6208712" y="2603500"/>
            <a:ext cx="482515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72" name="Google Shape;72;p47"/>
          <p:cNvSpPr txBox="1">
            <a:spLocks noGrp="1"/>
          </p:cNvSpPr>
          <p:nvPr>
            <p:ph type="body" idx="4"/>
          </p:nvPr>
        </p:nvSpPr>
        <p:spPr>
          <a:xfrm>
            <a:off x="6208712" y="3179762"/>
            <a:ext cx="4825159" cy="284003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73" name="Google Shape;73;p47"/>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7"/>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4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8"/>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8"/>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81"/>
        <p:cNvGrpSpPr/>
        <p:nvPr/>
      </p:nvGrpSpPr>
      <p:grpSpPr>
        <a:xfrm>
          <a:off x="0" y="0"/>
          <a:ext cx="0" cy="0"/>
          <a:chOff x="0" y="0"/>
          <a:chExt cx="0" cy="0"/>
        </a:xfrm>
      </p:grpSpPr>
      <p:sp>
        <p:nvSpPr>
          <p:cNvPr id="82" name="Google Shape;82;p49"/>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9"/>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6"/>
        <p:cNvGrpSpPr/>
        <p:nvPr/>
      </p:nvGrpSpPr>
      <p:grpSpPr>
        <a:xfrm>
          <a:off x="0" y="0"/>
          <a:ext cx="0" cy="0"/>
          <a:chOff x="0" y="0"/>
          <a:chExt cx="0" cy="0"/>
        </a:xfrm>
      </p:grpSpPr>
      <p:grpSp>
        <p:nvGrpSpPr>
          <p:cNvPr id="87" name="Google Shape;87;p50"/>
          <p:cNvGrpSpPr/>
          <p:nvPr/>
        </p:nvGrpSpPr>
        <p:grpSpPr>
          <a:xfrm>
            <a:off x="0" y="0"/>
            <a:ext cx="12192000" cy="6858000"/>
            <a:chOff x="0" y="0"/>
            <a:chExt cx="12192000" cy="6858000"/>
          </a:xfrm>
        </p:grpSpPr>
        <p:sp>
          <p:nvSpPr>
            <p:cNvPr id="88" name="Google Shape;88;p50"/>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0"/>
            <p:cNvSpPr/>
            <p:nvPr/>
          </p:nvSpPr>
          <p:spPr>
            <a:xfrm>
              <a:off x="5713412" y="402165"/>
              <a:ext cx="6055253"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0"/>
            <p:cNvSpPr/>
            <p:nvPr/>
          </p:nvSpPr>
          <p:spPr>
            <a:xfrm rot="-5677511">
              <a:off x="3140485"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0"/>
            <p:cNvSpPr/>
            <p:nvPr/>
          </p:nvSpPr>
          <p:spPr>
            <a:xfrm rot="-5400000">
              <a:off x="2229377"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50"/>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50"/>
          <p:cNvSpPr txBox="1">
            <a:spLocks noGrp="1"/>
          </p:cNvSpPr>
          <p:nvPr>
            <p:ph type="title"/>
          </p:nvPr>
        </p:nvSpPr>
        <p:spPr>
          <a:xfrm>
            <a:off x="1154955" y="1295400"/>
            <a:ext cx="2793158"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50"/>
          <p:cNvSpPr txBox="1">
            <a:spLocks noGrp="1"/>
          </p:cNvSpPr>
          <p:nvPr>
            <p:ph type="body" idx="1"/>
          </p:nvPr>
        </p:nvSpPr>
        <p:spPr>
          <a:xfrm>
            <a:off x="5781146" y="1447800"/>
            <a:ext cx="5190066" cy="4572000"/>
          </a:xfrm>
          <a:prstGeom prst="rect">
            <a:avLst/>
          </a:prstGeom>
          <a:noFill/>
          <a:ln>
            <a:noFill/>
          </a:ln>
        </p:spPr>
        <p:txBody>
          <a:bodyPr spcFirstLastPara="1" wrap="square" lIns="91425" tIns="45700" rIns="91425" bIns="45700" anchor="ctr"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0" name="Google Shape;100;p50"/>
          <p:cNvSpPr txBox="1">
            <a:spLocks noGrp="1"/>
          </p:cNvSpPr>
          <p:nvPr>
            <p:ph type="body" idx="2"/>
          </p:nvPr>
        </p:nvSpPr>
        <p:spPr>
          <a:xfrm>
            <a:off x="1154954" y="3129280"/>
            <a:ext cx="2793158"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1" name="Google Shape;101;p50"/>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50"/>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50"/>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05"/>
        <p:cNvGrpSpPr/>
        <p:nvPr/>
      </p:nvGrpSpPr>
      <p:grpSpPr>
        <a:xfrm>
          <a:off x="0" y="0"/>
          <a:ext cx="0" cy="0"/>
          <a:chOff x="0" y="0"/>
          <a:chExt cx="0" cy="0"/>
        </a:xfrm>
      </p:grpSpPr>
      <p:grpSp>
        <p:nvGrpSpPr>
          <p:cNvPr id="106" name="Google Shape;106;p51"/>
          <p:cNvGrpSpPr/>
          <p:nvPr/>
        </p:nvGrpSpPr>
        <p:grpSpPr>
          <a:xfrm>
            <a:off x="0" y="0"/>
            <a:ext cx="12192000" cy="6858000"/>
            <a:chOff x="0" y="0"/>
            <a:chExt cx="12192000" cy="6858000"/>
          </a:xfrm>
        </p:grpSpPr>
        <p:sp>
          <p:nvSpPr>
            <p:cNvPr id="107" name="Google Shape;107;p51"/>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1"/>
            <p:cNvSpPr/>
            <p:nvPr/>
          </p:nvSpPr>
          <p:spPr>
            <a:xfrm>
              <a:off x="6172200" y="402165"/>
              <a:ext cx="5596465"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1"/>
            <p:cNvSpPr/>
            <p:nvPr/>
          </p:nvSpPr>
          <p:spPr>
            <a:xfrm rot="-5677511">
              <a:off x="4203594"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1"/>
            <p:cNvSpPr/>
            <p:nvPr/>
          </p:nvSpPr>
          <p:spPr>
            <a:xfrm rot="-5400000">
              <a:off x="3295432"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51"/>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51"/>
          <p:cNvSpPr txBox="1">
            <a:spLocks noGrp="1"/>
          </p:cNvSpPr>
          <p:nvPr>
            <p:ph type="title"/>
          </p:nvPr>
        </p:nvSpPr>
        <p:spPr>
          <a:xfrm>
            <a:off x="1154955" y="1693333"/>
            <a:ext cx="3865134" cy="173566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51"/>
          <p:cNvSpPr>
            <a:spLocks noGrp="1"/>
          </p:cNvSpPr>
          <p:nvPr>
            <p:ph type="pic" idx="2"/>
          </p:nvPr>
        </p:nvSpPr>
        <p:spPr>
          <a:xfrm>
            <a:off x="6547870" y="1143000"/>
            <a:ext cx="3227193"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51"/>
          <p:cNvSpPr txBox="1">
            <a:spLocks noGrp="1"/>
          </p:cNvSpPr>
          <p:nvPr>
            <p:ph type="body" idx="1"/>
          </p:nvPr>
        </p:nvSpPr>
        <p:spPr>
          <a:xfrm>
            <a:off x="1154954" y="3657600"/>
            <a:ext cx="3859212"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0" name="Google Shape;120;p51"/>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51"/>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5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24"/>
        <p:cNvGrpSpPr/>
        <p:nvPr/>
      </p:nvGrpSpPr>
      <p:grpSpPr>
        <a:xfrm>
          <a:off x="0" y="0"/>
          <a:ext cx="0" cy="0"/>
          <a:chOff x="0" y="0"/>
          <a:chExt cx="0" cy="0"/>
        </a:xfrm>
      </p:grpSpPr>
      <p:grpSp>
        <p:nvGrpSpPr>
          <p:cNvPr id="125" name="Google Shape;125;p52"/>
          <p:cNvGrpSpPr/>
          <p:nvPr/>
        </p:nvGrpSpPr>
        <p:grpSpPr>
          <a:xfrm>
            <a:off x="0" y="0"/>
            <a:ext cx="12192000" cy="6858000"/>
            <a:chOff x="0" y="0"/>
            <a:chExt cx="12192000" cy="6858000"/>
          </a:xfrm>
        </p:grpSpPr>
        <p:sp>
          <p:nvSpPr>
            <p:cNvPr id="126" name="Google Shape;126;p52"/>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2"/>
            <p:cNvSpPr/>
            <p:nvPr/>
          </p:nvSpPr>
          <p:spPr>
            <a:xfrm rot="10371525">
              <a:off x="263767" y="4438254"/>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2"/>
            <p:cNvSpPr/>
            <p:nvPr/>
          </p:nvSpPr>
          <p:spPr>
            <a:xfrm rot="10800000">
              <a:off x="459506" y="321130"/>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52"/>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52"/>
          <p:cNvSpPr txBox="1">
            <a:spLocks noGrp="1"/>
          </p:cNvSpPr>
          <p:nvPr>
            <p:ph type="title"/>
          </p:nvPr>
        </p:nvSpPr>
        <p:spPr>
          <a:xfrm>
            <a:off x="1154954" y="4969927"/>
            <a:ext cx="8825659"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52"/>
          <p:cNvSpPr>
            <a:spLocks noGrp="1"/>
          </p:cNvSpPr>
          <p:nvPr>
            <p:ph type="pic" idx="2"/>
          </p:nvPr>
        </p:nvSpPr>
        <p:spPr>
          <a:xfrm>
            <a:off x="1154954" y="685800"/>
            <a:ext cx="8825659" cy="3429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37" name="Google Shape;137;p52"/>
          <p:cNvSpPr txBox="1">
            <a:spLocks noGrp="1"/>
          </p:cNvSpPr>
          <p:nvPr>
            <p:ph type="body" idx="1"/>
          </p:nvPr>
        </p:nvSpPr>
        <p:spPr>
          <a:xfrm>
            <a:off x="1154954" y="5536665"/>
            <a:ext cx="8825658"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38" name="Google Shape;138;p52"/>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52"/>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52"/>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42"/>
        <p:cNvGrpSpPr/>
        <p:nvPr/>
      </p:nvGrpSpPr>
      <p:grpSpPr>
        <a:xfrm>
          <a:off x="0" y="0"/>
          <a:ext cx="0" cy="0"/>
          <a:chOff x="0" y="0"/>
          <a:chExt cx="0" cy="0"/>
        </a:xfrm>
      </p:grpSpPr>
      <p:grpSp>
        <p:nvGrpSpPr>
          <p:cNvPr id="143" name="Google Shape;143;p53"/>
          <p:cNvGrpSpPr/>
          <p:nvPr/>
        </p:nvGrpSpPr>
        <p:grpSpPr>
          <a:xfrm>
            <a:off x="0" y="0"/>
            <a:ext cx="12192000" cy="6858000"/>
            <a:chOff x="0" y="0"/>
            <a:chExt cx="12192000" cy="6858000"/>
          </a:xfrm>
        </p:grpSpPr>
        <p:sp>
          <p:nvSpPr>
            <p:cNvPr id="144" name="Google Shape;144;p53"/>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3"/>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3"/>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3"/>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3"/>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3"/>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3"/>
            <p:cNvSpPr/>
            <p:nvPr/>
          </p:nvSpPr>
          <p:spPr>
            <a:xfrm rot="-589932">
              <a:off x="8490951" y="2714874"/>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3"/>
            <p:cNvSpPr/>
            <p:nvPr/>
          </p:nvSpPr>
          <p:spPr>
            <a:xfrm>
              <a:off x="455612" y="2801319"/>
              <a:ext cx="11277600" cy="3602637"/>
            </a:xfrm>
            <a:custGeom>
              <a:avLst/>
              <a:gdLst/>
              <a:ahLst/>
              <a:cxnLst/>
              <a:rect l="l" t="t" r="r" b="b"/>
              <a:pathLst>
                <a:path w="10000" h="7946" extrusionOk="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53"/>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53"/>
          <p:cNvSpPr txBox="1">
            <a:spLocks noGrp="1"/>
          </p:cNvSpPr>
          <p:nvPr>
            <p:ph type="title"/>
          </p:nvPr>
        </p:nvSpPr>
        <p:spPr>
          <a:xfrm>
            <a:off x="1148798" y="1063417"/>
            <a:ext cx="8831816" cy="137298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53"/>
          <p:cNvSpPr txBox="1">
            <a:spLocks noGrp="1"/>
          </p:cNvSpPr>
          <p:nvPr>
            <p:ph type="body" idx="1"/>
          </p:nvPr>
        </p:nvSpPr>
        <p:spPr>
          <a:xfrm>
            <a:off x="1154954" y="3543300"/>
            <a:ext cx="8825659" cy="24765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55" name="Google Shape;155;p53"/>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53"/>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3"/>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59"/>
        <p:cNvGrpSpPr/>
        <p:nvPr/>
      </p:nvGrpSpPr>
      <p:grpSpPr>
        <a:xfrm>
          <a:off x="0" y="0"/>
          <a:ext cx="0" cy="0"/>
          <a:chOff x="0" y="0"/>
          <a:chExt cx="0" cy="0"/>
        </a:xfrm>
      </p:grpSpPr>
      <p:grpSp>
        <p:nvGrpSpPr>
          <p:cNvPr id="160" name="Google Shape;160;p54"/>
          <p:cNvGrpSpPr/>
          <p:nvPr/>
        </p:nvGrpSpPr>
        <p:grpSpPr>
          <a:xfrm>
            <a:off x="0" y="0"/>
            <a:ext cx="12192000" cy="6858000"/>
            <a:chOff x="0" y="0"/>
            <a:chExt cx="12192000" cy="6858000"/>
          </a:xfrm>
        </p:grpSpPr>
        <p:sp>
          <p:nvSpPr>
            <p:cNvPr id="161" name="Google Shape;161;p54"/>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4"/>
            <p:cNvSpPr/>
            <p:nvPr/>
          </p:nvSpPr>
          <p:spPr>
            <a:xfrm rot="-589932">
              <a:off x="8490951" y="418511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4"/>
            <p:cNvSpPr/>
            <p:nvPr/>
          </p:nvSpPr>
          <p:spPr>
            <a:xfrm>
              <a:off x="455612" y="4241801"/>
              <a:ext cx="11277600" cy="2337161"/>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54"/>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54"/>
          <p:cNvSpPr txBox="1"/>
          <p:nvPr/>
        </p:nvSpPr>
        <p:spPr>
          <a:xfrm>
            <a:off x="881566" y="607336"/>
            <a:ext cx="801912" cy="15696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ID" sz="9600" b="0" i="0">
                <a:solidFill>
                  <a:srgbClr val="EE52A4"/>
                </a:solidFill>
                <a:latin typeface="Arial"/>
                <a:ea typeface="Arial"/>
                <a:cs typeface="Arial"/>
                <a:sym typeface="Arial"/>
              </a:rPr>
              <a:t>“</a:t>
            </a:r>
            <a:endParaRPr/>
          </a:p>
        </p:txBody>
      </p:sp>
      <p:sp>
        <p:nvSpPr>
          <p:cNvPr id="171" name="Google Shape;171;p54"/>
          <p:cNvSpPr txBox="1"/>
          <p:nvPr/>
        </p:nvSpPr>
        <p:spPr>
          <a:xfrm>
            <a:off x="9884458" y="2613787"/>
            <a:ext cx="652763" cy="15696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ID" sz="9600" b="0" i="0">
                <a:solidFill>
                  <a:srgbClr val="EE52A4"/>
                </a:solidFill>
                <a:latin typeface="Arial"/>
                <a:ea typeface="Arial"/>
                <a:cs typeface="Arial"/>
                <a:sym typeface="Arial"/>
              </a:rPr>
              <a:t>”</a:t>
            </a:r>
            <a:endParaRPr/>
          </a:p>
        </p:txBody>
      </p:sp>
      <p:sp>
        <p:nvSpPr>
          <p:cNvPr id="172" name="Google Shape;172;p54"/>
          <p:cNvSpPr txBox="1">
            <a:spLocks noGrp="1"/>
          </p:cNvSpPr>
          <p:nvPr>
            <p:ph type="title"/>
          </p:nvPr>
        </p:nvSpPr>
        <p:spPr>
          <a:xfrm>
            <a:off x="1581878" y="982134"/>
            <a:ext cx="8453906" cy="269663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54"/>
          <p:cNvSpPr txBox="1">
            <a:spLocks noGrp="1"/>
          </p:cNvSpPr>
          <p:nvPr>
            <p:ph type="body" idx="1"/>
          </p:nvPr>
        </p:nvSpPr>
        <p:spPr>
          <a:xfrm>
            <a:off x="1945945" y="3678766"/>
            <a:ext cx="773121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EE52A4"/>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74" name="Google Shape;174;p54"/>
          <p:cNvSpPr txBox="1">
            <a:spLocks noGrp="1"/>
          </p:cNvSpPr>
          <p:nvPr>
            <p:ph type="body" idx="2"/>
          </p:nvPr>
        </p:nvSpPr>
        <p:spPr>
          <a:xfrm>
            <a:off x="1154954" y="5029199"/>
            <a:ext cx="9244897" cy="997857"/>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75" name="Google Shape;175;p54"/>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54"/>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54"/>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179"/>
        <p:cNvGrpSpPr/>
        <p:nvPr/>
      </p:nvGrpSpPr>
      <p:grpSpPr>
        <a:xfrm>
          <a:off x="0" y="0"/>
          <a:ext cx="0" cy="0"/>
          <a:chOff x="0" y="0"/>
          <a:chExt cx="0" cy="0"/>
        </a:xfrm>
      </p:grpSpPr>
      <p:grpSp>
        <p:nvGrpSpPr>
          <p:cNvPr id="180" name="Google Shape;180;p55"/>
          <p:cNvGrpSpPr/>
          <p:nvPr/>
        </p:nvGrpSpPr>
        <p:grpSpPr>
          <a:xfrm>
            <a:off x="0" y="0"/>
            <a:ext cx="12192000" cy="6858000"/>
            <a:chOff x="0" y="0"/>
            <a:chExt cx="12192000" cy="6858000"/>
          </a:xfrm>
        </p:grpSpPr>
        <p:sp>
          <p:nvSpPr>
            <p:cNvPr id="181" name="Google Shape;181;p55"/>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5"/>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5"/>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5"/>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5"/>
            <p:cNvSpPr/>
            <p:nvPr/>
          </p:nvSpPr>
          <p:spPr>
            <a:xfrm rot="-589932">
              <a:off x="8490951" y="4193583"/>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5"/>
            <p:cNvSpPr/>
            <p:nvPr/>
          </p:nvSpPr>
          <p:spPr>
            <a:xfrm>
              <a:off x="455612" y="4241801"/>
              <a:ext cx="11277600" cy="2337161"/>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55"/>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55"/>
          <p:cNvSpPr txBox="1">
            <a:spLocks noGrp="1"/>
          </p:cNvSpPr>
          <p:nvPr>
            <p:ph type="title"/>
          </p:nvPr>
        </p:nvSpPr>
        <p:spPr>
          <a:xfrm>
            <a:off x="1154954" y="2370667"/>
            <a:ext cx="8825660" cy="182251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55"/>
          <p:cNvSpPr txBox="1">
            <a:spLocks noGrp="1"/>
          </p:cNvSpPr>
          <p:nvPr>
            <p:ph type="body" idx="1"/>
          </p:nvPr>
        </p:nvSpPr>
        <p:spPr>
          <a:xfrm>
            <a:off x="1154954" y="5024967"/>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92" name="Google Shape;192;p55"/>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55"/>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55"/>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6"/>
        <p:cNvGrpSpPr/>
        <p:nvPr/>
      </p:nvGrpSpPr>
      <p:grpSpPr>
        <a:xfrm>
          <a:off x="0" y="0"/>
          <a:ext cx="0" cy="0"/>
          <a:chOff x="0" y="0"/>
          <a:chExt cx="0" cy="0"/>
        </a:xfrm>
      </p:grpSpPr>
      <p:sp>
        <p:nvSpPr>
          <p:cNvPr id="197" name="Google Shape;197;p56"/>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56"/>
          <p:cNvSpPr txBox="1">
            <a:spLocks noGrp="1"/>
          </p:cNvSpPr>
          <p:nvPr>
            <p:ph type="body" idx="1"/>
          </p:nvPr>
        </p:nvSpPr>
        <p:spPr>
          <a:xfrm>
            <a:off x="1154954" y="2603502"/>
            <a:ext cx="314187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99" name="Google Shape;199;p56"/>
          <p:cNvSpPr txBox="1">
            <a:spLocks noGrp="1"/>
          </p:cNvSpPr>
          <p:nvPr>
            <p:ph type="body" idx="2"/>
          </p:nvPr>
        </p:nvSpPr>
        <p:spPr>
          <a:xfrm>
            <a:off x="1154953" y="3179764"/>
            <a:ext cx="3141879"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00" name="Google Shape;200;p56"/>
          <p:cNvSpPr txBox="1">
            <a:spLocks noGrp="1"/>
          </p:cNvSpPr>
          <p:nvPr>
            <p:ph type="body" idx="3"/>
          </p:nvPr>
        </p:nvSpPr>
        <p:spPr>
          <a:xfrm>
            <a:off x="4512721" y="2603500"/>
            <a:ext cx="314700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01" name="Google Shape;201;p56"/>
          <p:cNvSpPr txBox="1">
            <a:spLocks noGrp="1"/>
          </p:cNvSpPr>
          <p:nvPr>
            <p:ph type="body" idx="4"/>
          </p:nvPr>
        </p:nvSpPr>
        <p:spPr>
          <a:xfrm>
            <a:off x="4512721" y="3179763"/>
            <a:ext cx="3147009"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02" name="Google Shape;202;p56"/>
          <p:cNvSpPr txBox="1">
            <a:spLocks noGrp="1"/>
          </p:cNvSpPr>
          <p:nvPr>
            <p:ph type="body" idx="5"/>
          </p:nvPr>
        </p:nvSpPr>
        <p:spPr>
          <a:xfrm>
            <a:off x="7888135" y="2603501"/>
            <a:ext cx="314573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03" name="Google Shape;203;p56"/>
          <p:cNvSpPr txBox="1">
            <a:spLocks noGrp="1"/>
          </p:cNvSpPr>
          <p:nvPr>
            <p:ph type="body" idx="6"/>
          </p:nvPr>
        </p:nvSpPr>
        <p:spPr>
          <a:xfrm>
            <a:off x="7888329" y="3179762"/>
            <a:ext cx="3145536"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04" name="Google Shape;204;p56"/>
          <p:cNvCxnSpPr/>
          <p:nvPr/>
        </p:nvCxnSpPr>
        <p:spPr>
          <a:xfrm>
            <a:off x="440397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05" name="Google Shape;205;p56"/>
          <p:cNvCxnSpPr/>
          <p:nvPr/>
        </p:nvCxnSpPr>
        <p:spPr>
          <a:xfrm>
            <a:off x="777240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06" name="Google Shape;206;p56"/>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56"/>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5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9"/>
        <p:cNvGrpSpPr/>
        <p:nvPr/>
      </p:nvGrpSpPr>
      <p:grpSpPr>
        <a:xfrm>
          <a:off x="0" y="0"/>
          <a:ext cx="0" cy="0"/>
          <a:chOff x="0" y="0"/>
          <a:chExt cx="0" cy="0"/>
        </a:xfrm>
      </p:grpSpPr>
      <p:sp>
        <p:nvSpPr>
          <p:cNvPr id="210" name="Google Shape;210;p57"/>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57"/>
          <p:cNvSpPr txBox="1">
            <a:spLocks noGrp="1"/>
          </p:cNvSpPr>
          <p:nvPr>
            <p:ph type="body" idx="1"/>
          </p:nvPr>
        </p:nvSpPr>
        <p:spPr>
          <a:xfrm>
            <a:off x="1154954" y="4532844"/>
            <a:ext cx="30504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2" name="Google Shape;212;p57"/>
          <p:cNvSpPr>
            <a:spLocks noGrp="1"/>
          </p:cNvSpPr>
          <p:nvPr>
            <p:ph type="pic" idx="2"/>
          </p:nvPr>
        </p:nvSpPr>
        <p:spPr>
          <a:xfrm>
            <a:off x="1334553"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13" name="Google Shape;213;p57"/>
          <p:cNvSpPr txBox="1">
            <a:spLocks noGrp="1"/>
          </p:cNvSpPr>
          <p:nvPr>
            <p:ph type="body" idx="3"/>
          </p:nvPr>
        </p:nvSpPr>
        <p:spPr>
          <a:xfrm>
            <a:off x="1154954" y="5109106"/>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4" name="Google Shape;214;p57"/>
          <p:cNvSpPr txBox="1">
            <a:spLocks noGrp="1"/>
          </p:cNvSpPr>
          <p:nvPr>
            <p:ph type="body" idx="4"/>
          </p:nvPr>
        </p:nvSpPr>
        <p:spPr>
          <a:xfrm>
            <a:off x="4568865" y="4532844"/>
            <a:ext cx="3050438" cy="576263"/>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5" name="Google Shape;215;p57"/>
          <p:cNvSpPr>
            <a:spLocks noGrp="1"/>
          </p:cNvSpPr>
          <p:nvPr>
            <p:ph type="pic" idx="5"/>
          </p:nvPr>
        </p:nvSpPr>
        <p:spPr>
          <a:xfrm>
            <a:off x="4748462" y="2603500"/>
            <a:ext cx="2691243"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16" name="Google Shape;216;p57"/>
          <p:cNvSpPr txBox="1">
            <a:spLocks noGrp="1"/>
          </p:cNvSpPr>
          <p:nvPr>
            <p:ph type="body" idx="6"/>
          </p:nvPr>
        </p:nvSpPr>
        <p:spPr>
          <a:xfrm>
            <a:off x="4570172" y="5109105"/>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7" name="Google Shape;217;p57"/>
          <p:cNvSpPr txBox="1">
            <a:spLocks noGrp="1"/>
          </p:cNvSpPr>
          <p:nvPr>
            <p:ph type="body" idx="7"/>
          </p:nvPr>
        </p:nvSpPr>
        <p:spPr>
          <a:xfrm>
            <a:off x="7982775" y="4532845"/>
            <a:ext cx="305109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8" name="Google Shape;218;p57"/>
          <p:cNvSpPr>
            <a:spLocks noGrp="1"/>
          </p:cNvSpPr>
          <p:nvPr>
            <p:ph type="pic" idx="8"/>
          </p:nvPr>
        </p:nvSpPr>
        <p:spPr>
          <a:xfrm>
            <a:off x="8163031"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19" name="Google Shape;219;p57"/>
          <p:cNvSpPr txBox="1">
            <a:spLocks noGrp="1"/>
          </p:cNvSpPr>
          <p:nvPr>
            <p:ph type="body" idx="9"/>
          </p:nvPr>
        </p:nvSpPr>
        <p:spPr>
          <a:xfrm>
            <a:off x="7982775" y="5109104"/>
            <a:ext cx="3051096"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20" name="Google Shape;220;p57"/>
          <p:cNvCxnSpPr/>
          <p:nvPr/>
        </p:nvCxnSpPr>
        <p:spPr>
          <a:xfrm>
            <a:off x="440583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21" name="Google Shape;221;p57"/>
          <p:cNvCxnSpPr/>
          <p:nvPr/>
        </p:nvCxnSpPr>
        <p:spPr>
          <a:xfrm>
            <a:off x="7797802"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22" name="Google Shape;222;p57"/>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57"/>
          <p:cNvSpPr txBox="1">
            <a:spLocks noGrp="1"/>
          </p:cNvSpPr>
          <p:nvPr>
            <p:ph type="ftr" idx="11"/>
          </p:nvPr>
        </p:nvSpPr>
        <p:spPr>
          <a:xfrm>
            <a:off x="561111" y="6391838"/>
            <a:ext cx="3644282"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4" name="Google Shape;224;p5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5"/>
        <p:cNvGrpSpPr/>
        <p:nvPr/>
      </p:nvGrpSpPr>
      <p:grpSpPr>
        <a:xfrm>
          <a:off x="0" y="0"/>
          <a:ext cx="0" cy="0"/>
          <a:chOff x="0" y="0"/>
          <a:chExt cx="0" cy="0"/>
        </a:xfrm>
      </p:grpSpPr>
      <p:sp>
        <p:nvSpPr>
          <p:cNvPr id="226" name="Google Shape;226;p58"/>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58"/>
          <p:cNvSpPr txBox="1">
            <a:spLocks noGrp="1"/>
          </p:cNvSpPr>
          <p:nvPr>
            <p:ph type="body" idx="1"/>
          </p:nvPr>
        </p:nvSpPr>
        <p:spPr>
          <a:xfrm rot="5400000">
            <a:off x="3859634" y="-101179"/>
            <a:ext cx="3416300" cy="882565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28" name="Google Shape;228;p58"/>
          <p:cNvSpPr txBox="1">
            <a:spLocks noGrp="1"/>
          </p:cNvSpPr>
          <p:nvPr>
            <p:ph type="dt" idx="10"/>
          </p:nvPr>
        </p:nvSpPr>
        <p:spPr>
          <a:xfrm>
            <a:off x="10695439"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58"/>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5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31"/>
        <p:cNvGrpSpPr/>
        <p:nvPr/>
      </p:nvGrpSpPr>
      <p:grpSpPr>
        <a:xfrm>
          <a:off x="0" y="0"/>
          <a:ext cx="0" cy="0"/>
          <a:chOff x="0" y="0"/>
          <a:chExt cx="0" cy="0"/>
        </a:xfrm>
      </p:grpSpPr>
      <p:grpSp>
        <p:nvGrpSpPr>
          <p:cNvPr id="232" name="Google Shape;232;p59"/>
          <p:cNvGrpSpPr/>
          <p:nvPr/>
        </p:nvGrpSpPr>
        <p:grpSpPr>
          <a:xfrm>
            <a:off x="0" y="0"/>
            <a:ext cx="12192000" cy="6858000"/>
            <a:chOff x="0" y="0"/>
            <a:chExt cx="12192000" cy="6858000"/>
          </a:xfrm>
        </p:grpSpPr>
        <p:sp>
          <p:nvSpPr>
            <p:cNvPr id="233" name="Google Shape;233;p59"/>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9"/>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9"/>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9"/>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9"/>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9"/>
            <p:cNvSpPr/>
            <p:nvPr/>
          </p:nvSpPr>
          <p:spPr>
            <a:xfrm>
              <a:off x="414867" y="402165"/>
              <a:ext cx="6510866"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9"/>
            <p:cNvSpPr/>
            <p:nvPr/>
          </p:nvSpPr>
          <p:spPr>
            <a:xfrm rot="5101749">
              <a:off x="6294738" y="457773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9"/>
            <p:cNvSpPr/>
            <p:nvPr/>
          </p:nvSpPr>
          <p:spPr>
            <a:xfrm rot="5400000">
              <a:off x="4449232"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59"/>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59"/>
          <p:cNvSpPr txBox="1">
            <a:spLocks noGrp="1"/>
          </p:cNvSpPr>
          <p:nvPr>
            <p:ph type="title"/>
          </p:nvPr>
        </p:nvSpPr>
        <p:spPr>
          <a:xfrm rot="5400000">
            <a:off x="6915923" y="2947780"/>
            <a:ext cx="4748590" cy="140996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59"/>
          <p:cNvSpPr txBox="1">
            <a:spLocks noGrp="1"/>
          </p:cNvSpPr>
          <p:nvPr>
            <p:ph type="body" idx="1"/>
          </p:nvPr>
        </p:nvSpPr>
        <p:spPr>
          <a:xfrm rot="5400000">
            <a:off x="1908672" y="524749"/>
            <a:ext cx="4748590" cy="625602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45" name="Google Shape;245;p59"/>
          <p:cNvSpPr txBox="1">
            <a:spLocks noGrp="1"/>
          </p:cNvSpPr>
          <p:nvPr>
            <p:ph type="dt" idx="10"/>
          </p:nvPr>
        </p:nvSpPr>
        <p:spPr>
          <a:xfrm>
            <a:off x="10653104" y="6391838"/>
            <a:ext cx="992135"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59"/>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59"/>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42"/>
          <p:cNvGrpSpPr/>
          <p:nvPr/>
        </p:nvGrpSpPr>
        <p:grpSpPr>
          <a:xfrm>
            <a:off x="0" y="0"/>
            <a:ext cx="12192000" cy="6858000"/>
            <a:chOff x="0" y="0"/>
            <a:chExt cx="12192000" cy="6858000"/>
          </a:xfrm>
        </p:grpSpPr>
        <p:sp>
          <p:nvSpPr>
            <p:cNvPr id="11" name="Google Shape;11;p42"/>
            <p:cNvSpPr/>
            <p:nvPr/>
          </p:nvSpPr>
          <p:spPr>
            <a:xfrm>
              <a:off x="0" y="0"/>
              <a:ext cx="12192000" cy="6858000"/>
            </a:xfrm>
            <a:prstGeom prst="rect">
              <a:avLst/>
            </a:prstGeom>
            <a:blipFill rotWithShape="1">
              <a:blip r:embed="rId1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4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4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4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4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42"/>
            <p:cNvSpPr/>
            <p:nvPr/>
          </p:nvSpPr>
          <p:spPr>
            <a:xfrm rot="-589932">
              <a:off x="8490951" y="179751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2"/>
            <p:cNvSpPr/>
            <p:nvPr/>
          </p:nvSpPr>
          <p:spPr>
            <a:xfrm>
              <a:off x="459506" y="1866405"/>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42"/>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42"/>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2"/>
              </a:buClr>
              <a:buSzPts val="3600"/>
              <a:buFont typeface="Century Gothic"/>
              <a:buNone/>
              <a:defRPr sz="36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1" name="Google Shape;21;p42"/>
          <p:cNvSpPr txBox="1">
            <a:spLocks noGrp="1"/>
          </p:cNvSpPr>
          <p:nvPr>
            <p:ph type="body" idx="1"/>
          </p:nvPr>
        </p:nvSpPr>
        <p:spPr>
          <a:xfrm>
            <a:off x="1154954" y="2603500"/>
            <a:ext cx="8761413" cy="34163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2" name="Google Shape;22;p42"/>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23" name="Google Shape;23;p42"/>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24" name="Google Shape;24;p42"/>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D"/>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pJpEj59sjrqsPEUE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ev.mysql.com/doc/refman/8.0/en/data-types.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apachefriends.org/"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digitalocean.com/community/tutorials/how-to-install-mysql-on-ubuntu-20-04" TargetMode="External"/><Relationship Id="rId4" Type="http://schemas.openxmlformats.org/officeDocument/2006/relationships/hyperlink" Target="https://dev.mysql.com/downloads/installer/"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forms.gle/pF9rZeUDX67fsrAM6"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3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forms.gle/BrJXyGd7QRUpqjgG7"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rive.google.com/file/d/1Fi-tptyMhp-qLzt13YrYSAYbcY-b7Anv/view?usp=sharing"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0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0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0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0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www.youtube.com/watch?v=GAe5oB742dw"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www.youtube.com/watch?v=GAe5oB742dw"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hyperlink" Target="https://www.spanning.com/blog/types-of-backup-understanding-full-differential-incremental-backup/" TargetMode="External"/><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3.xml"/><Relationship Id="rId1" Type="http://schemas.openxmlformats.org/officeDocument/2006/relationships/slideLayout" Target="../slideLayouts/slideLayout2.xml"/><Relationship Id="rId4" Type="http://schemas.openxmlformats.org/officeDocument/2006/relationships/image" Target="../media/image6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1" descr="Apa itu Database Server? Jenis, Cara Kerja, Contoh Server Database - Tanya  Digital"/>
          <p:cNvPicPr preferRelativeResize="0"/>
          <p:nvPr/>
        </p:nvPicPr>
        <p:blipFill rotWithShape="1">
          <a:blip r:embed="rId3">
            <a:alphaModFix/>
          </a:blip>
          <a:srcRect r="9675"/>
          <a:stretch/>
        </p:blipFill>
        <p:spPr>
          <a:xfrm>
            <a:off x="3188727" y="501445"/>
            <a:ext cx="8531325" cy="5891460"/>
          </a:xfrm>
          <a:prstGeom prst="rect">
            <a:avLst/>
          </a:prstGeom>
          <a:noFill/>
          <a:ln>
            <a:noFill/>
          </a:ln>
        </p:spPr>
      </p:pic>
      <p:sp>
        <p:nvSpPr>
          <p:cNvPr id="254" name="Google Shape;254;p1"/>
          <p:cNvSpPr txBox="1">
            <a:spLocks noGrp="1"/>
          </p:cNvSpPr>
          <p:nvPr>
            <p:ph type="ctrTitle"/>
          </p:nvPr>
        </p:nvSpPr>
        <p:spPr>
          <a:xfrm>
            <a:off x="1154954" y="2099733"/>
            <a:ext cx="9360645" cy="267764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Panduan Praktikum MYSQL</a:t>
            </a:r>
            <a:endParaRPr b="1">
              <a:solidFill>
                <a:schemeClr val="lt1"/>
              </a:solidFill>
            </a:endParaRPr>
          </a:p>
        </p:txBody>
      </p:sp>
      <p:sp>
        <p:nvSpPr>
          <p:cNvPr id="255" name="Google Shape;255;p1"/>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ts val="1440"/>
              <a:buNone/>
            </a:pPr>
            <a:r>
              <a:rPr lang="en-ID"/>
              <a:t>SUTIYONO S.T, M.KOM</a:t>
            </a:r>
            <a:endParaRPr/>
          </a:p>
          <a:p>
            <a:pPr marL="0" lvl="0" indent="0" algn="l" rtl="0">
              <a:spcBef>
                <a:spcPts val="1000"/>
              </a:spcBef>
              <a:spcAft>
                <a:spcPts val="0"/>
              </a:spcAft>
              <a:buSzPts val="1440"/>
              <a:buNone/>
            </a:pPr>
            <a:r>
              <a:rPr lang="en-ID"/>
              <a:t>PRAKTIKUM MYSQL</a:t>
            </a:r>
          </a:p>
          <a:p>
            <a:pPr marL="0" lvl="0" indent="0" algn="l" rtl="0">
              <a:spcBef>
                <a:spcPts val="1000"/>
              </a:spcBef>
              <a:spcAft>
                <a:spcPts val="0"/>
              </a:spcAft>
              <a:buSzPts val="1440"/>
              <a:buNone/>
            </a:pPr>
            <a:r>
              <a:rPr lang="en-US"/>
              <a:t>PERTEMUAN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A800F-9A5E-5A57-D0C4-7E66553072CD}"/>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BCE4BE75-66B7-B193-D8B2-69AF97E7D1D7}"/>
              </a:ext>
            </a:extLst>
          </p:cNvPr>
          <p:cNvSpPr>
            <a:spLocks noGrp="1"/>
          </p:cNvSpPr>
          <p:nvPr>
            <p:ph type="body" idx="1"/>
          </p:nvPr>
        </p:nvSpPr>
        <p:spPr/>
        <p:txBody>
          <a:bodyPr/>
          <a:lstStyle/>
          <a:p>
            <a:r>
              <a:rPr lang="en-ID"/>
              <a:t>Mahasiswa memahami konsep dasar basis data, tipe data, dan arsitektur sistem manajemen basis data (DBMS), khususnya MySQL.</a:t>
            </a:r>
          </a:p>
          <a:p>
            <a:r>
              <a:rPr lang="en-ID"/>
              <a:t>Mahasiswa mampu menginstal dan menjalankan MySQL pada sistem operasi yang relevan.</a:t>
            </a:r>
          </a:p>
          <a:p>
            <a:r>
              <a:rPr lang="en-ID"/>
              <a:t>Mahasiswa memahami aturan penulisan SQL pada MySQL.</a:t>
            </a:r>
          </a:p>
          <a:p>
            <a:pPr marL="137160" indent="0">
              <a:buNone/>
            </a:pPr>
            <a:endParaRPr lang="en-ID"/>
          </a:p>
        </p:txBody>
      </p:sp>
    </p:spTree>
    <p:extLst>
      <p:ext uri="{BB962C8B-B14F-4D97-AF65-F5344CB8AC3E}">
        <p14:creationId xmlns:p14="http://schemas.microsoft.com/office/powerpoint/2010/main" val="3049887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060897d798_0_6"/>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Pre Test</a:t>
            </a:r>
            <a:endParaRPr/>
          </a:p>
        </p:txBody>
      </p:sp>
      <p:sp>
        <p:nvSpPr>
          <p:cNvPr id="262" name="Google Shape;262;g3060897d798_0_6"/>
          <p:cNvSpPr txBox="1">
            <a:spLocks noGrp="1"/>
          </p:cNvSpPr>
          <p:nvPr>
            <p:ph type="body" idx="1"/>
          </p:nvPr>
        </p:nvSpPr>
        <p:spPr>
          <a:xfrm>
            <a:off x="1154949" y="2374900"/>
            <a:ext cx="9974100" cy="34164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ID" sz="3600" u="sng">
                <a:solidFill>
                  <a:schemeClr val="hlink"/>
                </a:solidFill>
                <a:hlinkClick r:id="rId3"/>
              </a:rPr>
              <a:t>https://forms.gle/pJpEj59sjrqsPEUE7</a:t>
            </a:r>
            <a:r>
              <a:rPr lang="en-ID" sz="3600"/>
              <a:t> </a:t>
            </a:r>
            <a:endParaRPr sz="3600"/>
          </a:p>
        </p:txBody>
      </p:sp>
      <p:pic>
        <p:nvPicPr>
          <p:cNvPr id="263" name="Google Shape;263;g3060897d798_0_6"/>
          <p:cNvPicPr preferRelativeResize="0"/>
          <p:nvPr/>
        </p:nvPicPr>
        <p:blipFill>
          <a:blip r:embed="rId4">
            <a:alphaModFix/>
          </a:blip>
          <a:stretch>
            <a:fillRect/>
          </a:stretch>
        </p:blipFill>
        <p:spPr>
          <a:xfrm>
            <a:off x="4502122" y="3206202"/>
            <a:ext cx="3279749" cy="32797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Sejarah MySQL</a:t>
            </a:r>
            <a:endParaRPr/>
          </a:p>
        </p:txBody>
      </p:sp>
      <p:sp>
        <p:nvSpPr>
          <p:cNvPr id="269" name="Google Shape;269;p2"/>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79999"/>
              <a:buChar char="►"/>
            </a:pPr>
            <a:r>
              <a:rPr lang="en-ID" b="1"/>
              <a:t>MySQL</a:t>
            </a:r>
            <a:r>
              <a:rPr lang="en-ID"/>
              <a:t> merupakan salah satu jenis basis data server yang sangat populer, dikarenakan MySQL menggunakan SQL (Structured Query Language) sebagai bahasa dasar untuk mengakses data pada basis data</a:t>
            </a:r>
            <a:endParaRPr/>
          </a:p>
          <a:p>
            <a:pPr marL="342900" lvl="0" indent="-342900" algn="l" rtl="0">
              <a:spcBef>
                <a:spcPts val="1000"/>
              </a:spcBef>
              <a:spcAft>
                <a:spcPts val="0"/>
              </a:spcAft>
              <a:buSzPct val="79999"/>
              <a:buChar char="►"/>
            </a:pPr>
            <a:r>
              <a:rPr lang="en-ID"/>
              <a:t>MySQL termasuk RDBMS (Relational Database Management System) yang lebih populer pada pengguna pemrograman web, terutama di lingkungan Linux</a:t>
            </a:r>
            <a:endParaRPr/>
          </a:p>
          <a:p>
            <a:pPr marL="342900" lvl="0" indent="-342900" algn="l" rtl="0">
              <a:spcBef>
                <a:spcPts val="1000"/>
              </a:spcBef>
              <a:spcAft>
                <a:spcPts val="0"/>
              </a:spcAft>
              <a:buSzPct val="79999"/>
              <a:buChar char="►"/>
            </a:pPr>
            <a:r>
              <a:rPr lang="en-ID"/>
              <a:t>MySQL mendapat penghargaan sebagai basis data terbaik untuk server Linux versi Lnux Magazine tahun 2001 dan 2002 dan sebagai basis data terfavorit tahun 2000.</a:t>
            </a:r>
            <a:endParaRPr/>
          </a:p>
          <a:p>
            <a:pPr marL="342900" lvl="0" indent="-342900" algn="l" rtl="0">
              <a:spcBef>
                <a:spcPts val="1000"/>
              </a:spcBef>
              <a:spcAft>
                <a:spcPts val="0"/>
              </a:spcAft>
              <a:buSzPct val="79999"/>
              <a:buChar char="►"/>
            </a:pPr>
            <a:r>
              <a:rPr lang="en-ID"/>
              <a:t>MySQL bersifat gratis (free) / Open Source</a:t>
            </a:r>
            <a:endParaRPr/>
          </a:p>
          <a:p>
            <a:pPr marL="342900" lvl="0" indent="-342900" algn="l" rtl="0">
              <a:spcBef>
                <a:spcPts val="1000"/>
              </a:spcBef>
              <a:spcAft>
                <a:spcPts val="0"/>
              </a:spcAft>
              <a:buSzPct val="79999"/>
              <a:buChar char="►"/>
            </a:pPr>
            <a:r>
              <a:rPr lang="en-ID"/>
              <a:t>Pada tanggal 20 April 2009 MySQL di akuisisi oleh Oracle</a:t>
            </a:r>
            <a:endParaRPr/>
          </a:p>
          <a:p>
            <a:pPr marL="342900" lvl="0" indent="-342900" algn="l" rtl="0">
              <a:spcBef>
                <a:spcPts val="1000"/>
              </a:spcBef>
              <a:spcAft>
                <a:spcPts val="0"/>
              </a:spcAft>
              <a:buSzPct val="79999"/>
              <a:buChar char="►"/>
            </a:pPr>
            <a:r>
              <a:rPr lang="en-ID"/>
              <a:t>MySQL Bisa diakses melalui 2 cara, yaitu menggunakan GUI dan Console</a:t>
            </a:r>
            <a:endParaRPr/>
          </a:p>
          <a:p>
            <a:pPr marL="342900" lvl="0" indent="-258318" algn="l" rtl="0">
              <a:spcBef>
                <a:spcPts val="1000"/>
              </a:spcBef>
              <a:spcAft>
                <a:spcPts val="0"/>
              </a:spcAft>
              <a:buSzPct val="79999"/>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Macam-macam Data</a:t>
            </a:r>
            <a:endParaRPr/>
          </a:p>
        </p:txBody>
      </p:sp>
      <p:sp>
        <p:nvSpPr>
          <p:cNvPr id="275" name="Google Shape;275;p3"/>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79999"/>
              <a:buChar char="►"/>
            </a:pPr>
            <a:r>
              <a:rPr lang="en-ID" b="1"/>
              <a:t>Data Terstruktur</a:t>
            </a:r>
            <a:endParaRPr b="1"/>
          </a:p>
          <a:p>
            <a:pPr marL="354013" lvl="0" indent="0" algn="l" rtl="0">
              <a:spcBef>
                <a:spcPts val="1000"/>
              </a:spcBef>
              <a:spcAft>
                <a:spcPts val="0"/>
              </a:spcAft>
              <a:buSzPct val="79999"/>
              <a:buNone/>
            </a:pPr>
            <a:r>
              <a:rPr lang="en-ID"/>
              <a:t>Data yang diatur dengan format yang jelas dan terdefinisi sebelumnya. Data ini biasanya disimpan dalam tabel dengan kolom dan baris yang terstruktur, seperti dalam basis data relasional. </a:t>
            </a:r>
            <a:endParaRPr/>
          </a:p>
          <a:p>
            <a:pPr marL="354013" lvl="0" indent="0" algn="l" rtl="0">
              <a:spcBef>
                <a:spcPts val="1000"/>
              </a:spcBef>
              <a:spcAft>
                <a:spcPts val="0"/>
              </a:spcAft>
              <a:buSzPct val="79999"/>
              <a:buNone/>
            </a:pPr>
            <a:r>
              <a:rPr lang="en-ID"/>
              <a:t>Contoh: Data karyawan dalam sebuah perusahaan, dengan kolom seperti Nama, ID, Alamat, dan Gaji dalam tabel database.</a:t>
            </a:r>
            <a:endParaRPr/>
          </a:p>
          <a:p>
            <a:pPr marL="342900" lvl="0" indent="-342900" algn="l" rtl="0">
              <a:spcBef>
                <a:spcPts val="1000"/>
              </a:spcBef>
              <a:spcAft>
                <a:spcPts val="0"/>
              </a:spcAft>
              <a:buSzPct val="79999"/>
              <a:buChar char="►"/>
            </a:pPr>
            <a:r>
              <a:rPr lang="en-ID" b="1"/>
              <a:t>Data tidak terstruktur </a:t>
            </a:r>
            <a:endParaRPr/>
          </a:p>
          <a:p>
            <a:pPr marL="354013" lvl="0" indent="0" algn="l" rtl="0">
              <a:spcBef>
                <a:spcPts val="1000"/>
              </a:spcBef>
              <a:spcAft>
                <a:spcPts val="0"/>
              </a:spcAft>
              <a:buSzPct val="79999"/>
              <a:buNone/>
            </a:pPr>
            <a:r>
              <a:rPr lang="en-ID"/>
              <a:t>Data yang tidak memiliki format yang jelas atau tidak teratur. Data ini bisa berupa teks, gambar, audio, atau video yang tidak mudah dianalisis dengan cara konvensional.</a:t>
            </a:r>
            <a:endParaRPr/>
          </a:p>
          <a:p>
            <a:pPr marL="354013" lvl="0" indent="0" algn="l" rtl="0">
              <a:spcBef>
                <a:spcPts val="1000"/>
              </a:spcBef>
              <a:spcAft>
                <a:spcPts val="0"/>
              </a:spcAft>
              <a:buSzPct val="79999"/>
              <a:buNone/>
            </a:pPr>
            <a:r>
              <a:rPr lang="en-ID"/>
              <a:t>Contoh: Tweet di media sosial, teks dalam dokumen PDF, file multimedia.</a:t>
            </a:r>
            <a:endParaRPr/>
          </a:p>
          <a:p>
            <a:pPr marL="354013" lvl="0" indent="0" algn="l" rtl="0">
              <a:spcBef>
                <a:spcPts val="1000"/>
              </a:spcBef>
              <a:spcAft>
                <a:spcPts val="0"/>
              </a:spcAft>
              <a:buSzPct val="79999"/>
              <a:buNone/>
            </a:pPr>
            <a:endParaRPr/>
          </a:p>
          <a:p>
            <a:pPr marL="354013" lvl="0" indent="0" algn="l" rtl="0">
              <a:spcBef>
                <a:spcPts val="1000"/>
              </a:spcBef>
              <a:spcAft>
                <a:spcPts val="0"/>
              </a:spcAft>
              <a:buSzPct val="79999"/>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Macam-macam Data</a:t>
            </a:r>
            <a:endParaRPr/>
          </a:p>
        </p:txBody>
      </p:sp>
      <p:sp>
        <p:nvSpPr>
          <p:cNvPr id="281" name="Google Shape;281;p4"/>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SzPct val="79999"/>
              <a:buChar char="►"/>
            </a:pPr>
            <a:r>
              <a:rPr lang="en-ID" b="1"/>
              <a:t>Data yang Dihasilkan Mesin</a:t>
            </a:r>
            <a:endParaRPr b="1"/>
          </a:p>
          <a:p>
            <a:pPr marL="354013" lvl="0" indent="0" algn="l" rtl="0">
              <a:spcBef>
                <a:spcPts val="1000"/>
              </a:spcBef>
              <a:spcAft>
                <a:spcPts val="0"/>
              </a:spcAft>
              <a:buSzPct val="79999"/>
              <a:buNone/>
            </a:pPr>
            <a:r>
              <a:rPr lang="en-ID"/>
              <a:t>Data yang diciptakan atau dihasilkan oleh perangkat atau mesin tanpa campur tangan manusia. Data ini sering kali bersifat numerik dan dapat digunakan untuk analisis.</a:t>
            </a:r>
            <a:endParaRPr/>
          </a:p>
          <a:p>
            <a:pPr marL="354013" lvl="0" indent="0" algn="l" rtl="0">
              <a:spcBef>
                <a:spcPts val="1000"/>
              </a:spcBef>
              <a:spcAft>
                <a:spcPts val="0"/>
              </a:spcAft>
              <a:buSzPct val="79999"/>
              <a:buNone/>
            </a:pPr>
            <a:r>
              <a:rPr lang="en-ID"/>
              <a:t>Contoh: Data sensor, data log komputer.</a:t>
            </a:r>
            <a:endParaRPr/>
          </a:p>
          <a:p>
            <a:pPr marL="342900" lvl="0" indent="-342900" algn="l" rtl="0">
              <a:spcBef>
                <a:spcPts val="1000"/>
              </a:spcBef>
              <a:spcAft>
                <a:spcPts val="0"/>
              </a:spcAft>
              <a:buSzPct val="79999"/>
              <a:buChar char="►"/>
            </a:pPr>
            <a:r>
              <a:rPr lang="en-ID" b="1"/>
              <a:t>Data Multimedia</a:t>
            </a:r>
            <a:endParaRPr/>
          </a:p>
          <a:p>
            <a:pPr marL="354013" lvl="0" indent="0" algn="l" rtl="0">
              <a:spcBef>
                <a:spcPts val="1000"/>
              </a:spcBef>
              <a:spcAft>
                <a:spcPts val="0"/>
              </a:spcAft>
              <a:buSzPct val="79999"/>
              <a:buNone/>
            </a:pPr>
            <a:r>
              <a:rPr lang="en-ID"/>
              <a:t>Data audio, gambar, dan video adalah data multimedia yang mengandung informasi suara, visual, atau pergerakan. Data ini memerlukan penyimpanan yang besar dan algoritma khusus untuk pemrosesan.</a:t>
            </a:r>
            <a:endParaRPr/>
          </a:p>
          <a:p>
            <a:pPr marL="354013" lvl="0" indent="0" algn="l" rtl="0">
              <a:spcBef>
                <a:spcPts val="1000"/>
              </a:spcBef>
              <a:spcAft>
                <a:spcPts val="0"/>
              </a:spcAft>
              <a:buSzPct val="79999"/>
              <a:buNone/>
            </a:pPr>
            <a:r>
              <a:rPr lang="en-ID"/>
              <a:t>Contoh: File MP3 (audio), JPEG (gambar), atau file MP4 (video).</a:t>
            </a:r>
            <a:endParaRPr/>
          </a:p>
          <a:p>
            <a:pPr marL="354013" lvl="0" indent="0" algn="l" rtl="0">
              <a:spcBef>
                <a:spcPts val="1000"/>
              </a:spcBef>
              <a:spcAft>
                <a:spcPts val="0"/>
              </a:spcAft>
              <a:buSzPct val="79999"/>
              <a:buNone/>
            </a:pPr>
            <a:endParaRPr/>
          </a:p>
          <a:p>
            <a:pPr marL="354013" lvl="0" indent="0" algn="l" rtl="0">
              <a:spcBef>
                <a:spcPts val="1000"/>
              </a:spcBef>
              <a:spcAft>
                <a:spcPts val="0"/>
              </a:spcAft>
              <a:buSzPct val="79999"/>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Macam-macam Data</a:t>
            </a:r>
            <a:endParaRPr/>
          </a:p>
        </p:txBody>
      </p:sp>
      <p:sp>
        <p:nvSpPr>
          <p:cNvPr id="287" name="Google Shape;287;p5"/>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79999"/>
              <a:buChar char="►"/>
            </a:pPr>
            <a:r>
              <a:rPr lang="en-ID" b="1"/>
              <a:t>Data graph / network</a:t>
            </a:r>
            <a:endParaRPr/>
          </a:p>
          <a:p>
            <a:pPr marL="354013" lvl="0" indent="0" algn="l" rtl="0">
              <a:spcBef>
                <a:spcPts val="1000"/>
              </a:spcBef>
              <a:spcAft>
                <a:spcPts val="0"/>
              </a:spcAft>
              <a:buSzPct val="79999"/>
              <a:buNone/>
            </a:pPr>
            <a:r>
              <a:rPr lang="en-ID"/>
              <a:t>Data yang menggambarkan hubungan atau koneksi antara entitas. Data ini sering kali digunakan dalam analisis jaringan sosial, analisis transportasi, atau dalam pemodelan interaksi antara entitas.</a:t>
            </a:r>
            <a:endParaRPr/>
          </a:p>
          <a:p>
            <a:pPr marL="354013" lvl="0" indent="0" algn="l" rtl="0">
              <a:spcBef>
                <a:spcPts val="1000"/>
              </a:spcBef>
              <a:spcAft>
                <a:spcPts val="0"/>
              </a:spcAft>
              <a:buSzPct val="79999"/>
              <a:buNone/>
            </a:pPr>
            <a:r>
              <a:rPr lang="en-ID"/>
              <a:t>Contoh: Grafik sosial media yang menunjukkan siapa yang terhubung dengan siapa, atau diagram jaringan jalan yang menggambarkan rute transportasi.</a:t>
            </a:r>
            <a:endParaRPr/>
          </a:p>
          <a:p>
            <a:pPr marL="342900" lvl="0" indent="-342900" algn="l" rtl="0">
              <a:spcBef>
                <a:spcPts val="1000"/>
              </a:spcBef>
              <a:spcAft>
                <a:spcPts val="0"/>
              </a:spcAft>
              <a:buSzPct val="79999"/>
              <a:buChar char="►"/>
            </a:pPr>
            <a:r>
              <a:rPr lang="en-ID" b="1"/>
              <a:t>Data Streaming</a:t>
            </a:r>
            <a:endParaRPr/>
          </a:p>
          <a:p>
            <a:pPr marL="354013" lvl="0" indent="0" algn="l" rtl="0">
              <a:spcBef>
                <a:spcPts val="1000"/>
              </a:spcBef>
              <a:spcAft>
                <a:spcPts val="0"/>
              </a:spcAft>
              <a:buSzPct val="79999"/>
              <a:buNone/>
            </a:pPr>
            <a:r>
              <a:rPr lang="en-ID"/>
              <a:t>Data yang bergerak dalam waktu nyata dan disampaikan secara terus-menerus. Data ini sering kali digunakan dalam analisis waktu nyata, seperti pemantauan jaringan atau media sosial.</a:t>
            </a:r>
            <a:endParaRPr/>
          </a:p>
          <a:p>
            <a:pPr marL="354013" lvl="0" indent="0" algn="l" rtl="0">
              <a:spcBef>
                <a:spcPts val="1000"/>
              </a:spcBef>
              <a:spcAft>
                <a:spcPts val="0"/>
              </a:spcAft>
              <a:buSzPct val="79999"/>
              <a:buNone/>
            </a:pPr>
            <a:r>
              <a:rPr lang="en-ID"/>
              <a:t>Contoh: Data sensor cuaca yang terus menerus mengirim informasi tentang suhu, kelembaban, dan kecepatan angin secara real-time.</a:t>
            </a:r>
            <a:endParaRPr/>
          </a:p>
          <a:p>
            <a:pPr marL="354013" lvl="0" indent="0" algn="l" rtl="0">
              <a:spcBef>
                <a:spcPts val="1000"/>
              </a:spcBef>
              <a:spcAft>
                <a:spcPts val="0"/>
              </a:spcAft>
              <a:buSzPct val="79999"/>
              <a:buNone/>
            </a:pPr>
            <a:endParaRPr/>
          </a:p>
          <a:p>
            <a:pPr marL="354013" lvl="0" indent="0" algn="l" rtl="0">
              <a:spcBef>
                <a:spcPts val="1000"/>
              </a:spcBef>
              <a:spcAft>
                <a:spcPts val="0"/>
              </a:spcAft>
              <a:buSzPct val="79999"/>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Kelebihan MySQL</a:t>
            </a:r>
            <a:endParaRPr/>
          </a:p>
        </p:txBody>
      </p:sp>
      <p:sp>
        <p:nvSpPr>
          <p:cNvPr id="293" name="Google Shape;293;p6"/>
          <p:cNvSpPr txBox="1">
            <a:spLocks noGrp="1"/>
          </p:cNvSpPr>
          <p:nvPr>
            <p:ph type="body" idx="1"/>
          </p:nvPr>
        </p:nvSpPr>
        <p:spPr>
          <a:xfrm>
            <a:off x="830490" y="2603500"/>
            <a:ext cx="5091882" cy="34163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79999"/>
              <a:buChar char="►"/>
            </a:pPr>
            <a:r>
              <a:rPr lang="en-ID" b="1"/>
              <a:t>Kecepatan</a:t>
            </a:r>
            <a:r>
              <a:rPr lang="en-ID"/>
              <a:t>, berdasarkan hasil pengujian, MySQL mempunyai kecepatan paling baik dibandingkan RDBMS lainnya.</a:t>
            </a:r>
            <a:endParaRPr/>
          </a:p>
          <a:p>
            <a:pPr marL="342900" lvl="0" indent="-342900" algn="l" rtl="0">
              <a:spcBef>
                <a:spcPts val="1000"/>
              </a:spcBef>
              <a:spcAft>
                <a:spcPts val="0"/>
              </a:spcAft>
              <a:buSzPct val="79999"/>
              <a:buChar char="►"/>
            </a:pPr>
            <a:r>
              <a:rPr lang="en-ID" b="1"/>
              <a:t>Open source</a:t>
            </a:r>
            <a:r>
              <a:rPr lang="en-ID"/>
              <a:t>, MySQL sudah menggunakan konsep open source, artinya siapapun bisa ikut dalam mengembangkan MySQL dan hasil pengembangannya di publikasikan kepada pemakai.</a:t>
            </a:r>
            <a:endParaRPr/>
          </a:p>
          <a:p>
            <a:pPr marL="342900" lvl="0" indent="-342900" algn="l" rtl="0">
              <a:spcBef>
                <a:spcPts val="1000"/>
              </a:spcBef>
              <a:spcAft>
                <a:spcPts val="0"/>
              </a:spcAft>
              <a:buSzPct val="79999"/>
              <a:buChar char="►"/>
            </a:pPr>
            <a:r>
              <a:rPr lang="en-ID" b="1"/>
              <a:t>Kapabilitas</a:t>
            </a:r>
            <a:r>
              <a:rPr lang="en-ID"/>
              <a:t>, MySQL mampu memproses data yang tersimpan dalam database dengan jumlah 50 juta record, 60.000 tabel dan 5.000.000.000 juta baris.</a:t>
            </a:r>
            <a:endParaRPr/>
          </a:p>
        </p:txBody>
      </p:sp>
      <p:sp>
        <p:nvSpPr>
          <p:cNvPr id="294" name="Google Shape;294;p6"/>
          <p:cNvSpPr txBox="1"/>
          <p:nvPr/>
        </p:nvSpPr>
        <p:spPr>
          <a:xfrm>
            <a:off x="6269628" y="2603500"/>
            <a:ext cx="5091882" cy="3416300"/>
          </a:xfrm>
          <a:prstGeom prst="rect">
            <a:avLst/>
          </a:prstGeom>
          <a:noFill/>
          <a:ln>
            <a:noFill/>
          </a:ln>
        </p:spPr>
        <p:txBody>
          <a:bodyPr spcFirstLastPara="1" wrap="square" lIns="91425" tIns="45700" rIns="91425" bIns="45700" anchor="t" anchorCtr="0">
            <a:normAutofit fontScale="92500" lnSpcReduction="20000"/>
          </a:bodyPr>
          <a:lstStyle/>
          <a:p>
            <a:pPr marL="342900" marR="0" lvl="0" indent="-342900" algn="l" rtl="0">
              <a:spcBef>
                <a:spcPts val="0"/>
              </a:spcBef>
              <a:spcAft>
                <a:spcPts val="0"/>
              </a:spcAft>
              <a:buClr>
                <a:schemeClr val="accent1"/>
              </a:buClr>
              <a:buSzPct val="79999"/>
              <a:buFont typeface="Noto Sans Symbols"/>
              <a:buChar char="►"/>
            </a:pPr>
            <a:r>
              <a:rPr lang="en-ID" sz="1800" b="1" i="0" u="none" strike="noStrike" cap="none">
                <a:solidFill>
                  <a:srgbClr val="3F3F3F"/>
                </a:solidFill>
                <a:latin typeface="Century Gothic"/>
                <a:ea typeface="Century Gothic"/>
                <a:cs typeface="Century Gothic"/>
                <a:sym typeface="Century Gothic"/>
              </a:rPr>
              <a:t>Biaya murah</a:t>
            </a:r>
            <a:r>
              <a:rPr lang="en-ID" sz="1800" b="0" i="0" u="none" strike="noStrike" cap="none">
                <a:solidFill>
                  <a:srgbClr val="3F3F3F"/>
                </a:solidFill>
                <a:latin typeface="Century Gothic"/>
                <a:ea typeface="Century Gothic"/>
                <a:cs typeface="Century Gothic"/>
                <a:sym typeface="Century Gothic"/>
              </a:rPr>
              <a:t>, pemakai bisa menggunakan MySQL tanpa harus mengeluarkan biaya yang cukup mahal selama mengikuti konsep open source.</a:t>
            </a:r>
            <a:endParaRPr/>
          </a:p>
          <a:p>
            <a:pPr marL="342900" marR="0" lvl="0" indent="-342900" algn="l" rtl="0">
              <a:spcBef>
                <a:spcPts val="1000"/>
              </a:spcBef>
              <a:spcAft>
                <a:spcPts val="0"/>
              </a:spcAft>
              <a:buClr>
                <a:schemeClr val="accent1"/>
              </a:buClr>
              <a:buSzPct val="79999"/>
              <a:buFont typeface="Noto Sans Symbols"/>
              <a:buChar char="►"/>
            </a:pPr>
            <a:r>
              <a:rPr lang="en-ID" sz="1800" b="1" i="0" u="none" strike="noStrike" cap="none">
                <a:solidFill>
                  <a:srgbClr val="3F3F3F"/>
                </a:solidFill>
                <a:latin typeface="Century Gothic"/>
                <a:ea typeface="Century Gothic"/>
                <a:cs typeface="Century Gothic"/>
                <a:sym typeface="Century Gothic"/>
              </a:rPr>
              <a:t>Keamanan</a:t>
            </a:r>
            <a:r>
              <a:rPr lang="en-ID" sz="1800" b="0" i="0" u="none" strike="noStrike" cap="none">
                <a:solidFill>
                  <a:srgbClr val="3F3F3F"/>
                </a:solidFill>
                <a:latin typeface="Century Gothic"/>
                <a:ea typeface="Century Gothic"/>
                <a:cs typeface="Century Gothic"/>
                <a:sym typeface="Century Gothic"/>
              </a:rPr>
              <a:t>, MySQL menerapkan sistem keamanan dan hak akses secara bertingkat, termasuk dukungan dengan keamanan data secara pengacakan lapisan data.</a:t>
            </a:r>
            <a:endParaRPr/>
          </a:p>
          <a:p>
            <a:pPr marL="342900" marR="0" lvl="0" indent="-342900" algn="l" rtl="0">
              <a:spcBef>
                <a:spcPts val="1000"/>
              </a:spcBef>
              <a:spcAft>
                <a:spcPts val="0"/>
              </a:spcAft>
              <a:buClr>
                <a:schemeClr val="accent1"/>
              </a:buClr>
              <a:buSzPct val="79999"/>
              <a:buFont typeface="Noto Sans Symbols"/>
              <a:buChar char="►"/>
            </a:pPr>
            <a:r>
              <a:rPr lang="en-ID" sz="1800" b="1" i="0" u="none" strike="noStrike" cap="none">
                <a:solidFill>
                  <a:srgbClr val="3F3F3F"/>
                </a:solidFill>
                <a:latin typeface="Century Gothic"/>
                <a:ea typeface="Century Gothic"/>
                <a:cs typeface="Century Gothic"/>
                <a:sym typeface="Century Gothic"/>
              </a:rPr>
              <a:t>Lintas platform</a:t>
            </a:r>
            <a:r>
              <a:rPr lang="en-ID" sz="1800" b="0" i="0" u="none" strike="noStrike" cap="none">
                <a:solidFill>
                  <a:srgbClr val="3F3F3F"/>
                </a:solidFill>
                <a:latin typeface="Century Gothic"/>
                <a:ea typeface="Century Gothic"/>
                <a:cs typeface="Century Gothic"/>
                <a:sym typeface="Century Gothic"/>
              </a:rPr>
              <a:t>, MySQL bisa dijalankan pada beberapa sistem operasi di antaranya yaitu Linux, Windows, Machintos, FreeBSD, Novel Netware, Sun Solaris, SCO Open Unix dan IBM’s AIX.</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Kekurangan MySQL</a:t>
            </a:r>
            <a:endParaRPr/>
          </a:p>
        </p:txBody>
      </p:sp>
      <p:sp>
        <p:nvSpPr>
          <p:cNvPr id="300" name="Google Shape;300;p7"/>
          <p:cNvSpPr txBox="1">
            <a:spLocks noGrp="1"/>
          </p:cNvSpPr>
          <p:nvPr>
            <p:ph type="body" idx="1"/>
          </p:nvPr>
        </p:nvSpPr>
        <p:spPr>
          <a:xfrm>
            <a:off x="1154954" y="2603500"/>
            <a:ext cx="9965330"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ID" sz="2000"/>
              <a:t>Banyak mengklaim kurang support terhadap pemrograman Visual atau Desktop, sehingga sedikit yang menggunakan untuk aplikasi visual.</a:t>
            </a:r>
            <a:endParaRPr/>
          </a:p>
          <a:p>
            <a:pPr marL="342900" lvl="0" indent="-342900" algn="l" rtl="0">
              <a:spcBef>
                <a:spcPts val="1000"/>
              </a:spcBef>
              <a:spcAft>
                <a:spcPts val="0"/>
              </a:spcAft>
              <a:buSzPts val="1600"/>
              <a:buChar char="►"/>
            </a:pPr>
            <a:r>
              <a:rPr lang="en-ID" sz="2000"/>
              <a:t>Karena berlisensi GPL sehingga sulit menbisakan update untuk masalah yang mendesak, sehingga perusahaan skala menengah keatas lebih memilih RDBMS berlisensi dan disupport seperti Oracle dan MS SQL Server.</a:t>
            </a:r>
            <a:endParaRPr/>
          </a:p>
          <a:p>
            <a:pPr marL="342900" lvl="0" indent="-342900" algn="l" rtl="0">
              <a:spcBef>
                <a:spcPts val="1000"/>
              </a:spcBef>
              <a:spcAft>
                <a:spcPts val="0"/>
              </a:spcAft>
              <a:buSzPts val="1600"/>
              <a:buChar char="►"/>
            </a:pPr>
            <a:r>
              <a:rPr lang="en-ID" sz="2000"/>
              <a:t>Adanya opini yang pro dan kontra terhadap kemampuan MySQL terhadap pengolahan data yang besar.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SQL Standar Basis Data</a:t>
            </a:r>
            <a:endParaRPr/>
          </a:p>
        </p:txBody>
      </p:sp>
      <p:sp>
        <p:nvSpPr>
          <p:cNvPr id="306" name="Google Shape;306;p8"/>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D" b="1" i="1"/>
              <a:t>Structure Query Language </a:t>
            </a:r>
            <a:r>
              <a:rPr lang="en-ID"/>
              <a:t>(SQL) bukan bahasa pemrograman atau perangkat lunak (software).</a:t>
            </a:r>
            <a:endParaRPr/>
          </a:p>
          <a:p>
            <a:pPr marL="342900" lvl="0" indent="-342900" algn="l" rtl="0">
              <a:spcBef>
                <a:spcPts val="1000"/>
              </a:spcBef>
              <a:spcAft>
                <a:spcPts val="0"/>
              </a:spcAft>
              <a:buSzPts val="1440"/>
              <a:buChar char="►"/>
            </a:pPr>
            <a:r>
              <a:rPr lang="en-ID"/>
              <a:t>SQL merupakan bahasa standar yang digunakan untuk mengolah basis data</a:t>
            </a:r>
            <a:endParaRPr/>
          </a:p>
          <a:p>
            <a:pPr marL="342900" lvl="0" indent="-342900" algn="l" rtl="0">
              <a:spcBef>
                <a:spcPts val="1000"/>
              </a:spcBef>
              <a:spcAft>
                <a:spcPts val="0"/>
              </a:spcAft>
              <a:buSzPts val="1440"/>
              <a:buChar char="►"/>
            </a:pPr>
            <a:r>
              <a:rPr lang="en-ID"/>
              <a:t>Standar SQL didefiisikan oleh ISO (International Stadarts Organization) dan ANSI (the American Nasional Standars Institute) dengan sebutan </a:t>
            </a:r>
            <a:r>
              <a:rPr lang="en-ID" b="1"/>
              <a:t>SQL86</a:t>
            </a:r>
            <a:endParaRPr/>
          </a:p>
          <a:p>
            <a:pPr marL="342900" lvl="0" indent="-342900" algn="l" rtl="0">
              <a:spcBef>
                <a:spcPts val="1000"/>
              </a:spcBef>
              <a:spcAft>
                <a:spcPts val="0"/>
              </a:spcAft>
              <a:buSzPts val="1440"/>
              <a:buChar char="►"/>
            </a:pPr>
            <a:r>
              <a:rPr lang="en-ID"/>
              <a:t>Kemampuan utama SQL adalah proses </a:t>
            </a:r>
            <a:r>
              <a:rPr lang="en-ID" b="1"/>
              <a:t>pembuatan </a:t>
            </a:r>
            <a:r>
              <a:rPr lang="en-ID"/>
              <a:t>basis data, tabel, melakukan </a:t>
            </a:r>
            <a:r>
              <a:rPr lang="en-ID" b="1"/>
              <a:t>perubahan struktur tabel</a:t>
            </a:r>
            <a:r>
              <a:rPr lang="en-ID"/>
              <a:t>, </a:t>
            </a:r>
            <a:r>
              <a:rPr lang="en-ID" b="1"/>
              <a:t>memanajemen hak akses </a:t>
            </a:r>
            <a:r>
              <a:rPr lang="en-ID"/>
              <a:t>basis data, </a:t>
            </a:r>
            <a:r>
              <a:rPr lang="en-ID" b="1"/>
              <a:t>mengextrak data </a:t>
            </a:r>
            <a:r>
              <a:rPr lang="en-ID"/>
              <a:t>menjadi informasi, melakukan </a:t>
            </a:r>
            <a:r>
              <a:rPr lang="en-ID" b="1"/>
              <a:t>pemutakhiran </a:t>
            </a:r>
            <a:r>
              <a:rPr lang="en-ID"/>
              <a:t>data, </a:t>
            </a:r>
            <a:r>
              <a:rPr lang="en-ID" b="1"/>
              <a:t>menghapus </a:t>
            </a:r>
            <a:r>
              <a:rPr lang="en-ID"/>
              <a:t>tabel, </a:t>
            </a:r>
            <a:r>
              <a:rPr lang="en-ID" b="1"/>
              <a:t>menyimpan </a:t>
            </a:r>
            <a:r>
              <a:rPr lang="en-ID"/>
              <a:t>data</a:t>
            </a:r>
            <a:endParaRPr/>
          </a:p>
          <a:p>
            <a:pPr marL="342900" lvl="0" indent="-251459" algn="l" rtl="0">
              <a:spcBef>
                <a:spcPts val="1000"/>
              </a:spcBef>
              <a:spcAft>
                <a:spcPts val="0"/>
              </a:spcAft>
              <a:buSzPts val="144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9"/>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Pengelompokan Perintah SQL</a:t>
            </a:r>
            <a:endParaRPr/>
          </a:p>
        </p:txBody>
      </p:sp>
      <p:sp>
        <p:nvSpPr>
          <p:cNvPr id="312" name="Google Shape;312;p9"/>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79999"/>
              <a:buChar char="►"/>
            </a:pPr>
            <a:r>
              <a:rPr lang="en-ID" b="1"/>
              <a:t>Data Definition Language </a:t>
            </a:r>
            <a:r>
              <a:rPr lang="en-ID"/>
              <a:t>(DDL)</a:t>
            </a:r>
            <a:endParaRPr/>
          </a:p>
          <a:p>
            <a:pPr marL="354013" lvl="0" indent="0" algn="l" rtl="0">
              <a:spcBef>
                <a:spcPts val="1000"/>
              </a:spcBef>
              <a:spcAft>
                <a:spcPts val="0"/>
              </a:spcAft>
              <a:buSzPct val="79999"/>
              <a:buNone/>
            </a:pPr>
            <a:r>
              <a:rPr lang="en-ID"/>
              <a:t>DDL atau bahasa pendefinisian data merupakan perintahperintah yang digunakan untuk membuat dan mendefinisikan basis data dan struktur tabelnya. Perintah-perintah DDL antara lain : </a:t>
            </a:r>
            <a:r>
              <a:rPr lang="en-ID" b="1"/>
              <a:t>CREATE DATABASE, CREATE TABLE, CREATE VIEW, DROP VIEW, DROP DATABASE, DROP TABLE, ALTER TABLE.</a:t>
            </a:r>
            <a:endParaRPr/>
          </a:p>
          <a:p>
            <a:pPr marL="342900" lvl="0" indent="-342900" algn="l" rtl="0">
              <a:spcBef>
                <a:spcPts val="1000"/>
              </a:spcBef>
              <a:spcAft>
                <a:spcPts val="0"/>
              </a:spcAft>
              <a:buSzPct val="79999"/>
              <a:buChar char="►"/>
            </a:pPr>
            <a:r>
              <a:rPr lang="en-ID" b="1"/>
              <a:t>Data Manipulation Language</a:t>
            </a:r>
            <a:r>
              <a:rPr lang="en-ID"/>
              <a:t> (DML)</a:t>
            </a:r>
            <a:endParaRPr/>
          </a:p>
          <a:p>
            <a:pPr marL="354013" lvl="0" indent="0" algn="l" rtl="0">
              <a:spcBef>
                <a:spcPts val="1000"/>
              </a:spcBef>
              <a:spcAft>
                <a:spcPts val="0"/>
              </a:spcAft>
              <a:buSzPct val="79999"/>
              <a:buNone/>
            </a:pPr>
            <a:r>
              <a:rPr lang="en-ID"/>
              <a:t>DML atau bahasa manipulasi data merupakan perintahperintah yang digunakan untuk melakukan proses manipulasi atau pengelolaan data yang ada dalam basis data atau tabel. Seperti </a:t>
            </a:r>
            <a:r>
              <a:rPr lang="en-ID" b="1"/>
              <a:t>INSERT, UPDATE, DELETE dan SELECT</a:t>
            </a:r>
            <a:endParaRPr/>
          </a:p>
          <a:p>
            <a:pPr marL="342900" lvl="0" indent="-342900" algn="l" rtl="0">
              <a:spcBef>
                <a:spcPts val="1000"/>
              </a:spcBef>
              <a:spcAft>
                <a:spcPts val="0"/>
              </a:spcAft>
              <a:buSzPct val="79999"/>
              <a:buChar char="►"/>
            </a:pPr>
            <a:r>
              <a:rPr lang="en-ID" b="1"/>
              <a:t>Data Control language (DCL)</a:t>
            </a:r>
            <a:endParaRPr/>
          </a:p>
          <a:p>
            <a:pPr marL="354013" lvl="0" indent="0" algn="l" rtl="0">
              <a:spcBef>
                <a:spcPts val="1000"/>
              </a:spcBef>
              <a:spcAft>
                <a:spcPts val="0"/>
              </a:spcAft>
              <a:buSzPct val="79999"/>
              <a:buNone/>
            </a:pPr>
            <a:r>
              <a:rPr lang="en-ID"/>
              <a:t>DCL atau bahasa pengendali data merupakan kelompok perintah-perintah SQL yang digunakan untuk melakukan otorisasi terhadap hak akses suatu data dan pengalokasian ruang. Seperti perintah </a:t>
            </a:r>
            <a:r>
              <a:rPr lang="en-ID" b="1"/>
              <a:t>GRANT, REVOKE, COMMIT DAN ROLLBACK.</a:t>
            </a:r>
            <a:endParaRPr/>
          </a:p>
          <a:p>
            <a:pPr marL="342900" lvl="0" indent="-258318" algn="l" rtl="0">
              <a:spcBef>
                <a:spcPts val="1000"/>
              </a:spcBef>
              <a:spcAft>
                <a:spcPts val="0"/>
              </a:spcAft>
              <a:buSzPct val="79999"/>
              <a:buNone/>
            </a:pPr>
            <a:endParaRPr/>
          </a:p>
          <a:p>
            <a:pPr marL="342900" lvl="0" indent="-258318" algn="l" rtl="0">
              <a:spcBef>
                <a:spcPts val="1000"/>
              </a:spcBef>
              <a:spcAft>
                <a:spcPts val="0"/>
              </a:spcAft>
              <a:buSzPct val="79999"/>
              <a:buNone/>
            </a:pPr>
            <a:endParaRPr/>
          </a:p>
          <a:p>
            <a:pPr marL="342900" lvl="0" indent="-258318" algn="l" rtl="0">
              <a:spcBef>
                <a:spcPts val="1000"/>
              </a:spcBef>
              <a:spcAft>
                <a:spcPts val="0"/>
              </a:spcAft>
              <a:buSzPct val="79999"/>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Aturan Perintah dalam MySQL</a:t>
            </a:r>
            <a:endParaRPr/>
          </a:p>
        </p:txBody>
      </p:sp>
      <p:sp>
        <p:nvSpPr>
          <p:cNvPr id="318" name="Google Shape;318;p10"/>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D"/>
              <a:t>Tiap-tiap perintah harus diakhiri dengan tanda titik koma (;) atau tanda \g.</a:t>
            </a:r>
            <a:endParaRPr/>
          </a:p>
          <a:p>
            <a:pPr marL="342900" lvl="0" indent="-342900" algn="l" rtl="0">
              <a:spcBef>
                <a:spcPts val="1000"/>
              </a:spcBef>
              <a:spcAft>
                <a:spcPts val="0"/>
              </a:spcAft>
              <a:buSzPts val="1440"/>
              <a:buChar char="►"/>
            </a:pPr>
            <a:r>
              <a:rPr lang="en-ID"/>
              <a:t>Perintah bisa berupa perintah SQL atau perintah khusus untuk MySQL.</a:t>
            </a:r>
            <a:endParaRPr/>
          </a:p>
          <a:p>
            <a:pPr marL="342900" lvl="0" indent="-342900" algn="l" rtl="0">
              <a:spcBef>
                <a:spcPts val="1000"/>
              </a:spcBef>
              <a:spcAft>
                <a:spcPts val="0"/>
              </a:spcAft>
              <a:buSzPts val="1440"/>
              <a:buChar char="►"/>
            </a:pPr>
            <a:r>
              <a:rPr lang="en-ID"/>
              <a:t>Perintah yang bukan MySQL bisa dipendekkan dengan menggunakan tanda \ dan huruf denpan perintah.</a:t>
            </a:r>
            <a:endParaRPr/>
          </a:p>
          <a:p>
            <a:pPr marL="342900" lvl="0" indent="-342900" algn="l" rtl="0">
              <a:spcBef>
                <a:spcPts val="1000"/>
              </a:spcBef>
              <a:spcAft>
                <a:spcPts val="0"/>
              </a:spcAft>
              <a:buSzPts val="1440"/>
              <a:buChar char="►"/>
            </a:pPr>
            <a:r>
              <a:rPr lang="en-ID"/>
              <a:t>Perintah bisa diberikan dalam beberapa baris. Apabila tidak maka diakhiri dengan tanda titik koma (;) atau \g maka baris berikutnya masih dianggap satu kesatuan dengan perintah sebelumnya.</a:t>
            </a:r>
            <a:endParaRPr/>
          </a:p>
          <a:p>
            <a:pPr marL="342900" lvl="0" indent="-342900" algn="l" rtl="0">
              <a:spcBef>
                <a:spcPts val="1000"/>
              </a:spcBef>
              <a:spcAft>
                <a:spcPts val="0"/>
              </a:spcAft>
              <a:buSzPts val="1440"/>
              <a:buChar char="►"/>
            </a:pPr>
            <a:r>
              <a:rPr lang="en-ID"/>
              <a:t>Perintah SQL dalam MySQL bisa dituliskan dalam huruf besar maupun kecil karena MySQL tidak sensitif case.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1"/>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Infrastruktur</a:t>
            </a:r>
            <a:endParaRPr/>
          </a:p>
        </p:txBody>
      </p:sp>
      <p:grpSp>
        <p:nvGrpSpPr>
          <p:cNvPr id="324" name="Google Shape;324;p11"/>
          <p:cNvGrpSpPr/>
          <p:nvPr/>
        </p:nvGrpSpPr>
        <p:grpSpPr>
          <a:xfrm>
            <a:off x="1155921" y="2604161"/>
            <a:ext cx="4050037" cy="2940571"/>
            <a:chOff x="221" y="661"/>
            <a:chExt cx="4050037" cy="2940571"/>
          </a:xfrm>
        </p:grpSpPr>
        <p:sp>
          <p:nvSpPr>
            <p:cNvPr id="325" name="Google Shape;325;p11"/>
            <p:cNvSpPr/>
            <p:nvPr/>
          </p:nvSpPr>
          <p:spPr>
            <a:xfrm>
              <a:off x="221" y="2008962"/>
              <a:ext cx="4050037" cy="932270"/>
            </a:xfrm>
            <a:prstGeom prst="roundRect">
              <a:avLst>
                <a:gd name="adj" fmla="val 10000"/>
              </a:avLst>
            </a:prstGeom>
            <a:gradFill>
              <a:gsLst>
                <a:gs pos="0">
                  <a:srgbClr val="CC3478"/>
                </a:gs>
                <a:gs pos="100000">
                  <a:srgbClr val="8D0B4F"/>
                </a:gs>
              </a:gsLst>
              <a:lin ang="5400000" scaled="0"/>
            </a:gra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txBox="1"/>
            <p:nvPr/>
          </p:nvSpPr>
          <p:spPr>
            <a:xfrm>
              <a:off x="27526" y="2036267"/>
              <a:ext cx="3995427" cy="877660"/>
            </a:xfrm>
            <a:prstGeom prst="rect">
              <a:avLst/>
            </a:prstGeom>
            <a:noFill/>
            <a:ln>
              <a:noFill/>
            </a:ln>
          </p:spPr>
          <p:txBody>
            <a:bodyPr spcFirstLastPara="1" wrap="square" lIns="102850" tIns="102850" rIns="102850" bIns="102850" anchor="ctr" anchorCtr="0">
              <a:noAutofit/>
            </a:bodyPr>
            <a:lstStyle/>
            <a:p>
              <a:pPr marL="0" marR="0" lvl="0" indent="0" algn="ctr" rtl="0">
                <a:lnSpc>
                  <a:spcPct val="90000"/>
                </a:lnSpc>
                <a:spcBef>
                  <a:spcPts val="0"/>
                </a:spcBef>
                <a:spcAft>
                  <a:spcPts val="0"/>
                </a:spcAft>
                <a:buClr>
                  <a:schemeClr val="lt1"/>
                </a:buClr>
                <a:buSzPts val="2700"/>
                <a:buFont typeface="Century Gothic"/>
                <a:buNone/>
              </a:pPr>
              <a:r>
                <a:rPr lang="en-ID" sz="2700" b="0" i="0" u="none" strike="noStrike" cap="none">
                  <a:solidFill>
                    <a:schemeClr val="lt1"/>
                  </a:solidFill>
                  <a:latin typeface="Century Gothic"/>
                  <a:ea typeface="Century Gothic"/>
                  <a:cs typeface="Century Gothic"/>
                  <a:sym typeface="Century Gothic"/>
                </a:rPr>
                <a:t>Operating System (OS)</a:t>
              </a:r>
              <a:endParaRPr sz="2700" b="0" i="0" u="none" strike="noStrike" cap="none">
                <a:solidFill>
                  <a:schemeClr val="lt1"/>
                </a:solidFill>
                <a:latin typeface="Century Gothic"/>
                <a:ea typeface="Century Gothic"/>
                <a:cs typeface="Century Gothic"/>
                <a:sym typeface="Century Gothic"/>
              </a:endParaRPr>
            </a:p>
          </p:txBody>
        </p:sp>
        <p:sp>
          <p:nvSpPr>
            <p:cNvPr id="327" name="Google Shape;327;p11"/>
            <p:cNvSpPr/>
            <p:nvPr/>
          </p:nvSpPr>
          <p:spPr>
            <a:xfrm>
              <a:off x="221" y="1004811"/>
              <a:ext cx="4050037" cy="932270"/>
            </a:xfrm>
            <a:prstGeom prst="roundRect">
              <a:avLst>
                <a:gd name="adj" fmla="val 10000"/>
              </a:avLst>
            </a:prstGeom>
            <a:gradFill>
              <a:gsLst>
                <a:gs pos="0">
                  <a:srgbClr val="CC3478"/>
                </a:gs>
                <a:gs pos="100000">
                  <a:srgbClr val="8D0B4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txBox="1"/>
            <p:nvPr/>
          </p:nvSpPr>
          <p:spPr>
            <a:xfrm>
              <a:off x="27526" y="1032116"/>
              <a:ext cx="3995427" cy="877660"/>
            </a:xfrm>
            <a:prstGeom prst="rect">
              <a:avLst/>
            </a:prstGeom>
            <a:noFill/>
            <a:ln>
              <a:noFill/>
            </a:ln>
          </p:spPr>
          <p:txBody>
            <a:bodyPr spcFirstLastPara="1" wrap="square" lIns="102850" tIns="102850" rIns="102850" bIns="102850" anchor="ctr" anchorCtr="0">
              <a:noAutofit/>
            </a:bodyPr>
            <a:lstStyle/>
            <a:p>
              <a:pPr marL="0" marR="0" lvl="0" indent="0" algn="ctr" rtl="0">
                <a:lnSpc>
                  <a:spcPct val="90000"/>
                </a:lnSpc>
                <a:spcBef>
                  <a:spcPts val="0"/>
                </a:spcBef>
                <a:spcAft>
                  <a:spcPts val="0"/>
                </a:spcAft>
                <a:buClr>
                  <a:schemeClr val="lt1"/>
                </a:buClr>
                <a:buSzPts val="2700"/>
                <a:buFont typeface="Century Gothic"/>
                <a:buNone/>
              </a:pPr>
              <a:r>
                <a:rPr lang="en-ID" sz="2700" b="0" i="0" u="none" strike="noStrike" cap="none">
                  <a:solidFill>
                    <a:schemeClr val="lt1"/>
                  </a:solidFill>
                  <a:latin typeface="Century Gothic"/>
                  <a:ea typeface="Century Gothic"/>
                  <a:cs typeface="Century Gothic"/>
                  <a:sym typeface="Century Gothic"/>
                </a:rPr>
                <a:t>XAMPP</a:t>
              </a:r>
              <a:endParaRPr sz="2700" b="0" i="0" u="none" strike="noStrike" cap="none">
                <a:solidFill>
                  <a:schemeClr val="lt1"/>
                </a:solidFill>
                <a:latin typeface="Century Gothic"/>
                <a:ea typeface="Century Gothic"/>
                <a:cs typeface="Century Gothic"/>
                <a:sym typeface="Century Gothic"/>
              </a:endParaRPr>
            </a:p>
          </p:txBody>
        </p:sp>
        <p:sp>
          <p:nvSpPr>
            <p:cNvPr id="329" name="Google Shape;329;p11"/>
            <p:cNvSpPr/>
            <p:nvPr/>
          </p:nvSpPr>
          <p:spPr>
            <a:xfrm>
              <a:off x="221" y="661"/>
              <a:ext cx="1313241" cy="932270"/>
            </a:xfrm>
            <a:prstGeom prst="roundRect">
              <a:avLst>
                <a:gd name="adj" fmla="val 10000"/>
              </a:avLst>
            </a:prstGeom>
            <a:gradFill>
              <a:gsLst>
                <a:gs pos="0">
                  <a:srgbClr val="CC3478"/>
                </a:gs>
                <a:gs pos="100000">
                  <a:srgbClr val="8D0B4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txBox="1"/>
            <p:nvPr/>
          </p:nvSpPr>
          <p:spPr>
            <a:xfrm>
              <a:off x="27526" y="27966"/>
              <a:ext cx="1258631" cy="87766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entury Gothic"/>
                <a:buNone/>
              </a:pPr>
              <a:r>
                <a:rPr lang="en-ID" sz="2100" b="0" i="0" u="none" strike="noStrike" cap="none">
                  <a:solidFill>
                    <a:schemeClr val="lt1"/>
                  </a:solidFill>
                  <a:latin typeface="Century Gothic"/>
                  <a:ea typeface="Century Gothic"/>
                  <a:cs typeface="Century Gothic"/>
                  <a:sym typeface="Century Gothic"/>
                </a:rPr>
                <a:t>MySQL</a:t>
              </a:r>
              <a:endParaRPr sz="2100" b="0" i="0" u="none" strike="noStrike" cap="none">
                <a:solidFill>
                  <a:schemeClr val="lt1"/>
                </a:solidFill>
                <a:latin typeface="Century Gothic"/>
                <a:ea typeface="Century Gothic"/>
                <a:cs typeface="Century Gothic"/>
                <a:sym typeface="Century Gothic"/>
              </a:endParaRPr>
            </a:p>
          </p:txBody>
        </p:sp>
        <p:sp>
          <p:nvSpPr>
            <p:cNvPr id="331" name="Google Shape;331;p11"/>
            <p:cNvSpPr/>
            <p:nvPr/>
          </p:nvSpPr>
          <p:spPr>
            <a:xfrm>
              <a:off x="1368619" y="661"/>
              <a:ext cx="1313241" cy="932270"/>
            </a:xfrm>
            <a:prstGeom prst="roundRect">
              <a:avLst>
                <a:gd name="adj" fmla="val 10000"/>
              </a:avLst>
            </a:prstGeom>
            <a:gradFill>
              <a:gsLst>
                <a:gs pos="0">
                  <a:srgbClr val="CC3478"/>
                </a:gs>
                <a:gs pos="100000">
                  <a:srgbClr val="8D0B4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txBox="1"/>
            <p:nvPr/>
          </p:nvSpPr>
          <p:spPr>
            <a:xfrm>
              <a:off x="1395924" y="27966"/>
              <a:ext cx="1258631" cy="87766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entury Gothic"/>
                <a:buNone/>
              </a:pPr>
              <a:r>
                <a:rPr lang="en-ID" sz="2100" b="0" i="0" u="none" strike="noStrike" cap="none">
                  <a:solidFill>
                    <a:schemeClr val="lt1"/>
                  </a:solidFill>
                  <a:latin typeface="Century Gothic"/>
                  <a:ea typeface="Century Gothic"/>
                  <a:cs typeface="Century Gothic"/>
                  <a:sym typeface="Century Gothic"/>
                </a:rPr>
                <a:t>Apache</a:t>
              </a:r>
              <a:endParaRPr sz="2100" b="0" i="0" u="none" strike="noStrike" cap="none">
                <a:solidFill>
                  <a:schemeClr val="lt1"/>
                </a:solidFill>
                <a:latin typeface="Century Gothic"/>
                <a:ea typeface="Century Gothic"/>
                <a:cs typeface="Century Gothic"/>
                <a:sym typeface="Century Gothic"/>
              </a:endParaRPr>
            </a:p>
          </p:txBody>
        </p:sp>
        <p:sp>
          <p:nvSpPr>
            <p:cNvPr id="333" name="Google Shape;333;p11"/>
            <p:cNvSpPr/>
            <p:nvPr/>
          </p:nvSpPr>
          <p:spPr>
            <a:xfrm>
              <a:off x="2737017" y="661"/>
              <a:ext cx="1313241" cy="932270"/>
            </a:xfrm>
            <a:prstGeom prst="roundRect">
              <a:avLst>
                <a:gd name="adj" fmla="val 10000"/>
              </a:avLst>
            </a:prstGeom>
            <a:gradFill>
              <a:gsLst>
                <a:gs pos="0">
                  <a:srgbClr val="CC3478"/>
                </a:gs>
                <a:gs pos="100000">
                  <a:srgbClr val="8D0B4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txBox="1"/>
            <p:nvPr/>
          </p:nvSpPr>
          <p:spPr>
            <a:xfrm>
              <a:off x="2764322" y="27966"/>
              <a:ext cx="1258631" cy="87766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entury Gothic"/>
                <a:buNone/>
              </a:pPr>
              <a:r>
                <a:rPr lang="en-ID" sz="2100" b="0" i="0" u="none" strike="noStrike" cap="none">
                  <a:solidFill>
                    <a:schemeClr val="lt1"/>
                  </a:solidFill>
                  <a:latin typeface="Century Gothic"/>
                  <a:ea typeface="Century Gothic"/>
                  <a:cs typeface="Century Gothic"/>
                  <a:sym typeface="Century Gothic"/>
                </a:rPr>
                <a:t>PHP</a:t>
              </a:r>
              <a:endParaRPr sz="2100" b="0" i="0" u="none" strike="noStrike" cap="none">
                <a:solidFill>
                  <a:schemeClr val="lt1"/>
                </a:solidFill>
                <a:latin typeface="Century Gothic"/>
                <a:ea typeface="Century Gothic"/>
                <a:cs typeface="Century Gothic"/>
                <a:sym typeface="Century Gothic"/>
              </a:endParaRPr>
            </a:p>
          </p:txBody>
        </p:sp>
      </p:grpSp>
      <p:grpSp>
        <p:nvGrpSpPr>
          <p:cNvPr id="335" name="Google Shape;335;p11"/>
          <p:cNvGrpSpPr/>
          <p:nvPr/>
        </p:nvGrpSpPr>
        <p:grpSpPr>
          <a:xfrm>
            <a:off x="6987796" y="2604975"/>
            <a:ext cx="4046525" cy="2938943"/>
            <a:chOff x="1977" y="1475"/>
            <a:chExt cx="4046525" cy="2938943"/>
          </a:xfrm>
        </p:grpSpPr>
        <p:sp>
          <p:nvSpPr>
            <p:cNvPr id="336" name="Google Shape;336;p11"/>
            <p:cNvSpPr/>
            <p:nvPr/>
          </p:nvSpPr>
          <p:spPr>
            <a:xfrm>
              <a:off x="1977" y="1525494"/>
              <a:ext cx="4046525" cy="1414924"/>
            </a:xfrm>
            <a:prstGeom prst="roundRect">
              <a:avLst>
                <a:gd name="adj" fmla="val 10000"/>
              </a:avLst>
            </a:prstGeom>
            <a:gradFill>
              <a:gsLst>
                <a:gs pos="0">
                  <a:srgbClr val="CC3478"/>
                </a:gs>
                <a:gs pos="100000">
                  <a:srgbClr val="8D0B4F"/>
                </a:gs>
              </a:gsLst>
              <a:lin ang="5400000" scaled="0"/>
            </a:gra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1"/>
            <p:cNvSpPr txBox="1"/>
            <p:nvPr/>
          </p:nvSpPr>
          <p:spPr>
            <a:xfrm>
              <a:off x="43419" y="1566936"/>
              <a:ext cx="3963641" cy="1332040"/>
            </a:xfrm>
            <a:prstGeom prst="rect">
              <a:avLst/>
            </a:prstGeom>
            <a:noFill/>
            <a:ln>
              <a:noFill/>
            </a:ln>
          </p:spPr>
          <p:txBody>
            <a:bodyPr spcFirstLastPara="1" wrap="square" lIns="140950" tIns="140950" rIns="140950" bIns="140950" anchor="ctr" anchorCtr="0">
              <a:noAutofit/>
            </a:bodyPr>
            <a:lstStyle/>
            <a:p>
              <a:pPr marL="0" marR="0" lvl="0" indent="0" algn="ctr" rtl="0">
                <a:lnSpc>
                  <a:spcPct val="90000"/>
                </a:lnSpc>
                <a:spcBef>
                  <a:spcPts val="0"/>
                </a:spcBef>
                <a:spcAft>
                  <a:spcPts val="0"/>
                </a:spcAft>
                <a:buClr>
                  <a:schemeClr val="lt1"/>
                </a:buClr>
                <a:buSzPts val="3700"/>
                <a:buFont typeface="Century Gothic"/>
                <a:buNone/>
              </a:pPr>
              <a:r>
                <a:rPr lang="en-ID" sz="3700" b="0" i="0" u="none" strike="noStrike" cap="none">
                  <a:solidFill>
                    <a:schemeClr val="lt1"/>
                  </a:solidFill>
                  <a:latin typeface="Century Gothic"/>
                  <a:ea typeface="Century Gothic"/>
                  <a:cs typeface="Century Gothic"/>
                  <a:sym typeface="Century Gothic"/>
                </a:rPr>
                <a:t>Operating System (OS)</a:t>
              </a:r>
              <a:endParaRPr sz="3700" b="0" i="0" u="none" strike="noStrike" cap="none">
                <a:solidFill>
                  <a:schemeClr val="lt1"/>
                </a:solidFill>
                <a:latin typeface="Century Gothic"/>
                <a:ea typeface="Century Gothic"/>
                <a:cs typeface="Century Gothic"/>
                <a:sym typeface="Century Gothic"/>
              </a:endParaRPr>
            </a:p>
          </p:txBody>
        </p:sp>
        <p:sp>
          <p:nvSpPr>
            <p:cNvPr id="338" name="Google Shape;338;p11"/>
            <p:cNvSpPr/>
            <p:nvPr/>
          </p:nvSpPr>
          <p:spPr>
            <a:xfrm>
              <a:off x="1977" y="1475"/>
              <a:ext cx="4046525" cy="1414924"/>
            </a:xfrm>
            <a:prstGeom prst="roundRect">
              <a:avLst>
                <a:gd name="adj" fmla="val 10000"/>
              </a:avLst>
            </a:prstGeom>
            <a:gradFill>
              <a:gsLst>
                <a:gs pos="0">
                  <a:srgbClr val="CC3478"/>
                </a:gs>
                <a:gs pos="100000">
                  <a:srgbClr val="8D0B4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1"/>
            <p:cNvSpPr txBox="1"/>
            <p:nvPr/>
          </p:nvSpPr>
          <p:spPr>
            <a:xfrm>
              <a:off x="43419" y="42917"/>
              <a:ext cx="3963641" cy="1332040"/>
            </a:xfrm>
            <a:prstGeom prst="rect">
              <a:avLst/>
            </a:prstGeom>
            <a:noFill/>
            <a:ln>
              <a:noFill/>
            </a:ln>
          </p:spPr>
          <p:txBody>
            <a:bodyPr spcFirstLastPara="1" wrap="square" lIns="140950" tIns="140950" rIns="140950" bIns="140950" anchor="ctr" anchorCtr="0">
              <a:noAutofit/>
            </a:bodyPr>
            <a:lstStyle/>
            <a:p>
              <a:pPr marL="0" marR="0" lvl="0" indent="0" algn="ctr" rtl="0">
                <a:lnSpc>
                  <a:spcPct val="90000"/>
                </a:lnSpc>
                <a:spcBef>
                  <a:spcPts val="0"/>
                </a:spcBef>
                <a:spcAft>
                  <a:spcPts val="0"/>
                </a:spcAft>
                <a:buClr>
                  <a:schemeClr val="lt1"/>
                </a:buClr>
                <a:buSzPts val="3700"/>
                <a:buFont typeface="Century Gothic"/>
                <a:buNone/>
              </a:pPr>
              <a:r>
                <a:rPr lang="en-ID" sz="3700" b="0" i="0" u="none" strike="noStrike" cap="none">
                  <a:solidFill>
                    <a:schemeClr val="lt1"/>
                  </a:solidFill>
                  <a:latin typeface="Century Gothic"/>
                  <a:ea typeface="Century Gothic"/>
                  <a:cs typeface="Century Gothic"/>
                  <a:sym typeface="Century Gothic"/>
                </a:rPr>
                <a:t>MySQL</a:t>
              </a:r>
              <a:endParaRPr sz="3700" b="0" i="0" u="none" strike="noStrike" cap="none">
                <a:solidFill>
                  <a:schemeClr val="lt1"/>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12"/>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Tipe Data - Numeric</a:t>
            </a:r>
            <a:endParaRPr/>
          </a:p>
        </p:txBody>
      </p:sp>
      <p:sp>
        <p:nvSpPr>
          <p:cNvPr id="345" name="Google Shape;345;p12"/>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D" b="1"/>
              <a:t>Integer </a:t>
            </a:r>
            <a:r>
              <a:rPr lang="en-ID"/>
              <a:t>: digunakan untuk menyimpan bilangan bulat tanpa titik desimal, seperti 1, 42, atau -10.</a:t>
            </a:r>
            <a:endParaRPr/>
          </a:p>
          <a:p>
            <a:pPr marL="342900" lvl="0" indent="-342900" algn="l" rtl="0">
              <a:spcBef>
                <a:spcPts val="1000"/>
              </a:spcBef>
              <a:spcAft>
                <a:spcPts val="0"/>
              </a:spcAft>
              <a:buSzPts val="1440"/>
              <a:buChar char="►"/>
            </a:pPr>
            <a:r>
              <a:rPr lang="en-ID" b="1"/>
              <a:t>Float </a:t>
            </a:r>
            <a:r>
              <a:rPr lang="en-ID"/>
              <a:t>: digunakan untuk menyimpan angka desimal dengan titik mengambang, yang memungkinkan jumlah digit yang bervariasi setelah titik desimal, seperti 3.14 atau 0.005.</a:t>
            </a:r>
            <a:endParaRPr/>
          </a:p>
          <a:p>
            <a:pPr marL="342900" lvl="0" indent="-342900" algn="l" rtl="0">
              <a:spcBef>
                <a:spcPts val="1000"/>
              </a:spcBef>
              <a:spcAft>
                <a:spcPts val="0"/>
              </a:spcAft>
              <a:buSzPts val="1440"/>
              <a:buChar char="►"/>
            </a:pPr>
            <a:r>
              <a:rPr lang="en-ID" b="1"/>
              <a:t>Decimal </a:t>
            </a:r>
            <a:r>
              <a:rPr lang="en-ID"/>
              <a:t>: digunakan untuk menyimpan angka desimal dengan jumlah digit tetap di sebelah kanan dan kiri titik desimal, seperti 123.45. Ini sering digunakan untuk keperluan finansial atau perhitungan yang memerlukan akurasi yang tinggi.</a:t>
            </a:r>
            <a:endParaRPr/>
          </a:p>
          <a:p>
            <a:pPr marL="342900" lvl="0" indent="-342900" algn="l" rtl="0">
              <a:spcBef>
                <a:spcPts val="1000"/>
              </a:spcBef>
              <a:spcAft>
                <a:spcPts val="0"/>
              </a:spcAft>
              <a:buSzPts val="1440"/>
              <a:buChar char="►"/>
            </a:pPr>
            <a:r>
              <a:rPr lang="en-ID"/>
              <a:t>dll</a:t>
            </a:r>
            <a:endParaRPr/>
          </a:p>
        </p:txBody>
      </p:sp>
      <p:sp>
        <p:nvSpPr>
          <p:cNvPr id="346" name="Google Shape;346;p12"/>
          <p:cNvSpPr txBox="1"/>
          <p:nvPr/>
        </p:nvSpPr>
        <p:spPr>
          <a:xfrm>
            <a:off x="1154954" y="6019800"/>
            <a:ext cx="79878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D" sz="1800" b="0" i="0" u="none" strike="noStrike" cap="none">
                <a:solidFill>
                  <a:schemeClr val="dk1"/>
                </a:solidFill>
                <a:latin typeface="Century Gothic"/>
                <a:ea typeface="Century Gothic"/>
                <a:cs typeface="Century Gothic"/>
                <a:sym typeface="Century Gothic"/>
              </a:rPr>
              <a:t>Detail : </a:t>
            </a:r>
            <a:r>
              <a:rPr lang="en-ID" sz="1800" b="0" i="0" u="sng" strike="noStrike" cap="none">
                <a:solidFill>
                  <a:schemeClr val="dk1"/>
                </a:solid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https://dev.mysql.com/doc/refman/8.0/en/data-types.html</a:t>
            </a:r>
            <a:r>
              <a:rPr lang="en-ID" sz="1800" b="0" i="0" u="none" strike="noStrike" cap="none">
                <a:solidFill>
                  <a:schemeClr val="dk1"/>
                </a:solidFill>
                <a:latin typeface="Century Gothic"/>
                <a:ea typeface="Century Gothic"/>
                <a:cs typeface="Century Gothic"/>
                <a:sym typeface="Century Gothic"/>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Tipe Data - String</a:t>
            </a:r>
            <a:endParaRPr/>
          </a:p>
        </p:txBody>
      </p:sp>
      <p:sp>
        <p:nvSpPr>
          <p:cNvPr id="352" name="Google Shape;352;p13"/>
          <p:cNvSpPr txBox="1">
            <a:spLocks noGrp="1"/>
          </p:cNvSpPr>
          <p:nvPr>
            <p:ph type="body" idx="1"/>
          </p:nvPr>
        </p:nvSpPr>
        <p:spPr>
          <a:xfrm>
            <a:off x="1154954" y="2603500"/>
            <a:ext cx="10112814" cy="388579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79999"/>
              <a:buChar char="►"/>
            </a:pPr>
            <a:r>
              <a:rPr lang="en-ID" b="1"/>
              <a:t>CHAR</a:t>
            </a:r>
            <a:r>
              <a:rPr lang="en-ID"/>
              <a:t>: menyimpan string karakter dengan panjang tetap. Misalnya, CHAR(10) akan menyimpan string dengan panjang tepat 10 karakter, dan jika stringnya lebih pendek, akan diisi dengan spasi.</a:t>
            </a:r>
            <a:endParaRPr/>
          </a:p>
          <a:p>
            <a:pPr marL="342900" lvl="0" indent="-342900" algn="l" rtl="0">
              <a:spcBef>
                <a:spcPts val="1000"/>
              </a:spcBef>
              <a:spcAft>
                <a:spcPts val="0"/>
              </a:spcAft>
              <a:buSzPct val="79999"/>
              <a:buChar char="►"/>
            </a:pPr>
            <a:r>
              <a:rPr lang="en-ID" b="1"/>
              <a:t>VARCHAR</a:t>
            </a:r>
            <a:r>
              <a:rPr lang="en-ID"/>
              <a:t>: digunakan untuk menyimpan string karakter dengan panjang yang bervariasi. Ini lebih efisien daripada CHAR jika panjang string dapat berubah.</a:t>
            </a:r>
            <a:endParaRPr/>
          </a:p>
          <a:p>
            <a:pPr marL="342900" lvl="0" indent="-342900" algn="l" rtl="0">
              <a:spcBef>
                <a:spcPts val="1000"/>
              </a:spcBef>
              <a:spcAft>
                <a:spcPts val="0"/>
              </a:spcAft>
              <a:buSzPct val="79999"/>
              <a:buChar char="►"/>
            </a:pPr>
            <a:r>
              <a:rPr lang="en-ID" b="1"/>
              <a:t>TEXT</a:t>
            </a:r>
            <a:r>
              <a:rPr lang="en-ID"/>
              <a:t>: digunakan untuk menyimpan teks panjang, seperti teks berita atau deskripsi produk, tanpa batasan panjang tertentu.</a:t>
            </a:r>
            <a:endParaRPr/>
          </a:p>
          <a:p>
            <a:pPr marL="342900" lvl="0" indent="-342900" algn="l" rtl="0">
              <a:spcBef>
                <a:spcPts val="1000"/>
              </a:spcBef>
              <a:spcAft>
                <a:spcPts val="0"/>
              </a:spcAft>
              <a:buSzPct val="79999"/>
              <a:buChar char="►"/>
            </a:pPr>
            <a:r>
              <a:rPr lang="en-ID" b="1"/>
              <a:t>ENUM</a:t>
            </a:r>
            <a:r>
              <a:rPr lang="en-ID"/>
              <a:t>: digunakan untuk menyimpan satu dari beberapa nilai yang telah ditentukan sebelumnya. Ini berguna untuk kolom dengan sejumlah nilai yang terbatas.</a:t>
            </a:r>
            <a:endParaRPr/>
          </a:p>
          <a:p>
            <a:pPr marL="342900" lvl="0" indent="-342900" algn="l" rtl="0">
              <a:spcBef>
                <a:spcPts val="1000"/>
              </a:spcBef>
              <a:spcAft>
                <a:spcPts val="0"/>
              </a:spcAft>
              <a:buSzPct val="79999"/>
              <a:buChar char="►"/>
            </a:pPr>
            <a:r>
              <a:rPr lang="en-ID" b="1"/>
              <a:t>SET</a:t>
            </a:r>
            <a:r>
              <a:rPr lang="en-ID"/>
              <a:t>: digunakan untuk menyimpan satu atau beberapa nilai yang telah ditentukan sebelumnya dalam satu set. Ini mirip dengan ENUM, tetapi memungkinkan beberapa nilai yang dipilih.</a:t>
            </a:r>
            <a:endParaRPr/>
          </a:p>
          <a:p>
            <a:pPr marL="342900" lvl="0" indent="-342900" algn="l" rtl="0">
              <a:spcBef>
                <a:spcPts val="1000"/>
              </a:spcBef>
              <a:spcAft>
                <a:spcPts val="0"/>
              </a:spcAft>
              <a:buSzPct val="79999"/>
              <a:buChar char="►"/>
            </a:pPr>
            <a:r>
              <a:rPr lang="en-ID" b="1"/>
              <a:t>BLOB</a:t>
            </a:r>
            <a:r>
              <a:rPr lang="en-ID"/>
              <a:t>: Tipe data BLOB (Binary Large Object) digunakan untuk menyimpan data biner, seperti gambar, video, atau dokumen dalam format biner.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Tipe Data - Datetime</a:t>
            </a:r>
            <a:endParaRPr/>
          </a:p>
        </p:txBody>
      </p:sp>
      <p:sp>
        <p:nvSpPr>
          <p:cNvPr id="358" name="Google Shape;358;p14"/>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D" b="1"/>
              <a:t>DATE </a:t>
            </a:r>
            <a:r>
              <a:rPr lang="en-ID"/>
              <a:t>: digunakan untuk menyimpan tanggal (tahun, bulan, dan hari) tanpa informasi waktu.</a:t>
            </a:r>
            <a:endParaRPr/>
          </a:p>
          <a:p>
            <a:pPr marL="342900" lvl="0" indent="-342900" algn="l" rtl="0">
              <a:spcBef>
                <a:spcPts val="1000"/>
              </a:spcBef>
              <a:spcAft>
                <a:spcPts val="0"/>
              </a:spcAft>
              <a:buSzPts val="1440"/>
              <a:buChar char="►"/>
            </a:pPr>
            <a:r>
              <a:rPr lang="en-ID" b="1"/>
              <a:t>DATETIME </a:t>
            </a:r>
            <a:r>
              <a:rPr lang="en-ID"/>
              <a:t>: digunakan untuk menyimpan tanggal dan waktu dengan presisi hingga detik.</a:t>
            </a:r>
            <a:endParaRPr/>
          </a:p>
          <a:p>
            <a:pPr marL="342900" lvl="0" indent="-342900" algn="l" rtl="0">
              <a:spcBef>
                <a:spcPts val="1000"/>
              </a:spcBef>
              <a:spcAft>
                <a:spcPts val="0"/>
              </a:spcAft>
              <a:buSzPts val="1440"/>
              <a:buChar char="►"/>
            </a:pPr>
            <a:r>
              <a:rPr lang="en-ID" b="1"/>
              <a:t>TIMESTAMP </a:t>
            </a:r>
            <a:r>
              <a:rPr lang="en-ID"/>
              <a:t>: digunakan untuk menyimpan tanggal dan waktu dengan presisi tinggi, sering digunakan untuk menandai waktu pembuatan atau pembaruan data.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5"/>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Tipe Data - Spatial</a:t>
            </a:r>
            <a:endParaRPr/>
          </a:p>
        </p:txBody>
      </p:sp>
      <p:sp>
        <p:nvSpPr>
          <p:cNvPr id="364" name="Google Shape;364;p15"/>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D" b="1"/>
              <a:t>GEOMETRY </a:t>
            </a:r>
            <a:r>
              <a:rPr lang="en-ID"/>
              <a:t>: Tipe data GEOMETRY digunakan untuk menyimpan data spasial, seperti titik, garis, atau poligon dalam bentuk geometri.</a:t>
            </a:r>
            <a:endParaRPr/>
          </a:p>
          <a:p>
            <a:pPr marL="342900" lvl="0" indent="-342900" algn="l" rtl="0">
              <a:spcBef>
                <a:spcPts val="1000"/>
              </a:spcBef>
              <a:spcAft>
                <a:spcPts val="0"/>
              </a:spcAft>
              <a:buSzPts val="1440"/>
              <a:buChar char="►"/>
            </a:pPr>
            <a:r>
              <a:rPr lang="en-ID" b="1"/>
              <a:t>POINT </a:t>
            </a:r>
            <a:r>
              <a:rPr lang="en-ID"/>
              <a:t>: Tipe data POINT digunakan untuk menyimpan koordinat titik dalam representasi spasial.</a:t>
            </a:r>
            <a:endParaRPr/>
          </a:p>
          <a:p>
            <a:pPr marL="342900" lvl="0" indent="-342900" algn="l" rtl="0">
              <a:spcBef>
                <a:spcPts val="1000"/>
              </a:spcBef>
              <a:spcAft>
                <a:spcPts val="0"/>
              </a:spcAft>
              <a:buSzPts val="1440"/>
              <a:buChar char="►"/>
            </a:pPr>
            <a:r>
              <a:rPr lang="en-ID" b="1"/>
              <a:t>LINESTRING </a:t>
            </a:r>
            <a:r>
              <a:rPr lang="en-ID"/>
              <a:t>: Tipe data LINESTRING digunakan untuk menyimpan serangkaian koordinat yang membentuk garis.</a:t>
            </a:r>
            <a:endParaRPr/>
          </a:p>
          <a:p>
            <a:pPr marL="342900" lvl="0" indent="-342900" algn="l" rtl="0">
              <a:spcBef>
                <a:spcPts val="1000"/>
              </a:spcBef>
              <a:spcAft>
                <a:spcPts val="0"/>
              </a:spcAft>
              <a:buSzPts val="1440"/>
              <a:buChar char="►"/>
            </a:pPr>
            <a:r>
              <a:rPr lang="en-ID"/>
              <a:t>dll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Tipe Data - Json</a:t>
            </a:r>
            <a:endParaRPr/>
          </a:p>
        </p:txBody>
      </p:sp>
      <p:sp>
        <p:nvSpPr>
          <p:cNvPr id="370" name="Google Shape;370;p16"/>
          <p:cNvSpPr txBox="1">
            <a:spLocks noGrp="1"/>
          </p:cNvSpPr>
          <p:nvPr>
            <p:ph type="body" idx="1"/>
          </p:nvPr>
        </p:nvSpPr>
        <p:spPr>
          <a:xfrm>
            <a:off x="1154954" y="2433484"/>
            <a:ext cx="9847343" cy="358631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ID" sz="2000" b="1"/>
              <a:t>JSON </a:t>
            </a:r>
            <a:r>
              <a:rPr lang="en-ID" sz="2000"/>
              <a:t>: digunakan untuk menyimpan data dalam format JSON (JavaScript Object Notation), yang cocok untuk menyimpan data semi-struktural yang kompleks seperti pengaturan konfigurasi, data terstruktur, atau data yang sering berubah.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Installation</a:t>
            </a:r>
            <a:endParaRPr/>
          </a:p>
        </p:txBody>
      </p:sp>
      <p:sp>
        <p:nvSpPr>
          <p:cNvPr id="376" name="Google Shape;376;p17"/>
          <p:cNvSpPr txBox="1">
            <a:spLocks noGrp="1"/>
          </p:cNvSpPr>
          <p:nvPr>
            <p:ph type="body" idx="1"/>
          </p:nvPr>
        </p:nvSpPr>
        <p:spPr>
          <a:xfrm>
            <a:off x="1154954" y="2603500"/>
            <a:ext cx="4124969" cy="34163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79999"/>
              <a:buChar char="►"/>
            </a:pPr>
            <a:r>
              <a:rPr lang="en-ID"/>
              <a:t>Xampp</a:t>
            </a:r>
            <a:endParaRPr/>
          </a:p>
          <a:p>
            <a:pPr marL="457200" lvl="1" indent="0" algn="l" rtl="0">
              <a:spcBef>
                <a:spcPts val="1000"/>
              </a:spcBef>
              <a:spcAft>
                <a:spcPts val="0"/>
              </a:spcAft>
              <a:buSzPct val="80000"/>
              <a:buNone/>
            </a:pPr>
            <a:r>
              <a:rPr lang="en-ID" u="sng">
                <a:solidFill>
                  <a:schemeClr val="hlink"/>
                </a:solidFill>
                <a:hlinkClick r:id="rId3"/>
              </a:rPr>
              <a:t>https://www.apachefriends.org/</a:t>
            </a:r>
            <a:r>
              <a:rPr lang="en-ID"/>
              <a:t> </a:t>
            </a:r>
            <a:endParaRPr/>
          </a:p>
          <a:p>
            <a:pPr marL="342900" lvl="0" indent="-342900" algn="l" rtl="0">
              <a:spcBef>
                <a:spcPts val="1000"/>
              </a:spcBef>
              <a:spcAft>
                <a:spcPts val="0"/>
              </a:spcAft>
              <a:buSzPct val="79999"/>
              <a:buChar char="►"/>
            </a:pPr>
            <a:r>
              <a:rPr lang="en-ID"/>
              <a:t>Installer windows : </a:t>
            </a:r>
            <a:endParaRPr/>
          </a:p>
          <a:p>
            <a:pPr marL="0" lvl="0" indent="0" algn="l" rtl="0">
              <a:spcBef>
                <a:spcPts val="1000"/>
              </a:spcBef>
              <a:spcAft>
                <a:spcPts val="0"/>
              </a:spcAft>
              <a:buSzPct val="79999"/>
              <a:buNone/>
            </a:pPr>
            <a:r>
              <a:rPr lang="en-ID"/>
              <a:t>	</a:t>
            </a:r>
            <a:r>
              <a:rPr lang="en-ID" sz="1600" u="sng">
                <a:solidFill>
                  <a:schemeClr val="hlink"/>
                </a:solidFill>
                <a:hlinkClick r:id="rId4"/>
              </a:rPr>
              <a:t>https://dev.mysql.com/downloads/installer/</a:t>
            </a:r>
            <a:r>
              <a:rPr lang="en-ID" sz="1600"/>
              <a:t> </a:t>
            </a:r>
            <a:endParaRPr/>
          </a:p>
          <a:p>
            <a:pPr marL="342900" lvl="0" indent="-342900" algn="l" rtl="0">
              <a:spcBef>
                <a:spcPts val="1000"/>
              </a:spcBef>
              <a:spcAft>
                <a:spcPts val="0"/>
              </a:spcAft>
              <a:buSzPct val="79999"/>
              <a:buChar char="►"/>
            </a:pPr>
            <a:r>
              <a:rPr lang="en-ID"/>
              <a:t>Ubuntu </a:t>
            </a:r>
            <a:endParaRPr/>
          </a:p>
          <a:p>
            <a:pPr marL="0" lvl="0" indent="0" algn="l" rtl="0">
              <a:spcBef>
                <a:spcPts val="1000"/>
              </a:spcBef>
              <a:spcAft>
                <a:spcPts val="0"/>
              </a:spcAft>
              <a:buSzPct val="79999"/>
              <a:buNone/>
            </a:pPr>
            <a:r>
              <a:rPr lang="en-ID"/>
              <a:t>	</a:t>
            </a:r>
            <a:r>
              <a:rPr lang="en-ID" u="sng">
                <a:solidFill>
                  <a:schemeClr val="hlink"/>
                </a:solidFill>
                <a:hlinkClick r:id="rId5"/>
              </a:rPr>
              <a:t>https://www.digitalocean.com/community/tutorials/how-to-install-mysql-on-ubuntu-20-04</a:t>
            </a:r>
            <a:r>
              <a:rPr lang="en-ID"/>
              <a:t> </a:t>
            </a:r>
            <a:endParaRPr/>
          </a:p>
          <a:p>
            <a:pPr marL="342900" lvl="0" indent="-258318" algn="l" rtl="0">
              <a:spcBef>
                <a:spcPts val="1000"/>
              </a:spcBef>
              <a:spcAft>
                <a:spcPts val="0"/>
              </a:spcAft>
              <a:buSzPct val="79999"/>
              <a:buNone/>
            </a:pPr>
            <a:endParaRPr/>
          </a:p>
          <a:p>
            <a:pPr marL="0" lvl="0" indent="0" algn="l" rtl="0">
              <a:spcBef>
                <a:spcPts val="1000"/>
              </a:spcBef>
              <a:spcAft>
                <a:spcPts val="0"/>
              </a:spcAft>
              <a:buSzPct val="79999"/>
              <a:buNone/>
            </a:pPr>
            <a:r>
              <a:rPr lang="en-ID"/>
              <a:t>	</a:t>
            </a:r>
            <a:endParaRPr/>
          </a:p>
        </p:txBody>
      </p:sp>
      <p:pic>
        <p:nvPicPr>
          <p:cNvPr id="377" name="Google Shape;377;p17"/>
          <p:cNvPicPr preferRelativeResize="0"/>
          <p:nvPr/>
        </p:nvPicPr>
        <p:blipFill rotWithShape="1">
          <a:blip r:embed="rId6">
            <a:alphaModFix/>
          </a:blip>
          <a:srcRect/>
          <a:stretch/>
        </p:blipFill>
        <p:spPr>
          <a:xfrm>
            <a:off x="5397907" y="1846008"/>
            <a:ext cx="6334125" cy="41148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3060897d798_0_13"/>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Post Test</a:t>
            </a:r>
            <a:endParaRPr/>
          </a:p>
        </p:txBody>
      </p:sp>
      <p:sp>
        <p:nvSpPr>
          <p:cNvPr id="384" name="Google Shape;384;g3060897d798_0_13"/>
          <p:cNvSpPr txBox="1">
            <a:spLocks noGrp="1"/>
          </p:cNvSpPr>
          <p:nvPr>
            <p:ph type="body" idx="1"/>
          </p:nvPr>
        </p:nvSpPr>
        <p:spPr>
          <a:xfrm>
            <a:off x="1154950" y="2374900"/>
            <a:ext cx="9974100" cy="34164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ID" sz="3500" u="sng">
                <a:solidFill>
                  <a:schemeClr val="hlink"/>
                </a:solidFill>
                <a:hlinkClick r:id="rId3"/>
              </a:rPr>
              <a:t>https://forms.gle/pF9rZeUDX67fsrAM6</a:t>
            </a:r>
            <a:r>
              <a:rPr lang="en-ID" sz="3500"/>
              <a:t> </a:t>
            </a:r>
            <a:endParaRPr sz="3500"/>
          </a:p>
        </p:txBody>
      </p:sp>
      <p:pic>
        <p:nvPicPr>
          <p:cNvPr id="385" name="Google Shape;385;g3060897d798_0_13"/>
          <p:cNvPicPr preferRelativeResize="0"/>
          <p:nvPr/>
        </p:nvPicPr>
        <p:blipFill>
          <a:blip r:embed="rId4">
            <a:alphaModFix/>
          </a:blip>
          <a:stretch>
            <a:fillRect/>
          </a:stretch>
        </p:blipFill>
        <p:spPr>
          <a:xfrm>
            <a:off x="4083422" y="3077602"/>
            <a:ext cx="3524700" cy="352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18" descr="Apa itu Database Server? Jenis, Cara Kerja, Contoh Server Database - Tanya  Digital"/>
          <p:cNvPicPr preferRelativeResize="0"/>
          <p:nvPr/>
        </p:nvPicPr>
        <p:blipFill rotWithShape="1">
          <a:blip r:embed="rId3">
            <a:alphaModFix/>
          </a:blip>
          <a:srcRect r="9675"/>
          <a:stretch/>
        </p:blipFill>
        <p:spPr>
          <a:xfrm>
            <a:off x="3188727" y="501445"/>
            <a:ext cx="8531325" cy="5891460"/>
          </a:xfrm>
          <a:prstGeom prst="rect">
            <a:avLst/>
          </a:prstGeom>
          <a:noFill/>
          <a:ln>
            <a:noFill/>
          </a:ln>
        </p:spPr>
      </p:pic>
      <p:sp>
        <p:nvSpPr>
          <p:cNvPr id="391" name="Google Shape;391;p18"/>
          <p:cNvSpPr txBox="1">
            <a:spLocks noGrp="1"/>
          </p:cNvSpPr>
          <p:nvPr>
            <p:ph type="ctrTitle"/>
          </p:nvPr>
        </p:nvSpPr>
        <p:spPr>
          <a:xfrm>
            <a:off x="1154954" y="2099733"/>
            <a:ext cx="9360645" cy="267764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Definition Language (DDL)</a:t>
            </a:r>
            <a:endParaRPr b="1">
              <a:solidFill>
                <a:schemeClr val="lt1"/>
              </a:solidFill>
            </a:endParaRPr>
          </a:p>
        </p:txBody>
      </p:sp>
      <p:sp>
        <p:nvSpPr>
          <p:cNvPr id="392" name="Google Shape;392;p18"/>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A800F-9A5E-5A57-D0C4-7E66553072CD}"/>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BCE4BE75-66B7-B193-D8B2-69AF97E7D1D7}"/>
              </a:ext>
            </a:extLst>
          </p:cNvPr>
          <p:cNvSpPr>
            <a:spLocks noGrp="1"/>
          </p:cNvSpPr>
          <p:nvPr>
            <p:ph type="body" idx="1"/>
          </p:nvPr>
        </p:nvSpPr>
        <p:spPr/>
        <p:txBody>
          <a:bodyPr/>
          <a:lstStyle/>
          <a:p>
            <a:pPr marL="137160" indent="0">
              <a:buNone/>
            </a:pPr>
            <a:r>
              <a:rPr lang="en-ID"/>
              <a:t>Mahasiswa mampu menerapkan perintah DDL di MySQL meliputi </a:t>
            </a:r>
            <a:r>
              <a:rPr lang="en-ID" b="1"/>
              <a:t>CREATE</a:t>
            </a:r>
            <a:r>
              <a:rPr lang="en-ID"/>
              <a:t>, </a:t>
            </a:r>
            <a:r>
              <a:rPr lang="en-ID" b="1"/>
              <a:t>ALTER</a:t>
            </a:r>
            <a:r>
              <a:rPr lang="en-ID"/>
              <a:t>, dan </a:t>
            </a:r>
            <a:r>
              <a:rPr lang="en-ID" b="1"/>
              <a:t>DROP</a:t>
            </a:r>
            <a:r>
              <a:rPr lang="en-ID"/>
              <a:t> untuk membuat, mengubah, dan menghapus tabel atau struktur basis data lainnya.</a:t>
            </a:r>
          </a:p>
        </p:txBody>
      </p:sp>
    </p:spTree>
    <p:extLst>
      <p:ext uri="{BB962C8B-B14F-4D97-AF65-F5344CB8AC3E}">
        <p14:creationId xmlns:p14="http://schemas.microsoft.com/office/powerpoint/2010/main" val="2496550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3060897d798_0_13"/>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Pre Test</a:t>
            </a:r>
            <a:endParaRPr/>
          </a:p>
        </p:txBody>
      </p:sp>
      <p:sp>
        <p:nvSpPr>
          <p:cNvPr id="384" name="Google Shape;384;g3060897d798_0_13"/>
          <p:cNvSpPr txBox="1">
            <a:spLocks noGrp="1"/>
          </p:cNvSpPr>
          <p:nvPr>
            <p:ph type="body" idx="1"/>
          </p:nvPr>
        </p:nvSpPr>
        <p:spPr>
          <a:xfrm>
            <a:off x="1154950" y="2374900"/>
            <a:ext cx="9974100" cy="34164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ID" sz="3500" u="sng">
                <a:solidFill>
                  <a:schemeClr val="hlink"/>
                </a:solidFill>
              </a:rPr>
              <a:t>https://forms.gle/pyxZC7TdfKtPtFns5</a:t>
            </a:r>
            <a:endParaRPr sz="3500"/>
          </a:p>
        </p:txBody>
      </p:sp>
      <p:pic>
        <p:nvPicPr>
          <p:cNvPr id="3" name="Picture 2">
            <a:extLst>
              <a:ext uri="{FF2B5EF4-FFF2-40B4-BE49-F238E27FC236}">
                <a16:creationId xmlns:a16="http://schemas.microsoft.com/office/drawing/2014/main" id="{E6D8A62B-7A11-82A5-7209-2E2242084610}"/>
              </a:ext>
            </a:extLst>
          </p:cNvPr>
          <p:cNvPicPr>
            <a:picLocks noChangeAspect="1"/>
          </p:cNvPicPr>
          <p:nvPr/>
        </p:nvPicPr>
        <p:blipFill>
          <a:blip r:embed="rId3"/>
          <a:stretch>
            <a:fillRect/>
          </a:stretch>
        </p:blipFill>
        <p:spPr>
          <a:xfrm>
            <a:off x="4243167" y="3053861"/>
            <a:ext cx="3705665" cy="3705665"/>
          </a:xfrm>
          <a:prstGeom prst="rect">
            <a:avLst/>
          </a:prstGeom>
        </p:spPr>
      </p:pic>
    </p:spTree>
    <p:extLst>
      <p:ext uri="{BB962C8B-B14F-4D97-AF65-F5344CB8AC3E}">
        <p14:creationId xmlns:p14="http://schemas.microsoft.com/office/powerpoint/2010/main" val="1109198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B5D2-93F3-EE0E-58C8-B0E3D57B8132}"/>
              </a:ext>
            </a:extLst>
          </p:cNvPr>
          <p:cNvSpPr>
            <a:spLocks noGrp="1"/>
          </p:cNvSpPr>
          <p:nvPr>
            <p:ph type="title"/>
          </p:nvPr>
        </p:nvSpPr>
        <p:spPr/>
        <p:txBody>
          <a:bodyPr/>
          <a:lstStyle/>
          <a:p>
            <a:r>
              <a:rPr kumimoji="0" lang="en-US" altLang="en-US" sz="3600" b="1" i="0" u="none" strike="noStrike" cap="none" normalizeH="0" baseline="0">
                <a:ln>
                  <a:noFill/>
                </a:ln>
                <a:solidFill>
                  <a:schemeClr val="bg1"/>
                </a:solidFill>
                <a:effectLst/>
                <a:latin typeface="Arial" panose="020B0604020202020204" pitchFamily="34" charset="0"/>
              </a:rPr>
              <a:t>Apa itu DDL</a:t>
            </a:r>
            <a:endParaRPr lang="en-ID">
              <a:solidFill>
                <a:schemeClr val="bg1"/>
              </a:solidFill>
            </a:endParaRPr>
          </a:p>
        </p:txBody>
      </p:sp>
      <p:sp>
        <p:nvSpPr>
          <p:cNvPr id="3" name="Text Placeholder 2">
            <a:extLst>
              <a:ext uri="{FF2B5EF4-FFF2-40B4-BE49-F238E27FC236}">
                <a16:creationId xmlns:a16="http://schemas.microsoft.com/office/drawing/2014/main" id="{ABA9B5FC-B9A2-2C26-B296-FAA343DA8DBF}"/>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DDL (Data Definition Language) adalah bagian dari SQL yang digunakan untuk mendefinisikan struktur dan skema basis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Contoh perintah DDL: </a:t>
            </a:r>
            <a:r>
              <a:rPr kumimoji="0" lang="en-US" altLang="en-US" sz="1200" b="0" i="0" u="none" strike="noStrike" cap="none" normalizeH="0" baseline="0">
                <a:ln>
                  <a:noFill/>
                </a:ln>
                <a:solidFill>
                  <a:schemeClr val="tx1"/>
                </a:solidFill>
                <a:effectLst/>
                <a:latin typeface="Arial Unicode MS"/>
              </a:rPr>
              <a:t>CREATE</a:t>
            </a:r>
            <a:r>
              <a:rPr kumimoji="0" lang="en-US" altLang="en-US" sz="1400" b="0" i="0" u="none" strike="noStrike" cap="none" normalizeH="0" baseline="0">
                <a:ln>
                  <a:noFill/>
                </a:ln>
                <a:solidFill>
                  <a:schemeClr val="tx1"/>
                </a:solidFill>
                <a:effectLst/>
              </a:rPr>
              <a:t>, </a:t>
            </a:r>
            <a:r>
              <a:rPr kumimoji="0" lang="en-US" altLang="en-US" sz="1200" b="0" i="0" u="none" strike="noStrike" cap="none" normalizeH="0" baseline="0">
                <a:ln>
                  <a:noFill/>
                </a:ln>
                <a:solidFill>
                  <a:schemeClr val="tx1"/>
                </a:solidFill>
                <a:effectLst/>
                <a:latin typeface="Arial Unicode MS"/>
              </a:rPr>
              <a:t>ALTER</a:t>
            </a:r>
            <a:r>
              <a:rPr kumimoji="0" lang="en-US" altLang="en-US" sz="1400" b="0" i="0" u="none" strike="noStrike" cap="none" normalizeH="0" baseline="0">
                <a:ln>
                  <a:noFill/>
                </a:ln>
                <a:solidFill>
                  <a:schemeClr val="tx1"/>
                </a:solidFill>
                <a:effectLst/>
              </a:rPr>
              <a:t>, </a:t>
            </a:r>
            <a:r>
              <a:rPr kumimoji="0" lang="en-US" altLang="en-US" sz="1200" b="0" i="0" u="none" strike="noStrike" cap="none" normalizeH="0" baseline="0">
                <a:ln>
                  <a:noFill/>
                </a:ln>
                <a:solidFill>
                  <a:schemeClr val="tx1"/>
                </a:solidFill>
                <a:effectLst/>
                <a:latin typeface="Arial Unicode MS"/>
              </a:rPr>
              <a:t>DROP</a:t>
            </a:r>
            <a:r>
              <a:rPr kumimoji="0" lang="en-US" altLang="en-US" sz="1400" b="0" i="0" u="none" strike="noStrike" cap="none" normalizeH="0" baseline="0">
                <a:ln>
                  <a:noFill/>
                </a:ln>
                <a:solidFill>
                  <a:schemeClr val="tx1"/>
                </a:solidFill>
                <a:effectLst/>
              </a:rPr>
              <a:t>, </a:t>
            </a:r>
            <a:r>
              <a:rPr kumimoji="0" lang="en-US" altLang="en-US" sz="1200" b="0" i="0" u="none" strike="noStrike" cap="none" normalizeH="0" baseline="0">
                <a:ln>
                  <a:noFill/>
                </a:ln>
                <a:solidFill>
                  <a:schemeClr val="tx1"/>
                </a:solidFill>
                <a:effectLst/>
                <a:latin typeface="Arial Unicode MS"/>
              </a:rPr>
              <a:t>TRUNCATE</a:t>
            </a:r>
            <a:endParaRPr kumimoji="0" lang="en-US" altLang="en-US"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endParaRPr>
          </a:p>
          <a:p>
            <a:endParaRPr lang="en-ID" sz="2400"/>
          </a:p>
          <a:p>
            <a:endParaRPr lang="en-ID" sz="2400"/>
          </a:p>
        </p:txBody>
      </p:sp>
    </p:spTree>
    <p:extLst>
      <p:ext uri="{BB962C8B-B14F-4D97-AF65-F5344CB8AC3E}">
        <p14:creationId xmlns:p14="http://schemas.microsoft.com/office/powerpoint/2010/main" val="3287047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B5D2-93F3-EE0E-58C8-B0E3D57B8132}"/>
              </a:ext>
            </a:extLst>
          </p:cNvPr>
          <p:cNvSpPr>
            <a:spLocks noGrp="1"/>
          </p:cNvSpPr>
          <p:nvPr>
            <p:ph type="title"/>
          </p:nvPr>
        </p:nvSpPr>
        <p:spPr/>
        <p:txBody>
          <a:bodyPr/>
          <a:lstStyle/>
          <a:p>
            <a:r>
              <a:rPr lang="en-ID" sz="3600" b="1"/>
              <a:t>Fungsi DDL</a:t>
            </a:r>
            <a:endParaRPr lang="en-ID" sz="3600"/>
          </a:p>
        </p:txBody>
      </p:sp>
      <p:sp>
        <p:nvSpPr>
          <p:cNvPr id="3" name="Text Placeholder 2">
            <a:extLst>
              <a:ext uri="{FF2B5EF4-FFF2-40B4-BE49-F238E27FC236}">
                <a16:creationId xmlns:a16="http://schemas.microsoft.com/office/drawing/2014/main" id="{ABA9B5FC-B9A2-2C26-B296-FAA343DA8DBF}"/>
              </a:ext>
            </a:extLst>
          </p:cNvPr>
          <p:cNvSpPr>
            <a:spLocks noGrp="1"/>
          </p:cNvSpPr>
          <p:nvPr>
            <p:ph type="body" idx="1"/>
          </p:nvPr>
        </p:nvSpPr>
        <p:spPr/>
        <p:txBody>
          <a:bodyPr>
            <a:normAutofit/>
          </a:bodyPr>
          <a:lstStyle/>
          <a:p>
            <a:pPr>
              <a:buFont typeface="Arial" panose="020B0604020202020204" pitchFamily="34" charset="0"/>
              <a:buChar char="•"/>
            </a:pPr>
            <a:r>
              <a:rPr lang="en-ID" sz="2400"/>
              <a:t>Membuat objek basis data seperti tabel, indeks, dan skema.</a:t>
            </a:r>
          </a:p>
          <a:p>
            <a:pPr>
              <a:buFont typeface="Arial" panose="020B0604020202020204" pitchFamily="34" charset="0"/>
              <a:buChar char="•"/>
            </a:pPr>
            <a:r>
              <a:rPr lang="en-ID" sz="2400"/>
              <a:t>Mengubah struktur objek yang sudah ada.</a:t>
            </a:r>
          </a:p>
          <a:p>
            <a:pPr>
              <a:buFont typeface="Arial" panose="020B0604020202020204" pitchFamily="34" charset="0"/>
              <a:buChar char="•"/>
            </a:pPr>
            <a:r>
              <a:rPr lang="en-ID" sz="2400"/>
              <a:t>Menghapus objek basis data.</a:t>
            </a:r>
          </a:p>
        </p:txBody>
      </p:sp>
    </p:spTree>
    <p:extLst>
      <p:ext uri="{BB962C8B-B14F-4D97-AF65-F5344CB8AC3E}">
        <p14:creationId xmlns:p14="http://schemas.microsoft.com/office/powerpoint/2010/main" val="3053447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D7A73-793A-A009-B699-FAEE72ED1751}"/>
              </a:ext>
            </a:extLst>
          </p:cNvPr>
          <p:cNvSpPr>
            <a:spLocks noGrp="1"/>
          </p:cNvSpPr>
          <p:nvPr>
            <p:ph type="title"/>
          </p:nvPr>
        </p:nvSpPr>
        <p:spPr/>
        <p:txBody>
          <a:bodyPr/>
          <a:lstStyle/>
          <a:p>
            <a:r>
              <a:rPr lang="en-ID"/>
              <a:t>CREATE Statement</a:t>
            </a:r>
          </a:p>
        </p:txBody>
      </p:sp>
      <p:sp>
        <p:nvSpPr>
          <p:cNvPr id="3" name="Text Placeholder 2">
            <a:extLst>
              <a:ext uri="{FF2B5EF4-FFF2-40B4-BE49-F238E27FC236}">
                <a16:creationId xmlns:a16="http://schemas.microsoft.com/office/drawing/2014/main" id="{86DEFE7C-97C7-1BE4-BE74-3FF4D07EA8C9}"/>
              </a:ext>
            </a:extLst>
          </p:cNvPr>
          <p:cNvSpPr>
            <a:spLocks noGrp="1"/>
          </p:cNvSpPr>
          <p:nvPr>
            <p:ph type="body" idx="1"/>
          </p:nvPr>
        </p:nvSpPr>
        <p:spPr/>
        <p:txBody>
          <a:bodyPr/>
          <a:lstStyle/>
          <a:p>
            <a:r>
              <a:rPr lang="en-ID"/>
              <a:t>Digunakan untuk membuat tabel atau objek baru dalam basis data.</a:t>
            </a:r>
          </a:p>
          <a:p>
            <a:endParaRPr lang="en-ID"/>
          </a:p>
          <a:p>
            <a:endParaRPr lang="en-ID"/>
          </a:p>
          <a:p>
            <a:endParaRPr lang="en-ID"/>
          </a:p>
          <a:p>
            <a:endParaRPr lang="en-ID"/>
          </a:p>
          <a:p>
            <a:endParaRPr lang="en-ID"/>
          </a:p>
          <a:p>
            <a:endParaRPr lang="en-ID"/>
          </a:p>
          <a:p>
            <a:r>
              <a:rPr lang="en-ID"/>
              <a:t>Penjelasan: Membuat tabel students dengan kolom id, name, dan age.</a:t>
            </a:r>
          </a:p>
          <a:p>
            <a:pPr marL="137160" indent="0">
              <a:buNone/>
            </a:pPr>
            <a:endParaRPr lang="en-ID"/>
          </a:p>
          <a:p>
            <a:pPr marL="137160" indent="0">
              <a:buNone/>
            </a:pPr>
            <a:endParaRPr lang="en-ID"/>
          </a:p>
          <a:p>
            <a:pPr marL="137160" indent="0">
              <a:buNone/>
            </a:pPr>
            <a:endParaRPr lang="en-ID"/>
          </a:p>
        </p:txBody>
      </p:sp>
      <p:pic>
        <p:nvPicPr>
          <p:cNvPr id="5" name="Picture 4">
            <a:extLst>
              <a:ext uri="{FF2B5EF4-FFF2-40B4-BE49-F238E27FC236}">
                <a16:creationId xmlns:a16="http://schemas.microsoft.com/office/drawing/2014/main" id="{31F310C6-6007-3331-6D7F-2F6A70A6D076}"/>
              </a:ext>
            </a:extLst>
          </p:cNvPr>
          <p:cNvPicPr>
            <a:picLocks noChangeAspect="1"/>
          </p:cNvPicPr>
          <p:nvPr/>
        </p:nvPicPr>
        <p:blipFill>
          <a:blip r:embed="rId3"/>
          <a:stretch>
            <a:fillRect/>
          </a:stretch>
        </p:blipFill>
        <p:spPr>
          <a:xfrm>
            <a:off x="1693605" y="3181350"/>
            <a:ext cx="3430845" cy="1969559"/>
          </a:xfrm>
          <a:prstGeom prst="rect">
            <a:avLst/>
          </a:prstGeom>
        </p:spPr>
      </p:pic>
    </p:spTree>
    <p:extLst>
      <p:ext uri="{BB962C8B-B14F-4D97-AF65-F5344CB8AC3E}">
        <p14:creationId xmlns:p14="http://schemas.microsoft.com/office/powerpoint/2010/main" val="1019928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2A16-756C-9851-CAC8-1BFD1BB7765A}"/>
              </a:ext>
            </a:extLst>
          </p:cNvPr>
          <p:cNvSpPr>
            <a:spLocks noGrp="1"/>
          </p:cNvSpPr>
          <p:nvPr>
            <p:ph type="title"/>
          </p:nvPr>
        </p:nvSpPr>
        <p:spPr/>
        <p:txBody>
          <a:bodyPr/>
          <a:lstStyle/>
          <a:p>
            <a:r>
              <a:rPr lang="en-ID"/>
              <a:t>ALTER Statement</a:t>
            </a:r>
          </a:p>
        </p:txBody>
      </p:sp>
      <p:sp>
        <p:nvSpPr>
          <p:cNvPr id="3" name="Text Placeholder 2">
            <a:extLst>
              <a:ext uri="{FF2B5EF4-FFF2-40B4-BE49-F238E27FC236}">
                <a16:creationId xmlns:a16="http://schemas.microsoft.com/office/drawing/2014/main" id="{4EC91A9F-3E7B-0E98-68E2-3DC733B7302B}"/>
              </a:ext>
            </a:extLst>
          </p:cNvPr>
          <p:cNvSpPr>
            <a:spLocks noGrp="1"/>
          </p:cNvSpPr>
          <p:nvPr>
            <p:ph type="body" idx="1"/>
          </p:nvPr>
        </p:nvSpPr>
        <p:spPr/>
        <p:txBody>
          <a:bodyPr/>
          <a:lstStyle/>
          <a:p>
            <a:r>
              <a:rPr lang="en-ID"/>
              <a:t>Mengubah struktur tabel yang sudah ada, seperti menambah atau mengubah kolom.</a:t>
            </a:r>
          </a:p>
          <a:p>
            <a:endParaRPr lang="en-ID"/>
          </a:p>
          <a:p>
            <a:endParaRPr lang="en-ID"/>
          </a:p>
          <a:p>
            <a:endParaRPr lang="en-ID"/>
          </a:p>
          <a:p>
            <a:endParaRPr lang="en-ID"/>
          </a:p>
          <a:p>
            <a:endParaRPr lang="en-ID"/>
          </a:p>
          <a:p>
            <a:r>
              <a:rPr lang="en-ID"/>
              <a:t>Penjelasan: Menambahkan kolom email pada tabel students.</a:t>
            </a:r>
          </a:p>
          <a:p>
            <a:endParaRPr lang="en-ID"/>
          </a:p>
        </p:txBody>
      </p:sp>
      <p:pic>
        <p:nvPicPr>
          <p:cNvPr id="6" name="Picture 5">
            <a:extLst>
              <a:ext uri="{FF2B5EF4-FFF2-40B4-BE49-F238E27FC236}">
                <a16:creationId xmlns:a16="http://schemas.microsoft.com/office/drawing/2014/main" id="{8469FE70-22C4-1E2B-545B-3F490F16AAA8}"/>
              </a:ext>
            </a:extLst>
          </p:cNvPr>
          <p:cNvPicPr>
            <a:picLocks noChangeAspect="1"/>
          </p:cNvPicPr>
          <p:nvPr/>
        </p:nvPicPr>
        <p:blipFill>
          <a:blip r:embed="rId3"/>
          <a:stretch>
            <a:fillRect/>
          </a:stretch>
        </p:blipFill>
        <p:spPr>
          <a:xfrm>
            <a:off x="1666874" y="3600450"/>
            <a:ext cx="6176645" cy="1352550"/>
          </a:xfrm>
          <a:prstGeom prst="rect">
            <a:avLst/>
          </a:prstGeom>
        </p:spPr>
      </p:pic>
    </p:spTree>
    <p:extLst>
      <p:ext uri="{BB962C8B-B14F-4D97-AF65-F5344CB8AC3E}">
        <p14:creationId xmlns:p14="http://schemas.microsoft.com/office/powerpoint/2010/main" val="494884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A925-4BB5-EA8C-F536-5130F516715C}"/>
              </a:ext>
            </a:extLst>
          </p:cNvPr>
          <p:cNvSpPr>
            <a:spLocks noGrp="1"/>
          </p:cNvSpPr>
          <p:nvPr>
            <p:ph type="title"/>
          </p:nvPr>
        </p:nvSpPr>
        <p:spPr/>
        <p:txBody>
          <a:bodyPr/>
          <a:lstStyle/>
          <a:p>
            <a:r>
              <a:rPr lang="en-ID"/>
              <a:t>DROP Statement</a:t>
            </a:r>
          </a:p>
        </p:txBody>
      </p:sp>
      <p:sp>
        <p:nvSpPr>
          <p:cNvPr id="3" name="Text Placeholder 2">
            <a:extLst>
              <a:ext uri="{FF2B5EF4-FFF2-40B4-BE49-F238E27FC236}">
                <a16:creationId xmlns:a16="http://schemas.microsoft.com/office/drawing/2014/main" id="{4281B6F7-F84A-54AB-4871-BC55359D4822}"/>
              </a:ext>
            </a:extLst>
          </p:cNvPr>
          <p:cNvSpPr>
            <a:spLocks noGrp="1"/>
          </p:cNvSpPr>
          <p:nvPr>
            <p:ph type="body" idx="1"/>
          </p:nvPr>
        </p:nvSpPr>
        <p:spPr/>
        <p:txBody>
          <a:bodyPr/>
          <a:lstStyle/>
          <a:p>
            <a:r>
              <a:rPr lang="en-ID"/>
              <a:t>Menghapus objek dari basis data, seperti tabel atau indeks.</a:t>
            </a:r>
          </a:p>
          <a:p>
            <a:endParaRPr lang="en-ID"/>
          </a:p>
          <a:p>
            <a:endParaRPr lang="en-ID"/>
          </a:p>
          <a:p>
            <a:endParaRPr lang="en-ID"/>
          </a:p>
          <a:p>
            <a:endParaRPr lang="en-ID"/>
          </a:p>
          <a:p>
            <a:r>
              <a:rPr lang="nn-NO"/>
              <a:t>Penjelasan: Menghapus tabel students dari basis data secara permanen.</a:t>
            </a:r>
            <a:endParaRPr lang="en-ID"/>
          </a:p>
          <a:p>
            <a:endParaRPr lang="en-ID"/>
          </a:p>
        </p:txBody>
      </p:sp>
      <p:pic>
        <p:nvPicPr>
          <p:cNvPr id="5" name="Picture 4">
            <a:extLst>
              <a:ext uri="{FF2B5EF4-FFF2-40B4-BE49-F238E27FC236}">
                <a16:creationId xmlns:a16="http://schemas.microsoft.com/office/drawing/2014/main" id="{9D10887F-A268-7C13-2FA7-DFAB1725EA32}"/>
              </a:ext>
            </a:extLst>
          </p:cNvPr>
          <p:cNvPicPr>
            <a:picLocks noChangeAspect="1"/>
          </p:cNvPicPr>
          <p:nvPr/>
        </p:nvPicPr>
        <p:blipFill>
          <a:blip r:embed="rId3"/>
          <a:stretch>
            <a:fillRect/>
          </a:stretch>
        </p:blipFill>
        <p:spPr>
          <a:xfrm>
            <a:off x="1546080" y="3429000"/>
            <a:ext cx="4697557" cy="1181100"/>
          </a:xfrm>
          <a:prstGeom prst="rect">
            <a:avLst/>
          </a:prstGeom>
        </p:spPr>
      </p:pic>
    </p:spTree>
    <p:extLst>
      <p:ext uri="{BB962C8B-B14F-4D97-AF65-F5344CB8AC3E}">
        <p14:creationId xmlns:p14="http://schemas.microsoft.com/office/powerpoint/2010/main" val="3369028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555E5-F066-CD44-E2EB-489DF9E031A9}"/>
              </a:ext>
            </a:extLst>
          </p:cNvPr>
          <p:cNvSpPr>
            <a:spLocks noGrp="1"/>
          </p:cNvSpPr>
          <p:nvPr>
            <p:ph type="title"/>
          </p:nvPr>
        </p:nvSpPr>
        <p:spPr/>
        <p:txBody>
          <a:bodyPr/>
          <a:lstStyle/>
          <a:p>
            <a:r>
              <a:rPr lang="en-ID"/>
              <a:t>TRUNCATE Statement</a:t>
            </a:r>
          </a:p>
        </p:txBody>
      </p:sp>
      <p:sp>
        <p:nvSpPr>
          <p:cNvPr id="3" name="Text Placeholder 2">
            <a:extLst>
              <a:ext uri="{FF2B5EF4-FFF2-40B4-BE49-F238E27FC236}">
                <a16:creationId xmlns:a16="http://schemas.microsoft.com/office/drawing/2014/main" id="{1184F288-CA81-7BF3-D80F-F475919B3E56}"/>
              </a:ext>
            </a:extLst>
          </p:cNvPr>
          <p:cNvSpPr>
            <a:spLocks noGrp="1"/>
          </p:cNvSpPr>
          <p:nvPr>
            <p:ph type="body" idx="1"/>
          </p:nvPr>
        </p:nvSpPr>
        <p:spPr/>
        <p:txBody>
          <a:bodyPr/>
          <a:lstStyle/>
          <a:p>
            <a:r>
              <a:rPr lang="en-ID"/>
              <a:t>Menghapus semua baris dari sebuah tabel tanpa menghapus strukturnya.</a:t>
            </a:r>
          </a:p>
          <a:p>
            <a:endParaRPr lang="en-ID"/>
          </a:p>
          <a:p>
            <a:endParaRPr lang="en-ID"/>
          </a:p>
          <a:p>
            <a:endParaRPr lang="en-ID"/>
          </a:p>
          <a:p>
            <a:r>
              <a:rPr lang="en-ID"/>
              <a:t>Penjelasan: Menghapus semua data di tabel students tetapi tabelnya masih ada.</a:t>
            </a:r>
          </a:p>
          <a:p>
            <a:endParaRPr lang="en-ID"/>
          </a:p>
          <a:p>
            <a:endParaRPr lang="en-ID"/>
          </a:p>
        </p:txBody>
      </p:sp>
      <p:pic>
        <p:nvPicPr>
          <p:cNvPr id="6" name="Picture 5">
            <a:extLst>
              <a:ext uri="{FF2B5EF4-FFF2-40B4-BE49-F238E27FC236}">
                <a16:creationId xmlns:a16="http://schemas.microsoft.com/office/drawing/2014/main" id="{C47FA658-8035-77A6-68C2-D3CC950EE4E0}"/>
              </a:ext>
            </a:extLst>
          </p:cNvPr>
          <p:cNvPicPr>
            <a:picLocks noChangeAspect="1"/>
          </p:cNvPicPr>
          <p:nvPr/>
        </p:nvPicPr>
        <p:blipFill>
          <a:blip r:embed="rId3"/>
          <a:stretch>
            <a:fillRect/>
          </a:stretch>
        </p:blipFill>
        <p:spPr>
          <a:xfrm>
            <a:off x="1693544" y="3429000"/>
            <a:ext cx="4797743" cy="876300"/>
          </a:xfrm>
          <a:prstGeom prst="rect">
            <a:avLst/>
          </a:prstGeom>
        </p:spPr>
      </p:pic>
    </p:spTree>
    <p:extLst>
      <p:ext uri="{BB962C8B-B14F-4D97-AF65-F5344CB8AC3E}">
        <p14:creationId xmlns:p14="http://schemas.microsoft.com/office/powerpoint/2010/main" val="2623195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8746E-F51F-9423-09AF-72F49A14E133}"/>
              </a:ext>
            </a:extLst>
          </p:cNvPr>
          <p:cNvSpPr>
            <a:spLocks noGrp="1"/>
          </p:cNvSpPr>
          <p:nvPr>
            <p:ph type="title"/>
          </p:nvPr>
        </p:nvSpPr>
        <p:spPr/>
        <p:txBody>
          <a:bodyPr/>
          <a:lstStyle/>
          <a:p>
            <a:r>
              <a:rPr lang="en-ID"/>
              <a:t>Perbedaan DROP vs TRUNCATE</a:t>
            </a:r>
          </a:p>
        </p:txBody>
      </p:sp>
      <p:sp>
        <p:nvSpPr>
          <p:cNvPr id="3" name="Text Placeholder 2">
            <a:extLst>
              <a:ext uri="{FF2B5EF4-FFF2-40B4-BE49-F238E27FC236}">
                <a16:creationId xmlns:a16="http://schemas.microsoft.com/office/drawing/2014/main" id="{F3EDACC5-F1E9-3E8A-9005-F668E808E1A6}"/>
              </a:ext>
            </a:extLst>
          </p:cNvPr>
          <p:cNvSpPr>
            <a:spLocks noGrp="1"/>
          </p:cNvSpPr>
          <p:nvPr>
            <p:ph type="body" idx="1"/>
          </p:nvPr>
        </p:nvSpPr>
        <p:spPr/>
        <p:txBody>
          <a:bodyPr>
            <a:normAutofit/>
          </a:bodyPr>
          <a:lstStyle/>
          <a:p>
            <a:r>
              <a:rPr lang="en-ID" sz="2400" b="1"/>
              <a:t>DROP</a:t>
            </a:r>
            <a:r>
              <a:rPr lang="en-ID" sz="2400"/>
              <a:t>: Menghapus tabel beserta strukturnya.</a:t>
            </a:r>
          </a:p>
          <a:p>
            <a:r>
              <a:rPr lang="en-ID" sz="2400" b="1"/>
              <a:t>TRUNCATE</a:t>
            </a:r>
            <a:r>
              <a:rPr lang="en-ID" sz="2400"/>
              <a:t>: Menghapus semua data tetapi mempertahankan strukturnya.</a:t>
            </a:r>
          </a:p>
          <a:p>
            <a:endParaRPr lang="en-ID" sz="2400"/>
          </a:p>
        </p:txBody>
      </p:sp>
    </p:spTree>
    <p:extLst>
      <p:ext uri="{BB962C8B-B14F-4D97-AF65-F5344CB8AC3E}">
        <p14:creationId xmlns:p14="http://schemas.microsoft.com/office/powerpoint/2010/main" val="2316610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7"/>
        <p:cNvGrpSpPr/>
        <p:nvPr/>
      </p:nvGrpSpPr>
      <p:grpSpPr>
        <a:xfrm>
          <a:off x="0" y="0"/>
          <a:ext cx="0" cy="0"/>
          <a:chOff x="0" y="0"/>
          <a:chExt cx="0" cy="0"/>
        </a:xfrm>
      </p:grpSpPr>
      <p:sp>
        <p:nvSpPr>
          <p:cNvPr id="398" name="Google Shape;398;p19"/>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Praktek Perintah DDL</a:t>
            </a:r>
            <a:endParaRPr/>
          </a:p>
        </p:txBody>
      </p:sp>
      <p:sp>
        <p:nvSpPr>
          <p:cNvPr id="400" name="Google Shape;400;p19"/>
          <p:cNvSpPr txBox="1"/>
          <p:nvPr/>
        </p:nvSpPr>
        <p:spPr>
          <a:xfrm>
            <a:off x="2188546" y="2456795"/>
            <a:ext cx="2532142" cy="453378"/>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600"/>
              <a:buFont typeface="Noto Sans Symbols"/>
              <a:buNone/>
            </a:pPr>
            <a:r>
              <a:rPr lang="en-ID" sz="2000" b="0" i="0">
                <a:solidFill>
                  <a:srgbClr val="3F3F3F"/>
                </a:solidFill>
                <a:latin typeface="Century Gothic"/>
                <a:ea typeface="Century Gothic"/>
                <a:cs typeface="Century Gothic"/>
                <a:sym typeface="Century Gothic"/>
              </a:rPr>
              <a:t>ERD Perpustakan</a:t>
            </a:r>
            <a:endParaRPr sz="2000" b="0" i="0">
              <a:solidFill>
                <a:srgbClr val="3F3F3F"/>
              </a:solidFill>
              <a:latin typeface="Century Gothic"/>
              <a:ea typeface="Century Gothic"/>
              <a:cs typeface="Century Gothic"/>
              <a:sym typeface="Century Gothic"/>
            </a:endParaRPr>
          </a:p>
        </p:txBody>
      </p:sp>
      <p:sp>
        <p:nvSpPr>
          <p:cNvPr id="3" name="Text Placeholder 2">
            <a:extLst>
              <a:ext uri="{FF2B5EF4-FFF2-40B4-BE49-F238E27FC236}">
                <a16:creationId xmlns:a16="http://schemas.microsoft.com/office/drawing/2014/main" id="{6859ABA5-9CF1-35A9-CEEF-9D46834AFFCE}"/>
              </a:ext>
            </a:extLst>
          </p:cNvPr>
          <p:cNvSpPr>
            <a:spLocks noGrp="1"/>
          </p:cNvSpPr>
          <p:nvPr>
            <p:ph type="body" idx="1"/>
          </p:nvPr>
        </p:nvSpPr>
        <p:spPr>
          <a:xfrm>
            <a:off x="6239437" y="3155575"/>
            <a:ext cx="4797609" cy="3355029"/>
          </a:xfrm>
        </p:spPr>
        <p:txBody>
          <a:bodyPr>
            <a:noAutofit/>
          </a:bodyPr>
          <a:lstStyle/>
          <a:p>
            <a:pPr marL="0" lvl="0" indent="0" algn="l" rtl="0">
              <a:spcBef>
                <a:spcPts val="0"/>
              </a:spcBef>
              <a:spcAft>
                <a:spcPts val="0"/>
              </a:spcAft>
              <a:buClr>
                <a:schemeClr val="dk1"/>
              </a:buClr>
              <a:buSzPts val="1200"/>
              <a:buFont typeface="Arial"/>
              <a:buNone/>
            </a:pPr>
            <a:r>
              <a:rPr lang="en-ID" sz="2400"/>
              <a:t>CREATE TABLE Buku (</a:t>
            </a:r>
          </a:p>
          <a:p>
            <a:pPr marL="0" lvl="0" indent="0" algn="l" rtl="0">
              <a:spcBef>
                <a:spcPts val="0"/>
              </a:spcBef>
              <a:spcAft>
                <a:spcPts val="0"/>
              </a:spcAft>
              <a:buClr>
                <a:schemeClr val="dk1"/>
              </a:buClr>
              <a:buSzPts val="1200"/>
              <a:buFont typeface="Arial"/>
              <a:buNone/>
            </a:pPr>
            <a:r>
              <a:rPr lang="en-ID" sz="2400"/>
              <a:t>  ID_Buku INT PRIMARY KEY,</a:t>
            </a:r>
          </a:p>
          <a:p>
            <a:pPr marL="0" lvl="0" indent="0" algn="l" rtl="0">
              <a:spcBef>
                <a:spcPts val="0"/>
              </a:spcBef>
              <a:spcAft>
                <a:spcPts val="0"/>
              </a:spcAft>
              <a:buClr>
                <a:schemeClr val="dk1"/>
              </a:buClr>
              <a:buSzPts val="1200"/>
              <a:buFont typeface="Arial"/>
              <a:buNone/>
            </a:pPr>
            <a:r>
              <a:rPr lang="en-ID" sz="2400"/>
              <a:t>  Judul VARCHAR(255),</a:t>
            </a:r>
          </a:p>
          <a:p>
            <a:pPr marL="0" lvl="0" indent="0" algn="l" rtl="0">
              <a:spcBef>
                <a:spcPts val="0"/>
              </a:spcBef>
              <a:spcAft>
                <a:spcPts val="0"/>
              </a:spcAft>
              <a:buClr>
                <a:schemeClr val="dk1"/>
              </a:buClr>
              <a:buSzPts val="1200"/>
              <a:buFont typeface="Arial"/>
              <a:buNone/>
            </a:pPr>
            <a:r>
              <a:rPr lang="en-ID" sz="2400"/>
              <a:t>  Pengarang VARCHAR(255),</a:t>
            </a:r>
          </a:p>
          <a:p>
            <a:pPr marL="0" lvl="0" indent="0" algn="l" rtl="0">
              <a:spcBef>
                <a:spcPts val="0"/>
              </a:spcBef>
              <a:spcAft>
                <a:spcPts val="0"/>
              </a:spcAft>
              <a:buClr>
                <a:schemeClr val="dk1"/>
              </a:buClr>
              <a:buSzPts val="1200"/>
              <a:buFont typeface="Arial"/>
              <a:buNone/>
            </a:pPr>
            <a:r>
              <a:rPr lang="en-ID" sz="2400"/>
              <a:t>  Tahun_Terbit INT,</a:t>
            </a:r>
          </a:p>
          <a:p>
            <a:pPr marL="0" lvl="0" indent="0" algn="l" rtl="0">
              <a:spcBef>
                <a:spcPts val="0"/>
              </a:spcBef>
              <a:spcAft>
                <a:spcPts val="0"/>
              </a:spcAft>
              <a:buClr>
                <a:schemeClr val="dk1"/>
              </a:buClr>
              <a:buSzPts val="1200"/>
              <a:buFont typeface="Arial"/>
              <a:buNone/>
            </a:pPr>
            <a:r>
              <a:rPr lang="en-ID" sz="2400"/>
              <a:t>  Jumlah_Halaman INT</a:t>
            </a:r>
          </a:p>
          <a:p>
            <a:pPr marL="0" lvl="0" indent="0" algn="l" rtl="0">
              <a:spcBef>
                <a:spcPts val="0"/>
              </a:spcBef>
              <a:spcAft>
                <a:spcPts val="0"/>
              </a:spcAft>
              <a:buClr>
                <a:schemeClr val="dk1"/>
              </a:buClr>
              <a:buSzPts val="1200"/>
              <a:buFont typeface="Arial"/>
              <a:buNone/>
            </a:pPr>
            <a:r>
              <a:rPr lang="en-ID" sz="2400"/>
              <a:t>);</a:t>
            </a:r>
          </a:p>
        </p:txBody>
      </p:sp>
      <p:pic>
        <p:nvPicPr>
          <p:cNvPr id="4" name="Google Shape;401;p19"/>
          <p:cNvPicPr preferRelativeResize="0"/>
          <p:nvPr/>
        </p:nvPicPr>
        <p:blipFill rotWithShape="1">
          <a:blip r:embed="rId3">
            <a:alphaModFix/>
          </a:blip>
          <a:srcRect/>
          <a:stretch/>
        </p:blipFill>
        <p:spPr>
          <a:xfrm>
            <a:off x="956670" y="2910173"/>
            <a:ext cx="4995895" cy="335502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2000"/>
                                        <p:tgtEl>
                                          <p:spTgt spid="40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Effect transition="in" filter="fade">
                                      <p:cBhvr>
                                        <p:cTn id="47" dur="500"/>
                                        <p:tgtEl>
                                          <p:spTgt spid="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1" nodeType="click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Effect transition="in" filter="fade">
                                      <p:cBhvr>
                                        <p:cTn id="52" dur="500"/>
                                        <p:tgtEl>
                                          <p:spTgt spid="3">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1"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fade">
                                      <p:cBhvr>
                                        <p:cTn id="57" dur="500"/>
                                        <p:tgtEl>
                                          <p:spTgt spid="3">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1" nodeType="click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fade">
                                      <p:cBhvr>
                                        <p:cTn id="62" dur="500"/>
                                        <p:tgtEl>
                                          <p:spTgt spid="3">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1" nodeType="clickEffect">
                                  <p:stCondLst>
                                    <p:cond delay="0"/>
                                  </p:stCondLst>
                                  <p:childTnLst>
                                    <p:set>
                                      <p:cBhvr>
                                        <p:cTn id="66" dur="1" fill="hold">
                                          <p:stCondLst>
                                            <p:cond delay="0"/>
                                          </p:stCondLst>
                                        </p:cTn>
                                        <p:tgtEl>
                                          <p:spTgt spid="3">
                                            <p:txEl>
                                              <p:pRg st="4" end="4"/>
                                            </p:txEl>
                                          </p:spTgt>
                                        </p:tgtEl>
                                        <p:attrNameLst>
                                          <p:attrName>style.visibility</p:attrName>
                                        </p:attrNameLst>
                                      </p:cBhvr>
                                      <p:to>
                                        <p:strVal val="visible"/>
                                      </p:to>
                                    </p:set>
                                    <p:animEffect transition="in" filter="fade">
                                      <p:cBhvr>
                                        <p:cTn id="67" dur="500"/>
                                        <p:tgtEl>
                                          <p:spTgt spid="3">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3">
                                            <p:txEl>
                                              <p:pRg st="5" end="5"/>
                                            </p:txEl>
                                          </p:spTgt>
                                        </p:tgtEl>
                                        <p:attrNameLst>
                                          <p:attrName>style.visibility</p:attrName>
                                        </p:attrNameLst>
                                      </p:cBhvr>
                                      <p:to>
                                        <p:strVal val="visible"/>
                                      </p:to>
                                    </p:set>
                                    <p:animEffect transition="in" filter="fade">
                                      <p:cBhvr>
                                        <p:cTn id="72" dur="500"/>
                                        <p:tgtEl>
                                          <p:spTgt spid="3">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1" nodeType="clickEffect">
                                  <p:stCondLst>
                                    <p:cond delay="0"/>
                                  </p:stCondLst>
                                  <p:childTnLst>
                                    <p:set>
                                      <p:cBhvr>
                                        <p:cTn id="76" dur="1" fill="hold">
                                          <p:stCondLst>
                                            <p:cond delay="0"/>
                                          </p:stCondLst>
                                        </p:cTn>
                                        <p:tgtEl>
                                          <p:spTgt spid="3">
                                            <p:txEl>
                                              <p:pRg st="6" end="6"/>
                                            </p:txEl>
                                          </p:spTgt>
                                        </p:tgtEl>
                                        <p:attrNameLst>
                                          <p:attrName>style.visibility</p:attrName>
                                        </p:attrNameLst>
                                      </p:cBhvr>
                                      <p:to>
                                        <p:strVal val="visible"/>
                                      </p:to>
                                    </p:set>
                                    <p:animEffect transition="in" filter="fade">
                                      <p:cBhvr>
                                        <p:cTn id="7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Jalankan Perintah-perintah berikut:</a:t>
            </a:r>
            <a:endParaRPr/>
          </a:p>
        </p:txBody>
      </p:sp>
      <p:pic>
        <p:nvPicPr>
          <p:cNvPr id="408" name="Google Shape;408;p20"/>
          <p:cNvPicPr preferRelativeResize="0">
            <a:picLocks noGrp="1"/>
          </p:cNvPicPr>
          <p:nvPr>
            <p:ph type="body" idx="1"/>
          </p:nvPr>
        </p:nvPicPr>
        <p:blipFill rotWithShape="1">
          <a:blip r:embed="rId3">
            <a:alphaModFix/>
          </a:blip>
          <a:srcRect/>
          <a:stretch/>
        </p:blipFill>
        <p:spPr>
          <a:xfrm>
            <a:off x="4707553" y="2551456"/>
            <a:ext cx="5600700" cy="2228850"/>
          </a:xfrm>
          <a:prstGeom prst="rect">
            <a:avLst/>
          </a:prstGeom>
          <a:noFill/>
          <a:ln>
            <a:noFill/>
          </a:ln>
        </p:spPr>
      </p:pic>
      <p:pic>
        <p:nvPicPr>
          <p:cNvPr id="409" name="Google Shape;409;p20"/>
          <p:cNvPicPr preferRelativeResize="0"/>
          <p:nvPr/>
        </p:nvPicPr>
        <p:blipFill rotWithShape="1">
          <a:blip r:embed="rId4">
            <a:alphaModFix/>
          </a:blip>
          <a:srcRect/>
          <a:stretch/>
        </p:blipFill>
        <p:spPr>
          <a:xfrm>
            <a:off x="9872829" y="2551456"/>
            <a:ext cx="1104900" cy="2228850"/>
          </a:xfrm>
          <a:prstGeom prst="rect">
            <a:avLst/>
          </a:prstGeom>
          <a:noFill/>
          <a:ln>
            <a:noFill/>
          </a:ln>
        </p:spPr>
      </p:pic>
      <p:pic>
        <p:nvPicPr>
          <p:cNvPr id="410" name="Google Shape;410;p20"/>
          <p:cNvPicPr preferRelativeResize="0"/>
          <p:nvPr/>
        </p:nvPicPr>
        <p:blipFill rotWithShape="1">
          <a:blip r:embed="rId5">
            <a:alphaModFix/>
          </a:blip>
          <a:srcRect/>
          <a:stretch/>
        </p:blipFill>
        <p:spPr>
          <a:xfrm>
            <a:off x="951658" y="2551456"/>
            <a:ext cx="1914525" cy="342900"/>
          </a:xfrm>
          <a:prstGeom prst="rect">
            <a:avLst/>
          </a:prstGeom>
          <a:noFill/>
          <a:ln>
            <a:noFill/>
          </a:ln>
        </p:spPr>
      </p:pic>
      <p:pic>
        <p:nvPicPr>
          <p:cNvPr id="411" name="Google Shape;411;p20"/>
          <p:cNvPicPr preferRelativeResize="0"/>
          <p:nvPr/>
        </p:nvPicPr>
        <p:blipFill rotWithShape="1">
          <a:blip r:embed="rId6">
            <a:alphaModFix/>
          </a:blip>
          <a:srcRect/>
          <a:stretch/>
        </p:blipFill>
        <p:spPr>
          <a:xfrm>
            <a:off x="951658" y="3936015"/>
            <a:ext cx="2647950" cy="1762125"/>
          </a:xfrm>
          <a:prstGeom prst="rect">
            <a:avLst/>
          </a:prstGeom>
          <a:noFill/>
          <a:ln>
            <a:noFill/>
          </a:ln>
        </p:spPr>
      </p:pic>
      <p:pic>
        <p:nvPicPr>
          <p:cNvPr id="412" name="Google Shape;412;p20"/>
          <p:cNvPicPr preferRelativeResize="0"/>
          <p:nvPr/>
        </p:nvPicPr>
        <p:blipFill rotWithShape="1">
          <a:blip r:embed="rId7">
            <a:alphaModFix/>
          </a:blip>
          <a:srcRect/>
          <a:stretch/>
        </p:blipFill>
        <p:spPr>
          <a:xfrm>
            <a:off x="951658" y="3028850"/>
            <a:ext cx="2562225" cy="323850"/>
          </a:xfrm>
          <a:prstGeom prst="rect">
            <a:avLst/>
          </a:prstGeom>
          <a:noFill/>
          <a:ln>
            <a:noFill/>
          </a:ln>
        </p:spPr>
      </p:pic>
      <p:pic>
        <p:nvPicPr>
          <p:cNvPr id="413" name="Google Shape;413;p20"/>
          <p:cNvPicPr preferRelativeResize="0"/>
          <p:nvPr/>
        </p:nvPicPr>
        <p:blipFill rotWithShape="1">
          <a:blip r:embed="rId8">
            <a:alphaModFix/>
          </a:blip>
          <a:srcRect/>
          <a:stretch/>
        </p:blipFill>
        <p:spPr>
          <a:xfrm>
            <a:off x="951658" y="3487195"/>
            <a:ext cx="1571625" cy="314325"/>
          </a:xfrm>
          <a:prstGeom prst="rect">
            <a:avLst/>
          </a:prstGeom>
          <a:noFill/>
          <a:ln>
            <a:noFill/>
          </a:ln>
        </p:spPr>
      </p:pic>
      <p:pic>
        <p:nvPicPr>
          <p:cNvPr id="414" name="Google Shape;414;p20"/>
          <p:cNvPicPr preferRelativeResize="0"/>
          <p:nvPr/>
        </p:nvPicPr>
        <p:blipFill rotWithShape="1">
          <a:blip r:embed="rId9">
            <a:alphaModFix/>
          </a:blip>
          <a:srcRect/>
          <a:stretch/>
        </p:blipFill>
        <p:spPr>
          <a:xfrm>
            <a:off x="951658" y="5832635"/>
            <a:ext cx="1247775"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fade">
                                      <p:cBhvr>
                                        <p:cTn id="7" dur="500"/>
                                        <p:tgtEl>
                                          <p:spTgt spid="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2"/>
                                        </p:tgtEl>
                                        <p:attrNameLst>
                                          <p:attrName>style.visibility</p:attrName>
                                        </p:attrNameLst>
                                      </p:cBhvr>
                                      <p:to>
                                        <p:strVal val="visible"/>
                                      </p:to>
                                    </p:set>
                                    <p:animEffect transition="in" filter="fade">
                                      <p:cBhvr>
                                        <p:cTn id="12" dur="500"/>
                                        <p:tgtEl>
                                          <p:spTgt spid="4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3"/>
                                        </p:tgtEl>
                                        <p:attrNameLst>
                                          <p:attrName>style.visibility</p:attrName>
                                        </p:attrNameLst>
                                      </p:cBhvr>
                                      <p:to>
                                        <p:strVal val="visible"/>
                                      </p:to>
                                    </p:set>
                                    <p:animEffect transition="in" filter="fade">
                                      <p:cBhvr>
                                        <p:cTn id="17" dur="500"/>
                                        <p:tgtEl>
                                          <p:spTgt spid="4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1"/>
                                        </p:tgtEl>
                                        <p:attrNameLst>
                                          <p:attrName>style.visibility</p:attrName>
                                        </p:attrNameLst>
                                      </p:cBhvr>
                                      <p:to>
                                        <p:strVal val="visible"/>
                                      </p:to>
                                    </p:set>
                                    <p:animEffect transition="in" filter="fade">
                                      <p:cBhvr>
                                        <p:cTn id="22" dur="500"/>
                                        <p:tgtEl>
                                          <p:spTgt spid="4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4"/>
                                        </p:tgtEl>
                                        <p:attrNameLst>
                                          <p:attrName>style.visibility</p:attrName>
                                        </p:attrNameLst>
                                      </p:cBhvr>
                                      <p:to>
                                        <p:strVal val="visible"/>
                                      </p:to>
                                    </p:set>
                                    <p:animEffect transition="in" filter="fade">
                                      <p:cBhvr>
                                        <p:cTn id="27" dur="500"/>
                                        <p:tgtEl>
                                          <p:spTgt spid="4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8"/>
                                        </p:tgtEl>
                                        <p:attrNameLst>
                                          <p:attrName>style.visibility</p:attrName>
                                        </p:attrNameLst>
                                      </p:cBhvr>
                                      <p:to>
                                        <p:strVal val="visible"/>
                                      </p:to>
                                    </p:set>
                                    <p:animEffect transition="in" filter="fade">
                                      <p:cBhvr>
                                        <p:cTn id="32" dur="500"/>
                                        <p:tgtEl>
                                          <p:spTgt spid="408"/>
                                        </p:tgtEl>
                                      </p:cBhvr>
                                    </p:animEffect>
                                  </p:childTnLst>
                                </p:cTn>
                              </p:par>
                              <p:par>
                                <p:cTn id="33" presetID="10" presetClass="entr" presetSubtype="0" fill="hold" nodeType="withEffect">
                                  <p:stCondLst>
                                    <p:cond delay="0"/>
                                  </p:stCondLst>
                                  <p:childTnLst>
                                    <p:set>
                                      <p:cBhvr>
                                        <p:cTn id="34" dur="1" fill="hold">
                                          <p:stCondLst>
                                            <p:cond delay="0"/>
                                          </p:stCondLst>
                                        </p:cTn>
                                        <p:tgtEl>
                                          <p:spTgt spid="409"/>
                                        </p:tgtEl>
                                        <p:attrNameLst>
                                          <p:attrName>style.visibility</p:attrName>
                                        </p:attrNameLst>
                                      </p:cBhvr>
                                      <p:to>
                                        <p:strVal val="visible"/>
                                      </p:to>
                                    </p:set>
                                    <p:animEffect transition="in" filter="fade">
                                      <p:cBhvr>
                                        <p:cTn id="35" dur="5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21"/>
          <p:cNvPicPr preferRelativeResize="0"/>
          <p:nvPr/>
        </p:nvPicPr>
        <p:blipFill rotWithShape="1">
          <a:blip r:embed="rId3">
            <a:alphaModFix/>
          </a:blip>
          <a:srcRect/>
          <a:stretch/>
        </p:blipFill>
        <p:spPr>
          <a:xfrm>
            <a:off x="1382994" y="2512166"/>
            <a:ext cx="3110150" cy="815420"/>
          </a:xfrm>
          <a:prstGeom prst="rect">
            <a:avLst/>
          </a:prstGeom>
          <a:noFill/>
          <a:ln>
            <a:noFill/>
          </a:ln>
        </p:spPr>
      </p:pic>
      <p:sp>
        <p:nvSpPr>
          <p:cNvPr id="421" name="Google Shape;421;p21"/>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Jalankan Perintah-perintah berikut:</a:t>
            </a:r>
            <a:endParaRPr/>
          </a:p>
        </p:txBody>
      </p:sp>
      <p:pic>
        <p:nvPicPr>
          <p:cNvPr id="422" name="Google Shape;422;p21"/>
          <p:cNvPicPr preferRelativeResize="0"/>
          <p:nvPr/>
        </p:nvPicPr>
        <p:blipFill rotWithShape="1">
          <a:blip r:embed="rId4">
            <a:alphaModFix/>
          </a:blip>
          <a:srcRect/>
          <a:stretch/>
        </p:blipFill>
        <p:spPr>
          <a:xfrm>
            <a:off x="6147460" y="3497712"/>
            <a:ext cx="1943844" cy="492329"/>
          </a:xfrm>
          <a:prstGeom prst="rect">
            <a:avLst/>
          </a:prstGeom>
          <a:noFill/>
          <a:ln>
            <a:noFill/>
          </a:ln>
        </p:spPr>
      </p:pic>
      <p:pic>
        <p:nvPicPr>
          <p:cNvPr id="423" name="Google Shape;423;p21"/>
          <p:cNvPicPr preferRelativeResize="0"/>
          <p:nvPr/>
        </p:nvPicPr>
        <p:blipFill rotWithShape="1">
          <a:blip r:embed="rId5">
            <a:alphaModFix/>
          </a:blip>
          <a:srcRect/>
          <a:stretch/>
        </p:blipFill>
        <p:spPr>
          <a:xfrm>
            <a:off x="6147460" y="4159120"/>
            <a:ext cx="3200863" cy="538485"/>
          </a:xfrm>
          <a:prstGeom prst="rect">
            <a:avLst/>
          </a:prstGeom>
          <a:noFill/>
          <a:ln>
            <a:noFill/>
          </a:ln>
        </p:spPr>
      </p:pic>
      <p:pic>
        <p:nvPicPr>
          <p:cNvPr id="424" name="Google Shape;424;p21"/>
          <p:cNvPicPr preferRelativeResize="0"/>
          <p:nvPr/>
        </p:nvPicPr>
        <p:blipFill rotWithShape="1">
          <a:blip r:embed="rId6">
            <a:alphaModFix/>
          </a:blip>
          <a:srcRect/>
          <a:stretch/>
        </p:blipFill>
        <p:spPr>
          <a:xfrm>
            <a:off x="1382994" y="3497712"/>
            <a:ext cx="2529466" cy="885113"/>
          </a:xfrm>
          <a:prstGeom prst="rect">
            <a:avLst/>
          </a:prstGeom>
          <a:noFill/>
          <a:ln>
            <a:noFill/>
          </a:ln>
        </p:spPr>
      </p:pic>
      <p:pic>
        <p:nvPicPr>
          <p:cNvPr id="425" name="Google Shape;425;p21"/>
          <p:cNvPicPr preferRelativeResize="0"/>
          <p:nvPr/>
        </p:nvPicPr>
        <p:blipFill rotWithShape="1">
          <a:blip r:embed="rId7">
            <a:alphaModFix/>
          </a:blip>
          <a:srcRect/>
          <a:stretch/>
        </p:blipFill>
        <p:spPr>
          <a:xfrm>
            <a:off x="1382994" y="4552951"/>
            <a:ext cx="3071273" cy="876961"/>
          </a:xfrm>
          <a:prstGeom prst="rect">
            <a:avLst/>
          </a:prstGeom>
          <a:noFill/>
          <a:ln>
            <a:noFill/>
          </a:ln>
        </p:spPr>
      </p:pic>
      <p:pic>
        <p:nvPicPr>
          <p:cNvPr id="426" name="Google Shape;426;p21"/>
          <p:cNvPicPr preferRelativeResize="0"/>
          <p:nvPr/>
        </p:nvPicPr>
        <p:blipFill rotWithShape="1">
          <a:blip r:embed="rId8">
            <a:alphaModFix/>
          </a:blip>
          <a:srcRect/>
          <a:stretch/>
        </p:blipFill>
        <p:spPr>
          <a:xfrm>
            <a:off x="6147460" y="2512166"/>
            <a:ext cx="2488540" cy="815420"/>
          </a:xfrm>
          <a:prstGeom prst="rect">
            <a:avLst/>
          </a:prstGeom>
          <a:noFill/>
          <a:ln>
            <a:noFill/>
          </a:ln>
        </p:spPr>
      </p:pic>
      <p:pic>
        <p:nvPicPr>
          <p:cNvPr id="427" name="Google Shape;427;p21"/>
          <p:cNvPicPr preferRelativeResize="0"/>
          <p:nvPr/>
        </p:nvPicPr>
        <p:blipFill rotWithShape="1">
          <a:blip r:embed="rId9">
            <a:alphaModFix/>
          </a:blip>
          <a:srcRect/>
          <a:stretch/>
        </p:blipFill>
        <p:spPr>
          <a:xfrm>
            <a:off x="1382994" y="5600038"/>
            <a:ext cx="3680344" cy="8769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0"/>
                                        </p:tgtEl>
                                        <p:attrNameLst>
                                          <p:attrName>style.visibility</p:attrName>
                                        </p:attrNameLst>
                                      </p:cBhvr>
                                      <p:to>
                                        <p:strVal val="visible"/>
                                      </p:to>
                                    </p:set>
                                    <p:animEffect transition="in" filter="fade">
                                      <p:cBhvr>
                                        <p:cTn id="7" dur="500"/>
                                        <p:tgtEl>
                                          <p:spTgt spid="4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4"/>
                                        </p:tgtEl>
                                        <p:attrNameLst>
                                          <p:attrName>style.visibility</p:attrName>
                                        </p:attrNameLst>
                                      </p:cBhvr>
                                      <p:to>
                                        <p:strVal val="visible"/>
                                      </p:to>
                                    </p:set>
                                    <p:animEffect transition="in" filter="fade">
                                      <p:cBhvr>
                                        <p:cTn id="12" dur="500"/>
                                        <p:tgtEl>
                                          <p:spTgt spid="4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5"/>
                                        </p:tgtEl>
                                        <p:attrNameLst>
                                          <p:attrName>style.visibility</p:attrName>
                                        </p:attrNameLst>
                                      </p:cBhvr>
                                      <p:to>
                                        <p:strVal val="visible"/>
                                      </p:to>
                                    </p:set>
                                    <p:animEffect transition="in" filter="fade">
                                      <p:cBhvr>
                                        <p:cTn id="17" dur="500"/>
                                        <p:tgtEl>
                                          <p:spTgt spid="4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6"/>
                                        </p:tgtEl>
                                        <p:attrNameLst>
                                          <p:attrName>style.visibility</p:attrName>
                                        </p:attrNameLst>
                                      </p:cBhvr>
                                      <p:to>
                                        <p:strVal val="visible"/>
                                      </p:to>
                                    </p:set>
                                    <p:animEffect transition="in" filter="fade">
                                      <p:cBhvr>
                                        <p:cTn id="22" dur="500"/>
                                        <p:tgtEl>
                                          <p:spTgt spid="4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27"/>
                                        </p:tgtEl>
                                        <p:attrNameLst>
                                          <p:attrName>style.visibility</p:attrName>
                                        </p:attrNameLst>
                                      </p:cBhvr>
                                      <p:to>
                                        <p:strVal val="visible"/>
                                      </p:to>
                                    </p:set>
                                    <p:animEffect transition="in" filter="fade">
                                      <p:cBhvr>
                                        <p:cTn id="27" dur="500"/>
                                        <p:tgtEl>
                                          <p:spTgt spid="4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2"/>
                                        </p:tgtEl>
                                        <p:attrNameLst>
                                          <p:attrName>style.visibility</p:attrName>
                                        </p:attrNameLst>
                                      </p:cBhvr>
                                      <p:to>
                                        <p:strVal val="visible"/>
                                      </p:to>
                                    </p:set>
                                    <p:animEffect transition="in" filter="fade">
                                      <p:cBhvr>
                                        <p:cTn id="32" dur="500"/>
                                        <p:tgtEl>
                                          <p:spTgt spid="4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23"/>
                                        </p:tgtEl>
                                        <p:attrNameLst>
                                          <p:attrName>style.visibility</p:attrName>
                                        </p:attrNameLst>
                                      </p:cBhvr>
                                      <p:to>
                                        <p:strVal val="visible"/>
                                      </p:to>
                                    </p:set>
                                    <p:animEffect transition="in" filter="fade">
                                      <p:cBhvr>
                                        <p:cTn id="37" dur="5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3060897d798_0_13"/>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Post Test</a:t>
            </a:r>
            <a:endParaRPr/>
          </a:p>
        </p:txBody>
      </p:sp>
      <p:sp>
        <p:nvSpPr>
          <p:cNvPr id="384" name="Google Shape;384;g3060897d798_0_13"/>
          <p:cNvSpPr txBox="1">
            <a:spLocks noGrp="1"/>
          </p:cNvSpPr>
          <p:nvPr>
            <p:ph type="body" idx="1"/>
          </p:nvPr>
        </p:nvSpPr>
        <p:spPr>
          <a:xfrm>
            <a:off x="1154950" y="2374900"/>
            <a:ext cx="9974100" cy="3416400"/>
          </a:xfrm>
          <a:prstGeom prst="rect">
            <a:avLst/>
          </a:prstGeom>
        </p:spPr>
        <p:txBody>
          <a:bodyPr spcFirstLastPara="1" wrap="square" lIns="91425" tIns="45700" rIns="91425" bIns="45700" anchor="t" anchorCtr="0">
            <a:normAutofit/>
          </a:bodyPr>
          <a:lstStyle/>
          <a:p>
            <a:pPr marL="0" lvl="0" indent="0" algn="ctr" rtl="0">
              <a:spcBef>
                <a:spcPts val="1000"/>
              </a:spcBef>
              <a:spcAft>
                <a:spcPts val="0"/>
              </a:spcAft>
              <a:buNone/>
            </a:pPr>
            <a:r>
              <a:rPr lang="en-ID" sz="3500" u="sng">
                <a:solidFill>
                  <a:schemeClr val="hlink"/>
                </a:solidFill>
              </a:rPr>
              <a:t>https://forms.gle/Cruix6Ri3mFYsEQG9</a:t>
            </a:r>
            <a:r>
              <a:rPr lang="en-ID" sz="3500"/>
              <a:t> </a:t>
            </a:r>
            <a:endParaRPr sz="3500"/>
          </a:p>
        </p:txBody>
      </p:sp>
      <p:pic>
        <p:nvPicPr>
          <p:cNvPr id="4" name="Picture 3">
            <a:extLst>
              <a:ext uri="{FF2B5EF4-FFF2-40B4-BE49-F238E27FC236}">
                <a16:creationId xmlns:a16="http://schemas.microsoft.com/office/drawing/2014/main" id="{93DF255F-4DEF-5CF2-3141-7E66495874DD}"/>
              </a:ext>
            </a:extLst>
          </p:cNvPr>
          <p:cNvPicPr>
            <a:picLocks noChangeAspect="1"/>
          </p:cNvPicPr>
          <p:nvPr/>
        </p:nvPicPr>
        <p:blipFill>
          <a:blip r:embed="rId3"/>
          <a:stretch>
            <a:fillRect/>
          </a:stretch>
        </p:blipFill>
        <p:spPr>
          <a:xfrm>
            <a:off x="4387800" y="3069032"/>
            <a:ext cx="3416400" cy="3416400"/>
          </a:xfrm>
          <a:prstGeom prst="rect">
            <a:avLst/>
          </a:prstGeom>
        </p:spPr>
      </p:pic>
    </p:spTree>
    <p:extLst>
      <p:ext uri="{BB962C8B-B14F-4D97-AF65-F5344CB8AC3E}">
        <p14:creationId xmlns:p14="http://schemas.microsoft.com/office/powerpoint/2010/main" val="2457807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432" name="Google Shape;432;p22" descr="Apa itu Database Server? Jenis, Cara Kerja, Contoh Server Database - Tanya  Digital"/>
          <p:cNvPicPr preferRelativeResize="0"/>
          <p:nvPr/>
        </p:nvPicPr>
        <p:blipFill rotWithShape="1">
          <a:blip r:embed="rId3">
            <a:alphaModFix/>
          </a:blip>
          <a:srcRect r="9675"/>
          <a:stretch/>
        </p:blipFill>
        <p:spPr>
          <a:xfrm>
            <a:off x="3188727" y="501445"/>
            <a:ext cx="8531325" cy="5891460"/>
          </a:xfrm>
          <a:prstGeom prst="rect">
            <a:avLst/>
          </a:prstGeom>
          <a:noFill/>
          <a:ln>
            <a:noFill/>
          </a:ln>
        </p:spPr>
      </p:pic>
      <p:sp>
        <p:nvSpPr>
          <p:cNvPr id="433" name="Google Shape;433;p22"/>
          <p:cNvSpPr txBox="1">
            <a:spLocks noGrp="1"/>
          </p:cNvSpPr>
          <p:nvPr>
            <p:ph type="ctrTitle"/>
          </p:nvPr>
        </p:nvSpPr>
        <p:spPr>
          <a:xfrm>
            <a:off x="1154954" y="2099733"/>
            <a:ext cx="9360645" cy="267764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Pemantapan Materi DDL</a:t>
            </a:r>
            <a:endParaRPr b="1">
              <a:solidFill>
                <a:schemeClr val="lt1"/>
              </a:solidFill>
            </a:endParaRPr>
          </a:p>
        </p:txBody>
      </p:sp>
      <p:sp>
        <p:nvSpPr>
          <p:cNvPr id="434" name="Google Shape;434;p22"/>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A800F-9A5E-5A57-D0C4-7E66553072CD}"/>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BCE4BE75-66B7-B193-D8B2-69AF97E7D1D7}"/>
              </a:ext>
            </a:extLst>
          </p:cNvPr>
          <p:cNvSpPr>
            <a:spLocks noGrp="1"/>
          </p:cNvSpPr>
          <p:nvPr>
            <p:ph type="body" idx="1"/>
          </p:nvPr>
        </p:nvSpPr>
        <p:spPr/>
        <p:txBody>
          <a:bodyPr/>
          <a:lstStyle/>
          <a:p>
            <a:pPr marL="137160" indent="0">
              <a:buNone/>
            </a:pPr>
            <a:r>
              <a:rPr lang="en-ID"/>
              <a:t>Mahasiswa mampu menerapkan perintah DDL di MySQL meliputi </a:t>
            </a:r>
            <a:r>
              <a:rPr lang="en-ID" b="1"/>
              <a:t>CREATE</a:t>
            </a:r>
            <a:r>
              <a:rPr lang="en-ID"/>
              <a:t>, </a:t>
            </a:r>
            <a:r>
              <a:rPr lang="en-ID" b="1"/>
              <a:t>ALTER</a:t>
            </a:r>
            <a:r>
              <a:rPr lang="en-ID"/>
              <a:t>, dan </a:t>
            </a:r>
            <a:r>
              <a:rPr lang="en-ID" b="1"/>
              <a:t>DROP</a:t>
            </a:r>
            <a:r>
              <a:rPr lang="en-ID"/>
              <a:t> untuk membuat, mengubah, dan menghapus tabel atau struktur basis data lainnya.</a:t>
            </a:r>
          </a:p>
        </p:txBody>
      </p:sp>
    </p:spTree>
    <p:extLst>
      <p:ext uri="{BB962C8B-B14F-4D97-AF65-F5344CB8AC3E}">
        <p14:creationId xmlns:p14="http://schemas.microsoft.com/office/powerpoint/2010/main" val="283826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Tugas</a:t>
            </a:r>
            <a:endParaRPr/>
          </a:p>
        </p:txBody>
      </p:sp>
      <p:pic>
        <p:nvPicPr>
          <p:cNvPr id="441" name="Google Shape;441;p23"/>
          <p:cNvPicPr preferRelativeResize="0">
            <a:picLocks noGrp="1"/>
          </p:cNvPicPr>
          <p:nvPr>
            <p:ph type="body" idx="1"/>
          </p:nvPr>
        </p:nvPicPr>
        <p:blipFill rotWithShape="1">
          <a:blip r:embed="rId3">
            <a:alphaModFix/>
          </a:blip>
          <a:srcRect/>
          <a:stretch/>
        </p:blipFill>
        <p:spPr>
          <a:xfrm>
            <a:off x="844860" y="2267473"/>
            <a:ext cx="6822032" cy="4590527"/>
          </a:xfrm>
          <a:prstGeom prst="rect">
            <a:avLst/>
          </a:prstGeom>
          <a:noFill/>
          <a:ln>
            <a:noFill/>
          </a:ln>
        </p:spPr>
      </p:pic>
      <p:sp>
        <p:nvSpPr>
          <p:cNvPr id="442" name="Google Shape;442;p23"/>
          <p:cNvSpPr txBox="1"/>
          <p:nvPr/>
        </p:nvSpPr>
        <p:spPr>
          <a:xfrm>
            <a:off x="7666892" y="2267473"/>
            <a:ext cx="4124969" cy="4310308"/>
          </a:xfrm>
          <a:prstGeom prst="rect">
            <a:avLst/>
          </a:prstGeom>
          <a:noFill/>
          <a:ln>
            <a:noFill/>
          </a:ln>
        </p:spPr>
        <p:txBody>
          <a:bodyPr spcFirstLastPara="1" wrap="square" lIns="91425" tIns="45700" rIns="91425" bIns="45700" anchor="t" anchorCtr="0">
            <a:normAutofit/>
          </a:bodyPr>
          <a:lstStyle/>
          <a:p>
            <a:pPr marL="342900" marR="0" lvl="0" indent="-342900" algn="l" rtl="0">
              <a:spcBef>
                <a:spcPts val="0"/>
              </a:spcBef>
              <a:spcAft>
                <a:spcPts val="0"/>
              </a:spcAft>
              <a:buClr>
                <a:schemeClr val="accent1"/>
              </a:buClr>
              <a:buSzPts val="1440"/>
              <a:buFont typeface="Noto Sans Symbols"/>
              <a:buChar char="►"/>
            </a:pPr>
            <a:r>
              <a:rPr lang="en-ID" sz="1800" b="0" i="0">
                <a:solidFill>
                  <a:srgbClr val="3F3F3F"/>
                </a:solidFill>
                <a:latin typeface="Century Gothic"/>
                <a:ea typeface="Century Gothic"/>
                <a:cs typeface="Century Gothic"/>
                <a:sym typeface="Century Gothic"/>
              </a:rPr>
              <a:t>Transformasikan ERD pada gambar disamping kedalam database mysql.</a:t>
            </a:r>
            <a:endParaRPr/>
          </a:p>
          <a:p>
            <a:pPr marL="342900" marR="0" lvl="0" indent="-342900" algn="l" rtl="0">
              <a:spcBef>
                <a:spcPts val="1000"/>
              </a:spcBef>
              <a:spcAft>
                <a:spcPts val="0"/>
              </a:spcAft>
              <a:buClr>
                <a:schemeClr val="accent1"/>
              </a:buClr>
              <a:buSzPts val="1440"/>
              <a:buFont typeface="Noto Sans Symbols"/>
              <a:buChar char="►"/>
            </a:pPr>
            <a:r>
              <a:rPr lang="en-ID" sz="1800" b="0" i="0">
                <a:solidFill>
                  <a:srgbClr val="3F3F3F"/>
                </a:solidFill>
                <a:latin typeface="Century Gothic"/>
                <a:ea typeface="Century Gothic"/>
                <a:cs typeface="Century Gothic"/>
                <a:sym typeface="Century Gothic"/>
              </a:rPr>
              <a:t>Nama database perpustakaan_prodi</a:t>
            </a:r>
            <a:endParaRPr sz="1800" b="0" i="0">
              <a:solidFill>
                <a:srgbClr val="3F3F3F"/>
              </a:solidFill>
              <a:latin typeface="Century Gothic"/>
              <a:ea typeface="Century Gothic"/>
              <a:cs typeface="Century Gothic"/>
              <a:sym typeface="Century Gothic"/>
            </a:endParaRPr>
          </a:p>
          <a:p>
            <a:pPr marL="342900" marR="0" lvl="0" indent="-342900" algn="l" rtl="0">
              <a:spcBef>
                <a:spcPts val="1000"/>
              </a:spcBef>
              <a:spcAft>
                <a:spcPts val="0"/>
              </a:spcAft>
              <a:buClr>
                <a:schemeClr val="accent1"/>
              </a:buClr>
              <a:buSzPts val="1440"/>
              <a:buFont typeface="Noto Sans Symbols"/>
              <a:buChar char="►"/>
            </a:pPr>
            <a:r>
              <a:rPr lang="en-ID" sz="1800" b="0" i="0">
                <a:solidFill>
                  <a:srgbClr val="3F3F3F"/>
                </a:solidFill>
                <a:latin typeface="Century Gothic"/>
                <a:ea typeface="Century Gothic"/>
                <a:cs typeface="Century Gothic"/>
                <a:sym typeface="Century Gothic"/>
              </a:rPr>
              <a:t>Buat table yang tidak memiliki foreign key terlebih dahulu (Tabel anggota, petugas, buku, jenis_denda)</a:t>
            </a:r>
            <a:endParaRPr/>
          </a:p>
          <a:p>
            <a:pPr marL="342900" marR="0" lvl="0" indent="-342900" algn="l" rtl="0">
              <a:spcBef>
                <a:spcPts val="1000"/>
              </a:spcBef>
              <a:spcAft>
                <a:spcPts val="0"/>
              </a:spcAft>
              <a:buClr>
                <a:schemeClr val="accent1"/>
              </a:buClr>
              <a:buSzPts val="1440"/>
              <a:buFont typeface="Noto Sans Symbols"/>
              <a:buChar char="►"/>
            </a:pPr>
            <a:r>
              <a:rPr lang="en-ID" sz="1800" b="0" i="0">
                <a:solidFill>
                  <a:srgbClr val="3F3F3F"/>
                </a:solidFill>
                <a:latin typeface="Century Gothic"/>
                <a:ea typeface="Century Gothic"/>
                <a:cs typeface="Century Gothic"/>
                <a:sym typeface="Century Gothic"/>
              </a:rPr>
              <a:t>Lanjutkan, buat table yang memiliki foreign key (Tabel daftar_hadir, peminjaman, denda)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7" name="Google Shape;447;p24" descr="Apa itu Database Server? Jenis, Cara Kerja, Contoh Server Database - Tanya  Digital"/>
          <p:cNvPicPr preferRelativeResize="0"/>
          <p:nvPr/>
        </p:nvPicPr>
        <p:blipFill rotWithShape="1">
          <a:blip r:embed="rId3">
            <a:alphaModFix/>
          </a:blip>
          <a:srcRect r="9675"/>
          <a:stretch/>
        </p:blipFill>
        <p:spPr>
          <a:xfrm>
            <a:off x="3188727" y="501445"/>
            <a:ext cx="8531325" cy="5891460"/>
          </a:xfrm>
          <a:prstGeom prst="rect">
            <a:avLst/>
          </a:prstGeom>
          <a:noFill/>
          <a:ln>
            <a:noFill/>
          </a:ln>
        </p:spPr>
      </p:pic>
      <p:sp>
        <p:nvSpPr>
          <p:cNvPr id="448" name="Google Shape;448;p24"/>
          <p:cNvSpPr txBox="1">
            <a:spLocks noGrp="1"/>
          </p:cNvSpPr>
          <p:nvPr>
            <p:ph type="ctrTitle"/>
          </p:nvPr>
        </p:nvSpPr>
        <p:spPr>
          <a:xfrm>
            <a:off x="1154954" y="2099733"/>
            <a:ext cx="9360645" cy="267764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 – Sec 1 </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INSERT | UPDATE | DELETE</a:t>
            </a:r>
            <a:endParaRPr sz="3600" b="1">
              <a:solidFill>
                <a:schemeClr val="lt1"/>
              </a:solidFill>
            </a:endParaRPr>
          </a:p>
        </p:txBody>
      </p:sp>
      <p:sp>
        <p:nvSpPr>
          <p:cNvPr id="449" name="Google Shape;449;p24"/>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4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E5D3-2710-C175-2267-05747D2F6901}"/>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30BEE3BF-F0AE-9891-9A87-30B950A97915}"/>
              </a:ext>
            </a:extLst>
          </p:cNvPr>
          <p:cNvSpPr>
            <a:spLocks noGrp="1"/>
          </p:cNvSpPr>
          <p:nvPr>
            <p:ph type="body" idx="1"/>
          </p:nvPr>
        </p:nvSpPr>
        <p:spPr/>
        <p:txBody>
          <a:bodyPr/>
          <a:lstStyle/>
          <a:p>
            <a:r>
              <a:rPr lang="en-US"/>
              <a:t>Mahasiswa memahami perintah sql (DML) </a:t>
            </a:r>
            <a:r>
              <a:rPr lang="en-US" b="1"/>
              <a:t>insert</a:t>
            </a:r>
            <a:r>
              <a:rPr lang="en-US"/>
              <a:t>, </a:t>
            </a:r>
            <a:r>
              <a:rPr lang="en-US" b="1"/>
              <a:t>update</a:t>
            </a:r>
            <a:r>
              <a:rPr lang="en-US"/>
              <a:t>, </a:t>
            </a:r>
            <a:r>
              <a:rPr lang="en-US" b="1"/>
              <a:t>delete.</a:t>
            </a:r>
          </a:p>
          <a:p>
            <a:r>
              <a:rPr lang="en-US"/>
              <a:t>Mahasiswa mampu mempraktekan perintah-perintah SQL (DML) </a:t>
            </a:r>
            <a:r>
              <a:rPr lang="en-US" b="1"/>
              <a:t>insert</a:t>
            </a:r>
            <a:r>
              <a:rPr lang="en-US"/>
              <a:t>, </a:t>
            </a:r>
            <a:r>
              <a:rPr lang="en-US" b="1"/>
              <a:t>update</a:t>
            </a:r>
            <a:r>
              <a:rPr lang="en-US"/>
              <a:t>, </a:t>
            </a:r>
            <a:r>
              <a:rPr lang="en-US" b="1"/>
              <a:t>delete</a:t>
            </a:r>
            <a:endParaRPr lang="en-ID"/>
          </a:p>
        </p:txBody>
      </p:sp>
    </p:spTree>
    <p:extLst>
      <p:ext uri="{BB962C8B-B14F-4D97-AF65-F5344CB8AC3E}">
        <p14:creationId xmlns:p14="http://schemas.microsoft.com/office/powerpoint/2010/main" val="2939835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E8E2-7FA1-7710-5763-4594CFB94E6F}"/>
              </a:ext>
            </a:extLst>
          </p:cNvPr>
          <p:cNvSpPr>
            <a:spLocks noGrp="1"/>
          </p:cNvSpPr>
          <p:nvPr>
            <p:ph type="title"/>
          </p:nvPr>
        </p:nvSpPr>
        <p:spPr/>
        <p:txBody>
          <a:bodyPr/>
          <a:lstStyle/>
          <a:p>
            <a:r>
              <a:rPr lang="en-US"/>
              <a:t>Pre Test</a:t>
            </a:r>
            <a:endParaRPr lang="en-ID"/>
          </a:p>
        </p:txBody>
      </p:sp>
      <p:sp>
        <p:nvSpPr>
          <p:cNvPr id="3" name="Text Placeholder 2">
            <a:extLst>
              <a:ext uri="{FF2B5EF4-FFF2-40B4-BE49-F238E27FC236}">
                <a16:creationId xmlns:a16="http://schemas.microsoft.com/office/drawing/2014/main" id="{9F04C7C2-4E43-4AD3-F430-01C61DEFB91E}"/>
              </a:ext>
            </a:extLst>
          </p:cNvPr>
          <p:cNvSpPr>
            <a:spLocks noGrp="1"/>
          </p:cNvSpPr>
          <p:nvPr>
            <p:ph type="body" idx="1"/>
          </p:nvPr>
        </p:nvSpPr>
        <p:spPr>
          <a:xfrm>
            <a:off x="1683170" y="5884332"/>
            <a:ext cx="8825659" cy="500149"/>
          </a:xfrm>
        </p:spPr>
        <p:txBody>
          <a:bodyPr/>
          <a:lstStyle/>
          <a:p>
            <a:pPr marL="137160" indent="0" algn="ctr">
              <a:buNone/>
            </a:pPr>
            <a:r>
              <a:rPr lang="en-ID"/>
              <a:t>https://forms.gle/us4bWofseB2WAgNP9</a:t>
            </a:r>
          </a:p>
        </p:txBody>
      </p:sp>
      <p:pic>
        <p:nvPicPr>
          <p:cNvPr id="5" name="Picture 4">
            <a:extLst>
              <a:ext uri="{FF2B5EF4-FFF2-40B4-BE49-F238E27FC236}">
                <a16:creationId xmlns:a16="http://schemas.microsoft.com/office/drawing/2014/main" id="{A3D5176D-6E85-F4E6-1D34-E71A875F1256}"/>
              </a:ext>
            </a:extLst>
          </p:cNvPr>
          <p:cNvPicPr>
            <a:picLocks noChangeAspect="1"/>
          </p:cNvPicPr>
          <p:nvPr/>
        </p:nvPicPr>
        <p:blipFill>
          <a:blip r:embed="rId3"/>
          <a:stretch>
            <a:fillRect/>
          </a:stretch>
        </p:blipFill>
        <p:spPr>
          <a:xfrm>
            <a:off x="4147300" y="1986932"/>
            <a:ext cx="3897400" cy="3897400"/>
          </a:xfrm>
          <a:prstGeom prst="rect">
            <a:avLst/>
          </a:prstGeom>
        </p:spPr>
      </p:pic>
    </p:spTree>
    <p:extLst>
      <p:ext uri="{BB962C8B-B14F-4D97-AF65-F5344CB8AC3E}">
        <p14:creationId xmlns:p14="http://schemas.microsoft.com/office/powerpoint/2010/main" val="27196180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5"/>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Data Manipulation Language (DML)</a:t>
            </a:r>
            <a:endParaRPr/>
          </a:p>
        </p:txBody>
      </p:sp>
      <p:sp>
        <p:nvSpPr>
          <p:cNvPr id="455" name="Google Shape;455;p25"/>
          <p:cNvSpPr txBox="1">
            <a:spLocks noGrp="1"/>
          </p:cNvSpPr>
          <p:nvPr>
            <p:ph type="body" idx="1"/>
          </p:nvPr>
        </p:nvSpPr>
        <p:spPr>
          <a:xfrm>
            <a:off x="1154954" y="2603500"/>
            <a:ext cx="9994827" cy="38676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920"/>
              <a:buChar char="►"/>
            </a:pPr>
            <a:r>
              <a:rPr lang="en-ID" sz="2400" b="1" i="1"/>
              <a:t>Data Manipulasi Language </a:t>
            </a:r>
            <a:r>
              <a:rPr lang="en-ID" sz="2400"/>
              <a:t>(</a:t>
            </a:r>
            <a:r>
              <a:rPr lang="en-ID" sz="2400" b="1"/>
              <a:t>DML</a:t>
            </a:r>
            <a:r>
              <a:rPr lang="en-ID" sz="2400"/>
              <a:t>) merupakan perintah-perintah yang berfungsi untuk melakukan manipulasi data-data yang ada didalam tabel.</a:t>
            </a:r>
            <a:endParaRPr/>
          </a:p>
          <a:p>
            <a:pPr marL="342900" lvl="0" indent="-342900" algn="l" rtl="0">
              <a:spcBef>
                <a:spcPts val="1000"/>
              </a:spcBef>
              <a:spcAft>
                <a:spcPts val="0"/>
              </a:spcAft>
              <a:buSzPts val="1920"/>
              <a:buChar char="►"/>
            </a:pPr>
            <a:r>
              <a:rPr lang="en-ID" sz="2400"/>
              <a:t>Bentuk manipulasi yang bisa dilakukan oleh DML diantaranya:</a:t>
            </a:r>
            <a:endParaRPr/>
          </a:p>
          <a:p>
            <a:pPr marL="742950" lvl="1" indent="-285750" algn="l" rtl="0">
              <a:spcBef>
                <a:spcPts val="1000"/>
              </a:spcBef>
              <a:spcAft>
                <a:spcPts val="0"/>
              </a:spcAft>
              <a:buSzPts val="1600"/>
              <a:buFont typeface="Noto Sans Symbols"/>
              <a:buChar char="❑"/>
            </a:pPr>
            <a:r>
              <a:rPr lang="en-ID" sz="2000"/>
              <a:t>Memasukkan data baru ke dalam tabel</a:t>
            </a:r>
            <a:endParaRPr sz="2000"/>
          </a:p>
          <a:p>
            <a:pPr marL="742950" lvl="1" indent="-285750" algn="l" rtl="0">
              <a:spcBef>
                <a:spcPts val="1000"/>
              </a:spcBef>
              <a:spcAft>
                <a:spcPts val="0"/>
              </a:spcAft>
              <a:buSzPts val="1600"/>
              <a:buFont typeface="Noto Sans Symbols"/>
              <a:buChar char="❑"/>
            </a:pPr>
            <a:r>
              <a:rPr lang="en-ID" sz="2000"/>
              <a:t>Pengubahan data</a:t>
            </a:r>
            <a:endParaRPr/>
          </a:p>
          <a:p>
            <a:pPr marL="742950" lvl="1" indent="-285750" algn="l" rtl="0">
              <a:spcBef>
                <a:spcPts val="1000"/>
              </a:spcBef>
              <a:spcAft>
                <a:spcPts val="0"/>
              </a:spcAft>
              <a:buSzPts val="1600"/>
              <a:buFont typeface="Noto Sans Symbols"/>
              <a:buChar char="❑"/>
            </a:pPr>
            <a:r>
              <a:rPr lang="en-ID" sz="2000"/>
              <a:t>Menampilkan data dengan kriteria tertentu</a:t>
            </a:r>
            <a:endParaRPr sz="2000"/>
          </a:p>
          <a:p>
            <a:pPr marL="742950" lvl="1" indent="-285750" algn="l" rtl="0">
              <a:spcBef>
                <a:spcPts val="1000"/>
              </a:spcBef>
              <a:spcAft>
                <a:spcPts val="0"/>
              </a:spcAft>
              <a:buSzPts val="1600"/>
              <a:buFont typeface="Noto Sans Symbols"/>
              <a:buChar char="❑"/>
            </a:pPr>
            <a:r>
              <a:rPr lang="en-ID" sz="2000"/>
              <a:t>Menampilkan data secara terurut. </a:t>
            </a:r>
            <a:endParaRPr/>
          </a:p>
          <a:p>
            <a:pPr marL="742950" lvl="1" indent="-285750" algn="l" rtl="0">
              <a:spcBef>
                <a:spcPts val="1000"/>
              </a:spcBef>
              <a:spcAft>
                <a:spcPts val="0"/>
              </a:spcAft>
              <a:buSzPts val="1600"/>
              <a:buFont typeface="Noto Sans Symbols"/>
              <a:buChar char="❑"/>
            </a:pPr>
            <a:r>
              <a:rPr lang="en-ID" sz="2000"/>
              <a:t>Penghapusan data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Perintah-perintah DML</a:t>
            </a:r>
            <a:endParaRPr/>
          </a:p>
        </p:txBody>
      </p:sp>
      <p:graphicFrame>
        <p:nvGraphicFramePr>
          <p:cNvPr id="461" name="Google Shape;461;p26"/>
          <p:cNvGraphicFramePr/>
          <p:nvPr/>
        </p:nvGraphicFramePr>
        <p:xfrm>
          <a:off x="1154954" y="2839474"/>
          <a:ext cx="10186925" cy="2590850"/>
        </p:xfrm>
        <a:graphic>
          <a:graphicData uri="http://schemas.openxmlformats.org/drawingml/2006/table">
            <a:tbl>
              <a:tblPr firstRow="1" bandRow="1">
                <a:noFill/>
                <a:tableStyleId>{E96786A7-9993-4E66-9151-801E225A963D}</a:tableStyleId>
              </a:tblPr>
              <a:tblGrid>
                <a:gridCol w="2070850">
                  <a:extLst>
                    <a:ext uri="{9D8B030D-6E8A-4147-A177-3AD203B41FA5}">
                      <a16:colId xmlns:a16="http://schemas.microsoft.com/office/drawing/2014/main" val="20000"/>
                    </a:ext>
                  </a:extLst>
                </a:gridCol>
                <a:gridCol w="811607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ID" sz="2800" u="none" strike="noStrike" cap="none"/>
                        <a:t>Perintah</a:t>
                      </a:r>
                      <a:endParaRPr sz="2800" u="none" strike="noStrike" cap="none"/>
                    </a:p>
                  </a:txBody>
                  <a:tcPr marL="91450" marR="91450" marT="45725" marB="45725"/>
                </a:tc>
                <a:tc>
                  <a:txBody>
                    <a:bodyPr/>
                    <a:lstStyle/>
                    <a:p>
                      <a:pPr marL="0" marR="0" lvl="0" indent="0" algn="ctr" rtl="0">
                        <a:spcBef>
                          <a:spcPts val="0"/>
                        </a:spcBef>
                        <a:spcAft>
                          <a:spcPts val="0"/>
                        </a:spcAft>
                        <a:buNone/>
                      </a:pPr>
                      <a:r>
                        <a:rPr lang="en-ID" sz="2800" u="none" strike="noStrike" cap="none"/>
                        <a:t>Keterangan</a:t>
                      </a:r>
                      <a:endParaRPr sz="2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ID" sz="2800" u="none" strike="noStrike" cap="none"/>
                        <a:t>INSERT</a:t>
                      </a:r>
                      <a:endParaRPr sz="2800" u="none" strike="noStrike" cap="none"/>
                    </a:p>
                  </a:txBody>
                  <a:tcPr marL="91450" marR="91450" marT="45725" marB="45725"/>
                </a:tc>
                <a:tc>
                  <a:txBody>
                    <a:bodyPr/>
                    <a:lstStyle/>
                    <a:p>
                      <a:pPr marL="0" marR="0" lvl="0" indent="0" algn="l" rtl="0">
                        <a:spcBef>
                          <a:spcPts val="0"/>
                        </a:spcBef>
                        <a:spcAft>
                          <a:spcPts val="0"/>
                        </a:spcAft>
                        <a:buNone/>
                      </a:pPr>
                      <a:r>
                        <a:rPr lang="en-ID" sz="2800" u="none" strike="noStrike" cap="none"/>
                        <a:t>Menambahkan record pada table database</a:t>
                      </a:r>
                      <a:endParaRPr sz="2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ID" sz="2800"/>
                        <a:t>UPDATE</a:t>
                      </a:r>
                      <a:endParaRPr sz="2800"/>
                    </a:p>
                  </a:txBody>
                  <a:tcPr marL="91450" marR="91450" marT="45725" marB="45725"/>
                </a:tc>
                <a:tc>
                  <a:txBody>
                    <a:bodyPr/>
                    <a:lstStyle/>
                    <a:p>
                      <a:pPr marL="0" marR="0" lvl="0" indent="0" algn="l" rtl="0">
                        <a:spcBef>
                          <a:spcPts val="0"/>
                        </a:spcBef>
                        <a:spcAft>
                          <a:spcPts val="0"/>
                        </a:spcAft>
                        <a:buNone/>
                      </a:pPr>
                      <a:r>
                        <a:rPr lang="en-ID" sz="2800"/>
                        <a:t>Mengubah record pada table database</a:t>
                      </a:r>
                      <a:endParaRPr sz="2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ID" sz="2800"/>
                        <a:t>DELETE</a:t>
                      </a:r>
                      <a:endParaRPr sz="2800"/>
                    </a:p>
                  </a:txBody>
                  <a:tcPr marL="91450" marR="91450" marT="45725" marB="45725"/>
                </a:tc>
                <a:tc>
                  <a:txBody>
                    <a:bodyPr/>
                    <a:lstStyle/>
                    <a:p>
                      <a:pPr marL="0" marR="0" lvl="0" indent="0" algn="l" rtl="0">
                        <a:spcBef>
                          <a:spcPts val="0"/>
                        </a:spcBef>
                        <a:spcAft>
                          <a:spcPts val="0"/>
                        </a:spcAft>
                        <a:buNone/>
                      </a:pPr>
                      <a:r>
                        <a:rPr lang="en-ID" sz="2800"/>
                        <a:t>Menghapus record pada table database</a:t>
                      </a:r>
                      <a:endParaRPr sz="2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ID" sz="2800"/>
                        <a:t>SELECT</a:t>
                      </a:r>
                      <a:endParaRPr sz="2800"/>
                    </a:p>
                  </a:txBody>
                  <a:tcPr marL="91450" marR="91450" marT="45725" marB="45725"/>
                </a:tc>
                <a:tc>
                  <a:txBody>
                    <a:bodyPr/>
                    <a:lstStyle/>
                    <a:p>
                      <a:pPr marL="0" marR="0" lvl="0" indent="0" algn="l" rtl="0">
                        <a:spcBef>
                          <a:spcPts val="0"/>
                        </a:spcBef>
                        <a:spcAft>
                          <a:spcPts val="0"/>
                        </a:spcAft>
                        <a:buNone/>
                      </a:pPr>
                      <a:r>
                        <a:rPr lang="en-ID" sz="2800"/>
                        <a:t>Melihat record pada table database</a:t>
                      </a:r>
                      <a:endParaRPr sz="280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INSERT</a:t>
            </a:r>
            <a:endParaRPr/>
          </a:p>
        </p:txBody>
      </p:sp>
      <p:sp>
        <p:nvSpPr>
          <p:cNvPr id="467" name="Google Shape;467;p27"/>
          <p:cNvSpPr txBox="1">
            <a:spLocks noGrp="1"/>
          </p:cNvSpPr>
          <p:nvPr>
            <p:ph type="body" idx="1"/>
          </p:nvPr>
        </p:nvSpPr>
        <p:spPr>
          <a:xfrm>
            <a:off x="1154954" y="2603500"/>
            <a:ext cx="9832594" cy="3416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240"/>
              <a:buNone/>
            </a:pPr>
            <a:r>
              <a:rPr lang="en-ID" sz="2800"/>
              <a:t>Penambahan data pada tabel menggunakan perintah  </a:t>
            </a:r>
            <a:r>
              <a:rPr lang="en-ID" sz="2800" b="1"/>
              <a:t>INSERT</a:t>
            </a:r>
            <a:r>
              <a:rPr lang="en-ID" sz="2800"/>
              <a:t>. Dimana aturan Penulisannya adalah sebagai berikut :</a:t>
            </a:r>
            <a:endParaRPr/>
          </a:p>
          <a:p>
            <a:pPr marL="742950" lvl="1" indent="-285750" algn="l" rtl="0">
              <a:spcBef>
                <a:spcPts val="1000"/>
              </a:spcBef>
              <a:spcAft>
                <a:spcPts val="0"/>
              </a:spcAft>
              <a:buSzPts val="1920"/>
              <a:buFont typeface="Noto Sans Symbols"/>
              <a:buChar char="❑"/>
            </a:pPr>
            <a:r>
              <a:rPr lang="en-ID" sz="2400"/>
              <a:t>Apabila yang dimasukkan berupa angka maka tidak  menggunakan tanda petik (‘).</a:t>
            </a:r>
            <a:endParaRPr/>
          </a:p>
          <a:p>
            <a:pPr marL="742950" lvl="1" indent="-285750" algn="l" rtl="0">
              <a:spcBef>
                <a:spcPts val="1000"/>
              </a:spcBef>
              <a:spcAft>
                <a:spcPts val="0"/>
              </a:spcAft>
              <a:buSzPts val="1920"/>
              <a:buFont typeface="Noto Sans Symbols"/>
              <a:buChar char="❑"/>
            </a:pPr>
            <a:r>
              <a:rPr lang="en-ID" sz="2400"/>
              <a:t>Apabila yang dimasukkan berupa karakter dan tanggal menggunakan tanda petik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INSERT</a:t>
            </a:r>
            <a:endParaRPr/>
          </a:p>
        </p:txBody>
      </p:sp>
      <p:sp>
        <p:nvSpPr>
          <p:cNvPr id="474" name="Google Shape;474;p28"/>
          <p:cNvSpPr txBox="1">
            <a:spLocks noGrp="1"/>
          </p:cNvSpPr>
          <p:nvPr>
            <p:ph type="body" idx="1"/>
          </p:nvPr>
        </p:nvSpPr>
        <p:spPr>
          <a:xfrm>
            <a:off x="1154954" y="2603500"/>
            <a:ext cx="9832594" cy="3416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240"/>
              <a:buNone/>
            </a:pPr>
            <a:r>
              <a:rPr lang="en-ID" sz="2800"/>
              <a:t>Tiga syntax SQL untuk menambah baris data: </a:t>
            </a:r>
            <a:endParaRPr/>
          </a:p>
          <a:p>
            <a:pPr marL="342900" lvl="0" indent="-342900" algn="l" rtl="0">
              <a:spcBef>
                <a:spcPts val="1000"/>
              </a:spcBef>
              <a:spcAft>
                <a:spcPts val="0"/>
              </a:spcAft>
              <a:buSzPts val="1920"/>
              <a:buFont typeface="Noto Sans Symbols"/>
              <a:buChar char="❑"/>
            </a:pPr>
            <a:r>
              <a:rPr lang="en-ID" sz="2400" b="1"/>
              <a:t>INSERT</a:t>
            </a:r>
            <a:r>
              <a:rPr lang="en-ID" sz="2400"/>
              <a:t> </a:t>
            </a:r>
            <a:r>
              <a:rPr lang="en-ID" sz="2400" b="1"/>
              <a:t>INTO</a:t>
            </a:r>
            <a:r>
              <a:rPr lang="en-ID" sz="2400"/>
              <a:t> nama_tabel </a:t>
            </a:r>
            <a:r>
              <a:rPr lang="en-ID" sz="2400" b="1"/>
              <a:t>VALUES</a:t>
            </a:r>
            <a:r>
              <a:rPr lang="en-ID" sz="2400"/>
              <a:t> (nilai1, nilai2,nilai-n);</a:t>
            </a:r>
            <a:endParaRPr/>
          </a:p>
          <a:p>
            <a:pPr marL="342900" lvl="0" indent="-342900" algn="l" rtl="0">
              <a:spcBef>
                <a:spcPts val="1000"/>
              </a:spcBef>
              <a:spcAft>
                <a:spcPts val="0"/>
              </a:spcAft>
              <a:buSzPts val="1920"/>
              <a:buFont typeface="Noto Sans Symbols"/>
              <a:buChar char="❑"/>
            </a:pPr>
            <a:r>
              <a:rPr lang="en-ID" sz="2400" b="1"/>
              <a:t>INSERT INTO </a:t>
            </a:r>
            <a:r>
              <a:rPr lang="en-ID" sz="2400"/>
              <a:t>nama_tabel (kolom1,kolom2, kolom-n) </a:t>
            </a:r>
            <a:r>
              <a:rPr lang="en-ID" sz="2400" b="1"/>
              <a:t>VALUES</a:t>
            </a:r>
            <a:r>
              <a:rPr lang="en-ID" sz="2400"/>
              <a:t> (nilai1,nilai2,nilai-n); </a:t>
            </a:r>
            <a:endParaRPr/>
          </a:p>
          <a:p>
            <a:pPr marL="342900" lvl="0" indent="-342900" algn="l" rtl="0">
              <a:spcBef>
                <a:spcPts val="1000"/>
              </a:spcBef>
              <a:spcAft>
                <a:spcPts val="0"/>
              </a:spcAft>
              <a:buSzPts val="1920"/>
              <a:buFont typeface="Noto Sans Symbols"/>
              <a:buChar char="❑"/>
            </a:pPr>
            <a:r>
              <a:rPr lang="en-ID" sz="2400" b="1"/>
              <a:t>INSERT INTO </a:t>
            </a:r>
            <a:r>
              <a:rPr lang="en-ID" sz="2400"/>
              <a:t>nama_tabel </a:t>
            </a:r>
            <a:r>
              <a:rPr lang="en-ID" sz="2400" b="1"/>
              <a:t>VALUES</a:t>
            </a:r>
            <a:r>
              <a:rPr lang="en-ID" sz="2400"/>
              <a:t> (nilai_kolom1a , nilai_kolom2a,...), (nilai_kolom1b, nilai_kolom2b,...);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29215d3ce6f_0_6"/>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INSERT</a:t>
            </a:r>
            <a:endParaRPr/>
          </a:p>
        </p:txBody>
      </p:sp>
      <p:sp>
        <p:nvSpPr>
          <p:cNvPr id="481" name="Google Shape;481;g29215d3ce6f_0_6"/>
          <p:cNvSpPr txBox="1">
            <a:spLocks noGrp="1"/>
          </p:cNvSpPr>
          <p:nvPr>
            <p:ph type="body" idx="1"/>
          </p:nvPr>
        </p:nvSpPr>
        <p:spPr>
          <a:xfrm>
            <a:off x="1154954" y="2603500"/>
            <a:ext cx="9832500" cy="34164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SzPct val="80000"/>
              <a:buNone/>
            </a:pPr>
            <a:r>
              <a:rPr lang="en-ID" sz="2800" b="1"/>
              <a:t>Contoh</a:t>
            </a:r>
            <a:r>
              <a:rPr lang="en-ID" sz="2800"/>
              <a:t>: </a:t>
            </a:r>
            <a:endParaRPr sz="2800"/>
          </a:p>
          <a:p>
            <a:pPr marL="0" lvl="0" indent="0" algn="l" rtl="0">
              <a:spcBef>
                <a:spcPts val="0"/>
              </a:spcBef>
              <a:spcAft>
                <a:spcPts val="0"/>
              </a:spcAft>
              <a:buSzPct val="80000"/>
              <a:buNone/>
            </a:pPr>
            <a:endParaRPr sz="2800"/>
          </a:p>
          <a:p>
            <a:pPr marL="457200" lvl="0" indent="-387191" algn="l" rtl="0">
              <a:spcBef>
                <a:spcPts val="1000"/>
              </a:spcBef>
              <a:spcAft>
                <a:spcPts val="0"/>
              </a:spcAft>
              <a:buClr>
                <a:schemeClr val="dk1"/>
              </a:buClr>
              <a:buSzPct val="100000"/>
              <a:buFont typeface="Calibri"/>
              <a:buChar char="❏"/>
            </a:pPr>
            <a:r>
              <a:rPr lang="en-ID" sz="2700" b="1">
                <a:solidFill>
                  <a:schemeClr val="dk1"/>
                </a:solidFill>
                <a:latin typeface="Calibri"/>
                <a:ea typeface="Calibri"/>
                <a:cs typeface="Calibri"/>
                <a:sym typeface="Calibri"/>
              </a:rPr>
              <a:t>INSERT</a:t>
            </a:r>
            <a:r>
              <a:rPr lang="en-ID" sz="2700">
                <a:solidFill>
                  <a:schemeClr val="dk1"/>
                </a:solidFill>
                <a:latin typeface="Calibri"/>
                <a:ea typeface="Calibri"/>
                <a:cs typeface="Calibri"/>
                <a:sym typeface="Calibri"/>
              </a:rPr>
              <a:t> </a:t>
            </a:r>
            <a:r>
              <a:rPr lang="en-ID" sz="2700" b="1">
                <a:solidFill>
                  <a:schemeClr val="dk1"/>
                </a:solidFill>
                <a:latin typeface="Calibri"/>
                <a:ea typeface="Calibri"/>
                <a:cs typeface="Calibri"/>
                <a:sym typeface="Calibri"/>
              </a:rPr>
              <a:t>INTO</a:t>
            </a:r>
            <a:r>
              <a:rPr lang="en-ID" sz="2700">
                <a:solidFill>
                  <a:schemeClr val="dk1"/>
                </a:solidFill>
                <a:latin typeface="Calibri"/>
                <a:ea typeface="Calibri"/>
                <a:cs typeface="Calibri"/>
                <a:sym typeface="Calibri"/>
              </a:rPr>
              <a:t> jenis_denda </a:t>
            </a:r>
            <a:r>
              <a:rPr lang="en-ID" sz="2700" b="1">
                <a:solidFill>
                  <a:schemeClr val="dk1"/>
                </a:solidFill>
                <a:latin typeface="Calibri"/>
                <a:ea typeface="Calibri"/>
                <a:cs typeface="Calibri"/>
                <a:sym typeface="Calibri"/>
              </a:rPr>
              <a:t>VALUES</a:t>
            </a:r>
            <a:r>
              <a:rPr lang="en-ID" sz="2700">
                <a:solidFill>
                  <a:schemeClr val="dk1"/>
                </a:solidFill>
                <a:latin typeface="Calibri"/>
                <a:ea typeface="Calibri"/>
                <a:cs typeface="Calibri"/>
                <a:sym typeface="Calibri"/>
              </a:rPr>
              <a:t> (01, ”terlambat”,5000);</a:t>
            </a:r>
            <a:endParaRPr sz="2700">
              <a:solidFill>
                <a:schemeClr val="dk1"/>
              </a:solidFill>
              <a:latin typeface="Calibri"/>
              <a:ea typeface="Calibri"/>
              <a:cs typeface="Calibri"/>
              <a:sym typeface="Calibri"/>
            </a:endParaRPr>
          </a:p>
          <a:p>
            <a:pPr marL="457200" lvl="0" indent="0" algn="l" rtl="0">
              <a:spcBef>
                <a:spcPts val="0"/>
              </a:spcBef>
              <a:spcAft>
                <a:spcPts val="0"/>
              </a:spcAft>
              <a:buNone/>
            </a:pPr>
            <a:endParaRPr sz="2700" b="1">
              <a:solidFill>
                <a:schemeClr val="dk1"/>
              </a:solidFill>
              <a:latin typeface="Calibri"/>
              <a:ea typeface="Calibri"/>
              <a:cs typeface="Calibri"/>
              <a:sym typeface="Calibri"/>
            </a:endParaRPr>
          </a:p>
          <a:p>
            <a:pPr marL="457200" lvl="0" indent="-387191" algn="l" rtl="0">
              <a:spcBef>
                <a:spcPts val="0"/>
              </a:spcBef>
              <a:spcAft>
                <a:spcPts val="0"/>
              </a:spcAft>
              <a:buClr>
                <a:schemeClr val="dk1"/>
              </a:buClr>
              <a:buSzPct val="100000"/>
              <a:buFont typeface="Calibri"/>
              <a:buChar char="❏"/>
            </a:pPr>
            <a:r>
              <a:rPr lang="en-ID" sz="2700" b="1">
                <a:solidFill>
                  <a:schemeClr val="dk1"/>
                </a:solidFill>
                <a:latin typeface="Calibri"/>
                <a:ea typeface="Calibri"/>
                <a:cs typeface="Calibri"/>
                <a:sym typeface="Calibri"/>
              </a:rPr>
              <a:t>INSERT INTO </a:t>
            </a:r>
            <a:r>
              <a:rPr lang="en-ID" sz="2700">
                <a:solidFill>
                  <a:schemeClr val="dk1"/>
                </a:solidFill>
                <a:latin typeface="Calibri"/>
                <a:ea typeface="Calibri"/>
                <a:cs typeface="Calibri"/>
                <a:sym typeface="Calibri"/>
              </a:rPr>
              <a:t>jenis_denda (id_jenis_denda, nama_jenis_denda, harga_denda) </a:t>
            </a:r>
            <a:r>
              <a:rPr lang="en-ID" sz="2700" b="1">
                <a:solidFill>
                  <a:schemeClr val="dk1"/>
                </a:solidFill>
                <a:latin typeface="Calibri"/>
                <a:ea typeface="Calibri"/>
                <a:cs typeface="Calibri"/>
                <a:sym typeface="Calibri"/>
              </a:rPr>
              <a:t>VALUES</a:t>
            </a:r>
            <a:r>
              <a:rPr lang="en-ID" sz="2700">
                <a:solidFill>
                  <a:schemeClr val="dk1"/>
                </a:solidFill>
                <a:latin typeface="Calibri"/>
                <a:ea typeface="Calibri"/>
                <a:cs typeface="Calibri"/>
                <a:sym typeface="Calibri"/>
              </a:rPr>
              <a:t> (01, ”terlambat”,5000); </a:t>
            </a:r>
            <a:endParaRPr sz="2700">
              <a:solidFill>
                <a:schemeClr val="dk1"/>
              </a:solidFill>
              <a:latin typeface="Calibri"/>
              <a:ea typeface="Calibri"/>
              <a:cs typeface="Calibri"/>
              <a:sym typeface="Calibri"/>
            </a:endParaRPr>
          </a:p>
          <a:p>
            <a:pPr marL="457200" lvl="0" indent="0" algn="l" rtl="0">
              <a:spcBef>
                <a:spcPts val="0"/>
              </a:spcBef>
              <a:spcAft>
                <a:spcPts val="0"/>
              </a:spcAft>
              <a:buNone/>
            </a:pPr>
            <a:endParaRPr sz="2700" b="1">
              <a:solidFill>
                <a:schemeClr val="dk1"/>
              </a:solidFill>
              <a:latin typeface="Calibri"/>
              <a:ea typeface="Calibri"/>
              <a:cs typeface="Calibri"/>
              <a:sym typeface="Calibri"/>
            </a:endParaRPr>
          </a:p>
          <a:p>
            <a:pPr marL="457200" lvl="0" indent="-387191" algn="l" rtl="0">
              <a:spcBef>
                <a:spcPts val="0"/>
              </a:spcBef>
              <a:spcAft>
                <a:spcPts val="0"/>
              </a:spcAft>
              <a:buClr>
                <a:schemeClr val="dk1"/>
              </a:buClr>
              <a:buSzPct val="100000"/>
              <a:buFont typeface="Calibri"/>
              <a:buChar char="❏"/>
            </a:pPr>
            <a:r>
              <a:rPr lang="en-ID" sz="2700" b="1">
                <a:solidFill>
                  <a:schemeClr val="dk1"/>
                </a:solidFill>
                <a:latin typeface="Calibri"/>
                <a:ea typeface="Calibri"/>
                <a:cs typeface="Calibri"/>
                <a:sym typeface="Calibri"/>
              </a:rPr>
              <a:t>INSERT INTO </a:t>
            </a:r>
            <a:r>
              <a:rPr lang="en-ID" sz="2700">
                <a:solidFill>
                  <a:schemeClr val="dk1"/>
                </a:solidFill>
                <a:latin typeface="Calibri"/>
                <a:ea typeface="Calibri"/>
                <a:cs typeface="Calibri"/>
                <a:sym typeface="Calibri"/>
              </a:rPr>
              <a:t>jenis_denda </a:t>
            </a:r>
            <a:r>
              <a:rPr lang="en-ID" sz="2700" b="1">
                <a:solidFill>
                  <a:schemeClr val="dk1"/>
                </a:solidFill>
                <a:latin typeface="Calibri"/>
                <a:ea typeface="Calibri"/>
                <a:cs typeface="Calibri"/>
                <a:sym typeface="Calibri"/>
              </a:rPr>
              <a:t>VALUES</a:t>
            </a:r>
            <a:r>
              <a:rPr lang="en-ID" sz="2700">
                <a:solidFill>
                  <a:schemeClr val="dk1"/>
                </a:solidFill>
                <a:latin typeface="Calibri"/>
                <a:ea typeface="Calibri"/>
                <a:cs typeface="Calibri"/>
                <a:sym typeface="Calibri"/>
              </a:rPr>
              <a:t> (01, ”terlambat”,5000), (02, ”hilang”,100000); </a:t>
            </a:r>
            <a:endParaRPr sz="2700">
              <a:solidFill>
                <a:schemeClr val="dk1"/>
              </a:solidFill>
              <a:latin typeface="Calibri"/>
              <a:ea typeface="Calibri"/>
              <a:cs typeface="Calibri"/>
              <a:sym typeface="Calibri"/>
            </a:endParaRPr>
          </a:p>
          <a:p>
            <a:pPr marL="457200" lvl="0" indent="-387191" algn="l" rtl="0">
              <a:spcBef>
                <a:spcPts val="0"/>
              </a:spcBef>
              <a:spcAft>
                <a:spcPts val="0"/>
              </a:spcAft>
              <a:buClr>
                <a:schemeClr val="dk1"/>
              </a:buClr>
              <a:buSzPct val="100000"/>
              <a:buFont typeface="Calibri"/>
              <a:buChar char="❏"/>
            </a:pPr>
            <a:r>
              <a:rPr lang="en-ID" sz="2700">
                <a:solidFill>
                  <a:schemeClr val="dk1"/>
                </a:solidFill>
                <a:latin typeface="Calibri"/>
                <a:ea typeface="Calibri"/>
                <a:cs typeface="Calibri"/>
                <a:sym typeface="Calibri"/>
              </a:rPr>
              <a:t>select * from jenis_denda;</a:t>
            </a:r>
            <a:endParaRPr sz="27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30198-5BB7-F0F8-0E00-E1706B54B6C4}"/>
              </a:ext>
            </a:extLst>
          </p:cNvPr>
          <p:cNvSpPr>
            <a:spLocks noGrp="1"/>
          </p:cNvSpPr>
          <p:nvPr>
            <p:ph type="title"/>
          </p:nvPr>
        </p:nvSpPr>
        <p:spPr/>
        <p:txBody>
          <a:bodyPr/>
          <a:lstStyle/>
          <a:p>
            <a:endParaRPr lang="en-ID"/>
          </a:p>
        </p:txBody>
      </p:sp>
      <p:sp>
        <p:nvSpPr>
          <p:cNvPr id="3" name="Text Placeholder 2">
            <a:extLst>
              <a:ext uri="{FF2B5EF4-FFF2-40B4-BE49-F238E27FC236}">
                <a16:creationId xmlns:a16="http://schemas.microsoft.com/office/drawing/2014/main" id="{ED99CA49-B63A-3B0C-2B26-51130165102D}"/>
              </a:ext>
            </a:extLst>
          </p:cNvPr>
          <p:cNvSpPr>
            <a:spLocks noGrp="1"/>
          </p:cNvSpPr>
          <p:nvPr>
            <p:ph type="body" idx="1"/>
          </p:nvPr>
        </p:nvSpPr>
        <p:spPr/>
        <p:txBody>
          <a:bodyPr/>
          <a:lstStyle/>
          <a:p>
            <a:pPr marL="137160" indent="0">
              <a:buNone/>
            </a:pPr>
            <a:r>
              <a:rPr lang="en-ID"/>
              <a:t>INSERT INTO buku (kategori, judul_buku, penulis, penerbit) </a:t>
            </a:r>
          </a:p>
          <a:p>
            <a:pPr marL="137160" indent="0">
              <a:buNone/>
            </a:pPr>
            <a:r>
              <a:rPr lang="en-ID"/>
              <a:t>VALUES ('Teknologi', 'Pemrograman Python', 'John Doe', 'Penerbit A’), </a:t>
            </a:r>
          </a:p>
          <a:p>
            <a:pPr marL="137160" indent="0">
              <a:buNone/>
            </a:pPr>
            <a:r>
              <a:rPr lang="en-ID"/>
              <a:t>('Sains', 'Fisika Dasar', 'Jane Smith', 'Penerbit B’), </a:t>
            </a:r>
          </a:p>
          <a:p>
            <a:pPr marL="137160" indent="0">
              <a:buNone/>
            </a:pPr>
            <a:r>
              <a:rPr lang="en-ID"/>
              <a:t>('Sastra', 'Sebuah Seni Untuk Bersikap Bodo Amat', 'Mark Manson', 'Penerbit C’), </a:t>
            </a:r>
          </a:p>
          <a:p>
            <a:pPr marL="137160" indent="0">
              <a:buNone/>
            </a:pPr>
            <a:r>
              <a:rPr lang="en-ID"/>
              <a:t>('Ekonomi', 'Pengantar Akuntansi', 'Dewi Larasati', 'Penerbit D’), </a:t>
            </a:r>
          </a:p>
          <a:p>
            <a:pPr marL="137160" indent="0">
              <a:buNone/>
            </a:pPr>
            <a:r>
              <a:rPr lang="en-ID"/>
              <a:t>('Psikologi', 'Psikologi Perkembangan', 'Fajar Nugraha', 'Penerbit E');</a:t>
            </a:r>
          </a:p>
        </p:txBody>
      </p:sp>
    </p:spTree>
    <p:extLst>
      <p:ext uri="{BB962C8B-B14F-4D97-AF65-F5344CB8AC3E}">
        <p14:creationId xmlns:p14="http://schemas.microsoft.com/office/powerpoint/2010/main" val="778166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3486D-DF8F-E0F6-1CB0-53FDD942F48C}"/>
              </a:ext>
            </a:extLst>
          </p:cNvPr>
          <p:cNvSpPr>
            <a:spLocks noGrp="1"/>
          </p:cNvSpPr>
          <p:nvPr>
            <p:ph type="title"/>
          </p:nvPr>
        </p:nvSpPr>
        <p:spPr/>
        <p:txBody>
          <a:bodyPr/>
          <a:lstStyle/>
          <a:p>
            <a:endParaRPr lang="en-ID"/>
          </a:p>
        </p:txBody>
      </p:sp>
      <p:sp>
        <p:nvSpPr>
          <p:cNvPr id="3" name="Text Placeholder 2">
            <a:extLst>
              <a:ext uri="{FF2B5EF4-FFF2-40B4-BE49-F238E27FC236}">
                <a16:creationId xmlns:a16="http://schemas.microsoft.com/office/drawing/2014/main" id="{78EB34AB-A158-BB17-DA51-19F261DE7D6D}"/>
              </a:ext>
            </a:extLst>
          </p:cNvPr>
          <p:cNvSpPr>
            <a:spLocks noGrp="1"/>
          </p:cNvSpPr>
          <p:nvPr>
            <p:ph type="body" idx="1"/>
          </p:nvPr>
        </p:nvSpPr>
        <p:spPr/>
        <p:txBody>
          <a:bodyPr>
            <a:normAutofit/>
          </a:bodyPr>
          <a:lstStyle/>
          <a:p>
            <a:pPr marL="137160" indent="0">
              <a:buNone/>
            </a:pPr>
            <a:r>
              <a:rPr lang="en-ID"/>
              <a:t>INSERT INTO anggota (nama, alamat, jenis_kelamin, telepon)</a:t>
            </a:r>
          </a:p>
          <a:p>
            <a:pPr marL="137160" indent="0">
              <a:buNone/>
            </a:pPr>
            <a:r>
              <a:rPr lang="en-ID"/>
              <a:t>VALUES</a:t>
            </a:r>
          </a:p>
          <a:p>
            <a:pPr marL="137160" indent="0">
              <a:buNone/>
            </a:pPr>
            <a:r>
              <a:rPr lang="en-ID"/>
              <a:t>('Ahmad Fadli', 'Jl. Merpati No. 3', 'Laki-laki', '081234567891'),</a:t>
            </a:r>
          </a:p>
          <a:p>
            <a:pPr marL="137160" indent="0">
              <a:buNone/>
            </a:pPr>
            <a:r>
              <a:rPr lang="en-ID"/>
              <a:t>('Budi Santoso', 'Jl. Kenari No. 12', 'Laki-laki', '081234567892'),</a:t>
            </a:r>
          </a:p>
          <a:p>
            <a:pPr marL="137160" indent="0">
              <a:buNone/>
            </a:pPr>
            <a:r>
              <a:rPr lang="en-ID"/>
              <a:t>('Citra Larasati', 'Jl. Anggrek No. 15', 'Perempuan', '081234567893'),</a:t>
            </a:r>
          </a:p>
          <a:p>
            <a:pPr marL="137160" indent="0">
              <a:buNone/>
            </a:pPr>
            <a:r>
              <a:rPr lang="en-ID"/>
              <a:t>('Dina Rahmawati', 'Jl. Melati No. 7', 'Perempuan', '081234567894'),</a:t>
            </a:r>
          </a:p>
          <a:p>
            <a:pPr marL="137160" indent="0">
              <a:buNone/>
            </a:pPr>
            <a:r>
              <a:rPr lang="en-ID"/>
              <a:t>('Eko Prasetyo', 'Jl. Mawar No. 9', 'Laki-laki', '081234567895’);</a:t>
            </a:r>
          </a:p>
          <a:p>
            <a:pPr marL="137160" indent="0">
              <a:buNone/>
            </a:pPr>
            <a:endParaRPr lang="en-ID"/>
          </a:p>
        </p:txBody>
      </p:sp>
    </p:spTree>
    <p:extLst>
      <p:ext uri="{BB962C8B-B14F-4D97-AF65-F5344CB8AC3E}">
        <p14:creationId xmlns:p14="http://schemas.microsoft.com/office/powerpoint/2010/main" val="1938890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D725-B562-9949-67E0-62F3337237AC}"/>
              </a:ext>
            </a:extLst>
          </p:cNvPr>
          <p:cNvSpPr>
            <a:spLocks noGrp="1"/>
          </p:cNvSpPr>
          <p:nvPr>
            <p:ph type="title"/>
          </p:nvPr>
        </p:nvSpPr>
        <p:spPr/>
        <p:txBody>
          <a:bodyPr/>
          <a:lstStyle/>
          <a:p>
            <a:endParaRPr lang="en-ID"/>
          </a:p>
        </p:txBody>
      </p:sp>
      <p:sp>
        <p:nvSpPr>
          <p:cNvPr id="3" name="Text Placeholder 2">
            <a:extLst>
              <a:ext uri="{FF2B5EF4-FFF2-40B4-BE49-F238E27FC236}">
                <a16:creationId xmlns:a16="http://schemas.microsoft.com/office/drawing/2014/main" id="{D3955F88-5802-BEEE-9D97-92A9FBA69E01}"/>
              </a:ext>
            </a:extLst>
          </p:cNvPr>
          <p:cNvSpPr>
            <a:spLocks noGrp="1"/>
          </p:cNvSpPr>
          <p:nvPr>
            <p:ph type="body" idx="1"/>
          </p:nvPr>
        </p:nvSpPr>
        <p:spPr>
          <a:xfrm>
            <a:off x="1154954" y="2603500"/>
            <a:ext cx="8825659" cy="3913678"/>
          </a:xfrm>
        </p:spPr>
        <p:txBody>
          <a:bodyPr>
            <a:normAutofit fontScale="92500" lnSpcReduction="20000"/>
          </a:bodyPr>
          <a:lstStyle/>
          <a:p>
            <a:pPr marL="137160" indent="0">
              <a:buNone/>
            </a:pPr>
            <a:endParaRPr lang="en-ID"/>
          </a:p>
          <a:p>
            <a:pPr marL="137160" indent="0">
              <a:buNone/>
            </a:pPr>
            <a:r>
              <a:rPr lang="en-ID"/>
              <a:t>INSERT INTO petugas (nama, alamat, jenis_kelamin, telepon)</a:t>
            </a:r>
          </a:p>
          <a:p>
            <a:pPr marL="137160" indent="0">
              <a:buNone/>
            </a:pPr>
            <a:r>
              <a:rPr lang="en-ID"/>
              <a:t>VALUES</a:t>
            </a:r>
          </a:p>
          <a:p>
            <a:pPr marL="137160" indent="0">
              <a:buNone/>
            </a:pPr>
            <a:r>
              <a:rPr lang="en-ID"/>
              <a:t>('Siti Aisyah', 'Jl. Cemara No. 4', 'Perempuan', '081234567896'),</a:t>
            </a:r>
          </a:p>
          <a:p>
            <a:pPr marL="137160" indent="0">
              <a:buNone/>
            </a:pPr>
            <a:r>
              <a:rPr lang="en-ID"/>
              <a:t>('Andi Saputra', 'Jl. Anggur No. 2', 'Laki-laki', '081234567897’);</a:t>
            </a:r>
          </a:p>
          <a:p>
            <a:pPr marL="137160" indent="0">
              <a:buNone/>
            </a:pPr>
            <a:endParaRPr lang="en-ID"/>
          </a:p>
          <a:p>
            <a:pPr marL="137160" indent="0">
              <a:buNone/>
            </a:pPr>
            <a:r>
              <a:rPr lang="en-ID"/>
              <a:t>INSERT INTO jenis_denda (nama_jenis_denda, harga_denda)</a:t>
            </a:r>
          </a:p>
          <a:p>
            <a:pPr marL="137160" indent="0">
              <a:buNone/>
            </a:pPr>
            <a:r>
              <a:rPr lang="en-ID"/>
              <a:t>VALUES</a:t>
            </a:r>
          </a:p>
          <a:p>
            <a:pPr marL="137160" indent="0">
              <a:buNone/>
            </a:pPr>
            <a:r>
              <a:rPr lang="en-ID"/>
              <a:t>('Kehilangan Buku', 50000),</a:t>
            </a:r>
          </a:p>
          <a:p>
            <a:pPr marL="137160" indent="0">
              <a:buNone/>
            </a:pPr>
            <a:r>
              <a:rPr lang="en-ID"/>
              <a:t>('Merusak Buku', 30000),</a:t>
            </a:r>
          </a:p>
          <a:p>
            <a:pPr marL="137160" indent="0">
              <a:buNone/>
            </a:pPr>
            <a:r>
              <a:rPr lang="en-ID"/>
              <a:t>('Menghilangkan Sampul', 10000);</a:t>
            </a:r>
          </a:p>
          <a:p>
            <a:pPr marL="137160" indent="0">
              <a:buNone/>
            </a:pPr>
            <a:endParaRPr lang="en-ID"/>
          </a:p>
          <a:p>
            <a:pPr marL="137160" indent="0">
              <a:buNone/>
            </a:pPr>
            <a:endParaRPr lang="en-ID"/>
          </a:p>
        </p:txBody>
      </p:sp>
    </p:spTree>
    <p:extLst>
      <p:ext uri="{BB962C8B-B14F-4D97-AF65-F5344CB8AC3E}">
        <p14:creationId xmlns:p14="http://schemas.microsoft.com/office/powerpoint/2010/main" val="16339284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29"/>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UPDATE</a:t>
            </a:r>
            <a:endParaRPr/>
          </a:p>
        </p:txBody>
      </p:sp>
      <p:sp>
        <p:nvSpPr>
          <p:cNvPr id="488" name="Google Shape;488;p29"/>
          <p:cNvSpPr txBox="1">
            <a:spLocks noGrp="1"/>
          </p:cNvSpPr>
          <p:nvPr>
            <p:ph type="body" idx="1"/>
          </p:nvPr>
        </p:nvSpPr>
        <p:spPr>
          <a:xfrm>
            <a:off x="1154954" y="2603500"/>
            <a:ext cx="9832594"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240"/>
              <a:buFont typeface="Noto Sans Symbols"/>
              <a:buChar char="❑"/>
            </a:pPr>
            <a:r>
              <a:rPr lang="en-ID" sz="2800" b="1"/>
              <a:t>Mengubah Data </a:t>
            </a:r>
            <a:endParaRPr/>
          </a:p>
          <a:p>
            <a:pPr marL="342900" lvl="0" indent="-342900" algn="l" rtl="0">
              <a:spcBef>
                <a:spcPts val="1000"/>
              </a:spcBef>
              <a:spcAft>
                <a:spcPts val="0"/>
              </a:spcAft>
              <a:buSzPts val="2240"/>
              <a:buFont typeface="Noto Sans Symbols"/>
              <a:buChar char="❑"/>
            </a:pPr>
            <a:r>
              <a:rPr lang="en-ID" sz="2800"/>
              <a:t>Untuk mengubah isi data pada satu atau beberapa kolom pada suatu tabel digunakan perintah </a:t>
            </a:r>
            <a:r>
              <a:rPr lang="en-ID" sz="2800" b="1"/>
              <a:t>UPDATE</a:t>
            </a:r>
            <a:endParaRPr/>
          </a:p>
          <a:p>
            <a:pPr marL="342900" lvl="0" indent="-342900" algn="l" rtl="0">
              <a:spcBef>
                <a:spcPts val="1000"/>
              </a:spcBef>
              <a:spcAft>
                <a:spcPts val="0"/>
              </a:spcAft>
              <a:buSzPts val="1920"/>
              <a:buFont typeface="Noto Sans Symbols"/>
              <a:buChar char="❑"/>
            </a:pPr>
            <a:r>
              <a:rPr lang="en-ID" sz="2400" b="1"/>
              <a:t>UPDATE</a:t>
            </a:r>
            <a:r>
              <a:rPr lang="en-ID" sz="2400"/>
              <a:t> namatabel </a:t>
            </a:r>
            <a:r>
              <a:rPr lang="en-ID" sz="2400" b="1"/>
              <a:t>SET</a:t>
            </a:r>
            <a:r>
              <a:rPr lang="en-ID" sz="2400"/>
              <a:t> kolom1 = nilai1, kolom2 = nilai2 </a:t>
            </a:r>
            <a:r>
              <a:rPr lang="en-ID" sz="2400" b="1"/>
              <a:t>WHERE</a:t>
            </a:r>
            <a:r>
              <a:rPr lang="en-ID" sz="2400"/>
              <a:t> kondisi;</a:t>
            </a:r>
            <a:endParaRPr sz="2400"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29215d3ce6f_0_1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UPDATE</a:t>
            </a:r>
            <a:endParaRPr/>
          </a:p>
        </p:txBody>
      </p:sp>
      <p:sp>
        <p:nvSpPr>
          <p:cNvPr id="495" name="Google Shape;495;g29215d3ce6f_0_18"/>
          <p:cNvSpPr txBox="1">
            <a:spLocks noGrp="1"/>
          </p:cNvSpPr>
          <p:nvPr>
            <p:ph type="body" idx="1"/>
          </p:nvPr>
        </p:nvSpPr>
        <p:spPr>
          <a:xfrm>
            <a:off x="1154954" y="2603500"/>
            <a:ext cx="9832500" cy="3416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240"/>
              <a:buNone/>
            </a:pPr>
            <a:r>
              <a:rPr lang="en-ID" sz="2800" b="1"/>
              <a:t>Contoh</a:t>
            </a:r>
            <a:r>
              <a:rPr lang="en-ID" sz="2800"/>
              <a:t>: </a:t>
            </a:r>
            <a:endParaRPr sz="2800"/>
          </a:p>
          <a:p>
            <a:pPr marL="0" lvl="0" indent="0" algn="l" rtl="0">
              <a:spcBef>
                <a:spcPts val="0"/>
              </a:spcBef>
              <a:spcAft>
                <a:spcPts val="0"/>
              </a:spcAft>
              <a:buSzPts val="2240"/>
              <a:buNone/>
            </a:pPr>
            <a:endParaRPr sz="2800"/>
          </a:p>
          <a:p>
            <a:pPr marL="457200" lvl="0" indent="-400050" algn="l" rtl="0">
              <a:spcBef>
                <a:spcPts val="0"/>
              </a:spcBef>
              <a:spcAft>
                <a:spcPts val="0"/>
              </a:spcAft>
              <a:buClr>
                <a:schemeClr val="dk1"/>
              </a:buClr>
              <a:buSzPts val="2700"/>
              <a:buFont typeface="Calibri"/>
              <a:buChar char="❏"/>
            </a:pPr>
            <a:r>
              <a:rPr lang="en-ID" sz="2500" b="1">
                <a:solidFill>
                  <a:schemeClr val="dk1"/>
                </a:solidFill>
                <a:latin typeface="Calibri"/>
                <a:ea typeface="Calibri"/>
                <a:cs typeface="Calibri"/>
                <a:sym typeface="Calibri"/>
              </a:rPr>
              <a:t>UPDATE</a:t>
            </a:r>
            <a:r>
              <a:rPr lang="en-ID" sz="2500">
                <a:solidFill>
                  <a:schemeClr val="dk1"/>
                </a:solidFill>
                <a:latin typeface="Calibri"/>
                <a:ea typeface="Calibri"/>
                <a:cs typeface="Calibri"/>
                <a:sym typeface="Calibri"/>
              </a:rPr>
              <a:t> jenis_denda </a:t>
            </a:r>
            <a:r>
              <a:rPr lang="en-ID" sz="2500" b="1">
                <a:solidFill>
                  <a:schemeClr val="dk1"/>
                </a:solidFill>
                <a:latin typeface="Calibri"/>
                <a:ea typeface="Calibri"/>
                <a:cs typeface="Calibri"/>
                <a:sym typeface="Calibri"/>
              </a:rPr>
              <a:t>SET</a:t>
            </a:r>
            <a:r>
              <a:rPr lang="en-ID" sz="2500">
                <a:solidFill>
                  <a:schemeClr val="dk1"/>
                </a:solidFill>
                <a:latin typeface="Calibri"/>
                <a:ea typeface="Calibri"/>
                <a:cs typeface="Calibri"/>
                <a:sym typeface="Calibri"/>
              </a:rPr>
              <a:t> harga_denda = 50000 </a:t>
            </a:r>
            <a:r>
              <a:rPr lang="en-ID" sz="2500" b="1">
                <a:solidFill>
                  <a:schemeClr val="dk1"/>
                </a:solidFill>
                <a:latin typeface="Calibri"/>
                <a:ea typeface="Calibri"/>
                <a:cs typeface="Calibri"/>
                <a:sym typeface="Calibri"/>
              </a:rPr>
              <a:t>WHERE</a:t>
            </a:r>
            <a:r>
              <a:rPr lang="en-ID" sz="2500">
                <a:solidFill>
                  <a:schemeClr val="dk1"/>
                </a:solidFill>
                <a:latin typeface="Calibri"/>
                <a:ea typeface="Calibri"/>
                <a:cs typeface="Calibri"/>
                <a:sym typeface="Calibri"/>
              </a:rPr>
              <a:t> id_jenis_denda=2;</a:t>
            </a:r>
            <a:r>
              <a:rPr lang="en-ID" sz="2700">
                <a:solidFill>
                  <a:schemeClr val="dk1"/>
                </a:solidFill>
                <a:latin typeface="Calibri"/>
                <a:ea typeface="Calibri"/>
                <a:cs typeface="Calibri"/>
                <a:sym typeface="Calibri"/>
              </a:rPr>
              <a:t> </a:t>
            </a:r>
            <a:endParaRPr sz="3900" b="1"/>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DELETE</a:t>
            </a:r>
            <a:endParaRPr/>
          </a:p>
        </p:txBody>
      </p:sp>
      <p:sp>
        <p:nvSpPr>
          <p:cNvPr id="502" name="Google Shape;502;p30"/>
          <p:cNvSpPr txBox="1">
            <a:spLocks noGrp="1"/>
          </p:cNvSpPr>
          <p:nvPr>
            <p:ph type="body" idx="1"/>
          </p:nvPr>
        </p:nvSpPr>
        <p:spPr>
          <a:xfrm>
            <a:off x="1154954" y="2603500"/>
            <a:ext cx="9832594" cy="34163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80000"/>
              <a:buFont typeface="Noto Sans Symbols"/>
              <a:buChar char="❑"/>
            </a:pPr>
            <a:r>
              <a:rPr lang="en-ID" sz="2800" b="1"/>
              <a:t>Menghapus Data </a:t>
            </a:r>
            <a:endParaRPr/>
          </a:p>
          <a:p>
            <a:pPr marL="342900" lvl="0" indent="-342900" algn="l" rtl="0">
              <a:spcBef>
                <a:spcPts val="1000"/>
              </a:spcBef>
              <a:spcAft>
                <a:spcPts val="0"/>
              </a:spcAft>
              <a:buSzPct val="80000"/>
              <a:buFont typeface="Noto Sans Symbols"/>
              <a:buChar char="❑"/>
            </a:pPr>
            <a:r>
              <a:rPr lang="en-ID" sz="2800"/>
              <a:t>Data yag sudah tidak digunakan bisa dilakukan penghapusan untuk mengurangi beban penyimpanan basis data yaitu dengan menggunakan perintah </a:t>
            </a:r>
            <a:r>
              <a:rPr lang="en-ID" sz="2800" b="1"/>
              <a:t>DELETE</a:t>
            </a:r>
            <a:r>
              <a:rPr lang="en-ID" sz="2800"/>
              <a:t>.</a:t>
            </a:r>
            <a:endParaRPr/>
          </a:p>
          <a:p>
            <a:pPr marL="342900" lvl="0" indent="-342900" algn="l" rtl="0">
              <a:spcBef>
                <a:spcPts val="1000"/>
              </a:spcBef>
              <a:spcAft>
                <a:spcPts val="0"/>
              </a:spcAft>
              <a:buSzPct val="80000"/>
              <a:buFont typeface="Noto Sans Symbols"/>
              <a:buChar char="❑"/>
            </a:pPr>
            <a:r>
              <a:rPr lang="en-ID" sz="2800"/>
              <a:t>Perintah ini digunakan untuk menghapus satu baris dengan kondisi tertentu atau seluruh baris.</a:t>
            </a:r>
            <a:endParaRPr sz="2800" b="1"/>
          </a:p>
          <a:p>
            <a:pPr marL="342900" lvl="0" indent="-342900" algn="l" rtl="0">
              <a:spcBef>
                <a:spcPts val="1000"/>
              </a:spcBef>
              <a:spcAft>
                <a:spcPts val="0"/>
              </a:spcAft>
              <a:buSzPct val="80000"/>
              <a:buFont typeface="Noto Sans Symbols"/>
              <a:buChar char="❑"/>
            </a:pPr>
            <a:r>
              <a:rPr lang="en-ID" sz="2400" b="1"/>
              <a:t>DELETE FROM </a:t>
            </a:r>
            <a:r>
              <a:rPr lang="en-ID" sz="2400"/>
              <a:t>nama_table;</a:t>
            </a:r>
            <a:endParaRPr/>
          </a:p>
          <a:p>
            <a:pPr marL="342900" lvl="0" indent="-342900" algn="l" rtl="0">
              <a:spcBef>
                <a:spcPts val="1000"/>
              </a:spcBef>
              <a:spcAft>
                <a:spcPts val="0"/>
              </a:spcAft>
              <a:buSzPct val="80000"/>
              <a:buFont typeface="Noto Sans Symbols"/>
              <a:buChar char="❑"/>
            </a:pPr>
            <a:r>
              <a:rPr lang="en-ID" sz="2400" b="1"/>
              <a:t>DELETE FROM </a:t>
            </a:r>
            <a:r>
              <a:rPr lang="en-ID" sz="2400"/>
              <a:t>nama_table </a:t>
            </a:r>
            <a:r>
              <a:rPr lang="en-ID" sz="2400" b="1"/>
              <a:t>WHERE </a:t>
            </a:r>
            <a:r>
              <a:rPr lang="en-ID" sz="2400"/>
              <a:t>kondisi;</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g29215d3ce6f_0_24"/>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Perintah DELETE</a:t>
            </a:r>
            <a:endParaRPr/>
          </a:p>
        </p:txBody>
      </p:sp>
      <p:sp>
        <p:nvSpPr>
          <p:cNvPr id="509" name="Google Shape;509;g29215d3ce6f_0_24"/>
          <p:cNvSpPr txBox="1">
            <a:spLocks noGrp="1"/>
          </p:cNvSpPr>
          <p:nvPr>
            <p:ph type="body" idx="1"/>
          </p:nvPr>
        </p:nvSpPr>
        <p:spPr>
          <a:xfrm>
            <a:off x="1154954" y="2603500"/>
            <a:ext cx="9832500" cy="3416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240"/>
              <a:buNone/>
            </a:pPr>
            <a:r>
              <a:rPr lang="en-ID" sz="2800" b="1"/>
              <a:t>Contoh</a:t>
            </a:r>
            <a:r>
              <a:rPr lang="en-ID" sz="2800"/>
              <a:t>: </a:t>
            </a:r>
            <a:endParaRPr sz="2800"/>
          </a:p>
          <a:p>
            <a:pPr marL="0" lvl="0" indent="0" algn="l" rtl="0">
              <a:spcBef>
                <a:spcPts val="0"/>
              </a:spcBef>
              <a:spcAft>
                <a:spcPts val="0"/>
              </a:spcAft>
              <a:buSzPts val="2240"/>
              <a:buNone/>
            </a:pPr>
            <a:endParaRPr sz="2800"/>
          </a:p>
          <a:p>
            <a:pPr marL="457200" lvl="0" indent="-400050" algn="l" rtl="0">
              <a:spcBef>
                <a:spcPts val="0"/>
              </a:spcBef>
              <a:spcAft>
                <a:spcPts val="0"/>
              </a:spcAft>
              <a:buClr>
                <a:schemeClr val="dk1"/>
              </a:buClr>
              <a:buSzPts val="2700"/>
              <a:buChar char="❏"/>
            </a:pPr>
            <a:r>
              <a:rPr lang="en-ID" sz="2700" b="1">
                <a:solidFill>
                  <a:schemeClr val="dk1"/>
                </a:solidFill>
                <a:latin typeface="Calibri"/>
                <a:ea typeface="Calibri"/>
                <a:cs typeface="Calibri"/>
                <a:sym typeface="Calibri"/>
              </a:rPr>
              <a:t>DELETE FROM </a:t>
            </a:r>
            <a:r>
              <a:rPr lang="en-ID" sz="2700">
                <a:solidFill>
                  <a:schemeClr val="dk1"/>
                </a:solidFill>
                <a:latin typeface="Calibri"/>
                <a:ea typeface="Calibri"/>
                <a:cs typeface="Calibri"/>
                <a:sym typeface="Calibri"/>
              </a:rPr>
              <a:t>jenis_denda; </a:t>
            </a:r>
            <a:endParaRPr sz="2700">
              <a:solidFill>
                <a:schemeClr val="dk1"/>
              </a:solidFill>
              <a:latin typeface="Calibri"/>
              <a:ea typeface="Calibri"/>
              <a:cs typeface="Calibri"/>
              <a:sym typeface="Calibri"/>
            </a:endParaRPr>
          </a:p>
          <a:p>
            <a:pPr marL="457200" lvl="0" indent="-400050" algn="l" rtl="0">
              <a:spcBef>
                <a:spcPts val="0"/>
              </a:spcBef>
              <a:spcAft>
                <a:spcPts val="0"/>
              </a:spcAft>
              <a:buClr>
                <a:schemeClr val="dk1"/>
              </a:buClr>
              <a:buSzPts val="2700"/>
              <a:buChar char="❏"/>
            </a:pPr>
            <a:r>
              <a:rPr lang="en-ID" sz="2700" b="1">
                <a:solidFill>
                  <a:schemeClr val="dk1"/>
                </a:solidFill>
                <a:latin typeface="Calibri"/>
                <a:ea typeface="Calibri"/>
                <a:cs typeface="Calibri"/>
                <a:sym typeface="Calibri"/>
              </a:rPr>
              <a:t>DELETE FROM </a:t>
            </a:r>
            <a:r>
              <a:rPr lang="en-ID" sz="2700">
                <a:solidFill>
                  <a:schemeClr val="dk1"/>
                </a:solidFill>
                <a:latin typeface="Calibri"/>
                <a:ea typeface="Calibri"/>
                <a:cs typeface="Calibri"/>
                <a:sym typeface="Calibri"/>
              </a:rPr>
              <a:t>jenis_denda </a:t>
            </a:r>
            <a:r>
              <a:rPr lang="en-ID" sz="2700" b="1">
                <a:solidFill>
                  <a:schemeClr val="dk1"/>
                </a:solidFill>
                <a:latin typeface="Calibri"/>
                <a:ea typeface="Calibri"/>
                <a:cs typeface="Calibri"/>
                <a:sym typeface="Calibri"/>
              </a:rPr>
              <a:t>WHERE </a:t>
            </a:r>
            <a:r>
              <a:rPr lang="en-ID" sz="2700">
                <a:solidFill>
                  <a:schemeClr val="dk1"/>
                </a:solidFill>
                <a:latin typeface="Calibri"/>
                <a:ea typeface="Calibri"/>
                <a:cs typeface="Calibri"/>
                <a:sym typeface="Calibri"/>
              </a:rPr>
              <a:t>id_jenis_denda=2;</a:t>
            </a:r>
            <a:endParaRPr sz="2700">
              <a:solidFill>
                <a:schemeClr val="dk1"/>
              </a:solidFill>
              <a:latin typeface="Calibri"/>
              <a:ea typeface="Calibri"/>
              <a:cs typeface="Calibri"/>
              <a:sym typeface="Calibri"/>
            </a:endParaRPr>
          </a:p>
          <a:p>
            <a:pPr marL="457200" lvl="0" indent="0" algn="l" rtl="0">
              <a:spcBef>
                <a:spcPts val="0"/>
              </a:spcBef>
              <a:spcAft>
                <a:spcPts val="0"/>
              </a:spcAft>
              <a:buNone/>
            </a:pPr>
            <a:r>
              <a:rPr lang="en-ID" sz="2700">
                <a:solidFill>
                  <a:schemeClr val="dk1"/>
                </a:solidFill>
                <a:latin typeface="Calibri"/>
                <a:ea typeface="Calibri"/>
                <a:cs typeface="Calibri"/>
                <a:sym typeface="Calibri"/>
              </a:rPr>
              <a:t> </a:t>
            </a:r>
            <a:endParaRPr sz="3900"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E8E2-7FA1-7710-5763-4594CFB94E6F}"/>
              </a:ext>
            </a:extLst>
          </p:cNvPr>
          <p:cNvSpPr>
            <a:spLocks noGrp="1"/>
          </p:cNvSpPr>
          <p:nvPr>
            <p:ph type="title"/>
          </p:nvPr>
        </p:nvSpPr>
        <p:spPr/>
        <p:txBody>
          <a:bodyPr/>
          <a:lstStyle/>
          <a:p>
            <a:r>
              <a:rPr lang="en-US"/>
              <a:t>Post Test</a:t>
            </a:r>
            <a:endParaRPr lang="en-ID"/>
          </a:p>
        </p:txBody>
      </p:sp>
      <p:sp>
        <p:nvSpPr>
          <p:cNvPr id="3" name="Text Placeholder 2">
            <a:extLst>
              <a:ext uri="{FF2B5EF4-FFF2-40B4-BE49-F238E27FC236}">
                <a16:creationId xmlns:a16="http://schemas.microsoft.com/office/drawing/2014/main" id="{9F04C7C2-4E43-4AD3-F430-01C61DEFB91E}"/>
              </a:ext>
            </a:extLst>
          </p:cNvPr>
          <p:cNvSpPr>
            <a:spLocks noGrp="1"/>
          </p:cNvSpPr>
          <p:nvPr>
            <p:ph type="body" idx="1"/>
          </p:nvPr>
        </p:nvSpPr>
        <p:spPr>
          <a:xfrm>
            <a:off x="1683170" y="5884332"/>
            <a:ext cx="8825659" cy="500149"/>
          </a:xfrm>
        </p:spPr>
        <p:txBody>
          <a:bodyPr/>
          <a:lstStyle/>
          <a:p>
            <a:pPr marL="137160" indent="0" algn="ctr">
              <a:buNone/>
            </a:pPr>
            <a:r>
              <a:rPr lang="en-ID">
                <a:hlinkClick r:id="rId3"/>
              </a:rPr>
              <a:t>https://forms.gle/BrJXyGd7QRUpqjgG7</a:t>
            </a:r>
            <a:r>
              <a:rPr lang="en-ID"/>
              <a:t> </a:t>
            </a:r>
          </a:p>
        </p:txBody>
      </p:sp>
      <p:pic>
        <p:nvPicPr>
          <p:cNvPr id="6" name="Picture 5">
            <a:extLst>
              <a:ext uri="{FF2B5EF4-FFF2-40B4-BE49-F238E27FC236}">
                <a16:creationId xmlns:a16="http://schemas.microsoft.com/office/drawing/2014/main" id="{9183EBBA-AF23-5C23-9D47-D284251E8381}"/>
              </a:ext>
            </a:extLst>
          </p:cNvPr>
          <p:cNvPicPr>
            <a:picLocks noChangeAspect="1"/>
          </p:cNvPicPr>
          <p:nvPr/>
        </p:nvPicPr>
        <p:blipFill>
          <a:blip r:embed="rId4"/>
          <a:stretch>
            <a:fillRect/>
          </a:stretch>
        </p:blipFill>
        <p:spPr>
          <a:xfrm>
            <a:off x="4147299" y="1986932"/>
            <a:ext cx="3897400" cy="3897400"/>
          </a:xfrm>
          <a:prstGeom prst="rect">
            <a:avLst/>
          </a:prstGeom>
        </p:spPr>
      </p:pic>
    </p:spTree>
    <p:extLst>
      <p:ext uri="{BB962C8B-B14F-4D97-AF65-F5344CB8AC3E}">
        <p14:creationId xmlns:p14="http://schemas.microsoft.com/office/powerpoint/2010/main" val="35264189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g294b5420dc4_0_37"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515" name="Google Shape;515;g294b5420dc4_0_37"/>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 – Sec 2</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SELECT</a:t>
            </a:r>
            <a:endParaRPr sz="3600" b="1">
              <a:solidFill>
                <a:schemeClr val="lt1"/>
              </a:solidFill>
            </a:endParaRPr>
          </a:p>
        </p:txBody>
      </p:sp>
      <p:sp>
        <p:nvSpPr>
          <p:cNvPr id="516" name="Google Shape;516;g294b5420dc4_0_37"/>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5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2AF47-D621-CB79-370D-1C190BEA63BB}"/>
              </a:ext>
            </a:extLst>
          </p:cNvPr>
          <p:cNvSpPr>
            <a:spLocks noGrp="1"/>
          </p:cNvSpPr>
          <p:nvPr>
            <p:ph type="title"/>
          </p:nvPr>
        </p:nvSpPr>
        <p:spPr/>
        <p:txBody>
          <a:bodyPr/>
          <a:lstStyle/>
          <a:p>
            <a:r>
              <a:rPr lang="en-US"/>
              <a:t>Dataset</a:t>
            </a:r>
            <a:endParaRPr lang="en-ID"/>
          </a:p>
        </p:txBody>
      </p:sp>
      <p:sp>
        <p:nvSpPr>
          <p:cNvPr id="3" name="Text Placeholder 2">
            <a:extLst>
              <a:ext uri="{FF2B5EF4-FFF2-40B4-BE49-F238E27FC236}">
                <a16:creationId xmlns:a16="http://schemas.microsoft.com/office/drawing/2014/main" id="{17685A1F-A4C1-85EA-A033-DDF51A89608D}"/>
              </a:ext>
            </a:extLst>
          </p:cNvPr>
          <p:cNvSpPr>
            <a:spLocks noGrp="1"/>
          </p:cNvSpPr>
          <p:nvPr>
            <p:ph type="body" idx="1"/>
          </p:nvPr>
        </p:nvSpPr>
        <p:spPr>
          <a:xfrm>
            <a:off x="738554" y="2468032"/>
            <a:ext cx="6963508" cy="4161368"/>
          </a:xfrm>
        </p:spPr>
        <p:txBody>
          <a:bodyPr>
            <a:normAutofit/>
          </a:bodyPr>
          <a:lstStyle/>
          <a:p>
            <a:pPr marL="285750" indent="-285750">
              <a:spcBef>
                <a:spcPts val="0"/>
              </a:spcBef>
              <a:buClr>
                <a:schemeClr val="dk1"/>
              </a:buClr>
              <a:buSzPts val="1200"/>
            </a:pPr>
            <a:r>
              <a:rPr lang="en-ID" sz="2000"/>
              <a:t>restore/dump data link berikut : </a:t>
            </a:r>
            <a:r>
              <a:rPr lang="en-ID" sz="2000">
                <a:hlinkClick r:id="rId2"/>
              </a:rPr>
              <a:t>https://drive.google.com/file/d/1Fi-tptyMhp-qLzt13YrYSAYbcY-b7Anv/view?usp=sharing</a:t>
            </a:r>
            <a:r>
              <a:rPr lang="en-ID" sz="2000"/>
              <a:t> </a:t>
            </a:r>
          </a:p>
          <a:p>
            <a:pPr marL="285750" indent="-285750">
              <a:spcBef>
                <a:spcPts val="0"/>
              </a:spcBef>
              <a:buClr>
                <a:schemeClr val="dk1"/>
              </a:buClr>
              <a:buSzPts val="1200"/>
            </a:pPr>
            <a:r>
              <a:rPr lang="en-ID" sz="2000"/>
              <a:t>Masuk ke Mysql,</a:t>
            </a:r>
          </a:p>
          <a:p>
            <a:pPr marL="742950" lvl="1" indent="-285750">
              <a:spcBef>
                <a:spcPts val="0"/>
              </a:spcBef>
              <a:buClr>
                <a:schemeClr val="dk1"/>
              </a:buClr>
              <a:buSzPts val="1200"/>
            </a:pPr>
            <a:r>
              <a:rPr lang="en-ID" sz="1800"/>
              <a:t>Mysql –uroot –p</a:t>
            </a:r>
          </a:p>
          <a:p>
            <a:pPr marL="742950" lvl="1" indent="-285750">
              <a:spcBef>
                <a:spcPts val="0"/>
              </a:spcBef>
              <a:buClr>
                <a:schemeClr val="dk1"/>
              </a:buClr>
              <a:buSzPts val="1200"/>
            </a:pPr>
            <a:r>
              <a:rPr lang="en-ID" sz="1800"/>
              <a:t>lalu : create database parchnposey_kelas_nama</a:t>
            </a:r>
          </a:p>
          <a:p>
            <a:pPr marL="285750" indent="-285750">
              <a:spcBef>
                <a:spcPts val="0"/>
              </a:spcBef>
              <a:buClr>
                <a:schemeClr val="dk1"/>
              </a:buClr>
              <a:buSzPts val="1200"/>
            </a:pPr>
            <a:r>
              <a:rPr lang="en-ID" sz="2000"/>
              <a:t>Keluar mysql, lalu lakukan dump:</a:t>
            </a:r>
          </a:p>
          <a:p>
            <a:pPr marL="742950" lvl="1" indent="-285750">
              <a:spcBef>
                <a:spcPts val="0"/>
              </a:spcBef>
              <a:buClr>
                <a:schemeClr val="dk1"/>
              </a:buClr>
              <a:buSzPts val="1200"/>
            </a:pPr>
            <a:r>
              <a:rPr lang="en-ID" sz="1800"/>
              <a:t>mysql –u root parchnposey_kelas_nama &lt; file.sql</a:t>
            </a:r>
          </a:p>
          <a:p>
            <a:pPr marL="285750" indent="-285750">
              <a:spcBef>
                <a:spcPts val="0"/>
              </a:spcBef>
              <a:buClr>
                <a:schemeClr val="dk1"/>
              </a:buClr>
              <a:buSzPts val="1200"/>
            </a:pPr>
            <a:r>
              <a:rPr lang="en-ID" sz="2000"/>
              <a:t>Masuk lagi ke mysql:</a:t>
            </a:r>
          </a:p>
          <a:p>
            <a:pPr marL="742950" lvl="1" indent="-285750">
              <a:spcBef>
                <a:spcPts val="0"/>
              </a:spcBef>
              <a:buClr>
                <a:schemeClr val="dk1"/>
              </a:buClr>
              <a:buSzPts val="1200"/>
            </a:pPr>
            <a:r>
              <a:rPr lang="en-ID" sz="1800"/>
              <a:t>Mysql –uroot –p</a:t>
            </a:r>
          </a:p>
          <a:p>
            <a:pPr marL="742950" lvl="1" indent="-285750">
              <a:spcBef>
                <a:spcPts val="0"/>
              </a:spcBef>
              <a:buClr>
                <a:schemeClr val="dk1"/>
              </a:buClr>
              <a:buSzPts val="1200"/>
            </a:pPr>
            <a:r>
              <a:rPr lang="en-ID" sz="1800"/>
              <a:t>Use parchnposey_kelas_nama;</a:t>
            </a:r>
          </a:p>
          <a:p>
            <a:pPr marL="742950" lvl="1" indent="-285750">
              <a:spcBef>
                <a:spcPts val="0"/>
              </a:spcBef>
              <a:buClr>
                <a:schemeClr val="dk1"/>
              </a:buClr>
              <a:buSzPts val="1200"/>
            </a:pPr>
            <a:r>
              <a:rPr lang="en-ID" sz="1800"/>
              <a:t>Show tables;</a:t>
            </a:r>
            <a:br>
              <a:rPr lang="en-ID" sz="1800"/>
            </a:br>
            <a:endParaRPr lang="en-ID" sz="1800"/>
          </a:p>
          <a:p>
            <a:pPr marL="137160" indent="0">
              <a:buNone/>
            </a:pPr>
            <a:endParaRPr lang="en-ID" sz="2000"/>
          </a:p>
          <a:p>
            <a:pPr marL="137160" indent="0">
              <a:buNone/>
            </a:pPr>
            <a:endParaRPr lang="en-ID" sz="2000"/>
          </a:p>
        </p:txBody>
      </p:sp>
      <p:pic>
        <p:nvPicPr>
          <p:cNvPr id="5" name="Picture 4">
            <a:extLst>
              <a:ext uri="{FF2B5EF4-FFF2-40B4-BE49-F238E27FC236}">
                <a16:creationId xmlns:a16="http://schemas.microsoft.com/office/drawing/2014/main" id="{1CCB0DDC-54C6-F040-8F84-88BFB4662DFB}"/>
              </a:ext>
            </a:extLst>
          </p:cNvPr>
          <p:cNvPicPr>
            <a:picLocks noChangeAspect="1"/>
          </p:cNvPicPr>
          <p:nvPr/>
        </p:nvPicPr>
        <p:blipFill>
          <a:blip r:embed="rId3"/>
          <a:stretch>
            <a:fillRect/>
          </a:stretch>
        </p:blipFill>
        <p:spPr>
          <a:xfrm>
            <a:off x="7444904" y="2468032"/>
            <a:ext cx="3706238" cy="3706238"/>
          </a:xfrm>
          <a:prstGeom prst="rect">
            <a:avLst/>
          </a:prstGeom>
        </p:spPr>
      </p:pic>
    </p:spTree>
    <p:extLst>
      <p:ext uri="{BB962C8B-B14F-4D97-AF65-F5344CB8AC3E}">
        <p14:creationId xmlns:p14="http://schemas.microsoft.com/office/powerpoint/2010/main" val="5862422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g2976b235820_0_1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endParaRPr/>
          </a:p>
        </p:txBody>
      </p:sp>
      <p:pic>
        <p:nvPicPr>
          <p:cNvPr id="639" name="Google Shape;639;g2976b235820_0_18"/>
          <p:cNvPicPr preferRelativeResize="0"/>
          <p:nvPr/>
        </p:nvPicPr>
        <p:blipFill>
          <a:blip r:embed="rId3">
            <a:alphaModFix/>
          </a:blip>
          <a:stretch>
            <a:fillRect/>
          </a:stretch>
        </p:blipFill>
        <p:spPr>
          <a:xfrm>
            <a:off x="2032338" y="973675"/>
            <a:ext cx="8127324" cy="560505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27549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23" name="Google Shape;523;p33"/>
          <p:cNvSpPr txBox="1">
            <a:spLocks noGrp="1"/>
          </p:cNvSpPr>
          <p:nvPr>
            <p:ph type="body" idx="1"/>
          </p:nvPr>
        </p:nvSpPr>
        <p:spPr>
          <a:xfrm>
            <a:off x="1154954" y="2603500"/>
            <a:ext cx="9832594" cy="34163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80000"/>
              <a:buFont typeface="Noto Sans Symbols"/>
              <a:buChar char="❑"/>
            </a:pPr>
            <a:r>
              <a:rPr lang="en-ID" sz="2800" b="1"/>
              <a:t>Menampilkan Data </a:t>
            </a:r>
            <a:endParaRPr/>
          </a:p>
          <a:p>
            <a:pPr marL="342900" lvl="0" indent="-342900" algn="l" rtl="0">
              <a:spcBef>
                <a:spcPts val="1000"/>
              </a:spcBef>
              <a:spcAft>
                <a:spcPts val="0"/>
              </a:spcAft>
              <a:buSzPct val="80000"/>
              <a:buFont typeface="Noto Sans Symbols"/>
              <a:buChar char="❑"/>
            </a:pPr>
            <a:r>
              <a:rPr lang="en-ID" sz="2800"/>
              <a:t>Untuk menampilkan isi data atau melihat data dari suatu tabel terutama untuk memastikan apakah data yang di tambahkan sudah berhasil masuk ke tabel menggunakan perintah </a:t>
            </a:r>
            <a:r>
              <a:rPr lang="en-ID" sz="2800" b="1"/>
              <a:t>SELECT</a:t>
            </a:r>
            <a:r>
              <a:rPr lang="en-ID" sz="2800"/>
              <a:t>.</a:t>
            </a:r>
            <a:endParaRPr/>
          </a:p>
          <a:p>
            <a:pPr marL="342900" lvl="0" indent="-342900" algn="l" rtl="0">
              <a:spcBef>
                <a:spcPts val="1000"/>
              </a:spcBef>
              <a:spcAft>
                <a:spcPts val="0"/>
              </a:spcAft>
              <a:buSzPct val="80000"/>
              <a:buFont typeface="Noto Sans Symbols"/>
              <a:buChar char="❑"/>
            </a:pPr>
            <a:r>
              <a:rPr lang="en-ID" sz="2400" b="1"/>
              <a:t>SELECT </a:t>
            </a:r>
            <a:r>
              <a:rPr lang="en-ID" sz="2400"/>
              <a:t>* </a:t>
            </a:r>
            <a:r>
              <a:rPr lang="en-ID" sz="2400" b="1"/>
              <a:t>FROM </a:t>
            </a:r>
            <a:r>
              <a:rPr lang="en-ID" sz="2400"/>
              <a:t>nama_table;</a:t>
            </a:r>
            <a:endParaRPr/>
          </a:p>
          <a:p>
            <a:pPr marL="342900" lvl="0" indent="-342900" algn="l" rtl="0">
              <a:spcBef>
                <a:spcPts val="1000"/>
              </a:spcBef>
              <a:spcAft>
                <a:spcPts val="0"/>
              </a:spcAft>
              <a:buSzPct val="80000"/>
              <a:buFont typeface="Noto Sans Symbols"/>
              <a:buChar char="❑"/>
            </a:pPr>
            <a:r>
              <a:rPr lang="en-ID" sz="2400" b="1"/>
              <a:t>SELECT </a:t>
            </a:r>
            <a:r>
              <a:rPr lang="en-ID" sz="2400"/>
              <a:t>kolom1, kolom2, kolom-n </a:t>
            </a:r>
            <a:r>
              <a:rPr lang="en-ID" sz="2400" b="1"/>
              <a:t>FROM </a:t>
            </a:r>
            <a:r>
              <a:rPr lang="en-ID" sz="2400"/>
              <a:t>nama_tabel;</a:t>
            </a:r>
            <a:endParaRPr/>
          </a:p>
          <a:p>
            <a:pPr marL="342900" lvl="0" indent="-342900" algn="l" rtl="0">
              <a:spcBef>
                <a:spcPts val="1000"/>
              </a:spcBef>
              <a:spcAft>
                <a:spcPts val="0"/>
              </a:spcAft>
              <a:buSzPct val="80000"/>
              <a:buFont typeface="Noto Sans Symbols"/>
              <a:buChar char="❑"/>
            </a:pPr>
            <a:r>
              <a:rPr lang="en-ID" sz="2400" b="1"/>
              <a:t>SELECT </a:t>
            </a:r>
            <a:r>
              <a:rPr lang="en-ID" sz="2400"/>
              <a:t>* </a:t>
            </a:r>
            <a:r>
              <a:rPr lang="en-ID" sz="2400" b="1"/>
              <a:t>FROM </a:t>
            </a:r>
            <a:r>
              <a:rPr lang="en-ID" sz="2400"/>
              <a:t>nama_table </a:t>
            </a:r>
            <a:r>
              <a:rPr lang="en-ID" sz="2400" b="1"/>
              <a:t>WHERE </a:t>
            </a:r>
            <a:r>
              <a:rPr lang="en-ID" sz="2400"/>
              <a:t>kondisi;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2"/>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Operator Relasi</a:t>
            </a:r>
            <a:endParaRPr/>
          </a:p>
        </p:txBody>
      </p:sp>
      <p:sp>
        <p:nvSpPr>
          <p:cNvPr id="530" name="Google Shape;530;p32"/>
          <p:cNvSpPr txBox="1">
            <a:spLocks noGrp="1"/>
          </p:cNvSpPr>
          <p:nvPr>
            <p:ph type="body" idx="1"/>
          </p:nvPr>
        </p:nvSpPr>
        <p:spPr>
          <a:xfrm>
            <a:off x="1154954" y="2797615"/>
            <a:ext cx="4941046" cy="333775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760"/>
              <a:buFont typeface="Noto Sans Symbols"/>
              <a:buChar char="❑"/>
            </a:pPr>
            <a:r>
              <a:rPr lang="en-ID" sz="2200"/>
              <a:t>Operator Relasi merupakan operator yang digunakan untuk membandingkan suatu nilai dengan nilai yang lain. </a:t>
            </a:r>
            <a:endParaRPr/>
          </a:p>
          <a:p>
            <a:pPr marL="342900" lvl="0" indent="-342900" algn="l" rtl="0">
              <a:spcBef>
                <a:spcPts val="1000"/>
              </a:spcBef>
              <a:spcAft>
                <a:spcPts val="0"/>
              </a:spcAft>
              <a:buSzPts val="1760"/>
              <a:buFont typeface="Noto Sans Symbols"/>
              <a:buChar char="❑"/>
            </a:pPr>
            <a:r>
              <a:rPr lang="en-ID" sz="2200"/>
              <a:t>Biasanya operator ini digunakan bersamaan dengan oprator logika dalam membantu menampilkan informasi dengan kriteria tertentu.</a:t>
            </a:r>
            <a:endParaRPr sz="2200"/>
          </a:p>
        </p:txBody>
      </p:sp>
      <p:graphicFrame>
        <p:nvGraphicFramePr>
          <p:cNvPr id="531" name="Google Shape;531;p32"/>
          <p:cNvGraphicFramePr/>
          <p:nvPr/>
        </p:nvGraphicFramePr>
        <p:xfrm>
          <a:off x="6632446" y="3168553"/>
          <a:ext cx="5012675" cy="2595950"/>
        </p:xfrm>
        <a:graphic>
          <a:graphicData uri="http://schemas.openxmlformats.org/drawingml/2006/table">
            <a:tbl>
              <a:tblPr firstRow="1" bandRow="1">
                <a:noFill/>
                <a:tableStyleId>{1CC38793-8713-4A4E-B810-36662DA736D8}</a:tableStyleId>
              </a:tblPr>
              <a:tblGrid>
                <a:gridCol w="1259500">
                  <a:extLst>
                    <a:ext uri="{9D8B030D-6E8A-4147-A177-3AD203B41FA5}">
                      <a16:colId xmlns:a16="http://schemas.microsoft.com/office/drawing/2014/main" val="20000"/>
                    </a:ext>
                  </a:extLst>
                </a:gridCol>
                <a:gridCol w="37531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ID" sz="1800" b="1"/>
                        <a:t>Operator </a:t>
                      </a:r>
                      <a:endParaRPr/>
                    </a:p>
                  </a:txBody>
                  <a:tcPr marL="91450" marR="91450" marT="45725" marB="45725"/>
                </a:tc>
                <a:tc>
                  <a:txBody>
                    <a:bodyPr/>
                    <a:lstStyle/>
                    <a:p>
                      <a:pPr marL="0" marR="0" lvl="0" indent="0" algn="l" rtl="0">
                        <a:spcBef>
                          <a:spcPts val="0"/>
                        </a:spcBef>
                        <a:spcAft>
                          <a:spcPts val="0"/>
                        </a:spcAft>
                        <a:buNone/>
                      </a:pPr>
                      <a:r>
                        <a:rPr lang="en-ID" sz="1800" b="1"/>
                        <a:t>Keterangan</a:t>
                      </a:r>
                      <a:endParaRPr sz="1800" b="1"/>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ID" sz="1800" b="0"/>
                        <a:t>=</a:t>
                      </a:r>
                      <a:endParaRPr sz="1800" b="0"/>
                    </a:p>
                  </a:txBody>
                  <a:tcPr marL="91450" marR="91450" marT="45725" marB="45725"/>
                </a:tc>
                <a:tc>
                  <a:txBody>
                    <a:bodyPr/>
                    <a:lstStyle/>
                    <a:p>
                      <a:pPr marL="0" marR="0" lvl="0" indent="0" algn="l" rtl="0">
                        <a:spcBef>
                          <a:spcPts val="0"/>
                        </a:spcBef>
                        <a:spcAft>
                          <a:spcPts val="0"/>
                        </a:spcAft>
                        <a:buNone/>
                      </a:pPr>
                      <a:r>
                        <a:rPr lang="en-ID" sz="1800"/>
                        <a:t>Sama dengan</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ID" sz="1800" b="0"/>
                        <a:t>&gt;</a:t>
                      </a:r>
                      <a:endParaRPr sz="1800" b="0"/>
                    </a:p>
                  </a:txBody>
                  <a:tcPr marL="91450" marR="91450" marT="45725" marB="45725"/>
                </a:tc>
                <a:tc>
                  <a:txBody>
                    <a:bodyPr/>
                    <a:lstStyle/>
                    <a:p>
                      <a:pPr marL="0" marR="0" lvl="0" indent="0" algn="l" rtl="0">
                        <a:spcBef>
                          <a:spcPts val="0"/>
                        </a:spcBef>
                        <a:spcAft>
                          <a:spcPts val="0"/>
                        </a:spcAft>
                        <a:buNone/>
                      </a:pPr>
                      <a:r>
                        <a:rPr lang="en-ID" sz="1800"/>
                        <a:t>Lebih besar</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ID" sz="1800" b="0"/>
                        <a:t>&lt;</a:t>
                      </a:r>
                      <a:endParaRPr sz="1800" b="0"/>
                    </a:p>
                  </a:txBody>
                  <a:tcPr marL="91450" marR="91450" marT="45725" marB="45725"/>
                </a:tc>
                <a:tc>
                  <a:txBody>
                    <a:bodyPr/>
                    <a:lstStyle/>
                    <a:p>
                      <a:pPr marL="0" marR="0" lvl="0" indent="0" algn="l" rtl="0">
                        <a:spcBef>
                          <a:spcPts val="0"/>
                        </a:spcBef>
                        <a:spcAft>
                          <a:spcPts val="0"/>
                        </a:spcAft>
                        <a:buNone/>
                      </a:pPr>
                      <a:r>
                        <a:rPr lang="en-ID" sz="1800"/>
                        <a:t>Lebih kecil</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ID" sz="1800" b="0"/>
                        <a:t>&gt;=</a:t>
                      </a:r>
                      <a:endParaRPr sz="1800" b="0"/>
                    </a:p>
                  </a:txBody>
                  <a:tcPr marL="91450" marR="91450" marT="45725" marB="45725"/>
                </a:tc>
                <a:tc>
                  <a:txBody>
                    <a:bodyPr/>
                    <a:lstStyle/>
                    <a:p>
                      <a:pPr marL="0" marR="0" lvl="0" indent="0" algn="l" rtl="0">
                        <a:spcBef>
                          <a:spcPts val="0"/>
                        </a:spcBef>
                        <a:spcAft>
                          <a:spcPts val="0"/>
                        </a:spcAft>
                        <a:buNone/>
                      </a:pPr>
                      <a:r>
                        <a:rPr lang="en-ID" sz="1800"/>
                        <a:t>Lebih besar atau sama dengan</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ID" sz="1800" b="0"/>
                        <a:t>&lt;=</a:t>
                      </a:r>
                      <a:endParaRPr sz="1800" b="0"/>
                    </a:p>
                  </a:txBody>
                  <a:tcPr marL="91450" marR="91450" marT="45725" marB="45725"/>
                </a:tc>
                <a:tc>
                  <a:txBody>
                    <a:bodyPr/>
                    <a:lstStyle/>
                    <a:p>
                      <a:pPr marL="0" marR="0" lvl="0" indent="0" algn="l" rtl="0">
                        <a:spcBef>
                          <a:spcPts val="0"/>
                        </a:spcBef>
                        <a:spcAft>
                          <a:spcPts val="0"/>
                        </a:spcAft>
                        <a:buNone/>
                      </a:pPr>
                      <a:r>
                        <a:rPr lang="en-ID" sz="1800"/>
                        <a:t>Lebih kecil atau sama dengan</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ID" sz="1800" b="0"/>
                        <a:t>&lt;&gt;</a:t>
                      </a:r>
                      <a:endParaRPr sz="1800" b="0"/>
                    </a:p>
                  </a:txBody>
                  <a:tcPr marL="91450" marR="91450" marT="45725" marB="45725"/>
                </a:tc>
                <a:tc>
                  <a:txBody>
                    <a:bodyPr/>
                    <a:lstStyle/>
                    <a:p>
                      <a:pPr marL="0" marR="0" lvl="0" indent="0" algn="l" rtl="0">
                        <a:spcBef>
                          <a:spcPts val="0"/>
                        </a:spcBef>
                        <a:spcAft>
                          <a:spcPts val="0"/>
                        </a:spcAft>
                        <a:buNone/>
                      </a:pPr>
                      <a:r>
                        <a:rPr lang="en-ID" sz="1800"/>
                        <a:t>Tidak sama dengan</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g294b5420dc4_0_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Operator Logika</a:t>
            </a:r>
            <a:endParaRPr/>
          </a:p>
        </p:txBody>
      </p:sp>
      <p:graphicFrame>
        <p:nvGraphicFramePr>
          <p:cNvPr id="538" name="Google Shape;538;g294b5420dc4_0_0"/>
          <p:cNvGraphicFramePr/>
          <p:nvPr/>
        </p:nvGraphicFramePr>
        <p:xfrm>
          <a:off x="1410834" y="2677478"/>
          <a:ext cx="9370325" cy="3602465"/>
        </p:xfrm>
        <a:graphic>
          <a:graphicData uri="http://schemas.openxmlformats.org/drawingml/2006/table">
            <a:tbl>
              <a:tblPr firstRow="1" bandRow="1">
                <a:noFill/>
                <a:tableStyleId>{1CC38793-8713-4A4E-B810-36662DA736D8}</a:tableStyleId>
              </a:tblPr>
              <a:tblGrid>
                <a:gridCol w="1691725">
                  <a:extLst>
                    <a:ext uri="{9D8B030D-6E8A-4147-A177-3AD203B41FA5}">
                      <a16:colId xmlns:a16="http://schemas.microsoft.com/office/drawing/2014/main" val="20000"/>
                    </a:ext>
                  </a:extLst>
                </a:gridCol>
                <a:gridCol w="4869475">
                  <a:extLst>
                    <a:ext uri="{9D8B030D-6E8A-4147-A177-3AD203B41FA5}">
                      <a16:colId xmlns:a16="http://schemas.microsoft.com/office/drawing/2014/main" val="20001"/>
                    </a:ext>
                  </a:extLst>
                </a:gridCol>
                <a:gridCol w="2809125">
                  <a:extLst>
                    <a:ext uri="{9D8B030D-6E8A-4147-A177-3AD203B41FA5}">
                      <a16:colId xmlns:a16="http://schemas.microsoft.com/office/drawing/2014/main" val="20002"/>
                    </a:ext>
                  </a:extLst>
                </a:gridCol>
              </a:tblGrid>
              <a:tr h="316350">
                <a:tc>
                  <a:txBody>
                    <a:bodyPr/>
                    <a:lstStyle/>
                    <a:p>
                      <a:pPr marL="0" marR="0" lvl="0" indent="0" algn="l" rtl="0">
                        <a:spcBef>
                          <a:spcPts val="0"/>
                        </a:spcBef>
                        <a:spcAft>
                          <a:spcPts val="0"/>
                        </a:spcAft>
                        <a:buNone/>
                      </a:pPr>
                      <a:r>
                        <a:rPr lang="en-ID" sz="1800" b="1"/>
                        <a:t>Operator </a:t>
                      </a:r>
                      <a:endParaRPr/>
                    </a:p>
                  </a:txBody>
                  <a:tcPr marL="91450" marR="91450" marT="45725" marB="45725"/>
                </a:tc>
                <a:tc>
                  <a:txBody>
                    <a:bodyPr/>
                    <a:lstStyle/>
                    <a:p>
                      <a:pPr marL="0" marR="0" lvl="0" indent="0" algn="l" rtl="0">
                        <a:spcBef>
                          <a:spcPts val="0"/>
                        </a:spcBef>
                        <a:spcAft>
                          <a:spcPts val="0"/>
                        </a:spcAft>
                        <a:buNone/>
                      </a:pPr>
                      <a:r>
                        <a:rPr lang="en-ID" sz="1800"/>
                        <a:t>Fungsi</a:t>
                      </a:r>
                      <a:endParaRPr sz="1800" b="1"/>
                    </a:p>
                  </a:txBody>
                  <a:tcPr marL="91450" marR="91450" marT="45725" marB="45725"/>
                </a:tc>
                <a:tc>
                  <a:txBody>
                    <a:bodyPr/>
                    <a:lstStyle/>
                    <a:p>
                      <a:pPr marL="0" marR="0" lvl="0" indent="0" algn="l" rtl="0">
                        <a:spcBef>
                          <a:spcPts val="0"/>
                        </a:spcBef>
                        <a:spcAft>
                          <a:spcPts val="0"/>
                        </a:spcAft>
                        <a:buNone/>
                      </a:pPr>
                      <a:r>
                        <a:rPr lang="en-ID" sz="1800"/>
                        <a:t>Contoh</a:t>
                      </a:r>
                      <a:endParaRPr sz="1800" b="1"/>
                    </a:p>
                  </a:txBody>
                  <a:tcPr marL="91450" marR="91450" marT="45725" marB="45725"/>
                </a:tc>
                <a:extLst>
                  <a:ext uri="{0D108BD9-81ED-4DB2-BD59-A6C34878D82A}">
                    <a16:rowId xmlns:a16="http://schemas.microsoft.com/office/drawing/2014/main" val="10000"/>
                  </a:ext>
                </a:extLst>
              </a:tr>
              <a:tr h="1219375">
                <a:tc>
                  <a:txBody>
                    <a:bodyPr/>
                    <a:lstStyle/>
                    <a:p>
                      <a:pPr marL="0" lvl="0" indent="0" algn="l" rtl="0">
                        <a:lnSpc>
                          <a:spcPct val="115000"/>
                        </a:lnSpc>
                        <a:spcBef>
                          <a:spcPts val="0"/>
                        </a:spcBef>
                        <a:spcAft>
                          <a:spcPts val="0"/>
                        </a:spcAft>
                        <a:buNone/>
                      </a:pPr>
                      <a:r>
                        <a:rPr lang="en-ID" sz="1600"/>
                        <a:t>OR atau ||</a:t>
                      </a:r>
                      <a:endParaRPr sz="1600"/>
                    </a:p>
                  </a:txBody>
                  <a:tcPr marL="91425" marR="91425" marT="91425" marB="91425"/>
                </a:tc>
                <a:tc>
                  <a:txBody>
                    <a:bodyPr/>
                    <a:lstStyle/>
                    <a:p>
                      <a:pPr marL="0" lvl="0" indent="0" algn="l" rtl="0">
                        <a:spcBef>
                          <a:spcPts val="1000"/>
                        </a:spcBef>
                        <a:spcAft>
                          <a:spcPts val="0"/>
                        </a:spcAft>
                        <a:buNone/>
                      </a:pPr>
                      <a:r>
                        <a:rPr lang="en-ID" sz="1600">
                          <a:solidFill>
                            <a:srgbClr val="3F3F3F"/>
                          </a:solidFill>
                        </a:rPr>
                        <a:t>Operator OR merupakan operator logika dimana ada 2 kondisi Apabila salah satu terpenuhi atau bernilai benar maka hasilnya adalah benar</a:t>
                      </a:r>
                      <a:endParaRPr sz="1600"/>
                    </a:p>
                  </a:txBody>
                  <a:tcPr marL="91425" marR="91425" marT="91425" marB="91425"/>
                </a:tc>
                <a:tc>
                  <a:txBody>
                    <a:bodyPr/>
                    <a:lstStyle/>
                    <a:p>
                      <a:pPr marL="0" lvl="0" indent="0" algn="l" rtl="0">
                        <a:lnSpc>
                          <a:spcPct val="115000"/>
                        </a:lnSpc>
                        <a:spcBef>
                          <a:spcPts val="0"/>
                        </a:spcBef>
                        <a:spcAft>
                          <a:spcPts val="0"/>
                        </a:spcAft>
                        <a:buNone/>
                      </a:pPr>
                      <a:r>
                        <a:rPr lang="en-ID" sz="1600"/>
                        <a:t>Atau</a:t>
                      </a:r>
                      <a:endParaRPr sz="1600"/>
                    </a:p>
                    <a:p>
                      <a:pPr marL="0" lvl="0" indent="0" algn="l" rtl="0">
                        <a:lnSpc>
                          <a:spcPct val="115000"/>
                        </a:lnSpc>
                        <a:spcBef>
                          <a:spcPts val="0"/>
                        </a:spcBef>
                        <a:spcAft>
                          <a:spcPts val="0"/>
                        </a:spcAft>
                        <a:buNone/>
                      </a:pPr>
                      <a:r>
                        <a:rPr lang="en-ID" sz="1600"/>
                        <a:t>Contoh: Hitam || Putih</a:t>
                      </a:r>
                      <a:endParaRPr sz="1600"/>
                    </a:p>
                  </a:txBody>
                  <a:tcPr marL="91425" marR="91425" marT="91425" marB="91425"/>
                </a:tc>
                <a:extLst>
                  <a:ext uri="{0D108BD9-81ED-4DB2-BD59-A6C34878D82A}">
                    <a16:rowId xmlns:a16="http://schemas.microsoft.com/office/drawing/2014/main" val="10001"/>
                  </a:ext>
                </a:extLst>
              </a:tr>
              <a:tr h="1213950">
                <a:tc>
                  <a:txBody>
                    <a:bodyPr/>
                    <a:lstStyle/>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AND atau &amp;&amp;</a:t>
                      </a:r>
                      <a:endParaRPr sz="1600">
                        <a:latin typeface="Century Gothic"/>
                        <a:ea typeface="Century Gothic"/>
                        <a:cs typeface="Century Gothic"/>
                        <a:sym typeface="Century Gothic"/>
                      </a:endParaRPr>
                    </a:p>
                  </a:txBody>
                  <a:tcPr marL="91425" marR="91425" marT="91425" marB="91425"/>
                </a:tc>
                <a:tc>
                  <a:txBody>
                    <a:bodyPr/>
                    <a:lstStyle/>
                    <a:p>
                      <a:pPr marL="0" lvl="0" indent="0" algn="l" rtl="0">
                        <a:lnSpc>
                          <a:spcPct val="115000"/>
                        </a:lnSpc>
                        <a:spcBef>
                          <a:spcPts val="0"/>
                        </a:spcBef>
                        <a:spcAft>
                          <a:spcPts val="0"/>
                        </a:spcAft>
                        <a:buNone/>
                      </a:pPr>
                      <a:r>
                        <a:rPr lang="en-ID" sz="1600"/>
                        <a:t>Apapun kondisinya bila di-AND-kan dengan nilai yang salah hasilnya akan tetap salah. </a:t>
                      </a:r>
                      <a:endParaRPr sz="1600"/>
                    </a:p>
                    <a:p>
                      <a:pPr marL="0" lvl="0" indent="0" algn="l" rtl="0">
                        <a:lnSpc>
                          <a:spcPct val="115000"/>
                        </a:lnSpc>
                        <a:spcBef>
                          <a:spcPts val="0"/>
                        </a:spcBef>
                        <a:spcAft>
                          <a:spcPts val="0"/>
                        </a:spcAft>
                        <a:buNone/>
                      </a:pPr>
                      <a:r>
                        <a:rPr lang="en-ID" sz="1600"/>
                        <a:t>Hasil akan bernilai benar apabila kedua kondisi bernilai benar.</a:t>
                      </a:r>
                      <a:endParaRPr sz="1600">
                        <a:latin typeface="Century Gothic"/>
                        <a:ea typeface="Century Gothic"/>
                        <a:cs typeface="Century Gothic"/>
                        <a:sym typeface="Century Gothic"/>
                      </a:endParaRPr>
                    </a:p>
                  </a:txBody>
                  <a:tcPr marL="91425" marR="91425" marT="91425" marB="91425"/>
                </a:tc>
                <a:tc>
                  <a:txBody>
                    <a:bodyPr/>
                    <a:lstStyle/>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Dan</a:t>
                      </a:r>
                      <a:endParaRPr sz="1600">
                        <a:latin typeface="Century Gothic"/>
                        <a:ea typeface="Century Gothic"/>
                        <a:cs typeface="Century Gothic"/>
                        <a:sym typeface="Century Gothic"/>
                      </a:endParaRPr>
                    </a:p>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Contoh : Hitam &amp;&amp; Putih</a:t>
                      </a:r>
                      <a:endParaRPr sz="160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2"/>
                  </a:ext>
                </a:extLst>
              </a:tr>
              <a:tr h="737825">
                <a:tc>
                  <a:txBody>
                    <a:bodyPr/>
                    <a:lstStyle/>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NOT atau !</a:t>
                      </a:r>
                      <a:endParaRPr sz="1600">
                        <a:latin typeface="Century Gothic"/>
                        <a:ea typeface="Century Gothic"/>
                        <a:cs typeface="Century Gothic"/>
                        <a:sym typeface="Century Gothic"/>
                      </a:endParaRPr>
                    </a:p>
                  </a:txBody>
                  <a:tcPr marL="91425" marR="91425" marT="91425" marB="91425"/>
                </a:tc>
                <a:tc>
                  <a:txBody>
                    <a:bodyPr/>
                    <a:lstStyle/>
                    <a:p>
                      <a:pPr marL="0" lvl="0" indent="0" algn="l" rtl="0">
                        <a:lnSpc>
                          <a:spcPct val="115000"/>
                        </a:lnSpc>
                        <a:spcBef>
                          <a:spcPts val="0"/>
                        </a:spcBef>
                        <a:spcAft>
                          <a:spcPts val="0"/>
                        </a:spcAft>
                        <a:buNone/>
                      </a:pPr>
                      <a:r>
                        <a:rPr lang="en-ID" sz="1600"/>
                        <a:t>Operator ini berguna untuk melakukan pembalikan atau lawan dari nilai logika.</a:t>
                      </a:r>
                      <a:endParaRPr sz="1600">
                        <a:latin typeface="Century Gothic"/>
                        <a:ea typeface="Century Gothic"/>
                        <a:cs typeface="Century Gothic"/>
                        <a:sym typeface="Century Gothic"/>
                      </a:endParaRPr>
                    </a:p>
                  </a:txBody>
                  <a:tcPr marL="91425" marR="91425" marT="91425" marB="91425"/>
                </a:tc>
                <a:tc>
                  <a:txBody>
                    <a:bodyPr/>
                    <a:lstStyle/>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Negasi / Pembalik nilai</a:t>
                      </a:r>
                      <a:endParaRPr sz="1600">
                        <a:latin typeface="Century Gothic"/>
                        <a:ea typeface="Century Gothic"/>
                        <a:cs typeface="Century Gothic"/>
                        <a:sym typeface="Century Gothic"/>
                      </a:endParaRPr>
                    </a:p>
                    <a:p>
                      <a:pPr marL="0" lvl="0" indent="0" algn="l" rtl="0">
                        <a:lnSpc>
                          <a:spcPct val="115000"/>
                        </a:lnSpc>
                        <a:spcBef>
                          <a:spcPts val="0"/>
                        </a:spcBef>
                        <a:spcAft>
                          <a:spcPts val="0"/>
                        </a:spcAft>
                        <a:buNone/>
                      </a:pPr>
                      <a:r>
                        <a:rPr lang="en-ID" sz="1600">
                          <a:latin typeface="Century Gothic"/>
                          <a:ea typeface="Century Gothic"/>
                          <a:cs typeface="Century Gothic"/>
                          <a:sym typeface="Century Gothic"/>
                        </a:rPr>
                        <a:t>Contoh : !Hitam</a:t>
                      </a:r>
                      <a:endParaRPr sz="160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g294b5420dc4_0_23"/>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Operator Lain</a:t>
            </a:r>
            <a:endParaRPr/>
          </a:p>
        </p:txBody>
      </p:sp>
      <p:graphicFrame>
        <p:nvGraphicFramePr>
          <p:cNvPr id="545" name="Google Shape;545;g294b5420dc4_0_23"/>
          <p:cNvGraphicFramePr/>
          <p:nvPr/>
        </p:nvGraphicFramePr>
        <p:xfrm>
          <a:off x="1205434" y="3031603"/>
          <a:ext cx="9781125" cy="2963790"/>
        </p:xfrm>
        <a:graphic>
          <a:graphicData uri="http://schemas.openxmlformats.org/drawingml/2006/table">
            <a:tbl>
              <a:tblPr firstRow="1" bandRow="1">
                <a:noFill/>
                <a:tableStyleId>{1CC38793-8713-4A4E-B810-36662DA736D8}</a:tableStyleId>
              </a:tblPr>
              <a:tblGrid>
                <a:gridCol w="2457650">
                  <a:extLst>
                    <a:ext uri="{9D8B030D-6E8A-4147-A177-3AD203B41FA5}">
                      <a16:colId xmlns:a16="http://schemas.microsoft.com/office/drawing/2014/main" val="20000"/>
                    </a:ext>
                  </a:extLst>
                </a:gridCol>
                <a:gridCol w="7323475">
                  <a:extLst>
                    <a:ext uri="{9D8B030D-6E8A-4147-A177-3AD203B41FA5}">
                      <a16:colId xmlns:a16="http://schemas.microsoft.com/office/drawing/2014/main" val="20001"/>
                    </a:ext>
                  </a:extLst>
                </a:gridCol>
              </a:tblGrid>
              <a:tr h="233725">
                <a:tc>
                  <a:txBody>
                    <a:bodyPr/>
                    <a:lstStyle/>
                    <a:p>
                      <a:pPr marL="0" marR="0" lvl="0" indent="0" algn="l" rtl="0">
                        <a:spcBef>
                          <a:spcPts val="0"/>
                        </a:spcBef>
                        <a:spcAft>
                          <a:spcPts val="0"/>
                        </a:spcAft>
                        <a:buNone/>
                      </a:pPr>
                      <a:r>
                        <a:rPr lang="en-ID" sz="1800" b="1"/>
                        <a:t>Operator </a:t>
                      </a:r>
                      <a:endParaRPr/>
                    </a:p>
                  </a:txBody>
                  <a:tcPr marL="91450" marR="91450" marT="45725" marB="45725"/>
                </a:tc>
                <a:tc>
                  <a:txBody>
                    <a:bodyPr/>
                    <a:lstStyle/>
                    <a:p>
                      <a:pPr marL="0" marR="0" lvl="0" indent="0" algn="l" rtl="0">
                        <a:spcBef>
                          <a:spcPts val="0"/>
                        </a:spcBef>
                        <a:spcAft>
                          <a:spcPts val="0"/>
                        </a:spcAft>
                        <a:buNone/>
                      </a:pPr>
                      <a:r>
                        <a:rPr lang="en-ID" sz="1800" b="1"/>
                        <a:t>Keterangan</a:t>
                      </a:r>
                      <a:endParaRPr sz="1800" b="1"/>
                    </a:p>
                  </a:txBody>
                  <a:tcPr marL="91450" marR="91450" marT="45725" marB="45725"/>
                </a:tc>
                <a:extLst>
                  <a:ext uri="{0D108BD9-81ED-4DB2-BD59-A6C34878D82A}">
                    <a16:rowId xmlns:a16="http://schemas.microsoft.com/office/drawing/2014/main" val="10000"/>
                  </a:ext>
                </a:extLst>
              </a:tr>
              <a:tr h="403400">
                <a:tc>
                  <a:txBody>
                    <a:bodyPr/>
                    <a:lstStyle/>
                    <a:p>
                      <a:pPr marL="0" marR="0" lvl="0" indent="0" algn="ctr" rtl="0">
                        <a:spcBef>
                          <a:spcPts val="0"/>
                        </a:spcBef>
                        <a:spcAft>
                          <a:spcPts val="0"/>
                        </a:spcAft>
                        <a:buNone/>
                      </a:pPr>
                      <a:r>
                        <a:rPr lang="en-ID" sz="1800"/>
                        <a:t>IS NULL</a:t>
                      </a:r>
                      <a:endParaRPr sz="1800" b="0"/>
                    </a:p>
                  </a:txBody>
                  <a:tcPr marL="91450" marR="91450" marT="45725" marB="45725"/>
                </a:tc>
                <a:tc>
                  <a:txBody>
                    <a:bodyPr/>
                    <a:lstStyle/>
                    <a:p>
                      <a:pPr marL="0" marR="0" lvl="0" indent="0" algn="l" rtl="0">
                        <a:spcBef>
                          <a:spcPts val="0"/>
                        </a:spcBef>
                        <a:spcAft>
                          <a:spcPts val="0"/>
                        </a:spcAft>
                        <a:buNone/>
                      </a:pPr>
                      <a:r>
                        <a:rPr lang="en-ID" sz="1800"/>
                        <a:t>Menampilkan data kosong</a:t>
                      </a:r>
                      <a:endParaRPr sz="1800"/>
                    </a:p>
                  </a:txBody>
                  <a:tcPr marL="91450" marR="91450" marT="45725" marB="45725"/>
                </a:tc>
                <a:extLst>
                  <a:ext uri="{0D108BD9-81ED-4DB2-BD59-A6C34878D82A}">
                    <a16:rowId xmlns:a16="http://schemas.microsoft.com/office/drawing/2014/main" val="10001"/>
                  </a:ext>
                </a:extLst>
              </a:tr>
              <a:tr h="233725">
                <a:tc>
                  <a:txBody>
                    <a:bodyPr/>
                    <a:lstStyle/>
                    <a:p>
                      <a:pPr marL="0" marR="0" lvl="0" indent="0" algn="ctr" rtl="0">
                        <a:spcBef>
                          <a:spcPts val="0"/>
                        </a:spcBef>
                        <a:spcAft>
                          <a:spcPts val="0"/>
                        </a:spcAft>
                        <a:buNone/>
                      </a:pPr>
                      <a:r>
                        <a:rPr lang="en-ID" sz="1800"/>
                        <a:t>IS NOT NULL</a:t>
                      </a:r>
                      <a:endParaRPr sz="1800" b="0"/>
                    </a:p>
                  </a:txBody>
                  <a:tcPr marL="91450" marR="91450" marT="45725" marB="45725"/>
                </a:tc>
                <a:tc>
                  <a:txBody>
                    <a:bodyPr/>
                    <a:lstStyle/>
                    <a:p>
                      <a:pPr marL="0" marR="0" lvl="0" indent="0" algn="l" rtl="0">
                        <a:spcBef>
                          <a:spcPts val="0"/>
                        </a:spcBef>
                        <a:spcAft>
                          <a:spcPts val="0"/>
                        </a:spcAft>
                        <a:buNone/>
                      </a:pPr>
                      <a:r>
                        <a:rPr lang="en-ID" sz="1800"/>
                        <a:t>Menampilkan data tidak kosong</a:t>
                      </a:r>
                      <a:endParaRPr sz="1800"/>
                    </a:p>
                  </a:txBody>
                  <a:tcPr marL="91450" marR="91450" marT="45725" marB="45725"/>
                </a:tc>
                <a:extLst>
                  <a:ext uri="{0D108BD9-81ED-4DB2-BD59-A6C34878D82A}">
                    <a16:rowId xmlns:a16="http://schemas.microsoft.com/office/drawing/2014/main" val="10002"/>
                  </a:ext>
                </a:extLst>
              </a:tr>
              <a:tr h="233725">
                <a:tc>
                  <a:txBody>
                    <a:bodyPr/>
                    <a:lstStyle/>
                    <a:p>
                      <a:pPr marL="0" marR="0" lvl="0" indent="0" algn="ctr" rtl="0">
                        <a:spcBef>
                          <a:spcPts val="0"/>
                        </a:spcBef>
                        <a:spcAft>
                          <a:spcPts val="0"/>
                        </a:spcAft>
                        <a:buNone/>
                      </a:pPr>
                      <a:r>
                        <a:rPr lang="en-ID" sz="1800"/>
                        <a:t>BETWEEN</a:t>
                      </a:r>
                      <a:endParaRPr sz="1800" b="0"/>
                    </a:p>
                  </a:txBody>
                  <a:tcPr marL="91450" marR="91450" marT="45725" marB="45725"/>
                </a:tc>
                <a:tc>
                  <a:txBody>
                    <a:bodyPr/>
                    <a:lstStyle/>
                    <a:p>
                      <a:pPr marL="0" marR="0" lvl="0" indent="0" algn="l" rtl="0">
                        <a:spcBef>
                          <a:spcPts val="0"/>
                        </a:spcBef>
                        <a:spcAft>
                          <a:spcPts val="0"/>
                        </a:spcAft>
                        <a:buNone/>
                      </a:pPr>
                      <a:r>
                        <a:rPr lang="en-ID" sz="1800"/>
                        <a:t>Menampilkan data antara dua kondisi</a:t>
                      </a:r>
                      <a:endParaRPr sz="1800"/>
                    </a:p>
                  </a:txBody>
                  <a:tcPr marL="91450" marR="91450" marT="45725" marB="45725"/>
                </a:tc>
                <a:extLst>
                  <a:ext uri="{0D108BD9-81ED-4DB2-BD59-A6C34878D82A}">
                    <a16:rowId xmlns:a16="http://schemas.microsoft.com/office/drawing/2014/main" val="10003"/>
                  </a:ext>
                </a:extLst>
              </a:tr>
              <a:tr h="233725">
                <a:tc>
                  <a:txBody>
                    <a:bodyPr/>
                    <a:lstStyle/>
                    <a:p>
                      <a:pPr marL="0" marR="0" lvl="0" indent="0" algn="ctr" rtl="0">
                        <a:spcBef>
                          <a:spcPts val="0"/>
                        </a:spcBef>
                        <a:spcAft>
                          <a:spcPts val="0"/>
                        </a:spcAft>
                        <a:buNone/>
                      </a:pPr>
                      <a:r>
                        <a:rPr lang="en-ID" sz="1800"/>
                        <a:t>IN</a:t>
                      </a:r>
                      <a:endParaRPr sz="1800" b="0"/>
                    </a:p>
                  </a:txBody>
                  <a:tcPr marL="91450" marR="91450" marT="45725" marB="45725"/>
                </a:tc>
                <a:tc>
                  <a:txBody>
                    <a:bodyPr/>
                    <a:lstStyle/>
                    <a:p>
                      <a:pPr marL="0" marR="0" lvl="0" indent="0" algn="l" rtl="0">
                        <a:spcBef>
                          <a:spcPts val="0"/>
                        </a:spcBef>
                        <a:spcAft>
                          <a:spcPts val="0"/>
                        </a:spcAft>
                        <a:buNone/>
                      </a:pPr>
                      <a:r>
                        <a:rPr lang="en-ID" sz="1800"/>
                        <a:t>Menampilkan data yang berada dalam pilihan yang ada </a:t>
                      </a:r>
                      <a:endParaRPr sz="1800"/>
                    </a:p>
                  </a:txBody>
                  <a:tcPr marL="91450" marR="91450" marT="45725" marB="45725"/>
                </a:tc>
                <a:extLst>
                  <a:ext uri="{0D108BD9-81ED-4DB2-BD59-A6C34878D82A}">
                    <a16:rowId xmlns:a16="http://schemas.microsoft.com/office/drawing/2014/main" val="10004"/>
                  </a:ext>
                </a:extLst>
              </a:tr>
              <a:tr h="233725">
                <a:tc>
                  <a:txBody>
                    <a:bodyPr/>
                    <a:lstStyle/>
                    <a:p>
                      <a:pPr marL="0" marR="0" lvl="0" indent="0" algn="ctr" rtl="0">
                        <a:spcBef>
                          <a:spcPts val="0"/>
                        </a:spcBef>
                        <a:spcAft>
                          <a:spcPts val="0"/>
                        </a:spcAft>
                        <a:buNone/>
                      </a:pPr>
                      <a:r>
                        <a:rPr lang="en-ID" sz="1800"/>
                        <a:t>NOT IN</a:t>
                      </a:r>
                      <a:endParaRPr sz="1800" b="0"/>
                    </a:p>
                  </a:txBody>
                  <a:tcPr marL="91450" marR="91450" marT="45725" marB="45725"/>
                </a:tc>
                <a:tc>
                  <a:txBody>
                    <a:bodyPr/>
                    <a:lstStyle/>
                    <a:p>
                      <a:pPr marL="0" marR="0" lvl="0" indent="0" algn="l" rtl="0">
                        <a:spcBef>
                          <a:spcPts val="0"/>
                        </a:spcBef>
                        <a:spcAft>
                          <a:spcPts val="0"/>
                        </a:spcAft>
                        <a:buNone/>
                      </a:pPr>
                      <a:r>
                        <a:rPr lang="en-ID" sz="1800"/>
                        <a:t>Menampilkan data yang tidak berada dalam pilihan yang ada</a:t>
                      </a:r>
                      <a:endParaRPr sz="1800"/>
                    </a:p>
                  </a:txBody>
                  <a:tcPr marL="91450" marR="91450" marT="45725" marB="45725"/>
                </a:tc>
                <a:extLst>
                  <a:ext uri="{0D108BD9-81ED-4DB2-BD59-A6C34878D82A}">
                    <a16:rowId xmlns:a16="http://schemas.microsoft.com/office/drawing/2014/main" val="10005"/>
                  </a:ext>
                </a:extLst>
              </a:tr>
              <a:tr h="233725">
                <a:tc>
                  <a:txBody>
                    <a:bodyPr/>
                    <a:lstStyle/>
                    <a:p>
                      <a:pPr marL="0" marR="0" lvl="0" indent="0" algn="ctr" rtl="0">
                        <a:spcBef>
                          <a:spcPts val="0"/>
                        </a:spcBef>
                        <a:spcAft>
                          <a:spcPts val="0"/>
                        </a:spcAft>
                        <a:buNone/>
                      </a:pPr>
                      <a:r>
                        <a:rPr lang="en-ID" sz="1800"/>
                        <a:t>LIKE</a:t>
                      </a:r>
                      <a:endParaRPr sz="1800" b="0"/>
                    </a:p>
                  </a:txBody>
                  <a:tcPr marL="91450" marR="91450" marT="45725" marB="45725"/>
                </a:tc>
                <a:tc>
                  <a:txBody>
                    <a:bodyPr/>
                    <a:lstStyle/>
                    <a:p>
                      <a:pPr marL="0" marR="0" lvl="0" indent="0" algn="l" rtl="0">
                        <a:spcBef>
                          <a:spcPts val="0"/>
                        </a:spcBef>
                        <a:spcAft>
                          <a:spcPts val="0"/>
                        </a:spcAft>
                        <a:buNone/>
                      </a:pPr>
                      <a:r>
                        <a:rPr lang="en-ID" sz="1800"/>
                        <a:t>Menampilkan data sesuai dengan kriteria</a:t>
                      </a:r>
                      <a:endParaRPr sz="1800"/>
                    </a:p>
                  </a:txBody>
                  <a:tcPr marL="91450" marR="91450" marT="45725" marB="45725"/>
                </a:tc>
                <a:extLst>
                  <a:ext uri="{0D108BD9-81ED-4DB2-BD59-A6C34878D82A}">
                    <a16:rowId xmlns:a16="http://schemas.microsoft.com/office/drawing/2014/main" val="10006"/>
                  </a:ext>
                </a:extLst>
              </a:tr>
              <a:tr h="233725">
                <a:tc>
                  <a:txBody>
                    <a:bodyPr/>
                    <a:lstStyle/>
                    <a:p>
                      <a:pPr marL="0" marR="0" lvl="0" indent="0" algn="ctr" rtl="0">
                        <a:spcBef>
                          <a:spcPts val="0"/>
                        </a:spcBef>
                        <a:spcAft>
                          <a:spcPts val="0"/>
                        </a:spcAft>
                        <a:buNone/>
                      </a:pPr>
                      <a:r>
                        <a:rPr lang="en-ID" sz="1800"/>
                        <a:t>NOT LIKE</a:t>
                      </a:r>
                      <a:endParaRPr sz="1800"/>
                    </a:p>
                  </a:txBody>
                  <a:tcPr marL="91450" marR="91450" marT="45725" marB="45725"/>
                </a:tc>
                <a:tc>
                  <a:txBody>
                    <a:bodyPr/>
                    <a:lstStyle/>
                    <a:p>
                      <a:pPr marL="0" marR="0" lvl="0" indent="0" algn="l" rtl="0">
                        <a:spcBef>
                          <a:spcPts val="0"/>
                        </a:spcBef>
                        <a:spcAft>
                          <a:spcPts val="0"/>
                        </a:spcAft>
                        <a:buNone/>
                      </a:pPr>
                      <a:r>
                        <a:rPr lang="en-ID" sz="1800"/>
                        <a:t>Menampilkan data tidak sesuai dengan kriteria</a:t>
                      </a:r>
                      <a:endParaRPr sz="1800"/>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3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52" name="Google Shape;552;p34"/>
          <p:cNvSpPr txBox="1">
            <a:spLocks noGrp="1"/>
          </p:cNvSpPr>
          <p:nvPr>
            <p:ph type="body" idx="1"/>
          </p:nvPr>
        </p:nvSpPr>
        <p:spPr>
          <a:xfrm>
            <a:off x="1154953" y="2426678"/>
            <a:ext cx="10134369" cy="40796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Menentukan Nilai Uniq </a:t>
            </a:r>
            <a:endParaRPr/>
          </a:p>
          <a:p>
            <a:pPr marL="342900" lvl="0" indent="-342900" algn="l" rtl="0">
              <a:spcBef>
                <a:spcPts val="1000"/>
              </a:spcBef>
              <a:spcAft>
                <a:spcPts val="0"/>
              </a:spcAft>
              <a:buSzPts val="1920"/>
              <a:buFont typeface="Noto Sans Symbols"/>
              <a:buChar char="❑"/>
            </a:pPr>
            <a:r>
              <a:rPr lang="en-ID" sz="2400" b="1" i="0">
                <a:solidFill>
                  <a:srgbClr val="5F6368"/>
                </a:solidFill>
                <a:latin typeface="arial"/>
                <a:ea typeface="arial"/>
                <a:cs typeface="arial"/>
                <a:sym typeface="arial"/>
              </a:rPr>
              <a:t>Perintah</a:t>
            </a:r>
            <a:r>
              <a:rPr lang="en-ID" sz="2400" b="0" i="0">
                <a:solidFill>
                  <a:srgbClr val="4D5156"/>
                </a:solidFill>
                <a:latin typeface="arial"/>
                <a:ea typeface="arial"/>
                <a:cs typeface="arial"/>
                <a:sym typeface="arial"/>
              </a:rPr>
              <a:t> SELECT </a:t>
            </a:r>
            <a:r>
              <a:rPr lang="en-ID" sz="2400" b="1" i="0">
                <a:solidFill>
                  <a:srgbClr val="5F6368"/>
                </a:solidFill>
                <a:latin typeface="arial"/>
                <a:ea typeface="arial"/>
                <a:cs typeface="arial"/>
                <a:sym typeface="arial"/>
              </a:rPr>
              <a:t>DISTINCT</a:t>
            </a:r>
            <a:r>
              <a:rPr lang="en-ID" sz="2400" b="0" i="0">
                <a:solidFill>
                  <a:srgbClr val="4D5156"/>
                </a:solidFill>
                <a:latin typeface="arial"/>
                <a:ea typeface="arial"/>
                <a:cs typeface="arial"/>
                <a:sym typeface="arial"/>
              </a:rPr>
              <a:t> digunakan untuk menampilkan nilai uniq pada sebuah kolom.</a:t>
            </a:r>
            <a:endParaRPr sz="2400"/>
          </a:p>
          <a:p>
            <a:pPr marL="342900" lvl="0" indent="-342900" algn="l" rtl="0">
              <a:spcBef>
                <a:spcPts val="1000"/>
              </a:spcBef>
              <a:spcAft>
                <a:spcPts val="0"/>
              </a:spcAft>
              <a:buSzPts val="1920"/>
              <a:buFont typeface="Noto Sans Symbols"/>
              <a:buChar char="❑"/>
            </a:pPr>
            <a:r>
              <a:rPr lang="en-ID" sz="2400" b="1"/>
              <a:t>SELECT </a:t>
            </a:r>
            <a:r>
              <a:rPr lang="en-ID" sz="2400"/>
              <a:t>distinct(nama_kolom) </a:t>
            </a:r>
            <a:r>
              <a:rPr lang="en-ID" sz="2400" b="1"/>
              <a:t>FROM </a:t>
            </a:r>
            <a:r>
              <a:rPr lang="en-ID" sz="2400"/>
              <a:t>nama_table</a:t>
            </a:r>
            <a:r>
              <a:rPr lang="en-ID" sz="2400" b="1"/>
              <a:t>;</a:t>
            </a:r>
            <a:endParaRPr/>
          </a:p>
          <a:p>
            <a:pPr marL="342900" lvl="0" indent="-220980" algn="l" rtl="0">
              <a:spcBef>
                <a:spcPts val="1000"/>
              </a:spcBef>
              <a:spcAft>
                <a:spcPts val="0"/>
              </a:spcAft>
              <a:buSzPts val="1920"/>
              <a:buFont typeface="Noto Sans Symbols"/>
              <a:buNone/>
            </a:pPr>
            <a:endParaRPr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35"/>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59" name="Google Shape;559;p35"/>
          <p:cNvSpPr txBox="1">
            <a:spLocks noGrp="1"/>
          </p:cNvSpPr>
          <p:nvPr>
            <p:ph type="body" idx="1"/>
          </p:nvPr>
        </p:nvSpPr>
        <p:spPr>
          <a:xfrm>
            <a:off x="1154953" y="2426678"/>
            <a:ext cx="10134369" cy="407963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SzPct val="80000"/>
              <a:buNone/>
            </a:pPr>
            <a:r>
              <a:rPr lang="en-ID" sz="2400" b="1"/>
              <a:t>Mengurutkan Data</a:t>
            </a:r>
            <a:endParaRPr/>
          </a:p>
          <a:p>
            <a:pPr marL="342900" lvl="0" indent="-333756" algn="l" rtl="0">
              <a:spcBef>
                <a:spcPts val="1000"/>
              </a:spcBef>
              <a:spcAft>
                <a:spcPts val="0"/>
              </a:spcAft>
              <a:buSzPct val="80000"/>
              <a:buFont typeface="Noto Sans Symbols"/>
              <a:buChar char="❑"/>
            </a:pPr>
            <a:r>
              <a:rPr lang="en-ID" sz="2400"/>
              <a:t>Untuk mengurutkan data berdasarkan kolom tertentu sesuai dengan tipe data yang dimiliki bisa menggunakan perintah SELECT disertai </a:t>
            </a:r>
            <a:r>
              <a:rPr lang="en-ID" sz="2400" b="1"/>
              <a:t>ORDER BY</a:t>
            </a:r>
            <a:r>
              <a:rPr lang="en-ID" sz="2400"/>
              <a:t>. </a:t>
            </a:r>
            <a:endParaRPr/>
          </a:p>
          <a:p>
            <a:pPr marL="342900" lvl="0" indent="-333756" algn="l" rtl="0">
              <a:spcBef>
                <a:spcPts val="1000"/>
              </a:spcBef>
              <a:spcAft>
                <a:spcPts val="0"/>
              </a:spcAft>
              <a:buSzPct val="80000"/>
              <a:buFont typeface="Noto Sans Symbols"/>
              <a:buChar char="❑"/>
            </a:pPr>
            <a:r>
              <a:rPr lang="en-ID" sz="2400"/>
              <a:t>Pengurutan bisa dilakukan secara naik (ascending/</a:t>
            </a:r>
            <a:r>
              <a:rPr lang="en-ID" sz="2400" b="1"/>
              <a:t>ASC</a:t>
            </a:r>
            <a:r>
              <a:rPr lang="en-ID" sz="2400"/>
              <a:t>) dari A – Z maupun turun (descending/</a:t>
            </a:r>
            <a:r>
              <a:rPr lang="en-ID" sz="2400" b="1"/>
              <a:t>DESC</a:t>
            </a:r>
            <a:r>
              <a:rPr lang="en-ID" sz="2400"/>
              <a:t>) dari Z- A. </a:t>
            </a:r>
            <a:endParaRPr/>
          </a:p>
          <a:p>
            <a:pPr marL="342900" lvl="0" indent="-333756" algn="l" rtl="0">
              <a:spcBef>
                <a:spcPts val="1000"/>
              </a:spcBef>
              <a:spcAft>
                <a:spcPts val="0"/>
              </a:spcAft>
              <a:buSzPct val="80000"/>
              <a:buFont typeface="Noto Sans Symbols"/>
              <a:buChar char="❑"/>
            </a:pPr>
            <a:r>
              <a:rPr lang="en-ID" sz="2400"/>
              <a:t>Pengurutan juga bisa dilakukan berdasarkan sebuah kolom atau beberapa kolom secara bersamaan.</a:t>
            </a:r>
            <a:endParaRPr/>
          </a:p>
          <a:p>
            <a:pPr marL="342900" lvl="0" indent="-333756" algn="l" rtl="0">
              <a:spcBef>
                <a:spcPts val="1000"/>
              </a:spcBef>
              <a:spcAft>
                <a:spcPts val="0"/>
              </a:spcAft>
              <a:buSzPct val="80000"/>
              <a:buFont typeface="Noto Sans Symbols"/>
              <a:buChar char="❑"/>
            </a:pPr>
            <a:r>
              <a:rPr lang="en-ID" sz="2400" b="1"/>
              <a:t>SELECT </a:t>
            </a:r>
            <a:r>
              <a:rPr lang="en-ID" sz="2400"/>
              <a:t>... </a:t>
            </a:r>
            <a:r>
              <a:rPr lang="en-ID" sz="2400" b="1"/>
              <a:t>FROM </a:t>
            </a:r>
            <a:r>
              <a:rPr lang="en-ID" sz="2400"/>
              <a:t>... </a:t>
            </a:r>
            <a:r>
              <a:rPr lang="en-ID" sz="2400" b="1"/>
              <a:t>WHERE </a:t>
            </a:r>
            <a:r>
              <a:rPr lang="en-ID" sz="2400"/>
              <a:t>condition </a:t>
            </a:r>
            <a:r>
              <a:rPr lang="en-ID" sz="2400" b="1"/>
              <a:t>ORDER  BY </a:t>
            </a:r>
            <a:r>
              <a:rPr lang="en-ID" sz="2400"/>
              <a:t>kolom</a:t>
            </a:r>
            <a:r>
              <a:rPr lang="en-ID" sz="2400" b="1"/>
              <a:t>;</a:t>
            </a:r>
            <a:endParaRPr/>
          </a:p>
          <a:p>
            <a:pPr marL="342900" lvl="0" indent="-333756" algn="l" rtl="0">
              <a:spcBef>
                <a:spcPts val="1000"/>
              </a:spcBef>
              <a:spcAft>
                <a:spcPts val="0"/>
              </a:spcAft>
              <a:buSzPct val="80000"/>
              <a:buFont typeface="Noto Sans Symbols"/>
              <a:buChar char="❑"/>
            </a:pPr>
            <a:r>
              <a:rPr lang="en-ID" sz="2400" b="1"/>
              <a:t>SELECT </a:t>
            </a:r>
            <a:r>
              <a:rPr lang="en-ID" sz="2400"/>
              <a:t>... </a:t>
            </a:r>
            <a:r>
              <a:rPr lang="en-ID" sz="2400" b="1"/>
              <a:t>FROM </a:t>
            </a:r>
            <a:r>
              <a:rPr lang="en-ID" sz="2400"/>
              <a:t>... </a:t>
            </a:r>
            <a:r>
              <a:rPr lang="en-ID" sz="2400" b="1"/>
              <a:t>WHERE </a:t>
            </a:r>
            <a:r>
              <a:rPr lang="en-ID" sz="2400"/>
              <a:t>condition </a:t>
            </a:r>
            <a:r>
              <a:rPr lang="en-ID" sz="2400" b="1"/>
              <a:t>ORDER  BY </a:t>
            </a:r>
            <a:r>
              <a:rPr lang="en-ID" sz="2400"/>
              <a:t>kolom DESC/ASC</a:t>
            </a:r>
            <a:r>
              <a:rPr lang="en-ID" sz="2400" b="1"/>
              <a:t>;</a:t>
            </a:r>
            <a:endParaRPr/>
          </a:p>
          <a:p>
            <a:pPr marL="342900" lvl="0" indent="-333756" algn="l" rtl="0">
              <a:spcBef>
                <a:spcPts val="1000"/>
              </a:spcBef>
              <a:spcAft>
                <a:spcPts val="0"/>
              </a:spcAft>
              <a:buSzPct val="80000"/>
              <a:buFont typeface="Noto Sans Symbols"/>
              <a:buChar char="❑"/>
            </a:pPr>
            <a:r>
              <a:rPr lang="en-ID" sz="2400" b="1"/>
              <a:t>SELECT </a:t>
            </a:r>
            <a:r>
              <a:rPr lang="en-ID" sz="2400"/>
              <a:t>... </a:t>
            </a:r>
            <a:r>
              <a:rPr lang="en-ID" sz="2400" b="1"/>
              <a:t>FROM </a:t>
            </a:r>
            <a:r>
              <a:rPr lang="en-ID" sz="2400"/>
              <a:t>... </a:t>
            </a:r>
            <a:r>
              <a:rPr lang="en-ID" sz="2400" b="1"/>
              <a:t>WHERE </a:t>
            </a:r>
            <a:r>
              <a:rPr lang="en-ID" sz="2400"/>
              <a:t>condition </a:t>
            </a:r>
            <a:r>
              <a:rPr lang="en-ID" sz="2400" b="1"/>
              <a:t>ORDER BY </a:t>
            </a:r>
            <a:r>
              <a:rPr lang="en-ID" sz="2400"/>
              <a:t>kolom1, kolom2 DESC</a:t>
            </a:r>
            <a:r>
              <a:rPr lang="en-ID" sz="2400" b="1"/>
              <a:t>;</a:t>
            </a:r>
            <a:endParaRPr/>
          </a:p>
          <a:p>
            <a:pPr marL="342900" lvl="0" indent="-230123" algn="l" rtl="0">
              <a:spcBef>
                <a:spcPts val="1000"/>
              </a:spcBef>
              <a:spcAft>
                <a:spcPts val="0"/>
              </a:spcAft>
              <a:buSzPct val="80000"/>
              <a:buFont typeface="Noto Sans Symbols"/>
              <a:buNone/>
            </a:pPr>
            <a:endParaRPr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g294bc07ec3d_0_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66" name="Google Shape;566;g294bc07ec3d_0_0"/>
          <p:cNvSpPr txBox="1">
            <a:spLocks noGrp="1"/>
          </p:cNvSpPr>
          <p:nvPr>
            <p:ph type="body" idx="1"/>
          </p:nvPr>
        </p:nvSpPr>
        <p:spPr>
          <a:xfrm>
            <a:off x="1154953" y="2426678"/>
            <a:ext cx="10134300" cy="4079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Mengelompokan Data</a:t>
            </a:r>
            <a:endParaRPr/>
          </a:p>
          <a:p>
            <a:pPr marL="342900" lvl="0" indent="-352044" algn="l" rtl="0">
              <a:spcBef>
                <a:spcPts val="1000"/>
              </a:spcBef>
              <a:spcAft>
                <a:spcPts val="0"/>
              </a:spcAft>
              <a:buSzPts val="1920"/>
              <a:buFont typeface="Noto Sans Symbols"/>
              <a:buChar char="❑"/>
            </a:pPr>
            <a:r>
              <a:rPr lang="en-ID" sz="2400"/>
              <a:t>Untuk mengelompokkan data berdasarkan kolom tertentu, menggunakan perintah SELECT disertai </a:t>
            </a:r>
            <a:r>
              <a:rPr lang="en-ID" sz="2400" b="1"/>
              <a:t>GROUP BY</a:t>
            </a:r>
            <a:r>
              <a:rPr lang="en-ID" sz="2400"/>
              <a:t>.</a:t>
            </a:r>
            <a:endParaRPr sz="2400"/>
          </a:p>
          <a:p>
            <a:pPr marL="342900" lvl="0" indent="-382524" algn="l" rtl="0">
              <a:spcBef>
                <a:spcPts val="1000"/>
              </a:spcBef>
              <a:spcAft>
                <a:spcPts val="0"/>
              </a:spcAft>
              <a:buSzPts val="2400"/>
              <a:buChar char="❑"/>
            </a:pPr>
            <a:r>
              <a:rPr lang="en-ID" sz="2400"/>
              <a:t>Biasanya diikuti oleh fungsi ageregasi (COUNT, SUM, AVG, MIN, MAX) pada kolom tertentu dalam satu perintah sql.</a:t>
            </a:r>
            <a:endParaRPr sz="2400"/>
          </a:p>
          <a:p>
            <a:pPr marL="342900" lvl="0" indent="-352044" algn="l" rtl="0">
              <a:spcBef>
                <a:spcPts val="1000"/>
              </a:spcBef>
              <a:spcAft>
                <a:spcPts val="0"/>
              </a:spcAft>
              <a:buSzPts val="1920"/>
              <a:buFont typeface="Noto Sans Symbols"/>
              <a:buChar char="❑"/>
            </a:pPr>
            <a:r>
              <a:rPr lang="en-ID" sz="2400" b="1"/>
              <a:t>SELECT </a:t>
            </a:r>
            <a:r>
              <a:rPr lang="en-ID" sz="2400"/>
              <a:t>nama_kolom </a:t>
            </a:r>
            <a:r>
              <a:rPr lang="en-ID" sz="2400" b="1"/>
              <a:t>FROM </a:t>
            </a:r>
            <a:r>
              <a:rPr lang="en-ID" sz="2400"/>
              <a:t>nama_tabel </a:t>
            </a:r>
            <a:r>
              <a:rPr lang="en-ID" sz="2400" b="1"/>
              <a:t>GROUP  BY </a:t>
            </a:r>
            <a:r>
              <a:rPr lang="en-ID" sz="2400"/>
              <a:t>kolom</a:t>
            </a:r>
            <a:r>
              <a:rPr lang="en-ID" sz="2400" b="1"/>
              <a:t>;</a:t>
            </a:r>
            <a:endParaRPr sz="2400" b="1"/>
          </a:p>
          <a:p>
            <a:pPr marL="342900" lvl="0" indent="-403860" algn="l" rtl="0">
              <a:spcBef>
                <a:spcPts val="1000"/>
              </a:spcBef>
              <a:spcAft>
                <a:spcPts val="0"/>
              </a:spcAft>
              <a:buSzPts val="2400"/>
              <a:buChar char="❑"/>
            </a:pPr>
            <a:r>
              <a:rPr lang="en-ID" sz="2400" b="1"/>
              <a:t>SELECT </a:t>
            </a:r>
            <a:r>
              <a:rPr lang="en-ID" sz="2400"/>
              <a:t>COUNT(nama_kolom) </a:t>
            </a:r>
            <a:r>
              <a:rPr lang="en-ID" sz="2400" b="1"/>
              <a:t>FROM </a:t>
            </a:r>
            <a:r>
              <a:rPr lang="en-ID" sz="2400"/>
              <a:t>nama_tabel </a:t>
            </a:r>
            <a:r>
              <a:rPr lang="en-ID" sz="2400" b="1"/>
              <a:t>GROUP  BY </a:t>
            </a:r>
            <a:r>
              <a:rPr lang="en-ID" sz="2400"/>
              <a:t>kolom</a:t>
            </a:r>
            <a:r>
              <a:rPr lang="en-ID" sz="2400" b="1"/>
              <a:t>;</a:t>
            </a:r>
            <a:endParaRPr sz="2400" b="1"/>
          </a:p>
          <a:p>
            <a:pPr marL="342900" lvl="0" indent="-230123" algn="l" rtl="0">
              <a:spcBef>
                <a:spcPts val="1000"/>
              </a:spcBef>
              <a:spcAft>
                <a:spcPts val="0"/>
              </a:spcAft>
              <a:buSzPts val="1920"/>
              <a:buFont typeface="Noto Sans Symbols"/>
              <a:buNone/>
            </a:pP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3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73" name="Google Shape;573;p36"/>
          <p:cNvSpPr txBox="1">
            <a:spLocks noGrp="1"/>
          </p:cNvSpPr>
          <p:nvPr>
            <p:ph type="body" idx="1"/>
          </p:nvPr>
        </p:nvSpPr>
        <p:spPr>
          <a:xfrm>
            <a:off x="1154953" y="2426678"/>
            <a:ext cx="10134369" cy="40796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Menggunakan Klausa Limit</a:t>
            </a:r>
            <a:endParaRPr/>
          </a:p>
          <a:p>
            <a:pPr marL="342900" lvl="0" indent="-342900" algn="l" rtl="0">
              <a:spcBef>
                <a:spcPts val="1000"/>
              </a:spcBef>
              <a:spcAft>
                <a:spcPts val="0"/>
              </a:spcAft>
              <a:buSzPts val="1920"/>
              <a:buFont typeface="Noto Sans Symbols"/>
              <a:buChar char="❑"/>
            </a:pPr>
            <a:r>
              <a:rPr lang="en-ID" sz="2400"/>
              <a:t>Klausa </a:t>
            </a:r>
            <a:r>
              <a:rPr lang="en-ID" sz="2400" b="1"/>
              <a:t>LIMIT</a:t>
            </a:r>
            <a:r>
              <a:rPr lang="en-ID" sz="2400"/>
              <a:t> digunakan untuk untuk menentukan jumlah data yang akan ditampilkan pada layar.</a:t>
            </a:r>
            <a:endParaRPr/>
          </a:p>
          <a:p>
            <a:pPr marL="342900" lvl="0" indent="-342900" algn="l" rtl="0">
              <a:spcBef>
                <a:spcPts val="1000"/>
              </a:spcBef>
              <a:spcAft>
                <a:spcPts val="0"/>
              </a:spcAft>
              <a:buSzPts val="1920"/>
              <a:buFont typeface="Noto Sans Symbols"/>
              <a:buChar char="❑"/>
            </a:pPr>
            <a:r>
              <a:rPr lang="en-ID" sz="2400" b="1"/>
              <a:t>SELECT </a:t>
            </a:r>
            <a:r>
              <a:rPr lang="en-ID" sz="2400"/>
              <a:t>* </a:t>
            </a:r>
            <a:r>
              <a:rPr lang="en-ID" sz="2400" b="1"/>
              <a:t>FROM </a:t>
            </a:r>
            <a:r>
              <a:rPr lang="en-ID" sz="2400"/>
              <a:t>nama_table </a:t>
            </a:r>
            <a:r>
              <a:rPr lang="en-ID" sz="2400" b="1"/>
              <a:t>LIMIT </a:t>
            </a:r>
            <a:r>
              <a:rPr lang="en-ID" sz="2400"/>
              <a:t>5</a:t>
            </a:r>
            <a:r>
              <a:rPr lang="en-ID" sz="2400" b="1"/>
              <a:t>;</a:t>
            </a:r>
            <a:endParaRPr/>
          </a:p>
          <a:p>
            <a:pPr marL="342900" lvl="0" indent="-220980" algn="l" rtl="0">
              <a:spcBef>
                <a:spcPts val="1000"/>
              </a:spcBef>
              <a:spcAft>
                <a:spcPts val="0"/>
              </a:spcAft>
              <a:buSzPts val="1920"/>
              <a:buFont typeface="Noto Sans Symbols"/>
              <a:buNone/>
            </a:pP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80" name="Google Shape;580;p37"/>
          <p:cNvSpPr txBox="1">
            <a:spLocks noGrp="1"/>
          </p:cNvSpPr>
          <p:nvPr>
            <p:ph type="body" idx="1"/>
          </p:nvPr>
        </p:nvSpPr>
        <p:spPr>
          <a:xfrm>
            <a:off x="1154953" y="2426678"/>
            <a:ext cx="10134369" cy="40796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Menggunakan Klausa AS</a:t>
            </a:r>
            <a:endParaRPr/>
          </a:p>
          <a:p>
            <a:pPr marL="342900" lvl="0" indent="-342900" algn="l" rtl="0">
              <a:spcBef>
                <a:spcPts val="1000"/>
              </a:spcBef>
              <a:spcAft>
                <a:spcPts val="0"/>
              </a:spcAft>
              <a:buSzPts val="1920"/>
              <a:buFont typeface="Noto Sans Symbols"/>
              <a:buChar char="❑"/>
            </a:pPr>
            <a:r>
              <a:rPr lang="en-ID" sz="2400"/>
              <a:t>Pada perintah select, untuk memberikan nama lain pada kolom (field) di table digunakan perintah </a:t>
            </a:r>
            <a:r>
              <a:rPr lang="en-ID" sz="2400" b="1"/>
              <a:t>AS</a:t>
            </a:r>
            <a:r>
              <a:rPr lang="en-ID" sz="2400"/>
              <a:t>. </a:t>
            </a:r>
            <a:endParaRPr/>
          </a:p>
          <a:p>
            <a:pPr marL="342900" lvl="0" indent="-342900" algn="l" rtl="0">
              <a:spcBef>
                <a:spcPts val="1000"/>
              </a:spcBef>
              <a:spcAft>
                <a:spcPts val="0"/>
              </a:spcAft>
              <a:buSzPts val="1920"/>
              <a:buFont typeface="Noto Sans Symbols"/>
              <a:buChar char="❑"/>
            </a:pPr>
            <a:r>
              <a:rPr lang="en-ID" sz="2400"/>
              <a:t>Biasanya digunakan untuk memperjelas nama tabel sehingga pengguna paham field tersebut menampilkan data apa. </a:t>
            </a:r>
            <a:endParaRPr/>
          </a:p>
          <a:p>
            <a:pPr marL="342900" lvl="0" indent="-342900" algn="l" rtl="0">
              <a:spcBef>
                <a:spcPts val="1000"/>
              </a:spcBef>
              <a:spcAft>
                <a:spcPts val="0"/>
              </a:spcAft>
              <a:buSzPts val="1920"/>
              <a:buFont typeface="Noto Sans Symbols"/>
              <a:buChar char="❑"/>
            </a:pPr>
            <a:r>
              <a:rPr lang="en-ID" sz="2400" b="1"/>
              <a:t>SELECT </a:t>
            </a:r>
            <a:r>
              <a:rPr lang="en-ID" sz="2400"/>
              <a:t>nama_kolom </a:t>
            </a:r>
            <a:r>
              <a:rPr lang="en-ID" sz="2400" b="1"/>
              <a:t>AS </a:t>
            </a:r>
            <a:r>
              <a:rPr lang="en-ID" sz="2400"/>
              <a:t>nama_kolom_baru </a:t>
            </a:r>
            <a:r>
              <a:rPr lang="en-ID" sz="2400" b="1"/>
              <a:t>FROM </a:t>
            </a:r>
            <a:r>
              <a:rPr lang="en-ID" sz="2400"/>
              <a:t>nama_tabel;</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26244765c84_0_265"/>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87" name="Google Shape;587;g26244765c84_0_265"/>
          <p:cNvSpPr txBox="1">
            <a:spLocks noGrp="1"/>
          </p:cNvSpPr>
          <p:nvPr>
            <p:ph type="body" idx="1"/>
          </p:nvPr>
        </p:nvSpPr>
        <p:spPr>
          <a:xfrm>
            <a:off x="1154953" y="2426678"/>
            <a:ext cx="10134300" cy="4079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Menggunakan Klausa Having</a:t>
            </a:r>
            <a:endParaRPr/>
          </a:p>
          <a:p>
            <a:pPr marL="342900" lvl="0" indent="-335280" algn="l" rtl="0">
              <a:spcBef>
                <a:spcPts val="1000"/>
              </a:spcBef>
              <a:spcAft>
                <a:spcPts val="0"/>
              </a:spcAft>
              <a:buSzPts val="1800"/>
              <a:buChar char="❑"/>
            </a:pPr>
            <a:r>
              <a:rPr lang="en-ID">
                <a:solidFill>
                  <a:schemeClr val="dk1"/>
                </a:solidFill>
              </a:rPr>
              <a:t>Klausa </a:t>
            </a:r>
            <a:r>
              <a:rPr lang="en-ID" b="1">
                <a:solidFill>
                  <a:schemeClr val="dk1"/>
                </a:solidFill>
              </a:rPr>
              <a:t>HAVING </a:t>
            </a:r>
            <a:r>
              <a:rPr lang="en-ID">
                <a:solidFill>
                  <a:schemeClr val="dk1"/>
                </a:solidFill>
              </a:rPr>
              <a:t>digunakan untuk memfilter hasil agregasi berdasarkan kondisi tertentu setelah pengelompokan data menggunakan klausa </a:t>
            </a:r>
            <a:r>
              <a:rPr lang="en-ID" b="1">
                <a:solidFill>
                  <a:schemeClr val="dk1"/>
                </a:solidFill>
              </a:rPr>
              <a:t>GROUP BY</a:t>
            </a:r>
            <a:r>
              <a:rPr lang="en-ID">
                <a:solidFill>
                  <a:schemeClr val="dk1"/>
                </a:solidFill>
              </a:rPr>
              <a:t>.</a:t>
            </a:r>
            <a:endParaRPr>
              <a:solidFill>
                <a:schemeClr val="dk1"/>
              </a:solidFill>
            </a:endParaRPr>
          </a:p>
          <a:p>
            <a:pPr marL="342900" lvl="0" indent="-335280" algn="l" rtl="0">
              <a:spcBef>
                <a:spcPts val="1000"/>
              </a:spcBef>
              <a:spcAft>
                <a:spcPts val="0"/>
              </a:spcAft>
              <a:buSzPts val="1800"/>
              <a:buChar char="❑"/>
            </a:pPr>
            <a:r>
              <a:rPr lang="en-ID"/>
              <a:t>Klausa </a:t>
            </a:r>
            <a:r>
              <a:rPr lang="en-ID" b="1"/>
              <a:t>HAVING </a:t>
            </a:r>
            <a:r>
              <a:rPr lang="en-ID"/>
              <a:t>selalu digunakan bersama klausa </a:t>
            </a:r>
            <a:r>
              <a:rPr lang="en-ID" b="1"/>
              <a:t>GROUP BY</a:t>
            </a:r>
            <a:r>
              <a:rPr lang="en-ID"/>
              <a:t>. Keduanya bekerja bersama untuk menyaring hasil agregasi berdasarkan nilai-nilai tertentu dari kolom-kolom yang dikelompokkan.</a:t>
            </a:r>
            <a:endParaRPr/>
          </a:p>
          <a:p>
            <a:pPr marL="342900" lvl="0" indent="-335280" algn="l" rtl="0">
              <a:spcBef>
                <a:spcPts val="1000"/>
              </a:spcBef>
              <a:spcAft>
                <a:spcPts val="0"/>
              </a:spcAft>
              <a:buSzPts val="1800"/>
              <a:buChar char="❑"/>
            </a:pPr>
            <a:r>
              <a:rPr lang="en-ID" b="1"/>
              <a:t>HAVING </a:t>
            </a:r>
            <a:r>
              <a:rPr lang="en-ID"/>
              <a:t>memungkinkan pemfilteran hasil agregasi, seperti </a:t>
            </a:r>
            <a:r>
              <a:rPr lang="en-ID" b="1"/>
              <a:t>AVG, COUNT, SUM, MIN, </a:t>
            </a:r>
            <a:r>
              <a:rPr lang="en-ID"/>
              <a:t>atau </a:t>
            </a:r>
            <a:r>
              <a:rPr lang="en-ID" b="1"/>
              <a:t>MAX, </a:t>
            </a:r>
            <a:r>
              <a:rPr lang="en-ID"/>
              <a:t>sehingga kita dapat membatasi baris-baris yang akan dimasukkan ke dalam hasil akhir.</a:t>
            </a:r>
            <a:endParaRPr/>
          </a:p>
          <a:p>
            <a:pPr marL="342900" lvl="0" indent="0" algn="l" rtl="0">
              <a:spcBef>
                <a:spcPts val="1000"/>
              </a:spcBef>
              <a:spcAft>
                <a:spcPts val="0"/>
              </a:spcAft>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26244765c84_0_27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608" name="Google Shape;608;g26244765c84_0_279"/>
          <p:cNvSpPr txBox="1"/>
          <p:nvPr/>
        </p:nvSpPr>
        <p:spPr>
          <a:xfrm>
            <a:off x="2670775" y="3236625"/>
            <a:ext cx="957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Century Gothic"/>
              <a:ea typeface="Century Gothic"/>
              <a:cs typeface="Century Gothic"/>
              <a:sym typeface="Century Gothic"/>
            </a:endParaRPr>
          </a:p>
        </p:txBody>
      </p:sp>
      <p:sp>
        <p:nvSpPr>
          <p:cNvPr id="609" name="Google Shape;609;g26244765c84_0_279"/>
          <p:cNvSpPr txBox="1"/>
          <p:nvPr/>
        </p:nvSpPr>
        <p:spPr>
          <a:xfrm>
            <a:off x="497950" y="2413925"/>
            <a:ext cx="11158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D" sz="2400" b="1">
                <a:solidFill>
                  <a:srgbClr val="3F3F3F"/>
                </a:solidFill>
                <a:latin typeface="Century Gothic"/>
                <a:ea typeface="Century Gothic"/>
                <a:cs typeface="Century Gothic"/>
                <a:sym typeface="Century Gothic"/>
              </a:rPr>
              <a:t>Perbedaan Klausa WHERE dengan HAVING</a:t>
            </a:r>
            <a:endParaRPr sz="1800">
              <a:solidFill>
                <a:srgbClr val="3F3F3F"/>
              </a:solidFill>
              <a:latin typeface="Century Gothic"/>
              <a:ea typeface="Century Gothic"/>
              <a:cs typeface="Century Gothic"/>
              <a:sym typeface="Century Gothic"/>
            </a:endParaRPr>
          </a:p>
        </p:txBody>
      </p:sp>
      <p:pic>
        <p:nvPicPr>
          <p:cNvPr id="610" name="Google Shape;610;g26244765c84_0_279"/>
          <p:cNvPicPr preferRelativeResize="0"/>
          <p:nvPr/>
        </p:nvPicPr>
        <p:blipFill>
          <a:blip r:embed="rId3">
            <a:alphaModFix/>
          </a:blip>
          <a:stretch>
            <a:fillRect/>
          </a:stretch>
        </p:blipFill>
        <p:spPr>
          <a:xfrm>
            <a:off x="979425" y="3236625"/>
            <a:ext cx="10233125" cy="31231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26244765c84_0_27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608" name="Google Shape;608;g26244765c84_0_279"/>
          <p:cNvSpPr txBox="1"/>
          <p:nvPr/>
        </p:nvSpPr>
        <p:spPr>
          <a:xfrm>
            <a:off x="2670775" y="3236625"/>
            <a:ext cx="957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Century Gothic"/>
              <a:ea typeface="Century Gothic"/>
              <a:cs typeface="Century Gothic"/>
              <a:sym typeface="Century Gothic"/>
            </a:endParaRPr>
          </a:p>
        </p:txBody>
      </p:sp>
      <p:sp>
        <p:nvSpPr>
          <p:cNvPr id="609" name="Google Shape;609;g26244765c84_0_279"/>
          <p:cNvSpPr txBox="1"/>
          <p:nvPr/>
        </p:nvSpPr>
        <p:spPr>
          <a:xfrm>
            <a:off x="1154954" y="2413924"/>
            <a:ext cx="10000726" cy="3262401"/>
          </a:xfrm>
          <a:prstGeom prst="rect">
            <a:avLst/>
          </a:prstGeom>
          <a:noFill/>
          <a:ln>
            <a:noFill/>
          </a:ln>
        </p:spPr>
        <p:txBody>
          <a:bodyPr spcFirstLastPara="1" wrap="square" lIns="91425" tIns="91425" rIns="91425" bIns="91425" anchor="t" anchorCtr="0">
            <a:spAutoFit/>
          </a:bodyPr>
          <a:lstStyle/>
          <a:p>
            <a:r>
              <a:rPr lang="en-ID" sz="2000" b="1"/>
              <a:t>Contoh 1: Hanya Menggunakan WHERE (Filter Baris Individual)</a:t>
            </a:r>
          </a:p>
          <a:p>
            <a:endParaRPr lang="en-ID" sz="2000" b="1"/>
          </a:p>
          <a:p>
            <a:r>
              <a:rPr lang="en-ID" sz="2000" b="1"/>
              <a:t>Tujuan:</a:t>
            </a:r>
            <a:r>
              <a:rPr lang="en-ID" sz="2000"/>
              <a:t> Tampilkan semua pesanan individual yang nilainya (</a:t>
            </a:r>
            <a:r>
              <a:rPr lang="en-ID" sz="2000">
                <a:latin typeface="Consolas" panose="020B0609020204030204" pitchFamily="49" charset="0"/>
              </a:rPr>
              <a:t>total_amt_usd</a:t>
            </a:r>
            <a:r>
              <a:rPr lang="en-ID" sz="2000"/>
              <a:t>) di atas </a:t>
            </a:r>
            <a:r>
              <a:rPr lang="en-ID" sz="2000">
                <a:latin typeface="Consolas" panose="020B0609020204030204" pitchFamily="49" charset="0"/>
              </a:rPr>
              <a:t>$8,000</a:t>
            </a:r>
            <a:r>
              <a:rPr lang="en-ID" sz="2000"/>
              <a:t>.</a:t>
            </a:r>
          </a:p>
          <a:p>
            <a:endParaRPr lang="en-ID" sz="2000"/>
          </a:p>
          <a:p>
            <a:r>
              <a:rPr lang="en-ID" sz="2000"/>
              <a:t>Di sini, kita tidak perlu mengelompokkan apa pun. Kita hanya melihat setiap baris satu per satu dan memutuskan apakah akan menampilkannya atau tidak.</a:t>
            </a:r>
          </a:p>
          <a:p>
            <a:endParaRPr lang="en-ID" sz="2000">
              <a:effectLst/>
            </a:endParaRPr>
          </a:p>
          <a:p>
            <a:r>
              <a:rPr lang="en-ID" sz="2000">
                <a:effectLst/>
                <a:highlight>
                  <a:srgbClr val="C0C0C0"/>
                </a:highlight>
                <a:latin typeface="Consolas" panose="020B0609020204030204" pitchFamily="49" charset="0"/>
              </a:rPr>
              <a:t>SELECT id AS id_pesanan, account_id, total_amt_usd FROM orders WHERE total_amt_usd &gt; 8000;</a:t>
            </a:r>
          </a:p>
        </p:txBody>
      </p:sp>
    </p:spTree>
    <p:extLst>
      <p:ext uri="{BB962C8B-B14F-4D97-AF65-F5344CB8AC3E}">
        <p14:creationId xmlns:p14="http://schemas.microsoft.com/office/powerpoint/2010/main" val="14229628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26244765c84_0_27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608" name="Google Shape;608;g26244765c84_0_279"/>
          <p:cNvSpPr txBox="1"/>
          <p:nvPr/>
        </p:nvSpPr>
        <p:spPr>
          <a:xfrm>
            <a:off x="2670775" y="3236625"/>
            <a:ext cx="957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Century Gothic"/>
              <a:ea typeface="Century Gothic"/>
              <a:cs typeface="Century Gothic"/>
              <a:sym typeface="Century Gothic"/>
            </a:endParaRPr>
          </a:p>
        </p:txBody>
      </p:sp>
      <p:sp>
        <p:nvSpPr>
          <p:cNvPr id="609" name="Google Shape;609;g26244765c84_0_279"/>
          <p:cNvSpPr txBox="1"/>
          <p:nvPr/>
        </p:nvSpPr>
        <p:spPr>
          <a:xfrm>
            <a:off x="1154954" y="2413924"/>
            <a:ext cx="10000726" cy="3785621"/>
          </a:xfrm>
          <a:prstGeom prst="rect">
            <a:avLst/>
          </a:prstGeom>
          <a:noFill/>
          <a:ln>
            <a:noFill/>
          </a:ln>
        </p:spPr>
        <p:txBody>
          <a:bodyPr spcFirstLastPara="1" wrap="square" lIns="91425" tIns="91425" rIns="91425" bIns="91425" anchor="t" anchorCtr="0">
            <a:spAutoFit/>
          </a:bodyPr>
          <a:lstStyle/>
          <a:p>
            <a:r>
              <a:rPr lang="en-ID" sz="1800" b="1"/>
              <a:t>Contoh 2: Hanya Menggunakan HAVING (Filter Grup / Agregasi)</a:t>
            </a:r>
          </a:p>
          <a:p>
            <a:endParaRPr lang="en-ID" sz="1800" b="1"/>
          </a:p>
          <a:p>
            <a:r>
              <a:rPr lang="en-ID" sz="1800" b="1"/>
              <a:t>Tujuan:</a:t>
            </a:r>
            <a:r>
              <a:rPr lang="en-ID" sz="1800"/>
              <a:t> Tampilkan semua akun (</a:t>
            </a:r>
            <a:r>
              <a:rPr lang="en-ID" sz="1800">
                <a:latin typeface="Consolas" panose="020B0609020204030204" pitchFamily="49" charset="0"/>
              </a:rPr>
              <a:t>account_id</a:t>
            </a:r>
            <a:r>
              <a:rPr lang="en-ID" sz="1800"/>
              <a:t>) yang </a:t>
            </a:r>
            <a:r>
              <a:rPr lang="en-ID" sz="1800" b="1"/>
              <a:t>total nilai semua pesanannya</a:t>
            </a:r>
            <a:r>
              <a:rPr lang="en-ID" sz="1800"/>
              <a:t> (</a:t>
            </a:r>
            <a:r>
              <a:rPr lang="en-ID" sz="1800">
                <a:latin typeface="Consolas" panose="020B0609020204030204" pitchFamily="49" charset="0"/>
              </a:rPr>
              <a:t>akumulasi</a:t>
            </a:r>
            <a:r>
              <a:rPr lang="en-ID" sz="1800"/>
              <a:t>) melebihi </a:t>
            </a:r>
            <a:r>
              <a:rPr lang="en-ID" sz="1800">
                <a:latin typeface="Consolas" panose="020B0609020204030204" pitchFamily="49" charset="0"/>
              </a:rPr>
              <a:t>$30,000</a:t>
            </a:r>
            <a:r>
              <a:rPr lang="en-ID" sz="1800"/>
              <a:t>.</a:t>
            </a:r>
          </a:p>
          <a:p>
            <a:endParaRPr lang="en-ID" sz="1800"/>
          </a:p>
          <a:p>
            <a:r>
              <a:rPr lang="en-ID" sz="1800"/>
              <a:t>Di sini, kita tidak bisa pakai </a:t>
            </a:r>
            <a:r>
              <a:rPr lang="en-ID" sz="1800">
                <a:latin typeface="Consolas" panose="020B0609020204030204" pitchFamily="49" charset="0"/>
              </a:rPr>
              <a:t>WHERE</a:t>
            </a:r>
            <a:r>
              <a:rPr lang="en-ID" sz="1800"/>
              <a:t> untuk memfilter total </a:t>
            </a:r>
            <a:r>
              <a:rPr lang="en-ID" sz="1800">
                <a:latin typeface="Consolas" panose="020B0609020204030204" pitchFamily="49" charset="0"/>
              </a:rPr>
              <a:t>SUM</a:t>
            </a:r>
            <a:r>
              <a:rPr lang="en-ID" sz="1800"/>
              <a:t>. Kita harus:</a:t>
            </a:r>
          </a:p>
          <a:p>
            <a:pPr marL="285750" lvl="3" indent="-285750">
              <a:buFont typeface="Arial" panose="020B0604020202020204" pitchFamily="34" charset="0"/>
              <a:buChar char="•"/>
            </a:pPr>
            <a:r>
              <a:rPr lang="en-ID" sz="1800"/>
              <a:t>Mengelompokkan pesanan berdasarkan account_id (</a:t>
            </a:r>
            <a:r>
              <a:rPr lang="en-ID" sz="1800">
                <a:latin typeface="Consolas" panose="020B0609020204030204" pitchFamily="49" charset="0"/>
              </a:rPr>
              <a:t>GROUP BY</a:t>
            </a:r>
            <a:r>
              <a:rPr lang="en-ID" sz="1800"/>
              <a:t>).</a:t>
            </a:r>
          </a:p>
          <a:p>
            <a:pPr marL="285750" lvl="3" indent="-285750">
              <a:buFont typeface="Arial" panose="020B0604020202020204" pitchFamily="34" charset="0"/>
              <a:buChar char="•"/>
            </a:pPr>
            <a:r>
              <a:rPr lang="en-ID" sz="1800"/>
              <a:t>Menjumlahkan total_amt_usd untuk </a:t>
            </a:r>
            <a:r>
              <a:rPr lang="en-ID" sz="1800" i="1"/>
              <a:t>setiap grup</a:t>
            </a:r>
            <a:r>
              <a:rPr lang="en-ID" sz="1800"/>
              <a:t> (</a:t>
            </a:r>
            <a:r>
              <a:rPr lang="en-ID" sz="1800">
                <a:latin typeface="Consolas" panose="020B0609020204030204" pitchFamily="49" charset="0"/>
              </a:rPr>
              <a:t>SUM(...)</a:t>
            </a:r>
            <a:r>
              <a:rPr lang="en-ID" sz="1800"/>
              <a:t>).</a:t>
            </a:r>
          </a:p>
          <a:p>
            <a:pPr marL="285750" lvl="3" indent="-285750">
              <a:buFont typeface="Arial" panose="020B0604020202020204" pitchFamily="34" charset="0"/>
              <a:buChar char="•"/>
            </a:pPr>
            <a:r>
              <a:rPr lang="en-ID" sz="1800"/>
              <a:t>Memfilter </a:t>
            </a:r>
            <a:r>
              <a:rPr lang="en-ID" sz="1800" i="1"/>
              <a:t>grup-grup</a:t>
            </a:r>
            <a:r>
              <a:rPr lang="en-ID" sz="1800"/>
              <a:t> tersebut menggunakan </a:t>
            </a:r>
            <a:r>
              <a:rPr lang="en-ID" sz="1800">
                <a:latin typeface="Consolas" panose="020B0609020204030204" pitchFamily="49" charset="0"/>
              </a:rPr>
              <a:t>HAVING</a:t>
            </a:r>
            <a:r>
              <a:rPr lang="en-ID" sz="1800"/>
              <a:t>.</a:t>
            </a:r>
          </a:p>
          <a:p>
            <a:pPr marL="285750" lvl="3" indent="-285750">
              <a:buFont typeface="Arial" panose="020B0604020202020204" pitchFamily="34" charset="0"/>
              <a:buChar char="•"/>
            </a:pPr>
            <a:endParaRPr lang="en-ID" sz="1800"/>
          </a:p>
          <a:p>
            <a:endParaRPr lang="en-ID" sz="1800">
              <a:effectLst/>
            </a:endParaRPr>
          </a:p>
          <a:p>
            <a:r>
              <a:rPr lang="en-ID" sz="1800">
                <a:effectLst/>
                <a:highlight>
                  <a:srgbClr val="C0C0C0"/>
                </a:highlight>
                <a:latin typeface="Consolas" panose="020B0609020204030204" pitchFamily="49" charset="0"/>
              </a:rPr>
              <a:t>SELECT account_id, SUM(total_amt_usd) AS total_penjualan_akun FROM orders GROUP BY account_id HAVING SUM(total_amt_usd) &gt; 30000;</a:t>
            </a:r>
          </a:p>
        </p:txBody>
      </p:sp>
    </p:spTree>
    <p:extLst>
      <p:ext uri="{BB962C8B-B14F-4D97-AF65-F5344CB8AC3E}">
        <p14:creationId xmlns:p14="http://schemas.microsoft.com/office/powerpoint/2010/main" val="8075985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26244765c84_0_27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608" name="Google Shape;608;g26244765c84_0_279"/>
          <p:cNvSpPr txBox="1"/>
          <p:nvPr/>
        </p:nvSpPr>
        <p:spPr>
          <a:xfrm>
            <a:off x="2670775" y="3236625"/>
            <a:ext cx="957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Century Gothic"/>
              <a:ea typeface="Century Gothic"/>
              <a:cs typeface="Century Gothic"/>
              <a:sym typeface="Century Gothic"/>
            </a:endParaRPr>
          </a:p>
        </p:txBody>
      </p:sp>
      <p:sp>
        <p:nvSpPr>
          <p:cNvPr id="609" name="Google Shape;609;g26244765c84_0_279"/>
          <p:cNvSpPr txBox="1"/>
          <p:nvPr/>
        </p:nvSpPr>
        <p:spPr>
          <a:xfrm>
            <a:off x="624114" y="2413924"/>
            <a:ext cx="5936343" cy="4370397"/>
          </a:xfrm>
          <a:prstGeom prst="rect">
            <a:avLst/>
          </a:prstGeom>
          <a:noFill/>
          <a:ln>
            <a:noFill/>
          </a:ln>
        </p:spPr>
        <p:txBody>
          <a:bodyPr spcFirstLastPara="1" wrap="square" lIns="91425" tIns="91425" rIns="91425" bIns="91425" anchor="t" anchorCtr="0">
            <a:spAutoFit/>
          </a:bodyPr>
          <a:lstStyle/>
          <a:p>
            <a:r>
              <a:rPr lang="en-ID" sz="1600" b="1"/>
              <a:t>Contoh 3: Menggunakan WHERE dan HAVING Bersamaan (Pembeda Terbaik)</a:t>
            </a:r>
          </a:p>
          <a:p>
            <a:endParaRPr lang="en-ID" sz="1600" b="1"/>
          </a:p>
          <a:p>
            <a:r>
              <a:rPr lang="en-ID" sz="1600" b="1"/>
              <a:t>Tujuan:</a:t>
            </a:r>
            <a:r>
              <a:rPr lang="en-ID" sz="1600"/>
              <a:t> Tampilkan total penjualan per akun (</a:t>
            </a:r>
            <a:r>
              <a:rPr lang="en-ID" sz="1600">
                <a:latin typeface="Consolas" panose="020B0609020204030204" pitchFamily="49" charset="0"/>
              </a:rPr>
              <a:t>account_id</a:t>
            </a:r>
            <a:r>
              <a:rPr lang="en-ID" sz="1600"/>
              <a:t>), tapi </a:t>
            </a:r>
            <a:r>
              <a:rPr lang="en-ID" sz="1600" b="1"/>
              <a:t>hanya hitung pesanan poster (</a:t>
            </a:r>
            <a:r>
              <a:rPr lang="en-ID" sz="1600" b="1">
                <a:latin typeface="Consolas" panose="020B0609020204030204" pitchFamily="49" charset="0"/>
              </a:rPr>
              <a:t>poster_qty &gt; 0</a:t>
            </a:r>
            <a:r>
              <a:rPr lang="en-ID" sz="1600" b="1"/>
              <a:t>)</a:t>
            </a:r>
            <a:r>
              <a:rPr lang="en-ID" sz="1600"/>
              <a:t>. Setelah itu, </a:t>
            </a:r>
            <a:r>
              <a:rPr lang="en-ID" sz="1600" b="1"/>
              <a:t>hanya tampilkan akun yang total penjualan posternya</a:t>
            </a:r>
            <a:r>
              <a:rPr lang="en-ID" sz="1600"/>
              <a:t> di atas $5,000.</a:t>
            </a:r>
          </a:p>
          <a:p>
            <a:r>
              <a:rPr lang="en-ID" sz="1600"/>
              <a:t>Ini adalah contoh sempurna untuk melihat urutan operasinya:</a:t>
            </a:r>
          </a:p>
          <a:p>
            <a:endParaRPr lang="en-ID" sz="1600"/>
          </a:p>
          <a:p>
            <a:pPr>
              <a:buFont typeface="+mj-lt"/>
              <a:buAutoNum type="arabicPeriod"/>
            </a:pPr>
            <a:r>
              <a:rPr lang="en-ID" sz="1600" b="1"/>
              <a:t>WHERE (Filter Baris):</a:t>
            </a:r>
            <a:r>
              <a:rPr lang="en-ID" sz="1600"/>
              <a:t> Pertama, kita buang semua baris pesanan yang </a:t>
            </a:r>
            <a:r>
              <a:rPr lang="en-ID" sz="1600" i="1"/>
              <a:t>bukan</a:t>
            </a:r>
            <a:r>
              <a:rPr lang="en-ID" sz="1600"/>
              <a:t> pesanan poster.</a:t>
            </a:r>
          </a:p>
          <a:p>
            <a:pPr>
              <a:buFont typeface="+mj-lt"/>
              <a:buAutoNum type="arabicPeriod"/>
            </a:pPr>
            <a:r>
              <a:rPr lang="en-ID" sz="1600" b="1"/>
              <a:t>GROUP BY (Kelompokkan):</a:t>
            </a:r>
            <a:r>
              <a:rPr lang="en-ID" sz="1600"/>
              <a:t> Sisa baris (yang sudah pasti pesanan poster) dikelompokkan per account_id.</a:t>
            </a:r>
          </a:p>
          <a:p>
            <a:pPr>
              <a:buFont typeface="+mj-lt"/>
              <a:buAutoNum type="arabicPeriod"/>
            </a:pPr>
            <a:r>
              <a:rPr lang="en-ID" sz="1600" b="1"/>
              <a:t>HAVING (Filter Grup):</a:t>
            </a:r>
            <a:r>
              <a:rPr lang="en-ID" sz="1600"/>
              <a:t> Kita hitung total penjualan dari grup-grup tadi, lalu buang grup yang totalnya tidak lebih dari $5,000.</a:t>
            </a:r>
          </a:p>
          <a:p>
            <a:pPr>
              <a:buFont typeface="+mj-lt"/>
              <a:buAutoNum type="arabicPeriod"/>
            </a:pPr>
            <a:endParaRPr lang="en-ID" sz="1600"/>
          </a:p>
          <a:p>
            <a:endParaRPr lang="en-ID" sz="1600">
              <a:effectLst/>
            </a:endParaRPr>
          </a:p>
        </p:txBody>
      </p:sp>
      <p:sp>
        <p:nvSpPr>
          <p:cNvPr id="3" name="TextBox 2">
            <a:extLst>
              <a:ext uri="{FF2B5EF4-FFF2-40B4-BE49-F238E27FC236}">
                <a16:creationId xmlns:a16="http://schemas.microsoft.com/office/drawing/2014/main" id="{CB25FCAC-F0CB-CB8A-1AB8-B828D96FE9DD}"/>
              </a:ext>
            </a:extLst>
          </p:cNvPr>
          <p:cNvSpPr txBox="1"/>
          <p:nvPr/>
        </p:nvSpPr>
        <p:spPr>
          <a:xfrm>
            <a:off x="6862566" y="2814332"/>
            <a:ext cx="5080000" cy="3046988"/>
          </a:xfrm>
          <a:prstGeom prst="rect">
            <a:avLst/>
          </a:prstGeom>
          <a:noFill/>
        </p:spPr>
        <p:txBody>
          <a:bodyPr wrap="square">
            <a:spAutoFit/>
          </a:bodyPr>
          <a:lstStyle/>
          <a:p>
            <a:r>
              <a:rPr lang="en-ID" sz="1600">
                <a:effectLst/>
                <a:latin typeface="Consolas" panose="020B0609020204030204" pitchFamily="49" charset="0"/>
              </a:rPr>
              <a:t>SELECT account_id, </a:t>
            </a:r>
          </a:p>
          <a:p>
            <a:r>
              <a:rPr lang="en-ID" sz="1600">
                <a:effectLst/>
                <a:latin typeface="Consolas" panose="020B0609020204030204" pitchFamily="49" charset="0"/>
              </a:rPr>
              <a:t>    SUM(total_amt_usd) AS total_penjualan_poster </a:t>
            </a:r>
          </a:p>
          <a:p>
            <a:r>
              <a:rPr lang="en-ID" sz="1600">
                <a:effectLst/>
                <a:latin typeface="Consolas" panose="020B0609020204030204" pitchFamily="49" charset="0"/>
              </a:rPr>
              <a:t>FROM orders WHERE poster_qty &gt; 0 </a:t>
            </a:r>
          </a:p>
          <a:p>
            <a:r>
              <a:rPr lang="en-ID" sz="1600">
                <a:latin typeface="Consolas" panose="020B0609020204030204" pitchFamily="49" charset="0"/>
              </a:rPr>
              <a:t>  </a:t>
            </a:r>
            <a:r>
              <a:rPr lang="en-ID" sz="1600">
                <a:solidFill>
                  <a:schemeClr val="accent5">
                    <a:lumMod val="75000"/>
                  </a:schemeClr>
                </a:solidFill>
                <a:effectLst/>
                <a:latin typeface="Consolas" panose="020B0609020204030204" pitchFamily="49" charset="0"/>
              </a:rPr>
              <a:t>-- 1. WHERE memfilter baris individual dulu</a:t>
            </a:r>
            <a:r>
              <a:rPr lang="en-ID" sz="1600">
                <a:effectLst/>
                <a:latin typeface="Consolas" panose="020B0609020204030204" pitchFamily="49" charset="0"/>
              </a:rPr>
              <a:t> </a:t>
            </a:r>
          </a:p>
          <a:p>
            <a:r>
              <a:rPr lang="en-ID" sz="1600">
                <a:effectLst/>
                <a:latin typeface="Consolas" panose="020B0609020204030204" pitchFamily="49" charset="0"/>
              </a:rPr>
              <a:t>GROUP BY account_id </a:t>
            </a:r>
          </a:p>
          <a:p>
            <a:r>
              <a:rPr lang="en-ID" sz="1600">
                <a:latin typeface="Consolas" panose="020B0609020204030204" pitchFamily="49" charset="0"/>
              </a:rPr>
              <a:t>  </a:t>
            </a:r>
            <a:r>
              <a:rPr lang="en-ID" sz="1600">
                <a:solidFill>
                  <a:schemeClr val="accent5">
                    <a:lumMod val="75000"/>
                  </a:schemeClr>
                </a:solidFill>
                <a:effectLst/>
                <a:latin typeface="Consolas" panose="020B0609020204030204" pitchFamily="49" charset="0"/>
              </a:rPr>
              <a:t>-- 2. Data yang tersisa (hanya pesanan poster) dikelompokkan </a:t>
            </a:r>
          </a:p>
          <a:p>
            <a:r>
              <a:rPr lang="en-ID" sz="1600">
                <a:effectLst/>
                <a:latin typeface="Consolas" panose="020B0609020204030204" pitchFamily="49" charset="0"/>
              </a:rPr>
              <a:t>HAVING SUM(total_amt_usd) &gt; 5000; </a:t>
            </a:r>
          </a:p>
          <a:p>
            <a:r>
              <a:rPr lang="en-ID" sz="1600">
                <a:latin typeface="Consolas" panose="020B0609020204030204" pitchFamily="49" charset="0"/>
              </a:rPr>
              <a:t>  </a:t>
            </a:r>
            <a:r>
              <a:rPr lang="en-ID" sz="1600">
                <a:solidFill>
                  <a:schemeClr val="accent5">
                    <a:lumMod val="75000"/>
                  </a:schemeClr>
                </a:solidFill>
                <a:effectLst/>
                <a:latin typeface="Consolas" panose="020B0609020204030204" pitchFamily="49" charset="0"/>
              </a:rPr>
              <a:t>-- 3. HAVING memfilter hasil grup SETELAHNYA</a:t>
            </a:r>
          </a:p>
        </p:txBody>
      </p:sp>
    </p:spTree>
    <p:extLst>
      <p:ext uri="{BB962C8B-B14F-4D97-AF65-F5344CB8AC3E}">
        <p14:creationId xmlns:p14="http://schemas.microsoft.com/office/powerpoint/2010/main" val="5689613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3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617" name="Google Shape;617;p38"/>
          <p:cNvSpPr txBox="1">
            <a:spLocks noGrp="1"/>
          </p:cNvSpPr>
          <p:nvPr>
            <p:ph type="body" idx="1"/>
          </p:nvPr>
        </p:nvSpPr>
        <p:spPr>
          <a:xfrm>
            <a:off x="1154953" y="2426678"/>
            <a:ext cx="10134369" cy="40796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Menggunakan </a:t>
            </a:r>
            <a:r>
              <a:rPr lang="en-ID" sz="2400" b="1" u="sng"/>
              <a:t>Alias</a:t>
            </a:r>
            <a:r>
              <a:rPr lang="en-ID" sz="2400" b="1"/>
              <a:t> pada Nama Tabel </a:t>
            </a:r>
            <a:endParaRPr/>
          </a:p>
          <a:p>
            <a:pPr marL="342900" lvl="0" indent="-342900" algn="l" rtl="0">
              <a:spcBef>
                <a:spcPts val="1000"/>
              </a:spcBef>
              <a:spcAft>
                <a:spcPts val="0"/>
              </a:spcAft>
              <a:buSzPts val="1920"/>
              <a:buFont typeface="Noto Sans Symbols"/>
              <a:buChar char="❑"/>
            </a:pPr>
            <a:r>
              <a:rPr lang="en-ID" sz="2400"/>
              <a:t>Penamaan tabel juga bisa diubah ke nama yang lain (perumpamaan) dikenal dengan alias tabel. </a:t>
            </a:r>
            <a:endParaRPr/>
          </a:p>
          <a:p>
            <a:pPr marL="342900" lvl="0" indent="-342900" algn="l" rtl="0">
              <a:spcBef>
                <a:spcPts val="1000"/>
              </a:spcBef>
              <a:spcAft>
                <a:spcPts val="0"/>
              </a:spcAft>
              <a:buSzPts val="1920"/>
              <a:buFont typeface="Noto Sans Symbols"/>
              <a:buChar char="❑"/>
            </a:pPr>
            <a:r>
              <a:rPr lang="en-ID" sz="2400"/>
              <a:t>Perumpamaan nama tabel biasanya diterapkan saat menggunakan operasi join query yang bertujuan mempersingkat dan mempermudah dalam membuat join query.</a:t>
            </a:r>
            <a:endParaRPr/>
          </a:p>
          <a:p>
            <a:pPr marL="342900" lvl="0" indent="-342900" algn="l" rtl="0">
              <a:spcBef>
                <a:spcPts val="1000"/>
              </a:spcBef>
              <a:spcAft>
                <a:spcPts val="0"/>
              </a:spcAft>
              <a:buSzPts val="1920"/>
              <a:buFont typeface="Noto Sans Symbols"/>
              <a:buChar char="❑"/>
            </a:pPr>
            <a:r>
              <a:rPr lang="en-ID" sz="2400" b="1"/>
              <a:t>SELECT </a:t>
            </a:r>
            <a:r>
              <a:rPr lang="en-ID" sz="2400"/>
              <a:t>a</a:t>
            </a:r>
            <a:r>
              <a:rPr lang="en-ID" sz="2400" b="1"/>
              <a:t>.</a:t>
            </a:r>
            <a:r>
              <a:rPr lang="en-ID" sz="2400"/>
              <a:t>nama_kolom </a:t>
            </a:r>
            <a:r>
              <a:rPr lang="en-ID" sz="2400" b="1"/>
              <a:t>FROM </a:t>
            </a:r>
            <a:r>
              <a:rPr lang="en-ID" sz="2400"/>
              <a:t>nama_tabel a;</a:t>
            </a:r>
            <a:endParaRPr sz="2400"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g2976b235820_0_0"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623" name="Google Shape;623;g2976b235820_0_0"/>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SELECT JOIN</a:t>
            </a:r>
            <a:endParaRPr sz="3600" b="1">
              <a:solidFill>
                <a:schemeClr val="lt1"/>
              </a:solidFill>
            </a:endParaRPr>
          </a:p>
        </p:txBody>
      </p:sp>
      <p:sp>
        <p:nvSpPr>
          <p:cNvPr id="624" name="Google Shape;624;g2976b235820_0_0"/>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6</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8195C-E636-3396-523A-52846ADF1B51}"/>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C884FBD9-10C5-A7C5-B181-7EB956581B52}"/>
              </a:ext>
            </a:extLst>
          </p:cNvPr>
          <p:cNvSpPr>
            <a:spLocks noGrp="1"/>
          </p:cNvSpPr>
          <p:nvPr>
            <p:ph type="body" idx="1"/>
          </p:nvPr>
        </p:nvSpPr>
        <p:spPr/>
        <p:txBody>
          <a:bodyPr/>
          <a:lstStyle/>
          <a:p>
            <a:r>
              <a:rPr lang="en-US"/>
              <a:t>Mahasiswa mampu memahami dan mengimplementasikan perintah DML select dengan menggunakan JOIN </a:t>
            </a:r>
            <a:endParaRPr lang="en-ID"/>
          </a:p>
        </p:txBody>
      </p:sp>
    </p:spTree>
    <p:extLst>
      <p:ext uri="{BB962C8B-B14F-4D97-AF65-F5344CB8AC3E}">
        <p14:creationId xmlns:p14="http://schemas.microsoft.com/office/powerpoint/2010/main" val="13483700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2976b235820_0_57"/>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endParaRPr/>
          </a:p>
        </p:txBody>
      </p:sp>
      <p:pic>
        <p:nvPicPr>
          <p:cNvPr id="631" name="Google Shape;631;g2976b235820_0_57"/>
          <p:cNvPicPr preferRelativeResize="0"/>
          <p:nvPr/>
        </p:nvPicPr>
        <p:blipFill rotWithShape="1">
          <a:blip r:embed="rId3">
            <a:alphaModFix/>
          </a:blip>
          <a:srcRect b="50719"/>
          <a:stretch/>
        </p:blipFill>
        <p:spPr>
          <a:xfrm>
            <a:off x="529000" y="3157346"/>
            <a:ext cx="7141774" cy="2401100"/>
          </a:xfrm>
          <a:prstGeom prst="rect">
            <a:avLst/>
          </a:prstGeom>
          <a:noFill/>
          <a:ln>
            <a:noFill/>
          </a:ln>
        </p:spPr>
      </p:pic>
      <p:pic>
        <p:nvPicPr>
          <p:cNvPr id="632" name="Google Shape;632;g2976b235820_0_57"/>
          <p:cNvPicPr preferRelativeResize="0"/>
          <p:nvPr/>
        </p:nvPicPr>
        <p:blipFill>
          <a:blip r:embed="rId4">
            <a:alphaModFix/>
          </a:blip>
          <a:stretch>
            <a:fillRect/>
          </a:stretch>
        </p:blipFill>
        <p:spPr>
          <a:xfrm>
            <a:off x="7670775" y="3233550"/>
            <a:ext cx="3579676" cy="24011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g2976b235820_0_1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endParaRPr/>
          </a:p>
        </p:txBody>
      </p:sp>
      <p:pic>
        <p:nvPicPr>
          <p:cNvPr id="639" name="Google Shape;639;g2976b235820_0_18"/>
          <p:cNvPicPr preferRelativeResize="0"/>
          <p:nvPr/>
        </p:nvPicPr>
        <p:blipFill>
          <a:blip r:embed="rId3">
            <a:alphaModFix/>
          </a:blip>
          <a:stretch>
            <a:fillRect/>
          </a:stretch>
        </p:blipFill>
        <p:spPr>
          <a:xfrm>
            <a:off x="216877" y="973668"/>
            <a:ext cx="6342184" cy="5077524"/>
          </a:xfrm>
          <a:prstGeom prst="rect">
            <a:avLst/>
          </a:prstGeom>
          <a:noFill/>
          <a:ln>
            <a:noFill/>
          </a:ln>
          <a:effectLst>
            <a:outerShdw blurRad="57150" dist="19050" dir="5400000" algn="bl" rotWithShape="0">
              <a:srgbClr val="000000">
                <a:alpha val="50000"/>
              </a:srgbClr>
            </a:outerShdw>
          </a:effectLst>
        </p:spPr>
      </p:pic>
      <p:sp>
        <p:nvSpPr>
          <p:cNvPr id="6" name="TextBox 5">
            <a:extLst>
              <a:ext uri="{FF2B5EF4-FFF2-40B4-BE49-F238E27FC236}">
                <a16:creationId xmlns:a16="http://schemas.microsoft.com/office/drawing/2014/main" id="{EB49DBAF-98C4-3A51-BAC3-3D70B185F5E1}"/>
              </a:ext>
            </a:extLst>
          </p:cNvPr>
          <p:cNvSpPr txBox="1"/>
          <p:nvPr/>
        </p:nvSpPr>
        <p:spPr>
          <a:xfrm>
            <a:off x="6739304" y="2456795"/>
            <a:ext cx="5112726" cy="470898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a:ln>
                  <a:noFill/>
                </a:ln>
                <a:solidFill>
                  <a:schemeClr val="tx1"/>
                </a:solidFill>
                <a:effectLst/>
                <a:latin typeface="arial" panose="020B0604020202020204" pitchFamily="34" charset="0"/>
              </a:rPr>
              <a:t>web_events:</a:t>
            </a:r>
            <a:r>
              <a:rPr kumimoji="0" lang="en-US" altLang="en-US" sz="2000" b="0" i="0" u="none" strike="noStrike" cap="none" normalizeH="0" baseline="0">
                <a:ln>
                  <a:noFill/>
                </a:ln>
                <a:solidFill>
                  <a:schemeClr val="tx1"/>
                </a:solidFill>
                <a:effectLst/>
                <a:latin typeface="arial" panose="020B0604020202020204" pitchFamily="34" charset="0"/>
              </a:rPr>
              <a:t> Mengandung informasi tentang event yang terjadi di website, seperti waktu terjadinya dan channel.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a:ln>
                  <a:noFill/>
                </a:ln>
                <a:solidFill>
                  <a:schemeClr val="tx1"/>
                </a:solidFill>
                <a:effectLst/>
                <a:latin typeface="arial" panose="020B0604020202020204" pitchFamily="34" charset="0"/>
              </a:rPr>
              <a:t>accounts:</a:t>
            </a:r>
            <a:r>
              <a:rPr kumimoji="0" lang="en-US" altLang="en-US" sz="2000" b="0" i="0" u="none" strike="noStrike" cap="none" normalizeH="0" baseline="0">
                <a:ln>
                  <a:noFill/>
                </a:ln>
                <a:solidFill>
                  <a:schemeClr val="tx1"/>
                </a:solidFill>
                <a:effectLst/>
                <a:latin typeface="arial" panose="020B0604020202020204" pitchFamily="34" charset="0"/>
              </a:rPr>
              <a:t> Mengandung informasi tentang akun pelanggan, seperti nama, website, lokasi, dan representatif penjualan.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a:ln>
                  <a:noFill/>
                </a:ln>
                <a:solidFill>
                  <a:schemeClr val="tx1"/>
                </a:solidFill>
                <a:effectLst/>
                <a:latin typeface="arial" panose="020B0604020202020204" pitchFamily="34" charset="0"/>
              </a:rPr>
              <a:t>orders:</a:t>
            </a:r>
            <a:r>
              <a:rPr kumimoji="0" lang="en-US" altLang="en-US" sz="2000" b="0" i="0" u="none" strike="noStrike" cap="none" normalizeH="0" baseline="0">
                <a:ln>
                  <a:noFill/>
                </a:ln>
                <a:solidFill>
                  <a:schemeClr val="tx1"/>
                </a:solidFill>
                <a:effectLst/>
                <a:latin typeface="arial" panose="020B0604020202020204" pitchFamily="34" charset="0"/>
              </a:rPr>
              <a:t> Mengandung informasi tentang pesanan, seperti jumlah produk yang dipesan dan total harga.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a:ln>
                  <a:noFill/>
                </a:ln>
                <a:solidFill>
                  <a:schemeClr val="tx1"/>
                </a:solidFill>
                <a:effectLst/>
                <a:latin typeface="arial" panose="020B0604020202020204" pitchFamily="34" charset="0"/>
              </a:rPr>
              <a:t>sales_reps:</a:t>
            </a:r>
            <a:r>
              <a:rPr kumimoji="0" lang="en-US" altLang="en-US" sz="2000" b="0" i="0" u="none" strike="noStrike" cap="none" normalizeH="0" baseline="0">
                <a:ln>
                  <a:noFill/>
                </a:ln>
                <a:solidFill>
                  <a:schemeClr val="tx1"/>
                </a:solidFill>
                <a:effectLst/>
                <a:latin typeface="arial" panose="020B0604020202020204" pitchFamily="34" charset="0"/>
              </a:rPr>
              <a:t> Mengandung informasi tentang representatif penjualan.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a:ln>
                  <a:noFill/>
                </a:ln>
                <a:solidFill>
                  <a:schemeClr val="tx1"/>
                </a:solidFill>
                <a:effectLst/>
                <a:latin typeface="arial" panose="020B0604020202020204" pitchFamily="34" charset="0"/>
              </a:rPr>
              <a:t>region:</a:t>
            </a:r>
            <a:r>
              <a:rPr kumimoji="0" lang="en-US" altLang="en-US" sz="2000" b="0" i="0" u="none" strike="noStrike" cap="none" normalizeH="0" baseline="0">
                <a:ln>
                  <a:noFill/>
                </a:ln>
                <a:solidFill>
                  <a:schemeClr val="tx1"/>
                </a:solidFill>
                <a:effectLst/>
                <a:latin typeface="arial" panose="020B0604020202020204" pitchFamily="34" charset="0"/>
              </a:rPr>
              <a:t> Mengandung informasi tentang region. </a:t>
            </a:r>
          </a:p>
          <a:p>
            <a:pPr marL="0" lvl="0" indent="0" algn="l" rtl="0">
              <a:spcBef>
                <a:spcPts val="0"/>
              </a:spcBef>
              <a:spcAft>
                <a:spcPts val="0"/>
              </a:spcAft>
              <a:buClr>
                <a:schemeClr val="dk1"/>
              </a:buClr>
              <a:buSzPts val="1200"/>
              <a:buFont typeface="Noto Sans Symbols"/>
              <a:buNone/>
            </a:pPr>
            <a:endParaRPr lang="en-US" sz="2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g2976b235820_0_31"/>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endParaRPr/>
          </a:p>
        </p:txBody>
      </p:sp>
      <p:pic>
        <p:nvPicPr>
          <p:cNvPr id="646" name="Google Shape;646;g2976b235820_0_31"/>
          <p:cNvPicPr preferRelativeResize="0"/>
          <p:nvPr/>
        </p:nvPicPr>
        <p:blipFill>
          <a:blip r:embed="rId3">
            <a:alphaModFix/>
          </a:blip>
          <a:stretch>
            <a:fillRect/>
          </a:stretch>
        </p:blipFill>
        <p:spPr>
          <a:xfrm>
            <a:off x="614425" y="3217725"/>
            <a:ext cx="4761299" cy="3363575"/>
          </a:xfrm>
          <a:prstGeom prst="rect">
            <a:avLst/>
          </a:prstGeom>
          <a:noFill/>
          <a:ln>
            <a:noFill/>
          </a:ln>
          <a:effectLst>
            <a:outerShdw blurRad="57150" dist="19050" dir="5400000" algn="bl" rotWithShape="0">
              <a:srgbClr val="000000">
                <a:alpha val="50000"/>
              </a:srgbClr>
            </a:outerShdw>
          </a:effectLst>
        </p:spPr>
      </p:pic>
      <p:sp>
        <p:nvSpPr>
          <p:cNvPr id="647" name="Google Shape;647;g2976b235820_0_31"/>
          <p:cNvSpPr txBox="1"/>
          <p:nvPr/>
        </p:nvSpPr>
        <p:spPr>
          <a:xfrm>
            <a:off x="6087225" y="2425225"/>
            <a:ext cx="5454600" cy="213901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2100">
                <a:solidFill>
                  <a:schemeClr val="dk1"/>
                </a:solidFill>
                <a:latin typeface="Georgia"/>
                <a:ea typeface="Georgia"/>
                <a:cs typeface="Georgia"/>
                <a:sym typeface="Georgia"/>
              </a:rPr>
              <a:t>#Try pulling all the data from the accounts table, and all the data from the orders table.</a:t>
            </a:r>
            <a:endParaRPr sz="2100">
              <a:solidFill>
                <a:schemeClr val="dk1"/>
              </a:solidFill>
              <a:latin typeface="Georgia"/>
              <a:ea typeface="Georgia"/>
              <a:cs typeface="Georgia"/>
              <a:sym typeface="Georgia"/>
            </a:endParaRPr>
          </a:p>
          <a:p>
            <a:pPr marL="0" lvl="0" indent="0" algn="l" rtl="0">
              <a:spcBef>
                <a:spcPts val="0"/>
              </a:spcBef>
              <a:spcAft>
                <a:spcPts val="0"/>
              </a:spcAft>
              <a:buNone/>
            </a:pPr>
            <a:endParaRPr sz="2100">
              <a:solidFill>
                <a:schemeClr val="dk1"/>
              </a:solidFill>
              <a:latin typeface="Georgia"/>
              <a:ea typeface="Georgia"/>
              <a:cs typeface="Georgia"/>
              <a:sym typeface="Georgia"/>
            </a:endParaRPr>
          </a:p>
          <a:p>
            <a:pPr marL="0" lvl="0" indent="0" algn="l" rtl="0">
              <a:spcBef>
                <a:spcPts val="0"/>
              </a:spcBef>
              <a:spcAft>
                <a:spcPts val="0"/>
              </a:spcAft>
              <a:buNone/>
            </a:pPr>
            <a:r>
              <a:rPr lang="en-ID" sz="1600">
                <a:solidFill>
                  <a:schemeClr val="dk1"/>
                </a:solidFill>
                <a:latin typeface="Georgia"/>
                <a:ea typeface="Georgia"/>
                <a:cs typeface="Georgia"/>
                <a:sym typeface="Georgia"/>
              </a:rPr>
              <a:t>SELECT orders.*, accounts.*</a:t>
            </a:r>
            <a:endParaRPr sz="1600">
              <a:solidFill>
                <a:schemeClr val="dk1"/>
              </a:solidFill>
              <a:latin typeface="Georgia"/>
              <a:ea typeface="Georgia"/>
              <a:cs typeface="Georgia"/>
              <a:sym typeface="Georgia"/>
            </a:endParaRPr>
          </a:p>
          <a:p>
            <a:pPr marL="0" lvl="0" indent="0" algn="l" rtl="0">
              <a:spcBef>
                <a:spcPts val="0"/>
              </a:spcBef>
              <a:spcAft>
                <a:spcPts val="0"/>
              </a:spcAft>
              <a:buNone/>
            </a:pPr>
            <a:r>
              <a:rPr lang="en-ID" sz="1600">
                <a:solidFill>
                  <a:schemeClr val="dk1"/>
                </a:solidFill>
                <a:latin typeface="Georgia"/>
                <a:ea typeface="Georgia"/>
                <a:cs typeface="Georgia"/>
                <a:sym typeface="Georgia"/>
              </a:rPr>
              <a:t>FROM accounts</a:t>
            </a:r>
            <a:endParaRPr sz="1600">
              <a:solidFill>
                <a:schemeClr val="dk1"/>
              </a:solidFill>
              <a:latin typeface="Georgia"/>
              <a:ea typeface="Georgia"/>
              <a:cs typeface="Georgia"/>
              <a:sym typeface="Georgia"/>
            </a:endParaRPr>
          </a:p>
          <a:p>
            <a:pPr marL="0" lvl="0" indent="0" algn="l" rtl="0">
              <a:spcBef>
                <a:spcPts val="0"/>
              </a:spcBef>
              <a:spcAft>
                <a:spcPts val="0"/>
              </a:spcAft>
              <a:buNone/>
            </a:pPr>
            <a:r>
              <a:rPr lang="en-ID" sz="1600">
                <a:solidFill>
                  <a:schemeClr val="dk1"/>
                </a:solidFill>
                <a:latin typeface="Georgia"/>
                <a:ea typeface="Georgia"/>
                <a:cs typeface="Georgia"/>
                <a:sym typeface="Georgia"/>
              </a:rPr>
              <a:t>JOIN orders</a:t>
            </a:r>
            <a:endParaRPr sz="1600">
              <a:solidFill>
                <a:schemeClr val="dk1"/>
              </a:solidFill>
              <a:latin typeface="Georgia"/>
              <a:ea typeface="Georgia"/>
              <a:cs typeface="Georgia"/>
              <a:sym typeface="Georgia"/>
            </a:endParaRPr>
          </a:p>
          <a:p>
            <a:pPr marL="0" lvl="0" indent="0" algn="l" rtl="0">
              <a:spcBef>
                <a:spcPts val="0"/>
              </a:spcBef>
              <a:spcAft>
                <a:spcPts val="0"/>
              </a:spcAft>
              <a:buNone/>
            </a:pPr>
            <a:r>
              <a:rPr lang="en-ID" sz="1600">
                <a:solidFill>
                  <a:schemeClr val="dk1"/>
                </a:solidFill>
                <a:latin typeface="Georgia"/>
                <a:ea typeface="Georgia"/>
                <a:cs typeface="Georgia"/>
                <a:sym typeface="Georgia"/>
              </a:rPr>
              <a:t>ON accounts.id = orders.account_id;</a:t>
            </a:r>
            <a:endParaRPr sz="2800">
              <a:solidFill>
                <a:schemeClr val="dk1"/>
              </a:solidFill>
              <a:latin typeface="Georgia"/>
              <a:ea typeface="Georgia"/>
              <a:cs typeface="Georgia"/>
              <a:sym typeface="Georgia"/>
            </a:endParaRPr>
          </a:p>
        </p:txBody>
      </p:sp>
      <p:sp>
        <p:nvSpPr>
          <p:cNvPr id="648" name="Google Shape;648;g2976b235820_0_31"/>
          <p:cNvSpPr txBox="1"/>
          <p:nvPr/>
        </p:nvSpPr>
        <p:spPr>
          <a:xfrm>
            <a:off x="6087250" y="5014250"/>
            <a:ext cx="54546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1800">
                <a:solidFill>
                  <a:schemeClr val="dk1"/>
                </a:solidFill>
                <a:latin typeface="Georgia"/>
                <a:ea typeface="Georgia"/>
                <a:cs typeface="Georgia"/>
                <a:sym typeface="Georgia"/>
              </a:rPr>
              <a:t># Try pulling standard_qty, gloss_qty, and poster_qty from the orders table, and the website and the primary_poc from the accounts table.</a:t>
            </a:r>
            <a:endParaRPr sz="2000">
              <a:latin typeface="Georgia"/>
              <a:ea typeface="Georgia"/>
              <a:cs typeface="Georgia"/>
              <a:sym typeface="Georgia"/>
            </a:endParaRPr>
          </a:p>
        </p:txBody>
      </p:sp>
      <p:pic>
        <p:nvPicPr>
          <p:cNvPr id="649" name="Google Shape;649;g2976b235820_0_31"/>
          <p:cNvPicPr preferRelativeResize="0"/>
          <p:nvPr/>
        </p:nvPicPr>
        <p:blipFill rotWithShape="1">
          <a:blip r:embed="rId4">
            <a:alphaModFix/>
          </a:blip>
          <a:srcRect r="49016" b="50719"/>
          <a:stretch/>
        </p:blipFill>
        <p:spPr>
          <a:xfrm>
            <a:off x="469725" y="486400"/>
            <a:ext cx="3641151" cy="2401100"/>
          </a:xfrm>
          <a:prstGeom prst="rect">
            <a:avLst/>
          </a:prstGeom>
          <a:noFill/>
          <a:ln>
            <a:noFill/>
          </a:ln>
          <a:effectLst>
            <a:outerShdw blurRad="57150" dist="19050" dir="5400000" algn="bl" rotWithShape="0">
              <a:srgbClr val="00000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animEffect transition="in" filter="fade">
                                      <p:cBhvr>
                                        <p:cTn id="7" dur="10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g2976b235820_0_38"/>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endParaRPr/>
          </a:p>
        </p:txBody>
      </p:sp>
      <p:pic>
        <p:nvPicPr>
          <p:cNvPr id="656" name="Google Shape;656;g2976b235820_0_38"/>
          <p:cNvPicPr preferRelativeResize="0"/>
          <p:nvPr/>
        </p:nvPicPr>
        <p:blipFill>
          <a:blip r:embed="rId3">
            <a:alphaModFix/>
          </a:blip>
          <a:stretch>
            <a:fillRect/>
          </a:stretch>
        </p:blipFill>
        <p:spPr>
          <a:xfrm>
            <a:off x="1845553" y="2297753"/>
            <a:ext cx="8500899" cy="41845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976b235820_0_47"/>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663" name="Google Shape;663;g2976b235820_0_47"/>
          <p:cNvSpPr txBox="1">
            <a:spLocks noGrp="1"/>
          </p:cNvSpPr>
          <p:nvPr>
            <p:ph type="body" idx="1"/>
          </p:nvPr>
        </p:nvSpPr>
        <p:spPr>
          <a:xfrm>
            <a:off x="501277" y="2313708"/>
            <a:ext cx="5470032" cy="3699164"/>
          </a:xfrm>
          <a:prstGeom prst="rect">
            <a:avLst/>
          </a:prstGeom>
        </p:spPr>
        <p:txBody>
          <a:bodyPr spcFirstLastPara="1" wrap="square" lIns="91425" tIns="45700" rIns="91425" bIns="45700" anchor="t" anchorCtr="0">
            <a:normAutofit fontScale="92500" lnSpcReduction="10000"/>
          </a:bodyPr>
          <a:lstStyle/>
          <a:p>
            <a:pPr marL="457200" lvl="0" indent="-323532" algn="l" rtl="0">
              <a:lnSpc>
                <a:spcPct val="115000"/>
              </a:lnSpc>
              <a:spcBef>
                <a:spcPts val="0"/>
              </a:spcBef>
              <a:spcAft>
                <a:spcPts val="0"/>
              </a:spcAft>
              <a:buClr>
                <a:srgbClr val="0B0B0B"/>
              </a:buClr>
              <a:buSzPct val="100000"/>
              <a:buFont typeface="Arial"/>
              <a:buAutoNum type="arabicPeriod"/>
            </a:pPr>
            <a:r>
              <a:rPr lang="en-ID">
                <a:solidFill>
                  <a:srgbClr val="0B0B0B"/>
                </a:solidFill>
                <a:highlight>
                  <a:srgbClr val="FFFFFF"/>
                </a:highlight>
                <a:latin typeface="Aptos" panose="020B0004020202020204" pitchFamily="34" charset="0"/>
                <a:ea typeface="Georgia"/>
                <a:cs typeface="Georgia"/>
                <a:sym typeface="Georgia"/>
              </a:rPr>
              <a:t>Tampilkan tabel untuk semua `web_events` yang terkait dengan account bernama "Walmart". Tabel ini harus berisi tiga kolom: `primary_poc`, `time` dari acara, dan `channel` untuk setiap acara. Anda bisa menambahkan kolom keempat untuk memastikan hanya acara yang terkait dengan Walmart yang ditampilkan.</a:t>
            </a:r>
          </a:p>
          <a:p>
            <a:pPr marL="457200" lvl="0" indent="-323532" algn="l" rtl="0">
              <a:lnSpc>
                <a:spcPct val="115000"/>
              </a:lnSpc>
              <a:spcBef>
                <a:spcPts val="0"/>
              </a:spcBef>
              <a:spcAft>
                <a:spcPts val="0"/>
              </a:spcAft>
              <a:buClr>
                <a:srgbClr val="0B0B0B"/>
              </a:buClr>
              <a:buSzPct val="100000"/>
              <a:buFont typeface="Arial"/>
              <a:buAutoNum type="arabicPeriod"/>
            </a:pPr>
            <a:endParaRPr lang="en-ID">
              <a:solidFill>
                <a:srgbClr val="0B0B0B"/>
              </a:solidFill>
              <a:highlight>
                <a:srgbClr val="FFFFFF"/>
              </a:highlight>
              <a:latin typeface="Aptos" panose="020B0004020202020204" pitchFamily="34" charset="0"/>
              <a:ea typeface="Georgia"/>
              <a:cs typeface="Georgia"/>
              <a:sym typeface="Georgia"/>
            </a:endParaRPr>
          </a:p>
          <a:p>
            <a:pPr marL="457200" lvl="0" indent="-323532" algn="l" rtl="0">
              <a:lnSpc>
                <a:spcPct val="115000"/>
              </a:lnSpc>
              <a:spcBef>
                <a:spcPts val="0"/>
              </a:spcBef>
              <a:spcAft>
                <a:spcPts val="0"/>
              </a:spcAft>
              <a:buClr>
                <a:srgbClr val="0B0B0B"/>
              </a:buClr>
              <a:buSzPct val="100000"/>
              <a:buFont typeface="Arial"/>
              <a:buAutoNum type="arabicPeriod"/>
            </a:pPr>
            <a:r>
              <a:rPr lang="en-ID">
                <a:solidFill>
                  <a:srgbClr val="0B0B0B"/>
                </a:solidFill>
                <a:highlight>
                  <a:srgbClr val="FFFFFF"/>
                </a:highlight>
                <a:latin typeface="Aptos" panose="020B0004020202020204" pitchFamily="34" charset="0"/>
                <a:ea typeface="Georgia"/>
                <a:cs typeface="Georgia"/>
                <a:sym typeface="Georgia"/>
              </a:rPr>
              <a:t>Tampilkan tabel yang menunjukkan `region` untuk setiap `sales_rep` beserta account terkait. Tabel akhir harus memiliki tiga kolom: `region`, `sales_rep`, dan `account`. Urutkan `account` berdasarkan abjad (A-Z).</a:t>
            </a:r>
          </a:p>
        </p:txBody>
      </p:sp>
      <p:sp>
        <p:nvSpPr>
          <p:cNvPr id="2" name="Google Shape;663;g2976b235820_0_47">
            <a:extLst>
              <a:ext uri="{FF2B5EF4-FFF2-40B4-BE49-F238E27FC236}">
                <a16:creationId xmlns:a16="http://schemas.microsoft.com/office/drawing/2014/main" id="{B906482C-BD05-C597-BCC5-926D4710433D}"/>
              </a:ext>
            </a:extLst>
          </p:cNvPr>
          <p:cNvSpPr txBox="1">
            <a:spLocks/>
          </p:cNvSpPr>
          <p:nvPr/>
        </p:nvSpPr>
        <p:spPr>
          <a:xfrm>
            <a:off x="6220691" y="2313708"/>
            <a:ext cx="5470032" cy="369916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chemeClr val="accent1"/>
              </a:buClr>
              <a:buSzPts val="144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pPr marL="476568" lvl="0" indent="-342900" algn="l" rtl="0">
              <a:lnSpc>
                <a:spcPct val="115000"/>
              </a:lnSpc>
              <a:spcBef>
                <a:spcPts val="0"/>
              </a:spcBef>
              <a:spcAft>
                <a:spcPts val="0"/>
              </a:spcAft>
              <a:buClr>
                <a:srgbClr val="0B0B0B"/>
              </a:buClr>
              <a:buSzPct val="100000"/>
              <a:buFont typeface="+mj-lt"/>
              <a:buAutoNum type="arabicPeriod" startAt="3"/>
            </a:pPr>
            <a:r>
              <a:rPr lang="en-ID" sz="1800">
                <a:solidFill>
                  <a:srgbClr val="0B0B0B"/>
                </a:solidFill>
                <a:highlight>
                  <a:srgbClr val="FFFFFF"/>
                </a:highlight>
                <a:latin typeface="Aptos" panose="020B0004020202020204" pitchFamily="34" charset="0"/>
                <a:ea typeface="Georgia"/>
                <a:cs typeface="Georgia"/>
                <a:sym typeface="Georgia"/>
              </a:rPr>
              <a:t>Tampilkan `region` untuk setiap `order`, beserta `account` dan harga satuan yang mereka bayarkan (`total_amt_usd / total`) untuk pesanan tersebut. Tabel akhir harus memiliki 3 kolom: `region`, `account`, dan harga satuan. Beberapa `account` memiliki nilai `total` sebesar 0, jadi pembagiannya menggunakan `(total + 0.01)` untuk menghindari pembagian dengan nol.</a:t>
            </a:r>
            <a:endParaRPr lang="en-ID" sz="800">
              <a:latin typeface="Aptos" panose="020B00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g2976b235820_0_0" descr="Apa itu Database Server? Jenis, Cara Kerja, Contoh Server Database - Tanya  Digital"/>
          <p:cNvPicPr preferRelativeResize="0"/>
          <p:nvPr/>
        </p:nvPicPr>
        <p:blipFill rotWithShape="1">
          <a:blip r:embed="rId3">
            <a:alphaModFix/>
          </a:blip>
          <a:srcRect r="9673"/>
          <a:stretch/>
        </p:blipFill>
        <p:spPr>
          <a:xfrm>
            <a:off x="3188727" y="483860"/>
            <a:ext cx="8531325" cy="5891461"/>
          </a:xfrm>
          <a:prstGeom prst="rect">
            <a:avLst/>
          </a:prstGeom>
          <a:noFill/>
          <a:ln>
            <a:noFill/>
          </a:ln>
        </p:spPr>
      </p:pic>
      <p:sp>
        <p:nvSpPr>
          <p:cNvPr id="623" name="Google Shape;623;g2976b235820_0_0"/>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SELECT JOIN, WHEN CASE, VIEW</a:t>
            </a:r>
            <a:endParaRPr sz="3600" b="1">
              <a:solidFill>
                <a:schemeClr val="lt1"/>
              </a:solidFill>
            </a:endParaRPr>
          </a:p>
        </p:txBody>
      </p:sp>
      <p:sp>
        <p:nvSpPr>
          <p:cNvPr id="624" name="Google Shape;624;g2976b235820_0_0"/>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7</a:t>
            </a:r>
            <a:endParaRPr/>
          </a:p>
        </p:txBody>
      </p:sp>
    </p:spTree>
    <p:extLst>
      <p:ext uri="{BB962C8B-B14F-4D97-AF65-F5344CB8AC3E}">
        <p14:creationId xmlns:p14="http://schemas.microsoft.com/office/powerpoint/2010/main" val="42698946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6B9C-E7F7-3E9C-DED3-F96911EE3811}"/>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F398685B-9E8D-1BCE-1643-12B9F5A30D83}"/>
              </a:ext>
            </a:extLst>
          </p:cNvPr>
          <p:cNvSpPr>
            <a:spLocks noGrp="1"/>
          </p:cNvSpPr>
          <p:nvPr>
            <p:ph type="body" idx="1"/>
          </p:nvPr>
        </p:nvSpPr>
        <p:spPr/>
        <p:txBody>
          <a:bodyPr/>
          <a:lstStyle/>
          <a:p>
            <a:r>
              <a:rPr lang="en-US"/>
              <a:t>Mahasiswa mampu menerapkan perintah When Case pada Bahasa SQL</a:t>
            </a:r>
          </a:p>
          <a:p>
            <a:r>
              <a:rPr lang="en-US"/>
              <a:t>Mahasiswa mampu menjelaskan mengenai konsep view pada Bahasa SQL</a:t>
            </a:r>
          </a:p>
          <a:p>
            <a:r>
              <a:rPr lang="en-US"/>
              <a:t>Mahasiswa mampu menerapkan perintah Right/Left Join view pada Bahasa SQL</a:t>
            </a:r>
          </a:p>
          <a:p>
            <a:pPr marL="137160" indent="0">
              <a:buNone/>
            </a:pPr>
            <a:endParaRPr lang="en-US"/>
          </a:p>
        </p:txBody>
      </p:sp>
    </p:spTree>
    <p:extLst>
      <p:ext uri="{BB962C8B-B14F-4D97-AF65-F5344CB8AC3E}">
        <p14:creationId xmlns:p14="http://schemas.microsoft.com/office/powerpoint/2010/main" val="36987235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g264eb977eff_0_6"/>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Mendalami Perintah SELECT</a:t>
            </a:r>
            <a:endParaRPr/>
          </a:p>
        </p:txBody>
      </p:sp>
      <p:sp>
        <p:nvSpPr>
          <p:cNvPr id="594" name="Google Shape;594;g264eb977eff_0_6"/>
          <p:cNvSpPr txBox="1">
            <a:spLocks noGrp="1"/>
          </p:cNvSpPr>
          <p:nvPr>
            <p:ph type="body" idx="1"/>
          </p:nvPr>
        </p:nvSpPr>
        <p:spPr>
          <a:xfrm>
            <a:off x="605798" y="2321171"/>
            <a:ext cx="5254675" cy="4079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20"/>
              <a:buNone/>
            </a:pPr>
            <a:r>
              <a:rPr lang="en-ID" sz="2400" b="1"/>
              <a:t>Menggunakan Klausa When Case</a:t>
            </a:r>
            <a:endParaRPr/>
          </a:p>
          <a:p>
            <a:pPr marL="342900" marR="0" lvl="0" indent="-335280" algn="l" rtl="0">
              <a:lnSpc>
                <a:spcPct val="100000"/>
              </a:lnSpc>
              <a:spcBef>
                <a:spcPts val="1000"/>
              </a:spcBef>
              <a:spcAft>
                <a:spcPts val="0"/>
              </a:spcAft>
              <a:buSzPts val="1800"/>
              <a:buChar char="❑"/>
            </a:pPr>
            <a:r>
              <a:rPr lang="en-ID">
                <a:solidFill>
                  <a:schemeClr val="dk1"/>
                </a:solidFill>
              </a:rPr>
              <a:t>Klousa </a:t>
            </a:r>
            <a:r>
              <a:rPr lang="en-ID" b="1">
                <a:solidFill>
                  <a:schemeClr val="dk1"/>
                </a:solidFill>
              </a:rPr>
              <a:t>CASE WHEN </a:t>
            </a:r>
            <a:r>
              <a:rPr lang="en-ID">
                <a:solidFill>
                  <a:schemeClr val="dk1"/>
                </a:solidFill>
              </a:rPr>
              <a:t>dalam SQL digunakan untuk melakukan evaluasi kondisi dan memberikan hasil berdasarkan kondisi yang memenuhi. </a:t>
            </a:r>
            <a:endParaRPr>
              <a:solidFill>
                <a:schemeClr val="dk1"/>
              </a:solidFill>
            </a:endParaRPr>
          </a:p>
          <a:p>
            <a:pPr marL="342900" marR="0" lvl="0" indent="-335280" algn="l" rtl="0">
              <a:lnSpc>
                <a:spcPct val="100000"/>
              </a:lnSpc>
              <a:spcBef>
                <a:spcPts val="1000"/>
              </a:spcBef>
              <a:spcAft>
                <a:spcPts val="0"/>
              </a:spcAft>
              <a:buSzPts val="1800"/>
              <a:buChar char="❑"/>
            </a:pPr>
            <a:r>
              <a:rPr lang="en-ID">
                <a:solidFill>
                  <a:schemeClr val="dk1"/>
                </a:solidFill>
              </a:rPr>
              <a:t>Bisa digunakan dalam pernyataan </a:t>
            </a:r>
            <a:r>
              <a:rPr lang="en-ID" b="1">
                <a:solidFill>
                  <a:schemeClr val="dk1"/>
                </a:solidFill>
              </a:rPr>
              <a:t>SELECT</a:t>
            </a:r>
            <a:r>
              <a:rPr lang="en-ID">
                <a:solidFill>
                  <a:schemeClr val="dk1"/>
                </a:solidFill>
              </a:rPr>
              <a:t>, </a:t>
            </a:r>
            <a:r>
              <a:rPr lang="en-ID" b="1">
                <a:solidFill>
                  <a:schemeClr val="dk1"/>
                </a:solidFill>
              </a:rPr>
              <a:t>WHERE</a:t>
            </a:r>
            <a:r>
              <a:rPr lang="en-ID">
                <a:solidFill>
                  <a:schemeClr val="dk1"/>
                </a:solidFill>
              </a:rPr>
              <a:t>, </a:t>
            </a:r>
            <a:r>
              <a:rPr lang="en-ID" b="1">
                <a:solidFill>
                  <a:schemeClr val="dk1"/>
                </a:solidFill>
              </a:rPr>
              <a:t>ORDER BY</a:t>
            </a:r>
            <a:r>
              <a:rPr lang="en-ID">
                <a:solidFill>
                  <a:schemeClr val="dk1"/>
                </a:solidFill>
              </a:rPr>
              <a:t>, atau bagian lain dari pernyataan SQL.</a:t>
            </a:r>
            <a:endParaRPr>
              <a:solidFill>
                <a:schemeClr val="dk1"/>
              </a:solidFill>
            </a:endParaRPr>
          </a:p>
          <a:p>
            <a:pPr marL="342900" marR="0" lvl="0" indent="-335280" algn="l" rtl="0">
              <a:lnSpc>
                <a:spcPct val="100000"/>
              </a:lnSpc>
              <a:spcBef>
                <a:spcPts val="1000"/>
              </a:spcBef>
              <a:spcAft>
                <a:spcPts val="0"/>
              </a:spcAft>
              <a:buSzPts val="1800"/>
              <a:buChar char="❑"/>
            </a:pPr>
            <a:r>
              <a:rPr lang="en-ID">
                <a:solidFill>
                  <a:schemeClr val="dk1"/>
                </a:solidFill>
              </a:rPr>
              <a:t>Digunakan untuk menggantikan pernyataan </a:t>
            </a:r>
            <a:r>
              <a:rPr lang="en-ID" b="1">
                <a:solidFill>
                  <a:schemeClr val="dk1"/>
                </a:solidFill>
              </a:rPr>
              <a:t>IF-THEN-ELSE</a:t>
            </a:r>
            <a:r>
              <a:rPr lang="en-ID">
                <a:solidFill>
                  <a:schemeClr val="dk1"/>
                </a:solidFill>
              </a:rPr>
              <a:t> dalam bahasa pemrograman lain.</a:t>
            </a:r>
            <a:endParaRPr/>
          </a:p>
        </p:txBody>
      </p:sp>
      <p:sp>
        <p:nvSpPr>
          <p:cNvPr id="3" name="TextBox 2">
            <a:extLst>
              <a:ext uri="{FF2B5EF4-FFF2-40B4-BE49-F238E27FC236}">
                <a16:creationId xmlns:a16="http://schemas.microsoft.com/office/drawing/2014/main" id="{4C596A48-D9E6-48BB-D96D-CBEFC6597BBF}"/>
              </a:ext>
            </a:extLst>
          </p:cNvPr>
          <p:cNvSpPr txBox="1"/>
          <p:nvPr/>
        </p:nvSpPr>
        <p:spPr>
          <a:xfrm>
            <a:off x="6096000" y="3129914"/>
            <a:ext cx="5624945" cy="246221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Menambahkan Kolom Kategori Berdasarkan Total Amt USD:</a:t>
            </a:r>
          </a:p>
          <a:p>
            <a:pPr marL="0" lvl="0" indent="0" algn="l" rtl="0">
              <a:spcBef>
                <a:spcPts val="0"/>
              </a:spcBef>
              <a:spcAft>
                <a:spcPts val="0"/>
              </a:spcAft>
              <a:buClr>
                <a:schemeClr val="dk1"/>
              </a:buClr>
              <a:buSzPts val="1100"/>
              <a:buFont typeface="Arial"/>
              <a:buNone/>
            </a:pPr>
            <a:endParaRPr lang="en-ID">
              <a:latin typeface="Courier New" panose="02070309020205020404" pitchFamily="49" charset="0"/>
              <a:cs typeface="Courier New" panose="02070309020205020404" pitchFamily="49" charset="0"/>
              <a:sym typeface="Courier New"/>
            </a:endParaRPr>
          </a:p>
          <a:p>
            <a:pPr marL="0" lvl="0" indent="0" algn="l" rtl="0">
              <a:spcBef>
                <a:spcPts val="0"/>
              </a:spcBef>
              <a:spcAft>
                <a:spcPts val="0"/>
              </a:spcAft>
              <a:buClr>
                <a:schemeClr val="dk1"/>
              </a:buClr>
              <a:buSzPts val="1100"/>
              <a:buFont typeface="Arial"/>
              <a:buNone/>
            </a:pPr>
            <a:r>
              <a:rPr lang="en-ID" b="1">
                <a:solidFill>
                  <a:srgbClr val="0070C0"/>
                </a:solidFill>
                <a:latin typeface="Courier New" panose="02070309020205020404" pitchFamily="49" charset="0"/>
                <a:cs typeface="Courier New" panose="02070309020205020404" pitchFamily="49" charset="0"/>
                <a:sym typeface="Courier New"/>
              </a:rPr>
              <a:t>SELECT</a:t>
            </a:r>
            <a:r>
              <a:rPr lang="en-ID">
                <a:latin typeface="Courier New" panose="02070309020205020404" pitchFamily="49" charset="0"/>
                <a:cs typeface="Courier New" panose="02070309020205020404" pitchFamily="49" charset="0"/>
                <a:sym typeface="Courier New"/>
              </a:rPr>
              <a:t> id,</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total_amt_usd,</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CASE</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WHEN</a:t>
            </a:r>
            <a:r>
              <a:rPr lang="en-ID">
                <a:latin typeface="Courier New" panose="02070309020205020404" pitchFamily="49" charset="0"/>
                <a:cs typeface="Courier New" panose="02070309020205020404" pitchFamily="49" charset="0"/>
                <a:sym typeface="Courier New"/>
              </a:rPr>
              <a:t> total_amt_usd &gt; 10000 </a:t>
            </a:r>
            <a:r>
              <a:rPr lang="en-ID" b="1">
                <a:solidFill>
                  <a:srgbClr val="0070C0"/>
                </a:solidFill>
                <a:latin typeface="Courier New" panose="02070309020205020404" pitchFamily="49" charset="0"/>
                <a:cs typeface="Courier New" panose="02070309020205020404" pitchFamily="49" charset="0"/>
                <a:sym typeface="Courier New"/>
              </a:rPr>
              <a:t>THEN</a:t>
            </a:r>
            <a:r>
              <a:rPr lang="en-ID">
                <a:latin typeface="Courier New" panose="02070309020205020404" pitchFamily="49" charset="0"/>
                <a:cs typeface="Courier New" panose="02070309020205020404" pitchFamily="49" charset="0"/>
                <a:sym typeface="Courier New"/>
              </a:rPr>
              <a:t> 'High'</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WHEN</a:t>
            </a:r>
            <a:r>
              <a:rPr lang="en-ID">
                <a:latin typeface="Courier New" panose="02070309020205020404" pitchFamily="49" charset="0"/>
                <a:cs typeface="Courier New" panose="02070309020205020404" pitchFamily="49" charset="0"/>
                <a:sym typeface="Courier New"/>
              </a:rPr>
              <a:t> total_amt_usd &gt; 5000 </a:t>
            </a:r>
            <a:r>
              <a:rPr lang="en-ID" b="1">
                <a:solidFill>
                  <a:srgbClr val="0070C0"/>
                </a:solidFill>
                <a:latin typeface="Courier New" panose="02070309020205020404" pitchFamily="49" charset="0"/>
                <a:cs typeface="Courier New" panose="02070309020205020404" pitchFamily="49" charset="0"/>
                <a:sym typeface="Courier New"/>
              </a:rPr>
              <a:t>THEN</a:t>
            </a:r>
            <a:r>
              <a:rPr lang="en-ID">
                <a:latin typeface="Courier New" panose="02070309020205020404" pitchFamily="49" charset="0"/>
                <a:cs typeface="Courier New" panose="02070309020205020404" pitchFamily="49" charset="0"/>
                <a:sym typeface="Courier New"/>
              </a:rPr>
              <a:t> 'Medium'</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ELSE</a:t>
            </a:r>
            <a:r>
              <a:rPr lang="en-ID">
                <a:latin typeface="Courier New" panose="02070309020205020404" pitchFamily="49" charset="0"/>
                <a:cs typeface="Courier New" panose="02070309020205020404" pitchFamily="49" charset="0"/>
                <a:sym typeface="Courier New"/>
              </a:rPr>
              <a:t> 'Low'</a:t>
            </a:r>
          </a:p>
          <a:p>
            <a:pPr marL="0" lvl="0" indent="0" algn="l" rtl="0">
              <a:spcBef>
                <a:spcPts val="0"/>
              </a:spcBef>
              <a:spcAft>
                <a:spcPts val="0"/>
              </a:spcAft>
              <a:buClr>
                <a:schemeClr val="dk1"/>
              </a:buClr>
              <a:buSzPts val="1100"/>
              <a:buFont typeface="Arial"/>
              <a:buNone/>
            </a:pPr>
            <a:r>
              <a:rPr lang="en-ID">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END</a:t>
            </a:r>
            <a:r>
              <a:rPr lang="en-ID" b="1">
                <a:latin typeface="Courier New" panose="02070309020205020404" pitchFamily="49" charset="0"/>
                <a:cs typeface="Courier New" panose="02070309020205020404" pitchFamily="49" charset="0"/>
                <a:sym typeface="Courier New"/>
              </a:rPr>
              <a:t> </a:t>
            </a:r>
            <a:r>
              <a:rPr lang="en-ID" b="1">
                <a:solidFill>
                  <a:srgbClr val="0070C0"/>
                </a:solidFill>
                <a:latin typeface="Courier New" panose="02070309020205020404" pitchFamily="49" charset="0"/>
                <a:cs typeface="Courier New" panose="02070309020205020404" pitchFamily="49" charset="0"/>
                <a:sym typeface="Courier New"/>
              </a:rPr>
              <a:t>AS</a:t>
            </a:r>
            <a:r>
              <a:rPr lang="en-ID" b="1">
                <a:latin typeface="Courier New" panose="02070309020205020404" pitchFamily="49" charset="0"/>
                <a:cs typeface="Courier New" panose="02070309020205020404" pitchFamily="49" charset="0"/>
                <a:sym typeface="Courier New"/>
              </a:rPr>
              <a:t> </a:t>
            </a:r>
            <a:r>
              <a:rPr lang="en-ID">
                <a:latin typeface="Courier New" panose="02070309020205020404" pitchFamily="49" charset="0"/>
                <a:cs typeface="Courier New" panose="02070309020205020404" pitchFamily="49" charset="0"/>
                <a:sym typeface="Courier New"/>
              </a:rPr>
              <a:t>sales_category</a:t>
            </a:r>
          </a:p>
          <a:p>
            <a:pPr marL="0" lvl="0" indent="0" algn="l" rtl="0">
              <a:spcBef>
                <a:spcPts val="0"/>
              </a:spcBef>
              <a:spcAft>
                <a:spcPts val="0"/>
              </a:spcAft>
              <a:buClr>
                <a:schemeClr val="dk1"/>
              </a:buClr>
              <a:buSzPts val="1100"/>
              <a:buFont typeface="Arial"/>
              <a:buNone/>
            </a:pPr>
            <a:r>
              <a:rPr lang="en-ID" b="1">
                <a:solidFill>
                  <a:srgbClr val="0070C0"/>
                </a:solidFill>
                <a:latin typeface="Courier New" panose="02070309020205020404" pitchFamily="49" charset="0"/>
                <a:cs typeface="Courier New" panose="02070309020205020404" pitchFamily="49" charset="0"/>
                <a:sym typeface="Courier New"/>
              </a:rPr>
              <a:t>FROM</a:t>
            </a:r>
            <a:r>
              <a:rPr lang="en-ID">
                <a:latin typeface="Courier New" panose="02070309020205020404" pitchFamily="49" charset="0"/>
                <a:cs typeface="Courier New" panose="02070309020205020404" pitchFamily="49" charset="0"/>
                <a:sym typeface="Courier New"/>
              </a:rPr>
              <a:t> orders</a:t>
            </a:r>
          </a:p>
        </p:txBody>
      </p:sp>
    </p:spTree>
    <p:extLst>
      <p:ext uri="{BB962C8B-B14F-4D97-AF65-F5344CB8AC3E}">
        <p14:creationId xmlns:p14="http://schemas.microsoft.com/office/powerpoint/2010/main" val="125493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4">
                                            <p:txEl>
                                              <p:pRg st="0" end="0"/>
                                            </p:txEl>
                                          </p:spTgt>
                                        </p:tgtEl>
                                        <p:attrNameLst>
                                          <p:attrName>style.visibility</p:attrName>
                                        </p:attrNameLst>
                                      </p:cBhvr>
                                      <p:to>
                                        <p:strVal val="visible"/>
                                      </p:to>
                                    </p:set>
                                    <p:anim calcmode="lin" valueType="num">
                                      <p:cBhvr additive="base">
                                        <p:cTn id="7" dur="500" fill="hold"/>
                                        <p:tgtEl>
                                          <p:spTgt spid="5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4">
                                            <p:txEl>
                                              <p:pRg st="1" end="1"/>
                                            </p:txEl>
                                          </p:spTgt>
                                        </p:tgtEl>
                                        <p:attrNameLst>
                                          <p:attrName>style.visibility</p:attrName>
                                        </p:attrNameLst>
                                      </p:cBhvr>
                                      <p:to>
                                        <p:strVal val="visible"/>
                                      </p:to>
                                    </p:set>
                                    <p:anim calcmode="lin" valueType="num">
                                      <p:cBhvr additive="base">
                                        <p:cTn id="13" dur="500" fill="hold"/>
                                        <p:tgtEl>
                                          <p:spTgt spid="5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4">
                                            <p:txEl>
                                              <p:pRg st="2" end="2"/>
                                            </p:txEl>
                                          </p:spTgt>
                                        </p:tgtEl>
                                        <p:attrNameLst>
                                          <p:attrName>style.visibility</p:attrName>
                                        </p:attrNameLst>
                                      </p:cBhvr>
                                      <p:to>
                                        <p:strVal val="visible"/>
                                      </p:to>
                                    </p:set>
                                    <p:anim calcmode="lin" valueType="num">
                                      <p:cBhvr additive="base">
                                        <p:cTn id="19" dur="500" fill="hold"/>
                                        <p:tgtEl>
                                          <p:spTgt spid="5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4">
                                            <p:txEl>
                                              <p:pRg st="3" end="3"/>
                                            </p:txEl>
                                          </p:spTgt>
                                        </p:tgtEl>
                                        <p:attrNameLst>
                                          <p:attrName>style.visibility</p:attrName>
                                        </p:attrNameLst>
                                      </p:cBhvr>
                                      <p:to>
                                        <p:strVal val="visible"/>
                                      </p:to>
                                    </p:set>
                                    <p:anim calcmode="lin" valueType="num">
                                      <p:cBhvr additive="base">
                                        <p:cTn id="25" dur="500" fill="hold"/>
                                        <p:tgtEl>
                                          <p:spTgt spid="5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 grpId="0" build="p"/>
      <p:bldP spid="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g264eb977eff_0_24"/>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Contoh Soal</a:t>
            </a:r>
            <a:endParaRPr/>
          </a:p>
        </p:txBody>
      </p:sp>
      <p:sp>
        <p:nvSpPr>
          <p:cNvPr id="601" name="Google Shape;601;g264eb977eff_0_24"/>
          <p:cNvSpPr txBox="1">
            <a:spLocks noGrp="1"/>
          </p:cNvSpPr>
          <p:nvPr>
            <p:ph type="body" idx="1"/>
          </p:nvPr>
        </p:nvSpPr>
        <p:spPr>
          <a:xfrm>
            <a:off x="1154954" y="2603500"/>
            <a:ext cx="8825700" cy="3416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ID"/>
              <a:t># Tampilkan Nama-nama Sales Representative berdasarkan kategori berikut:</a:t>
            </a:r>
            <a:endParaRPr/>
          </a:p>
          <a:p>
            <a:pPr marL="457200" lvl="0" indent="0" algn="l" rtl="0">
              <a:spcBef>
                <a:spcPts val="1000"/>
              </a:spcBef>
              <a:spcAft>
                <a:spcPts val="0"/>
              </a:spcAft>
              <a:buClr>
                <a:schemeClr val="dk1"/>
              </a:buClr>
              <a:buSzPts val="1100"/>
              <a:buFont typeface="Arial"/>
              <a:buNone/>
            </a:pPr>
            <a:r>
              <a:rPr lang="en-ID"/>
              <a:t>Jika jumlah total amt lebih dari 800000 maka kategori </a:t>
            </a:r>
            <a:r>
              <a:rPr lang="en-ID" b="1"/>
              <a:t>'Top Performer</a:t>
            </a:r>
            <a:r>
              <a:rPr lang="en-ID"/>
              <a:t>', Jika jumlah total amt lebih besar dari 400000 maka kategori </a:t>
            </a:r>
            <a:r>
              <a:rPr lang="en-ID" b="1"/>
              <a:t>'Good Performer'</a:t>
            </a:r>
            <a:r>
              <a:rPr lang="en-ID"/>
              <a:t>, selainnya diberi kategori </a:t>
            </a:r>
            <a:r>
              <a:rPr lang="en-ID" b="1"/>
              <a:t>'Average Performer'</a:t>
            </a:r>
            <a:endParaRPr b="1"/>
          </a:p>
          <a:p>
            <a:pPr marL="457200" lvl="0" indent="0" algn="l" rtl="0">
              <a:spcBef>
                <a:spcPts val="1000"/>
              </a:spcBef>
              <a:spcAft>
                <a:spcPts val="0"/>
              </a:spcAft>
              <a:buClr>
                <a:schemeClr val="dk1"/>
              </a:buClr>
              <a:buSzPts val="1100"/>
              <a:buFont typeface="Arial"/>
              <a:buNone/>
            </a:pPr>
            <a:endParaRPr b="1"/>
          </a:p>
          <a:p>
            <a:pPr marL="0" lvl="0" indent="0" algn="l" rtl="0">
              <a:spcBef>
                <a:spcPts val="1000"/>
              </a:spcBef>
              <a:spcAft>
                <a:spcPts val="0"/>
              </a:spcAft>
              <a:buClr>
                <a:schemeClr val="dk1"/>
              </a:buClr>
              <a:buSzPts val="1100"/>
              <a:buFont typeface="Arial"/>
              <a:buNone/>
            </a:pPr>
            <a:r>
              <a:rPr lang="en-ID"/>
              <a:t># Menambahkan Kolom Status Berdasarkan Tanggal Kejadian Web Events:</a:t>
            </a:r>
            <a:endParaRPr/>
          </a:p>
          <a:p>
            <a:pPr marL="457200" lvl="0" indent="0" algn="l" rtl="0">
              <a:spcBef>
                <a:spcPts val="1000"/>
              </a:spcBef>
              <a:spcAft>
                <a:spcPts val="0"/>
              </a:spcAft>
              <a:buClr>
                <a:schemeClr val="dk1"/>
              </a:buClr>
              <a:buSzPts val="1100"/>
              <a:buFont typeface="Arial"/>
              <a:buNone/>
            </a:pPr>
            <a:r>
              <a:rPr lang="en-ID"/>
              <a:t>Jika tanggal kejadian lebih dari  2016-01-01 maka status ‘</a:t>
            </a:r>
            <a:r>
              <a:rPr lang="en-ID" b="1"/>
              <a:t>new acivity</a:t>
            </a:r>
            <a:r>
              <a:rPr lang="en-ID"/>
              <a:t>’, jika kurang dari 2016-01-01 maka status ‘</a:t>
            </a:r>
            <a:r>
              <a:rPr lang="en-ID" b="1"/>
              <a:t>old activity</a:t>
            </a:r>
            <a:r>
              <a:rPr lang="en-ID"/>
              <a:t>’</a:t>
            </a:r>
            <a:endParaRPr/>
          </a:p>
          <a:p>
            <a:pPr marL="0" lvl="0" indent="0" algn="l" rtl="0">
              <a:spcBef>
                <a:spcPts val="1000"/>
              </a:spcBef>
              <a:spcAft>
                <a:spcPts val="0"/>
              </a:spcAft>
              <a:buClr>
                <a:schemeClr val="dk1"/>
              </a:buClr>
              <a:buSzPts val="1100"/>
              <a:buFont typeface="Arial"/>
              <a:buNone/>
            </a:pPr>
            <a:r>
              <a:rPr lang="en-ID"/>
              <a:t>	</a:t>
            </a: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Tree>
    <p:extLst>
      <p:ext uri="{BB962C8B-B14F-4D97-AF65-F5344CB8AC3E}">
        <p14:creationId xmlns:p14="http://schemas.microsoft.com/office/powerpoint/2010/main" val="30921118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g29a5a70a483_0_15"/>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VIEW</a:t>
            </a:r>
            <a:endParaRPr/>
          </a:p>
        </p:txBody>
      </p:sp>
      <p:sp>
        <p:nvSpPr>
          <p:cNvPr id="690" name="Google Shape;690;g29a5a70a483_0_15"/>
          <p:cNvSpPr txBox="1">
            <a:spLocks noGrp="1"/>
          </p:cNvSpPr>
          <p:nvPr>
            <p:ph type="body" idx="1"/>
          </p:nvPr>
        </p:nvSpPr>
        <p:spPr>
          <a:xfrm>
            <a:off x="1154949" y="2603500"/>
            <a:ext cx="9974100" cy="3416400"/>
          </a:xfrm>
          <a:prstGeom prst="rect">
            <a:avLst/>
          </a:prstGeom>
        </p:spPr>
        <p:txBody>
          <a:bodyPr spcFirstLastPara="1" wrap="square" lIns="91425" tIns="45700" rIns="91425" bIns="45700" anchor="t" anchorCtr="0">
            <a:normAutofit/>
          </a:bodyPr>
          <a:lstStyle/>
          <a:p>
            <a:pPr marL="457200" lvl="0" indent="-320040" algn="l" rtl="0">
              <a:spcBef>
                <a:spcPts val="1000"/>
              </a:spcBef>
              <a:spcAft>
                <a:spcPts val="0"/>
              </a:spcAft>
              <a:buSzPts val="1440"/>
              <a:buChar char="►"/>
            </a:pPr>
            <a:r>
              <a:rPr lang="en-ID" b="1"/>
              <a:t>VIEW </a:t>
            </a:r>
            <a:r>
              <a:rPr lang="en-ID"/>
              <a:t>merupakan perintah query yang disimpan pada basis data dengan suatu nama tertentu, sehingga kita bisa menampilkan data tanpa menulis ulang sintak query tersebut. </a:t>
            </a:r>
            <a:endParaRPr/>
          </a:p>
          <a:p>
            <a:pPr marL="457200" lvl="0" indent="-320040" algn="l" rtl="0">
              <a:spcBef>
                <a:spcPts val="0"/>
              </a:spcBef>
              <a:spcAft>
                <a:spcPts val="0"/>
              </a:spcAft>
              <a:buSzPts val="1440"/>
              <a:buChar char="►"/>
            </a:pPr>
            <a:r>
              <a:rPr lang="en-ID" b="1"/>
              <a:t>VIEW </a:t>
            </a:r>
            <a:r>
              <a:rPr lang="en-ID"/>
              <a:t>merupakan </a:t>
            </a:r>
            <a:r>
              <a:rPr lang="en-ID" b="1"/>
              <a:t>tabel virtual </a:t>
            </a:r>
            <a:r>
              <a:rPr lang="en-ID"/>
              <a:t>(virtual table) hasil dari sebuah statement Select Query. </a:t>
            </a:r>
            <a:endParaRPr/>
          </a:p>
          <a:p>
            <a:pPr marL="457200" lvl="0" indent="-320040" algn="l" rtl="0">
              <a:spcBef>
                <a:spcPts val="0"/>
              </a:spcBef>
              <a:spcAft>
                <a:spcPts val="0"/>
              </a:spcAft>
              <a:buSzPts val="1440"/>
              <a:buChar char="►"/>
            </a:pPr>
            <a:r>
              <a:rPr lang="en-ID"/>
              <a:t>Mengapa disebut </a:t>
            </a:r>
            <a:r>
              <a:rPr lang="en-ID" b="1"/>
              <a:t>tabel virtual </a:t>
            </a:r>
            <a:r>
              <a:rPr lang="en-ID"/>
              <a:t>karena View sama seperti tabel yaitu berisi kolom atau field dan record tetapi view bersifat </a:t>
            </a:r>
            <a:r>
              <a:rPr lang="en-ID" b="1"/>
              <a:t>read only </a:t>
            </a:r>
            <a:r>
              <a:rPr lang="en-ID"/>
              <a:t>(tidak bisa melakukan proses insert data ke view). </a:t>
            </a:r>
            <a:endParaRPr/>
          </a:p>
          <a:p>
            <a:pPr marL="457200" lvl="0" indent="-320040" algn="l" rtl="0">
              <a:spcBef>
                <a:spcPts val="0"/>
              </a:spcBef>
              <a:spcAft>
                <a:spcPts val="0"/>
              </a:spcAft>
              <a:buSzPts val="1440"/>
              <a:buChar char="►"/>
            </a:pPr>
            <a:r>
              <a:rPr lang="en-ID"/>
              <a:t>Data yang ada di View </a:t>
            </a:r>
            <a:r>
              <a:rPr lang="en-ID" b="1"/>
              <a:t>akan mengalami perubahan </a:t>
            </a:r>
            <a:r>
              <a:rPr lang="en-ID"/>
              <a:t>(up to date) </a:t>
            </a:r>
            <a:r>
              <a:rPr lang="en-ID" b="1"/>
              <a:t>Apabila </a:t>
            </a:r>
            <a:r>
              <a:rPr lang="en-ID"/>
              <a:t>data yang ada di tabel sumber berubah.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90">
                                            <p:txEl>
                                              <p:pRg st="0" end="0"/>
                                            </p:txEl>
                                          </p:spTgt>
                                        </p:tgtEl>
                                        <p:attrNameLst>
                                          <p:attrName>style.visibility</p:attrName>
                                        </p:attrNameLst>
                                      </p:cBhvr>
                                      <p:to>
                                        <p:strVal val="visible"/>
                                      </p:to>
                                    </p:set>
                                    <p:anim calcmode="lin" valueType="num">
                                      <p:cBhvr additive="base">
                                        <p:cTn id="7" dur="400"/>
                                        <p:tgtEl>
                                          <p:spTgt spid="69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690">
                                            <p:txEl>
                                              <p:pRg st="1" end="1"/>
                                            </p:txEl>
                                          </p:spTgt>
                                        </p:tgtEl>
                                        <p:attrNameLst>
                                          <p:attrName>style.visibility</p:attrName>
                                        </p:attrNameLst>
                                      </p:cBhvr>
                                      <p:to>
                                        <p:strVal val="visible"/>
                                      </p:to>
                                    </p:set>
                                    <p:anim calcmode="lin" valueType="num">
                                      <p:cBhvr additive="base">
                                        <p:cTn id="12" dur="400"/>
                                        <p:tgtEl>
                                          <p:spTgt spid="69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690">
                                            <p:txEl>
                                              <p:pRg st="2" end="2"/>
                                            </p:txEl>
                                          </p:spTgt>
                                        </p:tgtEl>
                                        <p:attrNameLst>
                                          <p:attrName>style.visibility</p:attrName>
                                        </p:attrNameLst>
                                      </p:cBhvr>
                                      <p:to>
                                        <p:strVal val="visible"/>
                                      </p:to>
                                    </p:set>
                                    <p:anim calcmode="lin" valueType="num">
                                      <p:cBhvr additive="base">
                                        <p:cTn id="17" dur="400"/>
                                        <p:tgtEl>
                                          <p:spTgt spid="69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690">
                                            <p:txEl>
                                              <p:pRg st="3" end="3"/>
                                            </p:txEl>
                                          </p:spTgt>
                                        </p:tgtEl>
                                        <p:attrNameLst>
                                          <p:attrName>style.visibility</p:attrName>
                                        </p:attrNameLst>
                                      </p:cBhvr>
                                      <p:to>
                                        <p:strVal val="visible"/>
                                      </p:to>
                                    </p:set>
                                    <p:anim calcmode="lin" valueType="num">
                                      <p:cBhvr additive="base">
                                        <p:cTn id="22" dur="400"/>
                                        <p:tgtEl>
                                          <p:spTgt spid="69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A87CC-4EBF-10AD-2CFA-2F26E0EFCDF0}"/>
              </a:ext>
            </a:extLst>
          </p:cNvPr>
          <p:cNvSpPr>
            <a:spLocks noGrp="1"/>
          </p:cNvSpPr>
          <p:nvPr>
            <p:ph type="title"/>
          </p:nvPr>
        </p:nvSpPr>
        <p:spPr/>
        <p:txBody>
          <a:bodyPr/>
          <a:lstStyle/>
          <a:p>
            <a:r>
              <a:rPr lang="en-ID"/>
              <a:t>Manfaat Penggunaan View</a:t>
            </a:r>
          </a:p>
        </p:txBody>
      </p:sp>
      <p:sp>
        <p:nvSpPr>
          <p:cNvPr id="3" name="Text Placeholder 2">
            <a:extLst>
              <a:ext uri="{FF2B5EF4-FFF2-40B4-BE49-F238E27FC236}">
                <a16:creationId xmlns:a16="http://schemas.microsoft.com/office/drawing/2014/main" id="{869C1FBC-328E-5BF2-C161-2A9B47500A60}"/>
              </a:ext>
            </a:extLst>
          </p:cNvPr>
          <p:cNvSpPr>
            <a:spLocks noGrp="1"/>
          </p:cNvSpPr>
          <p:nvPr>
            <p:ph type="body" idx="1"/>
          </p:nvPr>
        </p:nvSpPr>
        <p:spPr>
          <a:xfrm>
            <a:off x="1154954" y="2386523"/>
            <a:ext cx="6842171" cy="4029775"/>
          </a:xfrm>
        </p:spPr>
        <p:txBody>
          <a:bodyPr>
            <a:normAutofit fontScale="92500"/>
          </a:bodyPr>
          <a:lstStyle/>
          <a:p>
            <a:r>
              <a:rPr lang="en-ID" b="1"/>
              <a:t>Penyederhanaan Query</a:t>
            </a:r>
            <a:r>
              <a:rPr lang="en-ID"/>
              <a:t>: View dapat menyederhanakan query yang kompleks dengan menyimpannya sebagai view, yang nantinya bisa diakses seperti tabel biasa.</a:t>
            </a:r>
          </a:p>
          <a:p>
            <a:r>
              <a:rPr lang="en-ID" b="1"/>
              <a:t>Keamanan Data</a:t>
            </a:r>
            <a:r>
              <a:rPr lang="en-ID"/>
              <a:t>: Dengan view, Anda dapat memberikan akses terbatas kepada pengguna hanya untuk kolom atau baris tertentu, tanpa memperlihatkan seluruh data tabel asli.</a:t>
            </a:r>
          </a:p>
          <a:p>
            <a:r>
              <a:rPr lang="en-ID" b="1"/>
              <a:t>Pemeliharaan Konsistensi Data</a:t>
            </a:r>
            <a:r>
              <a:rPr lang="en-ID"/>
              <a:t>: View membantu dalam mempertahankan konsistensi data karena tidak perlu menulis ulang query yang sama di banyak tempat.</a:t>
            </a:r>
          </a:p>
          <a:p>
            <a:r>
              <a:rPr lang="en-ID" b="1"/>
              <a:t>Abstraksi Data</a:t>
            </a:r>
            <a:r>
              <a:rPr lang="en-ID"/>
              <a:t>: View memungkinkan pengguna melihat data dalam format yang lebih sesuai atau mudah dipahami tanpa mengubah data sebenarnya.</a:t>
            </a:r>
          </a:p>
          <a:p>
            <a:endParaRPr lang="en-ID"/>
          </a:p>
        </p:txBody>
      </p:sp>
      <p:pic>
        <p:nvPicPr>
          <p:cNvPr id="5" name="Picture 4">
            <a:extLst>
              <a:ext uri="{FF2B5EF4-FFF2-40B4-BE49-F238E27FC236}">
                <a16:creationId xmlns:a16="http://schemas.microsoft.com/office/drawing/2014/main" id="{5BB0DF34-4FB6-5D1A-49F8-40B04458CBE1}"/>
              </a:ext>
            </a:extLst>
          </p:cNvPr>
          <p:cNvPicPr>
            <a:picLocks noChangeAspect="1"/>
          </p:cNvPicPr>
          <p:nvPr/>
        </p:nvPicPr>
        <p:blipFill>
          <a:blip r:embed="rId3"/>
          <a:stretch>
            <a:fillRect/>
          </a:stretch>
        </p:blipFill>
        <p:spPr>
          <a:xfrm>
            <a:off x="7997125" y="3448156"/>
            <a:ext cx="3702720" cy="1906507"/>
          </a:xfrm>
          <a:prstGeom prst="rect">
            <a:avLst/>
          </a:prstGeom>
          <a:ln>
            <a:solidFill>
              <a:schemeClr val="accent1"/>
            </a:solidFill>
          </a:ln>
        </p:spPr>
      </p:pic>
    </p:spTree>
    <p:extLst>
      <p:ext uri="{BB962C8B-B14F-4D97-AF65-F5344CB8AC3E}">
        <p14:creationId xmlns:p14="http://schemas.microsoft.com/office/powerpoint/2010/main" val="53984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68AD1-0EBA-BA01-2E51-D7A055AA6B48}"/>
              </a:ext>
            </a:extLst>
          </p:cNvPr>
          <p:cNvSpPr>
            <a:spLocks noGrp="1"/>
          </p:cNvSpPr>
          <p:nvPr>
            <p:ph type="title"/>
          </p:nvPr>
        </p:nvSpPr>
        <p:spPr/>
        <p:txBody>
          <a:bodyPr/>
          <a:lstStyle/>
          <a:p>
            <a:r>
              <a:rPr lang="en-US"/>
              <a:t>Contoh view</a:t>
            </a:r>
            <a:endParaRPr lang="en-ID"/>
          </a:p>
        </p:txBody>
      </p:sp>
      <p:sp>
        <p:nvSpPr>
          <p:cNvPr id="3" name="Text Placeholder 2">
            <a:extLst>
              <a:ext uri="{FF2B5EF4-FFF2-40B4-BE49-F238E27FC236}">
                <a16:creationId xmlns:a16="http://schemas.microsoft.com/office/drawing/2014/main" id="{337E7AF6-CD88-185B-8CAC-2D8762F48142}"/>
              </a:ext>
            </a:extLst>
          </p:cNvPr>
          <p:cNvSpPr>
            <a:spLocks noGrp="1"/>
          </p:cNvSpPr>
          <p:nvPr>
            <p:ph type="body" idx="1"/>
          </p:nvPr>
        </p:nvSpPr>
        <p:spPr>
          <a:xfrm>
            <a:off x="1154954" y="2603500"/>
            <a:ext cx="8825659" cy="1100595"/>
          </a:xfrm>
        </p:spPr>
        <p:txBody>
          <a:bodyPr/>
          <a:lstStyle/>
          <a:p>
            <a:pPr marL="137160" indent="0">
              <a:buNone/>
            </a:pPr>
            <a:r>
              <a:rPr lang="en-ID"/>
              <a:t># Menampilkan daftar pesanan lengkap dengan nama pelanggan dan total jumlah order juga jumlah bayar, urutkan .</a:t>
            </a:r>
          </a:p>
        </p:txBody>
      </p:sp>
      <p:sp>
        <p:nvSpPr>
          <p:cNvPr id="6" name="TextBox 5">
            <a:extLst>
              <a:ext uri="{FF2B5EF4-FFF2-40B4-BE49-F238E27FC236}">
                <a16:creationId xmlns:a16="http://schemas.microsoft.com/office/drawing/2014/main" id="{C85A2903-7E8E-9224-57D6-C11B140B40C0}"/>
              </a:ext>
            </a:extLst>
          </p:cNvPr>
          <p:cNvSpPr txBox="1"/>
          <p:nvPr/>
        </p:nvSpPr>
        <p:spPr>
          <a:xfrm>
            <a:off x="1369018" y="3704095"/>
            <a:ext cx="5629660" cy="2800767"/>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marL="0" lvl="0" indent="0" algn="l" rtl="0">
              <a:spcBef>
                <a:spcPts val="0"/>
              </a:spcBef>
              <a:spcAft>
                <a:spcPts val="0"/>
              </a:spcAft>
              <a:buClr>
                <a:schemeClr val="dk1"/>
              </a:buClr>
              <a:buSzPts val="1100"/>
              <a:buFont typeface="Arial"/>
              <a:buNone/>
            </a:pPr>
            <a:r>
              <a:rPr lang="en-ID" sz="1600" b="1">
                <a:solidFill>
                  <a:srgbClr val="0070C0"/>
                </a:solidFill>
                <a:latin typeface="Courier New" panose="02070309020205020404" pitchFamily="49" charset="0"/>
                <a:cs typeface="Courier New" panose="02070309020205020404" pitchFamily="49" charset="0"/>
                <a:sym typeface="Courier New"/>
              </a:rPr>
              <a:t>CREATE VIEW </a:t>
            </a:r>
            <a:r>
              <a:rPr lang="en-ID" sz="1600">
                <a:latin typeface="Courier New" panose="02070309020205020404" pitchFamily="49" charset="0"/>
                <a:cs typeface="Courier New" panose="02070309020205020404" pitchFamily="49" charset="0"/>
                <a:sym typeface="Courier New"/>
              </a:rPr>
              <a:t>Daftar_Pesanan </a:t>
            </a:r>
            <a:r>
              <a:rPr lang="en-ID" sz="1600" b="1">
                <a:solidFill>
                  <a:srgbClr val="0070C0"/>
                </a:solidFill>
                <a:latin typeface="Courier New" panose="02070309020205020404" pitchFamily="49" charset="0"/>
                <a:cs typeface="Courier New" panose="02070309020205020404" pitchFamily="49" charset="0"/>
                <a:sym typeface="Courier New"/>
              </a:rPr>
              <a:t>AS</a:t>
            </a:r>
          </a:p>
          <a:p>
            <a:pPr lvl="3">
              <a:buClr>
                <a:schemeClr val="dk1"/>
              </a:buClr>
              <a:buSzPts val="1100"/>
            </a:pPr>
            <a:r>
              <a:rPr lang="en-ID" sz="1600" b="1">
                <a:solidFill>
                  <a:srgbClr val="0070C0"/>
                </a:solidFill>
                <a:latin typeface="Courier New" panose="02070309020205020404" pitchFamily="49" charset="0"/>
                <a:cs typeface="Courier New" panose="02070309020205020404" pitchFamily="49" charset="0"/>
                <a:sym typeface="Courier New"/>
              </a:rPr>
              <a:t>  SELECT</a:t>
            </a:r>
            <a:r>
              <a:rPr lang="en-ID" sz="1600">
                <a:latin typeface="Courier New" panose="02070309020205020404" pitchFamily="49" charset="0"/>
                <a:cs typeface="Courier New" panose="02070309020205020404" pitchFamily="49" charset="0"/>
                <a:sym typeface="Courier New"/>
              </a:rPr>
              <a:t> a.name </a:t>
            </a:r>
            <a:r>
              <a:rPr lang="en-ID" sz="1600" b="1">
                <a:solidFill>
                  <a:srgbClr val="0070C0"/>
                </a:solidFill>
                <a:latin typeface="Courier New" panose="02070309020205020404" pitchFamily="49" charset="0"/>
                <a:cs typeface="Courier New" panose="02070309020205020404" pitchFamily="49" charset="0"/>
                <a:sym typeface="Courier New"/>
              </a:rPr>
              <a:t>AS</a:t>
            </a:r>
            <a:r>
              <a:rPr lang="en-ID" sz="1600">
                <a:latin typeface="Courier New" panose="02070309020205020404" pitchFamily="49" charset="0"/>
                <a:cs typeface="Courier New" panose="02070309020205020404" pitchFamily="49" charset="0"/>
                <a:sym typeface="Courier New"/>
              </a:rPr>
              <a:t> Nama_Pelanggan,</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count(o.total) </a:t>
            </a:r>
            <a:r>
              <a:rPr lang="en-ID" sz="1600" b="1">
                <a:solidFill>
                  <a:srgbClr val="0070C0"/>
                </a:solidFill>
                <a:latin typeface="Courier New" panose="02070309020205020404" pitchFamily="49" charset="0"/>
                <a:cs typeface="Courier New" panose="02070309020205020404" pitchFamily="49" charset="0"/>
                <a:sym typeface="Courier New"/>
              </a:rPr>
              <a:t>AS</a:t>
            </a:r>
            <a:r>
              <a:rPr lang="en-ID" sz="1600">
                <a:latin typeface="Courier New" panose="02070309020205020404" pitchFamily="49" charset="0"/>
                <a:cs typeface="Courier New" panose="02070309020205020404" pitchFamily="49" charset="0"/>
                <a:sym typeface="Courier New"/>
              </a:rPr>
              <a:t> Jumlah_Order,</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sum(o.total_amt_usd) </a:t>
            </a:r>
            <a:r>
              <a:rPr lang="en-ID" sz="1600" b="1">
                <a:latin typeface="Courier New" panose="02070309020205020404" pitchFamily="49" charset="0"/>
                <a:cs typeface="Courier New" panose="02070309020205020404" pitchFamily="49" charset="0"/>
                <a:sym typeface="Courier New"/>
              </a:rPr>
              <a:t>AS</a:t>
            </a:r>
            <a:r>
              <a:rPr lang="en-ID" sz="1600">
                <a:latin typeface="Courier New" panose="02070309020205020404" pitchFamily="49" charset="0"/>
                <a:cs typeface="Courier New" panose="02070309020205020404" pitchFamily="49" charset="0"/>
                <a:sym typeface="Courier New"/>
              </a:rPr>
              <a:t> Jumlah_Bayar</a:t>
            </a:r>
          </a:p>
          <a:p>
            <a:pPr lvl="3">
              <a:buClr>
                <a:schemeClr val="dk1"/>
              </a:buClr>
              <a:buSzPts val="1100"/>
            </a:pPr>
            <a:r>
              <a:rPr lang="en-ID" sz="1600" b="1">
                <a:solidFill>
                  <a:srgbClr val="0070C0"/>
                </a:solidFill>
                <a:latin typeface="Courier New" panose="02070309020205020404" pitchFamily="49" charset="0"/>
                <a:cs typeface="Courier New" panose="02070309020205020404" pitchFamily="49" charset="0"/>
                <a:sym typeface="Courier New"/>
              </a:rPr>
              <a:t>  FROM</a:t>
            </a:r>
            <a:r>
              <a:rPr lang="en-ID" sz="1600">
                <a:latin typeface="Courier New" panose="02070309020205020404" pitchFamily="49" charset="0"/>
                <a:cs typeface="Courier New" panose="02070309020205020404" pitchFamily="49" charset="0"/>
                <a:sym typeface="Courier New"/>
              </a:rPr>
              <a:t> accounts a</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a:t>
            </a:r>
            <a:r>
              <a:rPr lang="en-ID" sz="1600" b="1">
                <a:solidFill>
                  <a:srgbClr val="0070C0"/>
                </a:solidFill>
                <a:latin typeface="Courier New" panose="02070309020205020404" pitchFamily="49" charset="0"/>
                <a:cs typeface="Courier New" panose="02070309020205020404" pitchFamily="49" charset="0"/>
                <a:sym typeface="Courier New"/>
              </a:rPr>
              <a:t>JOIN</a:t>
            </a:r>
            <a:r>
              <a:rPr lang="en-ID" sz="1600">
                <a:latin typeface="Courier New" panose="02070309020205020404" pitchFamily="49" charset="0"/>
                <a:cs typeface="Courier New" panose="02070309020205020404" pitchFamily="49" charset="0"/>
                <a:sym typeface="Courier New"/>
              </a:rPr>
              <a:t> orders o </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a:t>
            </a:r>
            <a:r>
              <a:rPr lang="en-ID" sz="1600">
                <a:solidFill>
                  <a:srgbClr val="0070C0"/>
                </a:solidFill>
                <a:latin typeface="Courier New" panose="02070309020205020404" pitchFamily="49" charset="0"/>
                <a:cs typeface="Courier New" panose="02070309020205020404" pitchFamily="49" charset="0"/>
                <a:sym typeface="Courier New"/>
              </a:rPr>
              <a:t>ON</a:t>
            </a:r>
            <a:r>
              <a:rPr lang="en-ID" sz="1600">
                <a:latin typeface="Courier New" panose="02070309020205020404" pitchFamily="49" charset="0"/>
                <a:cs typeface="Courier New" panose="02070309020205020404" pitchFamily="49" charset="0"/>
                <a:sym typeface="Courier New"/>
              </a:rPr>
              <a:t> a.id = o.account_id</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a:t>
            </a:r>
            <a:r>
              <a:rPr lang="en-ID" sz="1600" b="1">
                <a:solidFill>
                  <a:srgbClr val="0070C0"/>
                </a:solidFill>
                <a:latin typeface="Courier New" panose="02070309020205020404" pitchFamily="49" charset="0"/>
                <a:cs typeface="Courier New" panose="02070309020205020404" pitchFamily="49" charset="0"/>
                <a:sym typeface="Courier New"/>
              </a:rPr>
              <a:t>GROUP BY </a:t>
            </a:r>
            <a:r>
              <a:rPr lang="en-ID" sz="1600">
                <a:latin typeface="Courier New" panose="02070309020205020404" pitchFamily="49" charset="0"/>
                <a:cs typeface="Courier New" panose="02070309020205020404" pitchFamily="49" charset="0"/>
                <a:sym typeface="Courier New"/>
              </a:rPr>
              <a:t>Nama_Pelanggan</a:t>
            </a:r>
          </a:p>
          <a:p>
            <a:pPr lvl="3">
              <a:buClr>
                <a:schemeClr val="dk1"/>
              </a:buClr>
              <a:buSzPts val="1100"/>
            </a:pPr>
            <a:r>
              <a:rPr lang="en-ID" sz="1600">
                <a:latin typeface="Courier New" panose="02070309020205020404" pitchFamily="49" charset="0"/>
                <a:cs typeface="Courier New" panose="02070309020205020404" pitchFamily="49" charset="0"/>
                <a:sym typeface="Courier New"/>
              </a:rPr>
              <a:t>  </a:t>
            </a:r>
            <a:r>
              <a:rPr lang="en-ID" sz="1600" b="1">
                <a:solidFill>
                  <a:srgbClr val="0070C0"/>
                </a:solidFill>
                <a:latin typeface="Courier New" panose="02070309020205020404" pitchFamily="49" charset="0"/>
                <a:cs typeface="Courier New" panose="02070309020205020404" pitchFamily="49" charset="0"/>
                <a:sym typeface="Courier New"/>
              </a:rPr>
              <a:t>ORDER BY </a:t>
            </a:r>
            <a:r>
              <a:rPr lang="en-ID" sz="1600">
                <a:latin typeface="Courier New" panose="02070309020205020404" pitchFamily="49" charset="0"/>
                <a:cs typeface="Courier New" panose="02070309020205020404" pitchFamily="49" charset="0"/>
                <a:sym typeface="Courier New"/>
              </a:rPr>
              <a:t>Jumlah_Bayar </a:t>
            </a:r>
            <a:r>
              <a:rPr lang="en-ID" sz="1600" b="1">
                <a:solidFill>
                  <a:srgbClr val="0070C0"/>
                </a:solidFill>
                <a:latin typeface="Courier New" panose="02070309020205020404" pitchFamily="49" charset="0"/>
                <a:cs typeface="Courier New" panose="02070309020205020404" pitchFamily="49" charset="0"/>
                <a:sym typeface="Courier New"/>
              </a:rPr>
              <a:t>desc;</a:t>
            </a:r>
          </a:p>
          <a:p>
            <a:pPr lvl="3">
              <a:buClr>
                <a:schemeClr val="dk1"/>
              </a:buClr>
              <a:buSzPts val="1100"/>
            </a:pPr>
            <a:endParaRPr lang="en-ID" sz="1600" b="1">
              <a:solidFill>
                <a:srgbClr val="0070C0"/>
              </a:solidFill>
              <a:latin typeface="Courier New" panose="02070309020205020404" pitchFamily="49" charset="0"/>
              <a:cs typeface="Courier New" panose="02070309020205020404" pitchFamily="49" charset="0"/>
              <a:sym typeface="Courier New"/>
            </a:endParaRPr>
          </a:p>
          <a:p>
            <a:pPr lvl="3">
              <a:buClr>
                <a:schemeClr val="dk1"/>
              </a:buClr>
              <a:buSzPts val="1100"/>
            </a:pPr>
            <a:r>
              <a:rPr lang="en-ID" sz="1600" b="1">
                <a:solidFill>
                  <a:srgbClr val="0070C0"/>
                </a:solidFill>
                <a:latin typeface="Courier New" panose="02070309020205020404" pitchFamily="49" charset="0"/>
                <a:cs typeface="Courier New" panose="02070309020205020404" pitchFamily="49" charset="0"/>
                <a:sym typeface="Courier New"/>
              </a:rPr>
              <a:t>SELECT </a:t>
            </a:r>
            <a:r>
              <a:rPr lang="en-ID" sz="1600" b="1">
                <a:solidFill>
                  <a:schemeClr val="bg1"/>
                </a:solidFill>
                <a:latin typeface="Courier New" panose="02070309020205020404" pitchFamily="49" charset="0"/>
                <a:cs typeface="Courier New" panose="02070309020205020404" pitchFamily="49" charset="0"/>
                <a:sym typeface="Courier New"/>
              </a:rPr>
              <a:t>*</a:t>
            </a:r>
            <a:r>
              <a:rPr lang="en-ID" sz="1600" b="1">
                <a:solidFill>
                  <a:srgbClr val="0070C0"/>
                </a:solidFill>
                <a:latin typeface="Courier New" panose="02070309020205020404" pitchFamily="49" charset="0"/>
                <a:cs typeface="Courier New" panose="02070309020205020404" pitchFamily="49" charset="0"/>
                <a:sym typeface="Courier New"/>
              </a:rPr>
              <a:t> FROM </a:t>
            </a:r>
            <a:r>
              <a:rPr lang="en-ID" sz="1600" b="1">
                <a:solidFill>
                  <a:schemeClr val="bg1"/>
                </a:solidFill>
                <a:latin typeface="Courier New" panose="02070309020205020404" pitchFamily="49" charset="0"/>
                <a:cs typeface="Courier New" panose="02070309020205020404" pitchFamily="49" charset="0"/>
                <a:sym typeface="Courier New"/>
              </a:rPr>
              <a:t>Daftar_Pesanan;</a:t>
            </a:r>
          </a:p>
        </p:txBody>
      </p:sp>
      <p:sp>
        <p:nvSpPr>
          <p:cNvPr id="8" name="TextBox 7">
            <a:extLst>
              <a:ext uri="{FF2B5EF4-FFF2-40B4-BE49-F238E27FC236}">
                <a16:creationId xmlns:a16="http://schemas.microsoft.com/office/drawing/2014/main" id="{AE616140-5C20-EA58-38A5-F85459B44439}"/>
              </a:ext>
            </a:extLst>
          </p:cNvPr>
          <p:cNvSpPr txBox="1"/>
          <p:nvPr/>
        </p:nvSpPr>
        <p:spPr>
          <a:xfrm>
            <a:off x="7212742" y="3704096"/>
            <a:ext cx="4516196" cy="257361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137160" indent="0">
              <a:spcBef>
                <a:spcPts val="1000"/>
              </a:spcBef>
              <a:buClr>
                <a:schemeClr val="accent1"/>
              </a:buClr>
              <a:buSzPts val="1440"/>
              <a:buFont typeface="Noto Sans Symbols"/>
              <a:buNone/>
              <a:defRPr sz="1800">
                <a:solidFill>
                  <a:srgbClr val="3F3F3F"/>
                </a:solidFill>
                <a:latin typeface="Century Gothic"/>
                <a:ea typeface="Century Gothic"/>
                <a:cs typeface="Century Gothic"/>
                <a:sym typeface="Century Gothic"/>
              </a:defRPr>
            </a:lvl1pPr>
            <a:lvl2pPr marL="914400" indent="-320040">
              <a:spcBef>
                <a:spcPts val="1000"/>
              </a:spcBef>
              <a:buClr>
                <a:schemeClr val="accent1"/>
              </a:buClr>
              <a:buSzPts val="1440"/>
              <a:buFont typeface="Noto Sans Symbols"/>
              <a:buChar char="►"/>
              <a:defRPr sz="1600">
                <a:solidFill>
                  <a:srgbClr val="3F3F3F"/>
                </a:solidFill>
                <a:latin typeface="Century Gothic"/>
                <a:ea typeface="Century Gothic"/>
                <a:cs typeface="Century Gothic"/>
                <a:sym typeface="Century Gothic"/>
              </a:defRPr>
            </a:lvl2pPr>
            <a:lvl3pPr marL="1371600" indent="-320039">
              <a:spcBef>
                <a:spcPts val="1000"/>
              </a:spcBef>
              <a:buClr>
                <a:schemeClr val="accent1"/>
              </a:buClr>
              <a:buSzPts val="1440"/>
              <a:buFont typeface="Noto Sans Symbols"/>
              <a:buChar char="►"/>
              <a:defRPr>
                <a:solidFill>
                  <a:srgbClr val="3F3F3F"/>
                </a:solidFill>
                <a:latin typeface="Century Gothic"/>
                <a:ea typeface="Century Gothic"/>
                <a:cs typeface="Century Gothic"/>
                <a:sym typeface="Century Gothic"/>
              </a:defRPr>
            </a:lvl3pPr>
            <a:lvl4pPr marL="1828800" indent="-320039">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4pPr>
            <a:lvl5pPr marL="2286000" indent="-320039">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5pPr>
            <a:lvl6pPr marL="2743200" indent="-320039">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6pPr>
            <a:lvl7pPr marL="3200400" indent="-320039">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7pPr>
            <a:lvl8pPr marL="3657600" indent="-320040">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8pPr>
            <a:lvl9pPr marL="4114800" indent="-320040">
              <a:spcBef>
                <a:spcPts val="1000"/>
              </a:spcBef>
              <a:buClr>
                <a:schemeClr val="accent1"/>
              </a:buClr>
              <a:buSzPts val="1440"/>
              <a:buFont typeface="Noto Sans Symbols"/>
              <a:buChar char="►"/>
              <a:defRPr sz="1200">
                <a:solidFill>
                  <a:srgbClr val="3F3F3F"/>
                </a:solidFill>
                <a:latin typeface="Century Gothic"/>
                <a:ea typeface="Century Gothic"/>
                <a:cs typeface="Century Gothic"/>
                <a:sym typeface="Century Gothic"/>
              </a:defRPr>
            </a:lvl9pPr>
          </a:lstStyle>
          <a:p>
            <a:r>
              <a:rPr lang="en-ID"/>
              <a:t># Buatkan tabel yang menampilkan nama region dan nama sales rep beserta cliennya</a:t>
            </a:r>
          </a:p>
        </p:txBody>
      </p:sp>
    </p:spTree>
    <p:extLst>
      <p:ext uri="{BB962C8B-B14F-4D97-AF65-F5344CB8AC3E}">
        <p14:creationId xmlns:p14="http://schemas.microsoft.com/office/powerpoint/2010/main" val="330695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2976b235820_0_71"/>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LEFT / RIGHT JOIN</a:t>
            </a:r>
            <a:endParaRPr/>
          </a:p>
        </p:txBody>
      </p:sp>
      <p:pic>
        <p:nvPicPr>
          <p:cNvPr id="677" name="Google Shape;677;g2976b235820_0_71"/>
          <p:cNvPicPr preferRelativeResize="0"/>
          <p:nvPr/>
        </p:nvPicPr>
        <p:blipFill rotWithShape="1">
          <a:blip r:embed="rId3">
            <a:alphaModFix/>
          </a:blip>
          <a:srcRect l="49877" b="49279"/>
          <a:stretch/>
        </p:blipFill>
        <p:spPr>
          <a:xfrm>
            <a:off x="493525" y="2467872"/>
            <a:ext cx="2826200" cy="1951126"/>
          </a:xfrm>
          <a:prstGeom prst="rect">
            <a:avLst/>
          </a:prstGeom>
          <a:noFill/>
          <a:ln>
            <a:noFill/>
          </a:ln>
          <a:effectLst>
            <a:outerShdw blurRad="57150" dist="19050" dir="5400000" algn="bl" rotWithShape="0">
              <a:srgbClr val="000000">
                <a:alpha val="50000"/>
              </a:srgbClr>
            </a:outerShdw>
          </a:effectLst>
        </p:spPr>
      </p:pic>
      <p:pic>
        <p:nvPicPr>
          <p:cNvPr id="678" name="Google Shape;678;g2976b235820_0_71"/>
          <p:cNvPicPr preferRelativeResize="0"/>
          <p:nvPr/>
        </p:nvPicPr>
        <p:blipFill>
          <a:blip r:embed="rId4">
            <a:alphaModFix/>
          </a:blip>
          <a:stretch>
            <a:fillRect/>
          </a:stretch>
        </p:blipFill>
        <p:spPr>
          <a:xfrm>
            <a:off x="493513" y="4652988"/>
            <a:ext cx="2826200" cy="1895700"/>
          </a:xfrm>
          <a:prstGeom prst="rect">
            <a:avLst/>
          </a:prstGeom>
          <a:noFill/>
          <a:ln>
            <a:noFill/>
          </a:ln>
          <a:effectLst>
            <a:outerShdw blurRad="57150" dist="19050" dir="5400000" algn="bl" rotWithShape="0">
              <a:srgbClr val="000000">
                <a:alpha val="50000"/>
              </a:srgbClr>
            </a:outerShdw>
          </a:effectLst>
        </p:spPr>
      </p:pic>
      <p:sp>
        <p:nvSpPr>
          <p:cNvPr id="679" name="Google Shape;679;g2976b235820_0_71"/>
          <p:cNvSpPr/>
          <p:nvPr/>
        </p:nvSpPr>
        <p:spPr>
          <a:xfrm>
            <a:off x="913102" y="5469225"/>
            <a:ext cx="765000" cy="494100"/>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680" name="Google Shape;680;g2976b235820_0_71"/>
          <p:cNvSpPr txBox="1"/>
          <p:nvPr/>
        </p:nvSpPr>
        <p:spPr>
          <a:xfrm>
            <a:off x="870638" y="5516163"/>
            <a:ext cx="84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a:latin typeface="Century Gothic"/>
                <a:ea typeface="Century Gothic"/>
                <a:cs typeface="Century Gothic"/>
                <a:sym typeface="Century Gothic"/>
              </a:rPr>
              <a:t>TABLE 2</a:t>
            </a:r>
            <a:endParaRPr>
              <a:latin typeface="Century Gothic"/>
              <a:ea typeface="Century Gothic"/>
              <a:cs typeface="Century Gothic"/>
              <a:sym typeface="Century Gothic"/>
            </a:endParaRPr>
          </a:p>
        </p:txBody>
      </p:sp>
      <p:sp>
        <p:nvSpPr>
          <p:cNvPr id="681" name="Google Shape;681;g2976b235820_0_71"/>
          <p:cNvSpPr/>
          <p:nvPr/>
        </p:nvSpPr>
        <p:spPr>
          <a:xfrm>
            <a:off x="2094763" y="5573163"/>
            <a:ext cx="830100" cy="336000"/>
          </a:xfrm>
          <a:prstGeom prst="roundRect">
            <a:avLst>
              <a:gd name="adj" fmla="val 16667"/>
            </a:avLst>
          </a:prstGeom>
          <a:solidFill>
            <a:srgbClr val="00B078"/>
          </a:solidFill>
          <a:ln w="9525" cap="flat" cmpd="sng">
            <a:solidFill>
              <a:srgbClr val="00B07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sp>
        <p:nvSpPr>
          <p:cNvPr id="682" name="Google Shape;682;g2976b235820_0_71"/>
          <p:cNvSpPr txBox="1"/>
          <p:nvPr/>
        </p:nvSpPr>
        <p:spPr>
          <a:xfrm>
            <a:off x="2084863" y="5516163"/>
            <a:ext cx="84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a:latin typeface="Century Gothic"/>
                <a:ea typeface="Century Gothic"/>
                <a:cs typeface="Century Gothic"/>
                <a:sym typeface="Century Gothic"/>
              </a:rPr>
              <a:t>TABLE 1</a:t>
            </a:r>
            <a:endParaRPr>
              <a:latin typeface="Century Gothic"/>
              <a:ea typeface="Century Gothic"/>
              <a:cs typeface="Century Gothic"/>
              <a:sym typeface="Century Gothic"/>
            </a:endParaRPr>
          </a:p>
        </p:txBody>
      </p:sp>
      <p:sp>
        <p:nvSpPr>
          <p:cNvPr id="683" name="Google Shape;683;g2976b235820_0_71"/>
          <p:cNvSpPr txBox="1"/>
          <p:nvPr/>
        </p:nvSpPr>
        <p:spPr>
          <a:xfrm>
            <a:off x="3773325" y="2467875"/>
            <a:ext cx="7915800" cy="410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1500"/>
              <a:t># Tampilkan nama perusahaan beserta nilai pembayarannya, dengan tetap menampilkan nama perusahaan yang tidak melakukan order</a:t>
            </a:r>
            <a:endParaRPr sz="1500"/>
          </a:p>
          <a:p>
            <a:pPr marL="0" lvl="0" indent="0" algn="l" rtl="0">
              <a:spcBef>
                <a:spcPts val="0"/>
              </a:spcBef>
              <a:spcAft>
                <a:spcPts val="0"/>
              </a:spcAft>
              <a:buNone/>
            </a:pPr>
            <a:r>
              <a:rPr lang="en-ID" sz="1500" b="1">
                <a:solidFill>
                  <a:schemeClr val="dk1"/>
                </a:solidFill>
              </a:rPr>
              <a:t>SELECT </a:t>
            </a:r>
            <a:r>
              <a:rPr lang="en-ID" sz="1500">
                <a:solidFill>
                  <a:schemeClr val="dk1"/>
                </a:solidFill>
              </a:rPr>
              <a:t>a.name, o.total_amt_usd </a:t>
            </a:r>
            <a:r>
              <a:rPr lang="en-ID" sz="1500" b="1">
                <a:solidFill>
                  <a:schemeClr val="dk1"/>
                </a:solidFill>
              </a:rPr>
              <a:t>FROM </a:t>
            </a:r>
            <a:r>
              <a:rPr lang="en-ID" sz="1500">
                <a:solidFill>
                  <a:schemeClr val="dk1"/>
                </a:solidFill>
              </a:rPr>
              <a:t>orders o </a:t>
            </a:r>
            <a:r>
              <a:rPr lang="en-ID" sz="1500" b="1">
                <a:solidFill>
                  <a:schemeClr val="dk1"/>
                </a:solidFill>
              </a:rPr>
              <a:t>RIGHT JOIN </a:t>
            </a:r>
            <a:r>
              <a:rPr lang="en-ID" sz="1500">
                <a:solidFill>
                  <a:schemeClr val="dk1"/>
                </a:solidFill>
              </a:rPr>
              <a:t>accounts a </a:t>
            </a:r>
            <a:r>
              <a:rPr lang="en-ID" sz="1500" b="1">
                <a:solidFill>
                  <a:schemeClr val="dk1"/>
                </a:solidFill>
              </a:rPr>
              <a:t>ON </a:t>
            </a:r>
            <a:r>
              <a:rPr lang="en-ID" sz="1500">
                <a:solidFill>
                  <a:schemeClr val="dk1"/>
                </a:solidFill>
              </a:rPr>
              <a:t>o.account_id = a.id</a:t>
            </a:r>
            <a:endParaRPr sz="1500">
              <a:solidFill>
                <a:schemeClr val="dk1"/>
              </a:solidFill>
            </a:endParaRPr>
          </a:p>
          <a:p>
            <a:pPr marL="0" lvl="0" indent="0" algn="l" rtl="0">
              <a:spcBef>
                <a:spcPts val="0"/>
              </a:spcBef>
              <a:spcAft>
                <a:spcPts val="0"/>
              </a:spcAft>
              <a:buNone/>
            </a:pPr>
            <a:endParaRPr sz="1500"/>
          </a:p>
          <a:p>
            <a:pPr marL="0" lvl="0" indent="0" algn="l" rtl="0">
              <a:spcBef>
                <a:spcPts val="0"/>
              </a:spcBef>
              <a:spcAft>
                <a:spcPts val="0"/>
              </a:spcAft>
              <a:buNone/>
            </a:pPr>
            <a:r>
              <a:rPr lang="en-ID" sz="1500"/>
              <a:t># Tampilkan nama perusahaan yang tidak melakukan orders</a:t>
            </a:r>
            <a:endParaRPr sz="1500"/>
          </a:p>
          <a:p>
            <a:pPr marL="0" lvl="0" indent="0" algn="l" rtl="0">
              <a:spcBef>
                <a:spcPts val="0"/>
              </a:spcBef>
              <a:spcAft>
                <a:spcPts val="0"/>
              </a:spcAft>
              <a:buNone/>
            </a:pPr>
            <a:r>
              <a:rPr lang="en-ID" sz="1500" b="1"/>
              <a:t>SELECT </a:t>
            </a:r>
            <a:r>
              <a:rPr lang="en-ID" sz="1500"/>
              <a:t>a.name, o.total_amt_usd </a:t>
            </a:r>
            <a:r>
              <a:rPr lang="en-ID" sz="1500" b="1"/>
              <a:t>FROM </a:t>
            </a:r>
            <a:r>
              <a:rPr lang="en-ID" sz="1500"/>
              <a:t>orders o </a:t>
            </a:r>
            <a:r>
              <a:rPr lang="en-ID" sz="1500" b="1"/>
              <a:t>RIGHT JOIN </a:t>
            </a:r>
            <a:r>
              <a:rPr lang="en-ID" sz="1500"/>
              <a:t>accounts a </a:t>
            </a:r>
            <a:r>
              <a:rPr lang="en-ID" sz="1500" b="1"/>
              <a:t>ON </a:t>
            </a:r>
            <a:r>
              <a:rPr lang="en-ID" sz="1500"/>
              <a:t>o.account_id = a.id </a:t>
            </a:r>
            <a:r>
              <a:rPr lang="en-ID" sz="1500" b="1">
                <a:solidFill>
                  <a:schemeClr val="dk1"/>
                </a:solidFill>
              </a:rPr>
              <a:t>WHERE </a:t>
            </a:r>
            <a:r>
              <a:rPr lang="en-ID" sz="1500">
                <a:solidFill>
                  <a:schemeClr val="dk1"/>
                </a:solidFill>
              </a:rPr>
              <a:t>o.total_amt_usd  </a:t>
            </a:r>
            <a:r>
              <a:rPr lang="en-ID" sz="1500" b="1">
                <a:solidFill>
                  <a:schemeClr val="dk1"/>
                </a:solidFill>
              </a:rPr>
              <a:t>IS NULL</a:t>
            </a:r>
            <a:endParaRPr sz="1500" b="1"/>
          </a:p>
          <a:p>
            <a:pPr marL="0" lvl="0" indent="0" algn="l" rtl="0">
              <a:spcBef>
                <a:spcPts val="0"/>
              </a:spcBef>
              <a:spcAft>
                <a:spcPts val="0"/>
              </a:spcAft>
              <a:buNone/>
            </a:pPr>
            <a:endParaRPr sz="1500"/>
          </a:p>
          <a:p>
            <a:pPr marL="0" lvl="0" indent="0" algn="l" rtl="0">
              <a:spcBef>
                <a:spcPts val="0"/>
              </a:spcBef>
              <a:spcAft>
                <a:spcPts val="0"/>
              </a:spcAft>
              <a:buClr>
                <a:schemeClr val="dk1"/>
              </a:buClr>
              <a:buSzPts val="1100"/>
              <a:buFont typeface="Arial"/>
              <a:buNone/>
            </a:pPr>
            <a:r>
              <a:rPr lang="en-ID" sz="1500"/>
              <a:t># Tampilkan nama sales reps yang tidak memiliki customer</a:t>
            </a:r>
            <a:endParaRPr sz="1500"/>
          </a:p>
          <a:p>
            <a:pPr marL="0" lvl="0" indent="0" algn="l" rtl="0">
              <a:spcBef>
                <a:spcPts val="0"/>
              </a:spcBef>
              <a:spcAft>
                <a:spcPts val="0"/>
              </a:spcAft>
              <a:buClr>
                <a:schemeClr val="dk1"/>
              </a:buClr>
              <a:buSzPts val="1100"/>
              <a:buFont typeface="Arial"/>
              <a:buNone/>
            </a:pPr>
            <a:r>
              <a:rPr lang="en-ID" sz="1500" b="1"/>
              <a:t>SELECT </a:t>
            </a:r>
            <a:r>
              <a:rPr lang="en-ID" sz="1500"/>
              <a:t>sr.name as sales_name, a.name customer_name </a:t>
            </a:r>
            <a:r>
              <a:rPr lang="en-ID" sz="1500" b="1"/>
              <a:t>FROM </a:t>
            </a:r>
            <a:r>
              <a:rPr lang="en-ID" sz="1500"/>
              <a:t>sales_reps sr </a:t>
            </a:r>
            <a:r>
              <a:rPr lang="en-ID" sz="1500" b="1"/>
              <a:t>RIGHT JOIN </a:t>
            </a:r>
            <a:r>
              <a:rPr lang="en-ID" sz="1500"/>
              <a:t>accounts a </a:t>
            </a:r>
            <a:r>
              <a:rPr lang="en-ID" sz="1500" b="1"/>
              <a:t>ON </a:t>
            </a:r>
            <a:r>
              <a:rPr lang="en-ID" sz="1500"/>
              <a:t>sr.id = a.sales_rep_id </a:t>
            </a:r>
            <a:r>
              <a:rPr lang="en-ID" sz="1500" b="1">
                <a:solidFill>
                  <a:schemeClr val="dk1"/>
                </a:solidFill>
              </a:rPr>
              <a:t>WHERE </a:t>
            </a:r>
            <a:r>
              <a:rPr lang="en-ID" sz="1500">
                <a:solidFill>
                  <a:schemeClr val="dk1"/>
                </a:solidFill>
              </a:rPr>
              <a:t>a.name </a:t>
            </a:r>
            <a:r>
              <a:rPr lang="en-ID" sz="1500" b="1">
                <a:solidFill>
                  <a:schemeClr val="dk1"/>
                </a:solidFill>
              </a:rPr>
              <a:t>IS NULL</a:t>
            </a:r>
            <a:r>
              <a:rPr lang="en-ID" sz="1500"/>
              <a:t> </a:t>
            </a:r>
            <a:endParaRPr sz="1500"/>
          </a:p>
          <a:p>
            <a:pPr marL="0" lvl="0" indent="0" algn="l" rtl="0">
              <a:spcBef>
                <a:spcPts val="0"/>
              </a:spcBef>
              <a:spcAft>
                <a:spcPts val="0"/>
              </a:spcAft>
              <a:buNone/>
            </a:pPr>
            <a:endParaRPr sz="1500"/>
          </a:p>
          <a:p>
            <a:pPr marL="0" lvl="0" indent="0" algn="l" rtl="0">
              <a:spcBef>
                <a:spcPts val="0"/>
              </a:spcBef>
              <a:spcAft>
                <a:spcPts val="0"/>
              </a:spcAft>
              <a:buClr>
                <a:schemeClr val="dk1"/>
              </a:buClr>
              <a:buSzPts val="1100"/>
              <a:buFont typeface="Arial"/>
              <a:buNone/>
            </a:pPr>
            <a:r>
              <a:rPr lang="en-ID" sz="1500"/>
              <a:t># Apakah ada customer/client yang tidak melalukan aktifitas web?</a:t>
            </a:r>
            <a:endParaRPr sz="1500"/>
          </a:p>
          <a:p>
            <a:pPr marL="0" lvl="0" indent="0" algn="l" rtl="0">
              <a:spcBef>
                <a:spcPts val="0"/>
              </a:spcBef>
              <a:spcAft>
                <a:spcPts val="0"/>
              </a:spcAft>
              <a:buClr>
                <a:schemeClr val="dk1"/>
              </a:buClr>
              <a:buSzPts val="1100"/>
              <a:buFont typeface="Arial"/>
              <a:buNone/>
            </a:pPr>
            <a:r>
              <a:rPr lang="en-ID" sz="1500" b="1"/>
              <a:t>SELECT </a:t>
            </a:r>
            <a:r>
              <a:rPr lang="en-ID" sz="1500"/>
              <a:t>a.name, we.occurred_at </a:t>
            </a:r>
            <a:r>
              <a:rPr lang="en-ID" sz="1500" b="1"/>
              <a:t>FROM </a:t>
            </a:r>
            <a:r>
              <a:rPr lang="en-ID" sz="1500"/>
              <a:t>accounts a </a:t>
            </a:r>
            <a:r>
              <a:rPr lang="en-ID" sz="1500" b="1"/>
              <a:t>RIGHT JOIN </a:t>
            </a:r>
            <a:r>
              <a:rPr lang="en-ID" sz="1500"/>
              <a:t>web_events we </a:t>
            </a:r>
            <a:r>
              <a:rPr lang="en-ID" sz="1500" b="1"/>
              <a:t>ON </a:t>
            </a:r>
            <a:r>
              <a:rPr lang="en-ID" sz="1500"/>
              <a:t>we.account_id = a.id </a:t>
            </a:r>
            <a:r>
              <a:rPr lang="en-ID" sz="1500" b="1"/>
              <a:t>WHERE </a:t>
            </a:r>
            <a:r>
              <a:rPr lang="en-ID" sz="1500"/>
              <a:t>we.occurred_at </a:t>
            </a:r>
            <a:r>
              <a:rPr lang="en-ID" sz="1500" b="1"/>
              <a:t>IS NULL</a:t>
            </a:r>
            <a:r>
              <a:rPr lang="en-ID" sz="1500"/>
              <a:t> </a:t>
            </a:r>
            <a:endParaRPr sz="1500"/>
          </a:p>
          <a:p>
            <a:pPr marL="0" lvl="0" indent="0" algn="l" rtl="0">
              <a:spcBef>
                <a:spcPts val="0"/>
              </a:spcBef>
              <a:spcAft>
                <a:spcPts val="0"/>
              </a:spcAft>
              <a:buNone/>
            </a:pP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83">
                                            <p:txEl>
                                              <p:pRg st="0" end="0"/>
                                            </p:txEl>
                                          </p:spTgt>
                                        </p:tgtEl>
                                        <p:attrNameLst>
                                          <p:attrName>style.visibility</p:attrName>
                                        </p:attrNameLst>
                                      </p:cBhvr>
                                      <p:to>
                                        <p:strVal val="visible"/>
                                      </p:to>
                                    </p:set>
                                    <p:anim calcmode="lin" valueType="num">
                                      <p:cBhvr additive="base">
                                        <p:cTn id="7" dur="500"/>
                                        <p:tgtEl>
                                          <p:spTgt spid="6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683">
                                            <p:txEl>
                                              <p:pRg st="1" end="1"/>
                                            </p:txEl>
                                          </p:spTgt>
                                        </p:tgtEl>
                                        <p:attrNameLst>
                                          <p:attrName>style.visibility</p:attrName>
                                        </p:attrNameLst>
                                      </p:cBhvr>
                                      <p:to>
                                        <p:strVal val="visible"/>
                                      </p:to>
                                    </p:set>
                                    <p:anim calcmode="lin" valueType="num">
                                      <p:cBhvr additive="base">
                                        <p:cTn id="12" dur="500"/>
                                        <p:tgtEl>
                                          <p:spTgt spid="6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683">
                                            <p:txEl>
                                              <p:pRg st="2" end="2"/>
                                            </p:txEl>
                                          </p:spTgt>
                                        </p:tgtEl>
                                        <p:attrNameLst>
                                          <p:attrName>style.visibility</p:attrName>
                                        </p:attrNameLst>
                                      </p:cBhvr>
                                      <p:to>
                                        <p:strVal val="visible"/>
                                      </p:to>
                                    </p:set>
                                    <p:anim calcmode="lin" valueType="num">
                                      <p:cBhvr additive="base">
                                        <p:cTn id="17" dur="500"/>
                                        <p:tgtEl>
                                          <p:spTgt spid="6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683">
                                            <p:txEl>
                                              <p:pRg st="3" end="3"/>
                                            </p:txEl>
                                          </p:spTgt>
                                        </p:tgtEl>
                                        <p:attrNameLst>
                                          <p:attrName>style.visibility</p:attrName>
                                        </p:attrNameLst>
                                      </p:cBhvr>
                                      <p:to>
                                        <p:strVal val="visible"/>
                                      </p:to>
                                    </p:set>
                                    <p:anim calcmode="lin" valueType="num">
                                      <p:cBhvr additive="base">
                                        <p:cTn id="22" dur="500"/>
                                        <p:tgtEl>
                                          <p:spTgt spid="6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683">
                                            <p:txEl>
                                              <p:pRg st="4" end="4"/>
                                            </p:txEl>
                                          </p:spTgt>
                                        </p:tgtEl>
                                        <p:attrNameLst>
                                          <p:attrName>style.visibility</p:attrName>
                                        </p:attrNameLst>
                                      </p:cBhvr>
                                      <p:to>
                                        <p:strVal val="visible"/>
                                      </p:to>
                                    </p:set>
                                    <p:anim calcmode="lin" valueType="num">
                                      <p:cBhvr additive="base">
                                        <p:cTn id="27" dur="500"/>
                                        <p:tgtEl>
                                          <p:spTgt spid="6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683">
                                            <p:txEl>
                                              <p:pRg st="5" end="5"/>
                                            </p:txEl>
                                          </p:spTgt>
                                        </p:tgtEl>
                                        <p:attrNameLst>
                                          <p:attrName>style.visibility</p:attrName>
                                        </p:attrNameLst>
                                      </p:cBhvr>
                                      <p:to>
                                        <p:strVal val="visible"/>
                                      </p:to>
                                    </p:set>
                                    <p:anim calcmode="lin" valueType="num">
                                      <p:cBhvr additive="base">
                                        <p:cTn id="32" dur="500"/>
                                        <p:tgtEl>
                                          <p:spTgt spid="68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683">
                                            <p:txEl>
                                              <p:pRg st="6" end="6"/>
                                            </p:txEl>
                                          </p:spTgt>
                                        </p:tgtEl>
                                        <p:attrNameLst>
                                          <p:attrName>style.visibility</p:attrName>
                                        </p:attrNameLst>
                                      </p:cBhvr>
                                      <p:to>
                                        <p:strVal val="visible"/>
                                      </p:to>
                                    </p:set>
                                    <p:anim calcmode="lin" valueType="num">
                                      <p:cBhvr additive="base">
                                        <p:cTn id="37" dur="500"/>
                                        <p:tgtEl>
                                          <p:spTgt spid="68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nodeType="clickEffect">
                                  <p:stCondLst>
                                    <p:cond delay="0"/>
                                  </p:stCondLst>
                                  <p:childTnLst>
                                    <p:set>
                                      <p:cBhvr>
                                        <p:cTn id="41" dur="1" fill="hold">
                                          <p:stCondLst>
                                            <p:cond delay="0"/>
                                          </p:stCondLst>
                                        </p:cTn>
                                        <p:tgtEl>
                                          <p:spTgt spid="683">
                                            <p:txEl>
                                              <p:pRg st="7" end="7"/>
                                            </p:txEl>
                                          </p:spTgt>
                                        </p:tgtEl>
                                        <p:attrNameLst>
                                          <p:attrName>style.visibility</p:attrName>
                                        </p:attrNameLst>
                                      </p:cBhvr>
                                      <p:to>
                                        <p:strVal val="visible"/>
                                      </p:to>
                                    </p:set>
                                    <p:anim calcmode="lin" valueType="num">
                                      <p:cBhvr additive="base">
                                        <p:cTn id="42" dur="500"/>
                                        <p:tgtEl>
                                          <p:spTgt spid="68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nodeType="clickEffect">
                                  <p:stCondLst>
                                    <p:cond delay="0"/>
                                  </p:stCondLst>
                                  <p:childTnLst>
                                    <p:set>
                                      <p:cBhvr>
                                        <p:cTn id="46" dur="1" fill="hold">
                                          <p:stCondLst>
                                            <p:cond delay="0"/>
                                          </p:stCondLst>
                                        </p:cTn>
                                        <p:tgtEl>
                                          <p:spTgt spid="683">
                                            <p:txEl>
                                              <p:pRg st="8" end="8"/>
                                            </p:txEl>
                                          </p:spTgt>
                                        </p:tgtEl>
                                        <p:attrNameLst>
                                          <p:attrName>style.visibility</p:attrName>
                                        </p:attrNameLst>
                                      </p:cBhvr>
                                      <p:to>
                                        <p:strVal val="visible"/>
                                      </p:to>
                                    </p:set>
                                    <p:anim calcmode="lin" valueType="num">
                                      <p:cBhvr additive="base">
                                        <p:cTn id="47" dur="500"/>
                                        <p:tgtEl>
                                          <p:spTgt spid="68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nodeType="clickEffect">
                                  <p:stCondLst>
                                    <p:cond delay="0"/>
                                  </p:stCondLst>
                                  <p:childTnLst>
                                    <p:set>
                                      <p:cBhvr>
                                        <p:cTn id="51" dur="1" fill="hold">
                                          <p:stCondLst>
                                            <p:cond delay="0"/>
                                          </p:stCondLst>
                                        </p:cTn>
                                        <p:tgtEl>
                                          <p:spTgt spid="683">
                                            <p:txEl>
                                              <p:pRg st="9" end="9"/>
                                            </p:txEl>
                                          </p:spTgt>
                                        </p:tgtEl>
                                        <p:attrNameLst>
                                          <p:attrName>style.visibility</p:attrName>
                                        </p:attrNameLst>
                                      </p:cBhvr>
                                      <p:to>
                                        <p:strVal val="visible"/>
                                      </p:to>
                                    </p:set>
                                    <p:anim calcmode="lin" valueType="num">
                                      <p:cBhvr additive="base">
                                        <p:cTn id="52" dur="500"/>
                                        <p:tgtEl>
                                          <p:spTgt spid="68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1" fill="hold" nodeType="clickEffect">
                                  <p:stCondLst>
                                    <p:cond delay="0"/>
                                  </p:stCondLst>
                                  <p:childTnLst>
                                    <p:set>
                                      <p:cBhvr>
                                        <p:cTn id="56" dur="1" fill="hold">
                                          <p:stCondLst>
                                            <p:cond delay="0"/>
                                          </p:stCondLst>
                                        </p:cTn>
                                        <p:tgtEl>
                                          <p:spTgt spid="683">
                                            <p:txEl>
                                              <p:pRg st="10" end="10"/>
                                            </p:txEl>
                                          </p:spTgt>
                                        </p:tgtEl>
                                        <p:attrNameLst>
                                          <p:attrName>style.visibility</p:attrName>
                                        </p:attrNameLst>
                                      </p:cBhvr>
                                      <p:to>
                                        <p:strVal val="visible"/>
                                      </p:to>
                                    </p:set>
                                    <p:anim calcmode="lin" valueType="num">
                                      <p:cBhvr additive="base">
                                        <p:cTn id="57" dur="500"/>
                                        <p:tgtEl>
                                          <p:spTgt spid="68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1" fill="hold" nodeType="clickEffect">
                                  <p:stCondLst>
                                    <p:cond delay="0"/>
                                  </p:stCondLst>
                                  <p:childTnLst>
                                    <p:set>
                                      <p:cBhvr>
                                        <p:cTn id="61" dur="1" fill="hold">
                                          <p:stCondLst>
                                            <p:cond delay="0"/>
                                          </p:stCondLst>
                                        </p:cTn>
                                        <p:tgtEl>
                                          <p:spTgt spid="683">
                                            <p:txEl>
                                              <p:pRg st="11" end="11"/>
                                            </p:txEl>
                                          </p:spTgt>
                                        </p:tgtEl>
                                        <p:attrNameLst>
                                          <p:attrName>style.visibility</p:attrName>
                                        </p:attrNameLst>
                                      </p:cBhvr>
                                      <p:to>
                                        <p:strVal val="visible"/>
                                      </p:to>
                                    </p:set>
                                    <p:anim calcmode="lin" valueType="num">
                                      <p:cBhvr additive="base">
                                        <p:cTn id="62" dur="500"/>
                                        <p:tgtEl>
                                          <p:spTgt spid="68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g29a5a70a483_0_41"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711" name="Google Shape;711;g29a5a70a483_0_41"/>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UTS</a:t>
            </a:r>
            <a:endParaRPr sz="3600" b="1">
              <a:solidFill>
                <a:schemeClr val="lt1"/>
              </a:solidFill>
            </a:endParaRPr>
          </a:p>
        </p:txBody>
      </p:sp>
      <p:sp>
        <p:nvSpPr>
          <p:cNvPr id="712" name="Google Shape;712;g29a5a70a483_0_41"/>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8</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g29a5a70a483_0_47"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718" name="Google Shape;718;g29a5a70a483_0_47"/>
          <p:cNvSpPr txBox="1">
            <a:spLocks noGrp="1"/>
          </p:cNvSpPr>
          <p:nvPr>
            <p:ph type="ctrTitle"/>
          </p:nvPr>
        </p:nvSpPr>
        <p:spPr>
          <a:xfrm>
            <a:off x="1154954" y="2099732"/>
            <a:ext cx="9360600" cy="267764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SQL Client, SUBQUERY, CTE</a:t>
            </a:r>
            <a:endParaRPr sz="3600" b="1">
              <a:solidFill>
                <a:schemeClr val="lt1"/>
              </a:solidFill>
            </a:endParaRPr>
          </a:p>
        </p:txBody>
      </p:sp>
      <p:sp>
        <p:nvSpPr>
          <p:cNvPr id="719" name="Google Shape;719;g29a5a70a483_0_47"/>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9</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6B9C-E7F7-3E9C-DED3-F96911EE3811}"/>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F398685B-9E8D-1BCE-1643-12B9F5A30D83}"/>
              </a:ext>
            </a:extLst>
          </p:cNvPr>
          <p:cNvSpPr>
            <a:spLocks noGrp="1"/>
          </p:cNvSpPr>
          <p:nvPr>
            <p:ph type="body" idx="1"/>
          </p:nvPr>
        </p:nvSpPr>
        <p:spPr/>
        <p:txBody>
          <a:bodyPr/>
          <a:lstStyle/>
          <a:p>
            <a:r>
              <a:rPr lang="en-US"/>
              <a:t>Mahasiswa mampu menggunakan SQL Client Heidisql</a:t>
            </a:r>
          </a:p>
          <a:p>
            <a:r>
              <a:rPr lang="en-US"/>
              <a:t>Mahasiswa mampu menjelaskan mengenai konsep subquery dan common table expression</a:t>
            </a:r>
          </a:p>
          <a:p>
            <a:r>
              <a:rPr lang="en-US"/>
              <a:t>Mahasiswa mampu menjelaskan perbedaan antara menggunakan subquery, cte, dan view</a:t>
            </a:r>
          </a:p>
          <a:p>
            <a:pPr marL="137160" indent="0">
              <a:buNone/>
            </a:pPr>
            <a:endParaRPr lang="en-US"/>
          </a:p>
        </p:txBody>
      </p:sp>
    </p:spTree>
    <p:extLst>
      <p:ext uri="{BB962C8B-B14F-4D97-AF65-F5344CB8AC3E}">
        <p14:creationId xmlns:p14="http://schemas.microsoft.com/office/powerpoint/2010/main" val="35863932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244765c84_0_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SubQuery</a:t>
            </a:r>
            <a:endParaRPr/>
          </a:p>
        </p:txBody>
      </p:sp>
      <p:sp>
        <p:nvSpPr>
          <p:cNvPr id="726" name="Google Shape;726;g26244765c84_0_8"/>
          <p:cNvSpPr txBox="1">
            <a:spLocks noGrp="1"/>
          </p:cNvSpPr>
          <p:nvPr>
            <p:ph type="body" idx="1"/>
          </p:nvPr>
        </p:nvSpPr>
        <p:spPr>
          <a:xfrm>
            <a:off x="1154950" y="2603500"/>
            <a:ext cx="9880500" cy="1991700"/>
          </a:xfrm>
          <a:prstGeom prst="rect">
            <a:avLst/>
          </a:prstGeom>
          <a:noFill/>
          <a:ln>
            <a:noFill/>
          </a:ln>
        </p:spPr>
        <p:txBody>
          <a:bodyPr spcFirstLastPara="1" wrap="square" lIns="91425" tIns="45700" rIns="91425" bIns="45700" anchor="t" anchorCtr="0">
            <a:normAutofit/>
          </a:bodyPr>
          <a:lstStyle/>
          <a:p>
            <a:pPr marL="342900" lvl="0" indent="-350774" algn="l" rtl="0">
              <a:spcBef>
                <a:spcPts val="1000"/>
              </a:spcBef>
              <a:spcAft>
                <a:spcPts val="0"/>
              </a:spcAft>
              <a:buClr>
                <a:schemeClr val="dk1"/>
              </a:buClr>
              <a:buSzPts val="1900"/>
              <a:buFont typeface="Georgia"/>
              <a:buChar char="❑"/>
            </a:pPr>
            <a:r>
              <a:rPr lang="en-ID" sz="1900">
                <a:solidFill>
                  <a:schemeClr val="dk1"/>
                </a:solidFill>
                <a:latin typeface="Georgia"/>
                <a:ea typeface="Georgia"/>
                <a:cs typeface="Georgia"/>
                <a:sym typeface="Georgia"/>
              </a:rPr>
              <a:t>Subquery juga dikenal sebagai nested query atau inner query</a:t>
            </a:r>
            <a:endParaRPr sz="1900">
              <a:solidFill>
                <a:schemeClr val="dk1"/>
              </a:solidFill>
              <a:latin typeface="Georgia"/>
              <a:ea typeface="Georgia"/>
              <a:cs typeface="Georgia"/>
              <a:sym typeface="Georgia"/>
            </a:endParaRPr>
          </a:p>
          <a:p>
            <a:pPr marL="342900" lvl="0" indent="-350774" algn="l" rtl="0">
              <a:spcBef>
                <a:spcPts val="1000"/>
              </a:spcBef>
              <a:spcAft>
                <a:spcPts val="0"/>
              </a:spcAft>
              <a:buClr>
                <a:schemeClr val="dk1"/>
              </a:buClr>
              <a:buSzPts val="1900"/>
              <a:buFont typeface="Georgia"/>
              <a:buChar char="❑"/>
            </a:pPr>
            <a:r>
              <a:rPr lang="en-ID" sz="1900">
                <a:solidFill>
                  <a:schemeClr val="dk1"/>
                </a:solidFill>
                <a:latin typeface="Georgia"/>
                <a:ea typeface="Georgia"/>
                <a:cs typeface="Georgia"/>
                <a:sym typeface="Georgia"/>
              </a:rPr>
              <a:t>Merupakan query yang ada di dalam query utama. </a:t>
            </a:r>
            <a:endParaRPr sz="1900">
              <a:solidFill>
                <a:schemeClr val="dk1"/>
              </a:solidFill>
              <a:latin typeface="Georgia"/>
              <a:ea typeface="Georgia"/>
              <a:cs typeface="Georgia"/>
              <a:sym typeface="Georgia"/>
            </a:endParaRPr>
          </a:p>
          <a:p>
            <a:pPr marL="342900" lvl="0" indent="-350774" algn="l" rtl="0">
              <a:spcBef>
                <a:spcPts val="1000"/>
              </a:spcBef>
              <a:spcAft>
                <a:spcPts val="0"/>
              </a:spcAft>
              <a:buClr>
                <a:schemeClr val="dk1"/>
              </a:buClr>
              <a:buSzPts val="1900"/>
              <a:buFont typeface="Georgia"/>
              <a:buChar char="❑"/>
            </a:pPr>
            <a:r>
              <a:rPr lang="en-ID" sz="1900">
                <a:solidFill>
                  <a:schemeClr val="dk1"/>
                </a:solidFill>
                <a:latin typeface="Georgia"/>
                <a:ea typeface="Georgia"/>
                <a:cs typeface="Georgia"/>
                <a:sym typeface="Georgia"/>
              </a:rPr>
              <a:t>Subquery digunakan untuk memberikan hasil yang lebih spesifik dan relevan yang kemudian digunakan oleh query utama. </a:t>
            </a:r>
            <a:endParaRPr sz="1900">
              <a:solidFill>
                <a:schemeClr val="dk1"/>
              </a:solidFill>
              <a:latin typeface="Georgia"/>
              <a:ea typeface="Georgia"/>
              <a:cs typeface="Georgia"/>
              <a:sym typeface="Georgia"/>
            </a:endParaRPr>
          </a:p>
        </p:txBody>
      </p:sp>
      <p:sp>
        <p:nvSpPr>
          <p:cNvPr id="727" name="Google Shape;727;g26244765c84_0_8"/>
          <p:cNvSpPr txBox="1"/>
          <p:nvPr/>
        </p:nvSpPr>
        <p:spPr>
          <a:xfrm>
            <a:off x="1256350" y="5211150"/>
            <a:ext cx="9799500" cy="129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D" sz="1800">
                <a:solidFill>
                  <a:schemeClr val="dk1"/>
                </a:solidFill>
                <a:latin typeface="Courier New"/>
                <a:ea typeface="Courier New"/>
                <a:cs typeface="Courier New"/>
                <a:sym typeface="Courier New"/>
              </a:rPr>
              <a:t>SELECT account_id, total_amt_usd</a:t>
            </a:r>
            <a:endParaRPr sz="18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800">
                <a:solidFill>
                  <a:schemeClr val="dk1"/>
                </a:solidFill>
                <a:latin typeface="Courier New"/>
                <a:ea typeface="Courier New"/>
                <a:cs typeface="Courier New"/>
                <a:sym typeface="Courier New"/>
              </a:rPr>
              <a:t>    FROM orders</a:t>
            </a:r>
            <a:endParaRPr sz="18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ID" sz="1800">
                <a:solidFill>
                  <a:schemeClr val="dk1"/>
                </a:solidFill>
                <a:latin typeface="Courier New"/>
                <a:ea typeface="Courier New"/>
                <a:cs typeface="Courier New"/>
                <a:sym typeface="Courier New"/>
              </a:rPr>
              <a:t>    WHERE total_amt_usd &gt; (SELECT AVG(total_amt_usd) FROM orders);</a:t>
            </a:r>
            <a:endParaRPr sz="1800" b="1">
              <a:latin typeface="Courier New"/>
              <a:ea typeface="Courier New"/>
              <a:cs typeface="Courier New"/>
              <a:sym typeface="Courier New"/>
            </a:endParaRPr>
          </a:p>
        </p:txBody>
      </p:sp>
      <p:sp>
        <p:nvSpPr>
          <p:cNvPr id="728" name="Google Shape;728;g26244765c84_0_8"/>
          <p:cNvSpPr txBox="1"/>
          <p:nvPr/>
        </p:nvSpPr>
        <p:spPr>
          <a:xfrm>
            <a:off x="1154950" y="4305850"/>
            <a:ext cx="10002300" cy="7695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900">
                <a:solidFill>
                  <a:schemeClr val="dk1"/>
                </a:solidFill>
                <a:latin typeface="Georgia"/>
                <a:ea typeface="Georgia"/>
                <a:cs typeface="Georgia"/>
                <a:sym typeface="Georgia"/>
              </a:rPr>
              <a:t># Tampilkan account id dan total amount pada tabel orders yang memiliki nilai total amount diatas rata-rata dari semua account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26"/>
                                        </p:tgtEl>
                                        <p:attrNameLst>
                                          <p:attrName>style.visibility</p:attrName>
                                        </p:attrNameLst>
                                      </p:cBhvr>
                                      <p:to>
                                        <p:strVal val="visible"/>
                                      </p:to>
                                    </p:set>
                                    <p:anim calcmode="lin" valueType="num">
                                      <p:cBhvr additive="base">
                                        <p:cTn id="7" dur="500"/>
                                        <p:tgtEl>
                                          <p:spTgt spid="72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28"/>
                                        </p:tgtEl>
                                        <p:attrNameLst>
                                          <p:attrName>style.visibility</p:attrName>
                                        </p:attrNameLst>
                                      </p:cBhvr>
                                      <p:to>
                                        <p:strVal val="visible"/>
                                      </p:to>
                                    </p:set>
                                    <p:anim calcmode="lin" valueType="num">
                                      <p:cBhvr additive="base">
                                        <p:cTn id="12" dur="500"/>
                                        <p:tgtEl>
                                          <p:spTgt spid="72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27"/>
                                        </p:tgtEl>
                                        <p:attrNameLst>
                                          <p:attrName>style.visibility</p:attrName>
                                        </p:attrNameLst>
                                      </p:cBhvr>
                                      <p:to>
                                        <p:strVal val="visible"/>
                                      </p:to>
                                    </p:set>
                                    <p:anim calcmode="lin" valueType="num">
                                      <p:cBhvr additive="base">
                                        <p:cTn id="17" dur="500"/>
                                        <p:tgtEl>
                                          <p:spTgt spid="72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6244765c84_0_15"/>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CTE (Common Table Expression)</a:t>
            </a:r>
            <a:endParaRPr/>
          </a:p>
        </p:txBody>
      </p:sp>
      <p:sp>
        <p:nvSpPr>
          <p:cNvPr id="735" name="Google Shape;735;g26244765c84_0_15"/>
          <p:cNvSpPr txBox="1">
            <a:spLocks noGrp="1"/>
          </p:cNvSpPr>
          <p:nvPr>
            <p:ph type="body" idx="1"/>
          </p:nvPr>
        </p:nvSpPr>
        <p:spPr>
          <a:xfrm>
            <a:off x="1154950" y="2603500"/>
            <a:ext cx="9942900" cy="3558300"/>
          </a:xfrm>
          <a:prstGeom prst="rect">
            <a:avLst/>
          </a:prstGeom>
          <a:noFill/>
          <a:ln>
            <a:noFill/>
          </a:ln>
        </p:spPr>
        <p:txBody>
          <a:bodyPr spcFirstLastPara="1" wrap="square" lIns="91425" tIns="45700" rIns="91425" bIns="45700" anchor="t" anchorCtr="0">
            <a:normAutofit/>
          </a:bodyPr>
          <a:lstStyle/>
          <a:p>
            <a:pPr marL="342900" lvl="0" indent="-344424" algn="l" rtl="0">
              <a:spcBef>
                <a:spcPts val="1000"/>
              </a:spcBef>
              <a:spcAft>
                <a:spcPts val="0"/>
              </a:spcAft>
              <a:buClr>
                <a:schemeClr val="dk1"/>
              </a:buClr>
              <a:buSzPts val="1800"/>
              <a:buFont typeface="Century Gothic"/>
              <a:buChar char="❑"/>
            </a:pPr>
            <a:r>
              <a:rPr lang="en-ID">
                <a:solidFill>
                  <a:schemeClr val="dk1"/>
                </a:solidFill>
              </a:rPr>
              <a:t>CTE Adalah bagian dari SQL yang memungkinkan penulisan subquery yang lebih bersih dan lebih mudah dimengerti. </a:t>
            </a:r>
            <a:endParaRPr>
              <a:solidFill>
                <a:schemeClr val="dk1"/>
              </a:solidFill>
            </a:endParaRPr>
          </a:p>
          <a:p>
            <a:pPr marL="342900" lvl="0" indent="-344424" algn="l" rtl="0">
              <a:spcBef>
                <a:spcPts val="1000"/>
              </a:spcBef>
              <a:spcAft>
                <a:spcPts val="0"/>
              </a:spcAft>
              <a:buClr>
                <a:schemeClr val="dk1"/>
              </a:buClr>
              <a:buSzPts val="1800"/>
              <a:buFont typeface="Century Gothic"/>
              <a:buChar char="❑"/>
            </a:pPr>
            <a:r>
              <a:rPr lang="en-ID">
                <a:solidFill>
                  <a:schemeClr val="dk1"/>
                </a:solidFill>
              </a:rPr>
              <a:t>CTE memungkinkan Anda menamai subquery dan menggunakannya dalam pernyataan SELECT utama, INSERT, UPDATE, atau DELETE. </a:t>
            </a:r>
            <a:endParaRPr>
              <a:solidFill>
                <a:schemeClr val="dk1"/>
              </a:solidFill>
            </a:endParaRPr>
          </a:p>
          <a:p>
            <a:pPr marL="342900" lvl="0" indent="-344424" algn="l" rtl="0">
              <a:spcBef>
                <a:spcPts val="1000"/>
              </a:spcBef>
              <a:spcAft>
                <a:spcPts val="0"/>
              </a:spcAft>
              <a:buClr>
                <a:schemeClr val="dk1"/>
              </a:buClr>
              <a:buSzPts val="1800"/>
              <a:buFont typeface="Century Gothic"/>
              <a:buChar char="❑"/>
            </a:pPr>
            <a:r>
              <a:rPr lang="en-ID">
                <a:solidFill>
                  <a:schemeClr val="dk1"/>
                </a:solidFill>
              </a:rPr>
              <a:t>CTE ditentukan dengan menggunakan klausa WITH diikuti oleh definisi CTE.</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35"/>
                                        </p:tgtEl>
                                        <p:attrNameLst>
                                          <p:attrName>style.visibility</p:attrName>
                                        </p:attrNameLst>
                                      </p:cBhvr>
                                      <p:to>
                                        <p:strVal val="visible"/>
                                      </p:to>
                                    </p:set>
                                    <p:anim calcmode="lin" valueType="num">
                                      <p:cBhvr additive="base">
                                        <p:cTn id="7" dur="500"/>
                                        <p:tgtEl>
                                          <p:spTgt spid="7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11697ddf75238608_256"/>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CTE (Common Table Expression)</a:t>
            </a:r>
            <a:endParaRPr/>
          </a:p>
        </p:txBody>
      </p:sp>
      <p:sp>
        <p:nvSpPr>
          <p:cNvPr id="742" name="Google Shape;742;g11697ddf75238608_256"/>
          <p:cNvSpPr txBox="1"/>
          <p:nvPr/>
        </p:nvSpPr>
        <p:spPr>
          <a:xfrm>
            <a:off x="1154950" y="3157425"/>
            <a:ext cx="52218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1600" b="1">
                <a:latin typeface="Courier New"/>
                <a:ea typeface="Courier New"/>
                <a:cs typeface="Courier New"/>
                <a:sym typeface="Courier New"/>
              </a:rPr>
              <a:t>WITH </a:t>
            </a:r>
            <a:r>
              <a:rPr lang="en-ID" sz="1600">
                <a:latin typeface="Courier New"/>
                <a:ea typeface="Courier New"/>
                <a:cs typeface="Courier New"/>
                <a:sym typeface="Courier New"/>
              </a:rPr>
              <a:t>t1 </a:t>
            </a:r>
            <a:r>
              <a:rPr lang="en-ID" sz="1600" b="1">
                <a:latin typeface="Courier New"/>
                <a:ea typeface="Courier New"/>
                <a:cs typeface="Courier New"/>
                <a:sym typeface="Courier New"/>
              </a:rPr>
              <a:t>AS </a:t>
            </a:r>
            <a:r>
              <a:rPr lang="en-ID" sz="1600">
                <a:latin typeface="Courier New"/>
                <a:ea typeface="Courier New"/>
                <a:cs typeface="Courier New"/>
                <a:sym typeface="Courier New"/>
              </a:rPr>
              <a:t>(</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SELECT </a:t>
            </a:r>
            <a:r>
              <a:rPr lang="en-ID" sz="1600">
                <a:latin typeface="Courier New"/>
                <a:ea typeface="Courier New"/>
                <a:cs typeface="Courier New"/>
                <a:sym typeface="Courier New"/>
              </a:rPr>
              <a:t>s.name </a:t>
            </a:r>
            <a:r>
              <a:rPr lang="en-ID" sz="1600" b="1">
                <a:latin typeface="Courier New"/>
                <a:ea typeface="Courier New"/>
                <a:cs typeface="Courier New"/>
                <a:sym typeface="Courier New"/>
              </a:rPr>
              <a:t>AS </a:t>
            </a:r>
            <a:r>
              <a:rPr lang="en-ID" sz="1600">
                <a:latin typeface="Courier New"/>
                <a:ea typeface="Courier New"/>
                <a:cs typeface="Courier New"/>
                <a:sym typeface="Courier New"/>
              </a:rPr>
              <a:t>sales_rep_name,</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sum(o.total_amt_usd) </a:t>
            </a:r>
            <a:r>
              <a:rPr lang="en-ID" sz="1600" b="1">
                <a:latin typeface="Courier New"/>
                <a:ea typeface="Courier New"/>
                <a:cs typeface="Courier New"/>
                <a:sym typeface="Courier New"/>
              </a:rPr>
              <a:t>AS </a:t>
            </a:r>
            <a:r>
              <a:rPr lang="en-ID" sz="1600">
                <a:latin typeface="Courier New"/>
                <a:ea typeface="Courier New"/>
                <a:cs typeface="Courier New"/>
                <a:sym typeface="Courier New"/>
              </a:rPr>
              <a:t>total_revenue</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FROM </a:t>
            </a:r>
            <a:r>
              <a:rPr lang="en-ID" sz="1600">
                <a:latin typeface="Courier New"/>
                <a:ea typeface="Courier New"/>
                <a:cs typeface="Courier New"/>
                <a:sym typeface="Courier New"/>
              </a:rPr>
              <a:t>orders o</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JOIN </a:t>
            </a:r>
            <a:r>
              <a:rPr lang="en-ID" sz="1600">
                <a:latin typeface="Courier New"/>
                <a:ea typeface="Courier New"/>
                <a:cs typeface="Courier New"/>
                <a:sym typeface="Courier New"/>
              </a:rPr>
              <a:t>accounts a </a:t>
            </a:r>
            <a:r>
              <a:rPr lang="en-ID" sz="1600" b="1">
                <a:latin typeface="Courier New"/>
                <a:ea typeface="Courier New"/>
                <a:cs typeface="Courier New"/>
                <a:sym typeface="Courier New"/>
              </a:rPr>
              <a:t>ON </a:t>
            </a:r>
            <a:r>
              <a:rPr lang="en-ID" sz="1600">
                <a:latin typeface="Courier New"/>
                <a:ea typeface="Courier New"/>
                <a:cs typeface="Courier New"/>
                <a:sym typeface="Courier New"/>
              </a:rPr>
              <a:t>o.account_id = a.id</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JOIN </a:t>
            </a:r>
            <a:r>
              <a:rPr lang="en-ID" sz="1600">
                <a:latin typeface="Courier New"/>
                <a:ea typeface="Courier New"/>
                <a:cs typeface="Courier New"/>
                <a:sym typeface="Courier New"/>
              </a:rPr>
              <a:t>sales_reps s </a:t>
            </a:r>
            <a:r>
              <a:rPr lang="en-ID" sz="1600" b="1">
                <a:latin typeface="Courier New"/>
                <a:ea typeface="Courier New"/>
                <a:cs typeface="Courier New"/>
                <a:sym typeface="Courier New"/>
              </a:rPr>
              <a:t>ON </a:t>
            </a:r>
            <a:r>
              <a:rPr lang="en-ID" sz="1600">
                <a:latin typeface="Courier New"/>
                <a:ea typeface="Courier New"/>
                <a:cs typeface="Courier New"/>
                <a:sym typeface="Courier New"/>
              </a:rPr>
              <a:t>a.sales_rep_id = s.id</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GROUP BY </a:t>
            </a:r>
            <a:r>
              <a:rPr lang="en-ID" sz="1600">
                <a:latin typeface="Courier New"/>
                <a:ea typeface="Courier New"/>
                <a:cs typeface="Courier New"/>
                <a:sym typeface="Courier New"/>
              </a:rPr>
              <a:t>sales_rep_name</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	</a:t>
            </a:r>
            <a:r>
              <a:rPr lang="en-ID" sz="1600" b="1">
                <a:latin typeface="Courier New"/>
                <a:ea typeface="Courier New"/>
                <a:cs typeface="Courier New"/>
                <a:sym typeface="Courier New"/>
              </a:rPr>
              <a:t>ORDER BY </a:t>
            </a:r>
            <a:r>
              <a:rPr lang="en-ID" sz="1600">
                <a:latin typeface="Courier New"/>
                <a:ea typeface="Courier New"/>
                <a:cs typeface="Courier New"/>
                <a:sym typeface="Courier New"/>
              </a:rPr>
              <a:t>total_revenue DESC </a:t>
            </a:r>
            <a:endParaRPr sz="1600">
              <a:latin typeface="Courier New"/>
              <a:ea typeface="Courier New"/>
              <a:cs typeface="Courier New"/>
              <a:sym typeface="Courier New"/>
            </a:endParaRPr>
          </a:p>
          <a:p>
            <a:pPr marL="0" lvl="0" indent="0" algn="l" rtl="0">
              <a:spcBef>
                <a:spcPts val="0"/>
              </a:spcBef>
              <a:spcAft>
                <a:spcPts val="0"/>
              </a:spcAft>
              <a:buNone/>
            </a:pPr>
            <a:r>
              <a:rPr lang="en-ID" sz="1600">
                <a:latin typeface="Courier New"/>
                <a:ea typeface="Courier New"/>
                <a:cs typeface="Courier New"/>
                <a:sym typeface="Courier New"/>
              </a:rPr>
              <a:t>)</a:t>
            </a:r>
            <a:endParaRPr sz="1600">
              <a:latin typeface="Courier New"/>
              <a:ea typeface="Courier New"/>
              <a:cs typeface="Courier New"/>
              <a:sym typeface="Courier New"/>
            </a:endParaRPr>
          </a:p>
          <a:p>
            <a:pPr marL="0" lvl="0" indent="0" algn="l" rtl="0">
              <a:spcBef>
                <a:spcPts val="0"/>
              </a:spcBef>
              <a:spcAft>
                <a:spcPts val="0"/>
              </a:spcAft>
              <a:buNone/>
            </a:pPr>
            <a:r>
              <a:rPr lang="en-ID" sz="1600" b="1">
                <a:latin typeface="Courier New"/>
                <a:ea typeface="Courier New"/>
                <a:cs typeface="Courier New"/>
                <a:sym typeface="Courier New"/>
              </a:rPr>
              <a:t>SELECT </a:t>
            </a:r>
            <a:r>
              <a:rPr lang="en-ID" sz="1600">
                <a:latin typeface="Courier New"/>
                <a:ea typeface="Courier New"/>
                <a:cs typeface="Courier New"/>
                <a:sym typeface="Courier New"/>
              </a:rPr>
              <a:t>* </a:t>
            </a:r>
            <a:r>
              <a:rPr lang="en-ID" sz="1600" b="1">
                <a:latin typeface="Courier New"/>
                <a:ea typeface="Courier New"/>
                <a:cs typeface="Courier New"/>
                <a:sym typeface="Courier New"/>
              </a:rPr>
              <a:t>FROM </a:t>
            </a:r>
            <a:r>
              <a:rPr lang="en-ID" sz="1600">
                <a:latin typeface="Courier New"/>
                <a:ea typeface="Courier New"/>
                <a:cs typeface="Courier New"/>
                <a:sym typeface="Courier New"/>
              </a:rPr>
              <a:t>t1;</a:t>
            </a:r>
            <a:endParaRPr sz="1600">
              <a:latin typeface="Courier New"/>
              <a:ea typeface="Courier New"/>
              <a:cs typeface="Courier New"/>
              <a:sym typeface="Courier New"/>
            </a:endParaRPr>
          </a:p>
          <a:p>
            <a:pPr marL="0" lvl="0" indent="0" algn="l" rtl="0">
              <a:spcBef>
                <a:spcPts val="0"/>
              </a:spcBef>
              <a:spcAft>
                <a:spcPts val="0"/>
              </a:spcAft>
              <a:buNone/>
            </a:pPr>
            <a:endParaRPr sz="1600">
              <a:latin typeface="Courier New"/>
              <a:ea typeface="Courier New"/>
              <a:cs typeface="Courier New"/>
              <a:sym typeface="Courier New"/>
            </a:endParaRPr>
          </a:p>
        </p:txBody>
      </p:sp>
      <p:sp>
        <p:nvSpPr>
          <p:cNvPr id="743" name="Google Shape;743;g11697ddf75238608_256"/>
          <p:cNvSpPr txBox="1"/>
          <p:nvPr/>
        </p:nvSpPr>
        <p:spPr>
          <a:xfrm>
            <a:off x="1154950" y="2322100"/>
            <a:ext cx="5221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1500">
                <a:solidFill>
                  <a:schemeClr val="dk1"/>
                </a:solidFill>
                <a:latin typeface="Century Gothic"/>
                <a:ea typeface="Century Gothic"/>
                <a:cs typeface="Century Gothic"/>
                <a:sym typeface="Century Gothic"/>
              </a:rPr>
              <a:t># Buat laporan kinerja sales representative berdasarkan total pendapatan</a:t>
            </a:r>
            <a:endParaRPr sz="1700">
              <a:solidFill>
                <a:schemeClr val="dk1"/>
              </a:solidFill>
              <a:latin typeface="Century Gothic"/>
              <a:ea typeface="Century Gothic"/>
              <a:cs typeface="Century Gothic"/>
              <a:sym typeface="Century Gothic"/>
            </a:endParaRPr>
          </a:p>
        </p:txBody>
      </p:sp>
      <p:pic>
        <p:nvPicPr>
          <p:cNvPr id="744" name="Google Shape;744;g11697ddf75238608_256"/>
          <p:cNvPicPr preferRelativeResize="0"/>
          <p:nvPr/>
        </p:nvPicPr>
        <p:blipFill>
          <a:blip r:embed="rId3">
            <a:alphaModFix/>
          </a:blip>
          <a:stretch>
            <a:fillRect/>
          </a:stretch>
        </p:blipFill>
        <p:spPr>
          <a:xfrm>
            <a:off x="6952600" y="3157433"/>
            <a:ext cx="3825800" cy="20209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244765c84_0_307"/>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Komparasi Subquery, CTE, dan View</a:t>
            </a:r>
            <a:endParaRPr/>
          </a:p>
        </p:txBody>
      </p:sp>
      <p:pic>
        <p:nvPicPr>
          <p:cNvPr id="751" name="Google Shape;751;g26244765c84_0_307"/>
          <p:cNvPicPr preferRelativeResize="0"/>
          <p:nvPr/>
        </p:nvPicPr>
        <p:blipFill>
          <a:blip r:embed="rId3">
            <a:alphaModFix/>
          </a:blip>
          <a:stretch>
            <a:fillRect/>
          </a:stretch>
        </p:blipFill>
        <p:spPr>
          <a:xfrm>
            <a:off x="474475" y="2602900"/>
            <a:ext cx="11243051" cy="33977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11697ddf75238608_265"/>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Contoh</a:t>
            </a:r>
            <a:endParaRPr/>
          </a:p>
        </p:txBody>
      </p:sp>
      <p:sp>
        <p:nvSpPr>
          <p:cNvPr id="758" name="Google Shape;758;g11697ddf75238608_265"/>
          <p:cNvSpPr txBox="1">
            <a:spLocks noGrp="1"/>
          </p:cNvSpPr>
          <p:nvPr>
            <p:ph type="body" idx="1"/>
          </p:nvPr>
        </p:nvSpPr>
        <p:spPr>
          <a:xfrm>
            <a:off x="1154950" y="2603500"/>
            <a:ext cx="5725800" cy="891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ID">
                <a:solidFill>
                  <a:schemeClr val="dk1"/>
                </a:solidFill>
              </a:rPr>
              <a:t>## Menampilkan nama sales rep yang memiliki total amt tertinggi</a:t>
            </a:r>
            <a:endParaRPr/>
          </a:p>
        </p:txBody>
      </p:sp>
      <p:pic>
        <p:nvPicPr>
          <p:cNvPr id="759" name="Google Shape;759;g11697ddf75238608_265"/>
          <p:cNvPicPr preferRelativeResize="0"/>
          <p:nvPr/>
        </p:nvPicPr>
        <p:blipFill>
          <a:blip r:embed="rId3">
            <a:alphaModFix/>
          </a:blip>
          <a:stretch>
            <a:fillRect/>
          </a:stretch>
        </p:blipFill>
        <p:spPr>
          <a:xfrm>
            <a:off x="7181700" y="3495050"/>
            <a:ext cx="2734750" cy="1062048"/>
          </a:xfrm>
          <a:prstGeom prst="rect">
            <a:avLst/>
          </a:prstGeom>
          <a:noFill/>
          <a:ln>
            <a:noFill/>
          </a:ln>
          <a:effectLst>
            <a:outerShdw blurRad="57150" dist="19050" dir="5400000" algn="bl" rotWithShape="0">
              <a:srgbClr val="000000">
                <a:alpha val="50000"/>
              </a:srgbClr>
            </a:outerShdw>
          </a:effectLst>
        </p:spPr>
      </p:pic>
      <p:sp>
        <p:nvSpPr>
          <p:cNvPr id="760" name="Google Shape;760;g11697ddf75238608_265"/>
          <p:cNvSpPr txBox="1"/>
          <p:nvPr/>
        </p:nvSpPr>
        <p:spPr>
          <a:xfrm>
            <a:off x="1154950" y="3495050"/>
            <a:ext cx="57258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WITH t1 AS (</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	SELECT sales_rep_id, total_amt_usd </a:t>
            </a:r>
            <a:endParaRPr sz="1800">
              <a:solidFill>
                <a:schemeClr val="dk1"/>
              </a:solidFill>
              <a:latin typeface="Courier New"/>
              <a:ea typeface="Courier New"/>
              <a:cs typeface="Courier New"/>
              <a:sym typeface="Courier New"/>
            </a:endParaRPr>
          </a:p>
          <a:p>
            <a:pPr marL="0" lvl="0" indent="457200" algn="l" rtl="0">
              <a:spcBef>
                <a:spcPts val="0"/>
              </a:spcBef>
              <a:spcAft>
                <a:spcPts val="0"/>
              </a:spcAft>
              <a:buNone/>
            </a:pPr>
            <a:r>
              <a:rPr lang="en-ID" sz="1800">
                <a:solidFill>
                  <a:schemeClr val="dk1"/>
                </a:solidFill>
                <a:latin typeface="Courier New"/>
                <a:ea typeface="Courier New"/>
                <a:cs typeface="Courier New"/>
                <a:sym typeface="Courier New"/>
              </a:rPr>
              <a:t>FROM accounts a JOIN orders o</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	ON a.id=o.account_id</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	ORDER BY 2 DESC LIMIT 1</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SELECT name AS nama_sales_rep</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FROM sales_reps sr</a:t>
            </a: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ID" sz="1800">
                <a:solidFill>
                  <a:schemeClr val="dk1"/>
                </a:solidFill>
                <a:latin typeface="Courier New"/>
                <a:ea typeface="Courier New"/>
                <a:cs typeface="Courier New"/>
                <a:sym typeface="Courier New"/>
              </a:rPr>
              <a:t>WHERE id = (SELECT sales_rep_id FROM t1)</a:t>
            </a:r>
            <a:endParaRPr sz="1800">
              <a:solidFill>
                <a:srgbClr val="3F3F3F"/>
              </a:solidFill>
              <a:latin typeface="Century Gothic"/>
              <a:ea typeface="Century Gothic"/>
              <a:cs typeface="Century Gothic"/>
              <a:sym typeface="Century Gothic"/>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11697ddf75238608_265"/>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Latihan</a:t>
            </a:r>
            <a:endParaRPr/>
          </a:p>
        </p:txBody>
      </p:sp>
      <p:sp>
        <p:nvSpPr>
          <p:cNvPr id="758" name="Google Shape;758;g11697ddf75238608_265"/>
          <p:cNvSpPr txBox="1">
            <a:spLocks noGrp="1"/>
          </p:cNvSpPr>
          <p:nvPr>
            <p:ph type="body" idx="1"/>
          </p:nvPr>
        </p:nvSpPr>
        <p:spPr>
          <a:xfrm>
            <a:off x="1154950" y="2603499"/>
            <a:ext cx="4941050" cy="3993243"/>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4000"/>
              <a:t># Provide the 5 </a:t>
            </a:r>
            <a:r>
              <a:rPr lang="en-US" sz="4000" b="1"/>
              <a:t>name </a:t>
            </a:r>
            <a:r>
              <a:rPr lang="en-US" sz="4000"/>
              <a:t>of </a:t>
            </a:r>
            <a:r>
              <a:rPr lang="en-US" sz="4000" b="1"/>
              <a:t>accounts </a:t>
            </a:r>
            <a:r>
              <a:rPr lang="en-US" sz="4000"/>
              <a:t>with the largest amount per order of </a:t>
            </a:r>
            <a:r>
              <a:rPr lang="en-US" sz="4000" b="1"/>
              <a:t>total_amt_usd</a:t>
            </a:r>
            <a:r>
              <a:rPr lang="en-US" sz="4000"/>
              <a:t> sales</a:t>
            </a:r>
          </a:p>
        </p:txBody>
      </p:sp>
      <p:pic>
        <p:nvPicPr>
          <p:cNvPr id="4" name="Picture 3">
            <a:extLst>
              <a:ext uri="{FF2B5EF4-FFF2-40B4-BE49-F238E27FC236}">
                <a16:creationId xmlns:a16="http://schemas.microsoft.com/office/drawing/2014/main" id="{4B706C35-6077-00AA-58B8-C1D8704A71C7}"/>
              </a:ext>
            </a:extLst>
          </p:cNvPr>
          <p:cNvPicPr>
            <a:picLocks noChangeAspect="1"/>
          </p:cNvPicPr>
          <p:nvPr/>
        </p:nvPicPr>
        <p:blipFill>
          <a:blip r:embed="rId3"/>
          <a:srcRect l="1263" t="2424" r="5646" b="3689"/>
          <a:stretch/>
        </p:blipFill>
        <p:spPr>
          <a:xfrm>
            <a:off x="6901543" y="2653484"/>
            <a:ext cx="4135507" cy="3444291"/>
          </a:xfrm>
          <a:prstGeom prst="rect">
            <a:avLst/>
          </a:prstGeom>
          <a:ln>
            <a:solidFill>
              <a:schemeClr val="accent1"/>
            </a:solidFill>
          </a:ln>
        </p:spPr>
      </p:pic>
    </p:spTree>
    <p:extLst>
      <p:ext uri="{BB962C8B-B14F-4D97-AF65-F5344CB8AC3E}">
        <p14:creationId xmlns:p14="http://schemas.microsoft.com/office/powerpoint/2010/main" val="37425725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g11697ddf75238608_2"/>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Latihan</a:t>
            </a:r>
            <a:endParaRPr/>
          </a:p>
        </p:txBody>
      </p:sp>
      <p:sp>
        <p:nvSpPr>
          <p:cNvPr id="767" name="Google Shape;767;g11697ddf75238608_2"/>
          <p:cNvSpPr txBox="1">
            <a:spLocks noGrp="1"/>
          </p:cNvSpPr>
          <p:nvPr>
            <p:ph type="body" idx="1"/>
          </p:nvPr>
        </p:nvSpPr>
        <p:spPr>
          <a:xfrm>
            <a:off x="1154950" y="2603500"/>
            <a:ext cx="4749900" cy="3416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D" sz="3300"/>
              <a:t># Provide the </a:t>
            </a:r>
            <a:r>
              <a:rPr lang="en-ID" sz="3300" b="1"/>
              <a:t>name </a:t>
            </a:r>
            <a:r>
              <a:rPr lang="en-ID" sz="3300"/>
              <a:t>of </a:t>
            </a:r>
            <a:r>
              <a:rPr lang="en-ID" sz="3300" b="1"/>
              <a:t>region </a:t>
            </a:r>
            <a:r>
              <a:rPr lang="en-ID" sz="3300"/>
              <a:t>with the largest amount of </a:t>
            </a:r>
            <a:r>
              <a:rPr lang="en-ID" sz="3300" b="1"/>
              <a:t>total_amt_usd</a:t>
            </a:r>
            <a:r>
              <a:rPr lang="en-ID" sz="3300"/>
              <a:t> sales</a:t>
            </a:r>
            <a:endParaRPr sz="3300"/>
          </a:p>
        </p:txBody>
      </p:sp>
      <p:pic>
        <p:nvPicPr>
          <p:cNvPr id="768" name="Google Shape;768;g11697ddf75238608_2"/>
          <p:cNvPicPr preferRelativeResize="0"/>
          <p:nvPr/>
        </p:nvPicPr>
        <p:blipFill rotWithShape="1">
          <a:blip r:embed="rId3">
            <a:alphaModFix/>
          </a:blip>
          <a:srcRect r="5615" b="5624"/>
          <a:stretch/>
        </p:blipFill>
        <p:spPr>
          <a:xfrm>
            <a:off x="7018850" y="2603500"/>
            <a:ext cx="2734750" cy="13354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244765c84_0_315"/>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Contoh</a:t>
            </a:r>
            <a:endParaRPr/>
          </a:p>
        </p:txBody>
      </p:sp>
      <p:sp>
        <p:nvSpPr>
          <p:cNvPr id="775" name="Google Shape;775;g26244765c84_0_315"/>
          <p:cNvSpPr txBox="1">
            <a:spLocks noGrp="1"/>
          </p:cNvSpPr>
          <p:nvPr>
            <p:ph type="body" idx="1"/>
          </p:nvPr>
        </p:nvSpPr>
        <p:spPr>
          <a:xfrm>
            <a:off x="1154950" y="2603500"/>
            <a:ext cx="5013900" cy="3479100"/>
          </a:xfrm>
          <a:prstGeom prst="rect">
            <a:avLst/>
          </a:prstGeom>
        </p:spPr>
        <p:txBody>
          <a:bodyPr spcFirstLastPara="1" wrap="square" lIns="91425" tIns="45700" rIns="91425" bIns="45700" anchor="t" anchorCtr="0">
            <a:normAutofit/>
          </a:bodyPr>
          <a:lstStyle/>
          <a:p>
            <a:pPr marL="0" lvl="0" indent="0" algn="l" rtl="0">
              <a:lnSpc>
                <a:spcPct val="80000"/>
              </a:lnSpc>
              <a:spcBef>
                <a:spcPts val="1000"/>
              </a:spcBef>
              <a:spcAft>
                <a:spcPts val="0"/>
              </a:spcAft>
              <a:buNone/>
            </a:pPr>
            <a:r>
              <a:rPr lang="en-ID" sz="3100">
                <a:solidFill>
                  <a:srgbClr val="0B0B0B"/>
                </a:solidFill>
                <a:highlight>
                  <a:srgbClr val="FFFFFF"/>
                </a:highlight>
              </a:rPr>
              <a:t># For the customer that spent the most (in total over their lifetime as a customer) </a:t>
            </a:r>
            <a:r>
              <a:rPr lang="en-ID" sz="3100" b="1">
                <a:solidFill>
                  <a:srgbClr val="0B0B0B"/>
                </a:solidFill>
                <a:highlight>
                  <a:srgbClr val="FFFFFF"/>
                </a:highlight>
              </a:rPr>
              <a:t>total_amt_usd</a:t>
            </a:r>
            <a:r>
              <a:rPr lang="en-ID" sz="3100">
                <a:solidFill>
                  <a:srgbClr val="0B0B0B"/>
                </a:solidFill>
                <a:highlight>
                  <a:srgbClr val="FFFFFF"/>
                </a:highlight>
              </a:rPr>
              <a:t>, how many </a:t>
            </a:r>
            <a:r>
              <a:rPr lang="en-ID" sz="3100" b="1">
                <a:solidFill>
                  <a:srgbClr val="0B0B0B"/>
                </a:solidFill>
                <a:highlight>
                  <a:srgbClr val="FFFFFF"/>
                </a:highlight>
              </a:rPr>
              <a:t>web_events</a:t>
            </a:r>
            <a:r>
              <a:rPr lang="en-ID" sz="3100">
                <a:solidFill>
                  <a:srgbClr val="0B0B0B"/>
                </a:solidFill>
                <a:highlight>
                  <a:srgbClr val="FFFFFF"/>
                </a:highlight>
              </a:rPr>
              <a:t> did they have for each channel?</a:t>
            </a:r>
            <a:endParaRPr sz="3800"/>
          </a:p>
        </p:txBody>
      </p:sp>
      <p:pic>
        <p:nvPicPr>
          <p:cNvPr id="776" name="Google Shape;776;g26244765c84_0_315"/>
          <p:cNvPicPr preferRelativeResize="0"/>
          <p:nvPr/>
        </p:nvPicPr>
        <p:blipFill>
          <a:blip r:embed="rId3">
            <a:alphaModFix/>
          </a:blip>
          <a:stretch>
            <a:fillRect/>
          </a:stretch>
        </p:blipFill>
        <p:spPr>
          <a:xfrm>
            <a:off x="6168850" y="2603489"/>
            <a:ext cx="5410200" cy="2951023"/>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pic>
        <p:nvPicPr>
          <p:cNvPr id="781" name="Google Shape;781;g2a550b50268_0_18"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782" name="Google Shape;782;g2a550b50268_0_18"/>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2400" b="1">
                <a:solidFill>
                  <a:schemeClr val="lt1"/>
                </a:solidFill>
              </a:rPr>
              <a:t>SQL Client &amp; Latihan</a:t>
            </a:r>
            <a:endParaRPr sz="2400" b="1">
              <a:solidFill>
                <a:schemeClr val="lt1"/>
              </a:solidFill>
            </a:endParaRPr>
          </a:p>
        </p:txBody>
      </p:sp>
      <p:sp>
        <p:nvSpPr>
          <p:cNvPr id="783" name="Google Shape;783;g2a550b50268_0_18"/>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10</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pic>
        <p:nvPicPr>
          <p:cNvPr id="788" name="Google Shape;788;g29a5a70a483_0_53"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789" name="Google Shape;789;g29a5a70a483_0_53"/>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2400" b="1">
                <a:solidFill>
                  <a:schemeClr val="lt1"/>
                </a:solidFill>
              </a:rPr>
              <a:t>Latihan Query Report/Laporan. </a:t>
            </a:r>
            <a:endParaRPr sz="2400" b="1">
              <a:solidFill>
                <a:schemeClr val="lt1"/>
              </a:solidFill>
            </a:endParaRPr>
          </a:p>
          <a:p>
            <a:pPr marL="0" lvl="0" indent="0" algn="l" rtl="0">
              <a:spcBef>
                <a:spcPts val="0"/>
              </a:spcBef>
              <a:spcAft>
                <a:spcPts val="0"/>
              </a:spcAft>
              <a:buClr>
                <a:schemeClr val="lt1"/>
              </a:buClr>
              <a:buSzPts val="5400"/>
              <a:buFont typeface="Century Gothic"/>
              <a:buNone/>
            </a:pPr>
            <a:r>
              <a:rPr lang="en-ID" sz="2400" b="1">
                <a:solidFill>
                  <a:schemeClr val="lt1"/>
                </a:solidFill>
              </a:rPr>
              <a:t>Studi kasus database Labcommerce</a:t>
            </a:r>
            <a:endParaRPr sz="2400" b="1">
              <a:solidFill>
                <a:schemeClr val="lt1"/>
              </a:solidFill>
            </a:endParaRPr>
          </a:p>
        </p:txBody>
      </p:sp>
      <p:sp>
        <p:nvSpPr>
          <p:cNvPr id="790" name="Google Shape;790;g29a5a70a483_0_53"/>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11</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a56a6785b8_0_0"/>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Contoh-contoh Pertanyaan Laporan</a:t>
            </a:r>
            <a:endParaRPr/>
          </a:p>
        </p:txBody>
      </p:sp>
      <p:pic>
        <p:nvPicPr>
          <p:cNvPr id="797" name="Google Shape;797;g2a56a6785b8_0_0"/>
          <p:cNvPicPr preferRelativeResize="0"/>
          <p:nvPr/>
        </p:nvPicPr>
        <p:blipFill>
          <a:blip r:embed="rId3">
            <a:alphaModFix/>
          </a:blip>
          <a:stretch>
            <a:fillRect/>
          </a:stretch>
        </p:blipFill>
        <p:spPr>
          <a:xfrm>
            <a:off x="4438575" y="2411975"/>
            <a:ext cx="6490225" cy="1782525"/>
          </a:xfrm>
          <a:prstGeom prst="rect">
            <a:avLst/>
          </a:prstGeom>
          <a:noFill/>
          <a:ln>
            <a:noFill/>
          </a:ln>
          <a:effectLst>
            <a:outerShdw blurRad="57150" dist="19050" dir="5400000" algn="bl" rotWithShape="0">
              <a:srgbClr val="000000">
                <a:alpha val="50000"/>
              </a:srgbClr>
            </a:outerShdw>
          </a:effectLst>
        </p:spPr>
      </p:pic>
      <p:sp>
        <p:nvSpPr>
          <p:cNvPr id="798" name="Google Shape;798;g2a56a6785b8_0_0"/>
          <p:cNvSpPr txBox="1"/>
          <p:nvPr/>
        </p:nvSpPr>
        <p:spPr>
          <a:xfrm>
            <a:off x="764175" y="2500300"/>
            <a:ext cx="3368400" cy="1698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Laporan Daftar Akun:</a:t>
            </a:r>
            <a:endParaRPr sz="1500">
              <a:solidFill>
                <a:schemeClr val="dk1"/>
              </a:solidFill>
              <a:latin typeface="Century Gothic"/>
              <a:ea typeface="Century Gothic"/>
              <a:cs typeface="Century Gothic"/>
              <a:sym typeface="Century Gothic"/>
            </a:endParaRPr>
          </a:p>
          <a:p>
            <a:pPr marL="4500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Tampilkan semua informasi akun, termasuk nama, alamat situs web, dan nama sales representative yang menangani setiap akun.</a:t>
            </a:r>
            <a:endParaRPr sz="1500">
              <a:solidFill>
                <a:schemeClr val="dk1"/>
              </a:solidFill>
              <a:latin typeface="Century Gothic"/>
              <a:ea typeface="Century Gothic"/>
              <a:cs typeface="Century Gothic"/>
              <a:sym typeface="Century Gothic"/>
            </a:endParaRPr>
          </a:p>
        </p:txBody>
      </p:sp>
      <p:sp>
        <p:nvSpPr>
          <p:cNvPr id="799" name="Google Shape;799;g2a56a6785b8_0_0"/>
          <p:cNvSpPr txBox="1"/>
          <p:nvPr/>
        </p:nvSpPr>
        <p:spPr>
          <a:xfrm>
            <a:off x="764075" y="4664375"/>
            <a:ext cx="3368400" cy="12366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Laporan Penjualan Total per Akun:</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Berapa total penjualan untuk setiap akun, termasuk jumlah dan nilai penjualan?</a:t>
            </a:r>
            <a:endParaRPr sz="1500">
              <a:solidFill>
                <a:schemeClr val="dk1"/>
              </a:solidFill>
              <a:latin typeface="Century Gothic"/>
              <a:ea typeface="Century Gothic"/>
              <a:cs typeface="Century Gothic"/>
              <a:sym typeface="Century Gothic"/>
            </a:endParaRPr>
          </a:p>
        </p:txBody>
      </p:sp>
      <p:pic>
        <p:nvPicPr>
          <p:cNvPr id="800" name="Google Shape;800;g2a56a6785b8_0_0"/>
          <p:cNvPicPr preferRelativeResize="0"/>
          <p:nvPr/>
        </p:nvPicPr>
        <p:blipFill>
          <a:blip r:embed="rId4">
            <a:alphaModFix/>
          </a:blip>
          <a:stretch>
            <a:fillRect/>
          </a:stretch>
        </p:blipFill>
        <p:spPr>
          <a:xfrm>
            <a:off x="4438575" y="4664375"/>
            <a:ext cx="2733675" cy="16764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a56a6785b8_0_13"/>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Contoh-contoh Pertanyaan Laporan</a:t>
            </a:r>
            <a:endParaRPr/>
          </a:p>
        </p:txBody>
      </p:sp>
      <p:sp>
        <p:nvSpPr>
          <p:cNvPr id="807" name="Google Shape;807;g2a56a6785b8_0_13"/>
          <p:cNvSpPr txBox="1"/>
          <p:nvPr/>
        </p:nvSpPr>
        <p:spPr>
          <a:xfrm>
            <a:off x="764175" y="2500300"/>
            <a:ext cx="3368400" cy="20574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Laporan Kegiatan Web Events:</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Berikan nama akun dan detail tentang semua kejadian web, termasuk waktu kejadian, dan saluran apa yang digunakan.</a:t>
            </a:r>
            <a:endParaRPr sz="1500">
              <a:solidFill>
                <a:schemeClr val="dk1"/>
              </a:solidFill>
              <a:latin typeface="Century Gothic"/>
              <a:ea typeface="Century Gothic"/>
              <a:cs typeface="Century Gothic"/>
              <a:sym typeface="Century Gothic"/>
            </a:endParaRPr>
          </a:p>
          <a:p>
            <a:pPr marL="450000" lvl="0" indent="0" algn="l" rtl="0">
              <a:spcBef>
                <a:spcPts val="1000"/>
              </a:spcBef>
              <a:spcAft>
                <a:spcPts val="0"/>
              </a:spcAft>
              <a:buNone/>
            </a:pPr>
            <a:endParaRPr sz="1500">
              <a:solidFill>
                <a:schemeClr val="dk1"/>
              </a:solidFill>
              <a:latin typeface="Century Gothic"/>
              <a:ea typeface="Century Gothic"/>
              <a:cs typeface="Century Gothic"/>
              <a:sym typeface="Century Gothic"/>
            </a:endParaRPr>
          </a:p>
        </p:txBody>
      </p:sp>
      <p:sp>
        <p:nvSpPr>
          <p:cNvPr id="808" name="Google Shape;808;g2a56a6785b8_0_13"/>
          <p:cNvSpPr txBox="1"/>
          <p:nvPr/>
        </p:nvSpPr>
        <p:spPr>
          <a:xfrm>
            <a:off x="6361150" y="2500300"/>
            <a:ext cx="3368400" cy="1467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Laporan Penjualan per Produk:</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Berapa jumlah dan nilai penjualan untuk setiap jenis produk (standard, gloss, poster)?</a:t>
            </a:r>
            <a:endParaRPr sz="1500">
              <a:solidFill>
                <a:schemeClr val="dk1"/>
              </a:solidFill>
              <a:latin typeface="Century Gothic"/>
              <a:ea typeface="Century Gothic"/>
              <a:cs typeface="Century Gothic"/>
              <a:sym typeface="Century Gothic"/>
            </a:endParaRPr>
          </a:p>
        </p:txBody>
      </p:sp>
      <p:pic>
        <p:nvPicPr>
          <p:cNvPr id="809" name="Google Shape;809;g2a56a6785b8_0_13"/>
          <p:cNvPicPr preferRelativeResize="0"/>
          <p:nvPr/>
        </p:nvPicPr>
        <p:blipFill>
          <a:blip r:embed="rId3">
            <a:alphaModFix/>
          </a:blip>
          <a:stretch>
            <a:fillRect/>
          </a:stretch>
        </p:blipFill>
        <p:spPr>
          <a:xfrm>
            <a:off x="764175" y="4247675"/>
            <a:ext cx="4743000" cy="1989000"/>
          </a:xfrm>
          <a:prstGeom prst="rect">
            <a:avLst/>
          </a:prstGeom>
          <a:noFill/>
          <a:ln>
            <a:noFill/>
          </a:ln>
          <a:effectLst>
            <a:outerShdw blurRad="57150" dist="19050" dir="5400000" algn="bl" rotWithShape="0">
              <a:srgbClr val="000000">
                <a:alpha val="50000"/>
              </a:srgbClr>
            </a:outerShdw>
          </a:effectLst>
        </p:spPr>
      </p:pic>
      <p:pic>
        <p:nvPicPr>
          <p:cNvPr id="810" name="Google Shape;810;g2a56a6785b8_0_13"/>
          <p:cNvPicPr preferRelativeResize="0"/>
          <p:nvPr/>
        </p:nvPicPr>
        <p:blipFill>
          <a:blip r:embed="rId4">
            <a:alphaModFix/>
          </a:blip>
          <a:stretch>
            <a:fillRect/>
          </a:stretch>
        </p:blipFill>
        <p:spPr>
          <a:xfrm>
            <a:off x="6361150" y="4247687"/>
            <a:ext cx="5477875" cy="58172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a56a6785b8_0_27"/>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Contoh-contoh Pertanyaan Laporan</a:t>
            </a:r>
            <a:endParaRPr/>
          </a:p>
        </p:txBody>
      </p:sp>
      <p:sp>
        <p:nvSpPr>
          <p:cNvPr id="817" name="Google Shape;817;g2a56a6785b8_0_27"/>
          <p:cNvSpPr txBox="1"/>
          <p:nvPr/>
        </p:nvSpPr>
        <p:spPr>
          <a:xfrm>
            <a:off x="764175" y="2500300"/>
            <a:ext cx="3368400" cy="1698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Pertanyaan untuk Laporan Total Penjualan per Sales Rep:</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Berapa total penjualan yang ditangani oleh masing-masing sales representative?</a:t>
            </a:r>
            <a:endParaRPr sz="1500">
              <a:solidFill>
                <a:schemeClr val="dk1"/>
              </a:solidFill>
              <a:latin typeface="Century Gothic"/>
              <a:ea typeface="Century Gothic"/>
              <a:cs typeface="Century Gothic"/>
              <a:sym typeface="Century Gothic"/>
            </a:endParaRPr>
          </a:p>
        </p:txBody>
      </p:sp>
      <p:sp>
        <p:nvSpPr>
          <p:cNvPr id="818" name="Google Shape;818;g2a56a6785b8_0_27"/>
          <p:cNvSpPr txBox="1"/>
          <p:nvPr/>
        </p:nvSpPr>
        <p:spPr>
          <a:xfrm>
            <a:off x="6422400" y="2500300"/>
            <a:ext cx="3368400" cy="1698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Daftar Web Events yang Paling Sering Terjadi:</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Apa jenis-jenis web events yang paling sering terjadi, diurutkan berdasarkan frekuensinya?</a:t>
            </a:r>
            <a:endParaRPr sz="1500">
              <a:solidFill>
                <a:schemeClr val="dk1"/>
              </a:solidFill>
              <a:latin typeface="Century Gothic"/>
              <a:ea typeface="Century Gothic"/>
              <a:cs typeface="Century Gothic"/>
              <a:sym typeface="Century Gothic"/>
            </a:endParaRPr>
          </a:p>
        </p:txBody>
      </p:sp>
      <p:pic>
        <p:nvPicPr>
          <p:cNvPr id="819" name="Google Shape;819;g2a56a6785b8_0_27"/>
          <p:cNvPicPr preferRelativeResize="0"/>
          <p:nvPr/>
        </p:nvPicPr>
        <p:blipFill>
          <a:blip r:embed="rId3">
            <a:alphaModFix/>
          </a:blip>
          <a:stretch>
            <a:fillRect/>
          </a:stretch>
        </p:blipFill>
        <p:spPr>
          <a:xfrm>
            <a:off x="764175" y="4264950"/>
            <a:ext cx="4456500" cy="2293400"/>
          </a:xfrm>
          <a:prstGeom prst="rect">
            <a:avLst/>
          </a:prstGeom>
          <a:noFill/>
          <a:ln>
            <a:noFill/>
          </a:ln>
          <a:effectLst>
            <a:outerShdw blurRad="57150" dist="19050" dir="5400000" algn="bl" rotWithShape="0">
              <a:srgbClr val="000000">
                <a:alpha val="50000"/>
              </a:srgbClr>
            </a:outerShdw>
          </a:effectLst>
        </p:spPr>
      </p:pic>
      <p:pic>
        <p:nvPicPr>
          <p:cNvPr id="820" name="Google Shape;820;g2a56a6785b8_0_27"/>
          <p:cNvPicPr preferRelativeResize="0"/>
          <p:nvPr/>
        </p:nvPicPr>
        <p:blipFill>
          <a:blip r:embed="rId4">
            <a:alphaModFix/>
          </a:blip>
          <a:stretch>
            <a:fillRect/>
          </a:stretch>
        </p:blipFill>
        <p:spPr>
          <a:xfrm>
            <a:off x="6422400" y="4278150"/>
            <a:ext cx="2727295" cy="22934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a56a6785b8_0_38"/>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Contoh-contoh Pertanyaan Laporan</a:t>
            </a:r>
            <a:endParaRPr/>
          </a:p>
        </p:txBody>
      </p:sp>
      <p:sp>
        <p:nvSpPr>
          <p:cNvPr id="827" name="Google Shape;827;g2a56a6785b8_0_38"/>
          <p:cNvSpPr txBox="1"/>
          <p:nvPr/>
        </p:nvSpPr>
        <p:spPr>
          <a:xfrm>
            <a:off x="1154950" y="2500300"/>
            <a:ext cx="3368400" cy="10056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Total Penjualan Harian:</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Berapa total penjualan harian dari semua akun?</a:t>
            </a:r>
            <a:endParaRPr sz="1500">
              <a:solidFill>
                <a:schemeClr val="dk1"/>
              </a:solidFill>
              <a:latin typeface="Century Gothic"/>
              <a:ea typeface="Century Gothic"/>
              <a:cs typeface="Century Gothic"/>
              <a:sym typeface="Century Gothic"/>
            </a:endParaRPr>
          </a:p>
        </p:txBody>
      </p:sp>
      <p:sp>
        <p:nvSpPr>
          <p:cNvPr id="828" name="Google Shape;828;g2a56a6785b8_0_38"/>
          <p:cNvSpPr txBox="1"/>
          <p:nvPr/>
        </p:nvSpPr>
        <p:spPr>
          <a:xfrm>
            <a:off x="5447250" y="2500288"/>
            <a:ext cx="3368400" cy="1698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Kinerja Sales Rep:</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Tampilkan kinerja sales representative, termasuk jumlah total penjualan yang ditangani dan daftar akun yang mereka layani.</a:t>
            </a:r>
            <a:endParaRPr sz="1500">
              <a:solidFill>
                <a:schemeClr val="dk1"/>
              </a:solidFill>
              <a:latin typeface="Century Gothic"/>
              <a:ea typeface="Century Gothic"/>
              <a:cs typeface="Century Gothic"/>
              <a:sym typeface="Century Gothic"/>
            </a:endParaRPr>
          </a:p>
        </p:txBody>
      </p:sp>
      <p:pic>
        <p:nvPicPr>
          <p:cNvPr id="829" name="Google Shape;829;g2a56a6785b8_0_38"/>
          <p:cNvPicPr preferRelativeResize="0"/>
          <p:nvPr/>
        </p:nvPicPr>
        <p:blipFill>
          <a:blip r:embed="rId3">
            <a:alphaModFix/>
          </a:blip>
          <a:stretch>
            <a:fillRect/>
          </a:stretch>
        </p:blipFill>
        <p:spPr>
          <a:xfrm>
            <a:off x="1154950" y="3610097"/>
            <a:ext cx="2596450" cy="2751675"/>
          </a:xfrm>
          <a:prstGeom prst="rect">
            <a:avLst/>
          </a:prstGeom>
          <a:noFill/>
          <a:ln>
            <a:noFill/>
          </a:ln>
          <a:effectLst>
            <a:outerShdw blurRad="57150" dist="19050" dir="5400000" algn="bl" rotWithShape="0">
              <a:srgbClr val="000000">
                <a:alpha val="50000"/>
              </a:srgbClr>
            </a:outerShdw>
          </a:effectLst>
        </p:spPr>
      </p:pic>
      <p:pic>
        <p:nvPicPr>
          <p:cNvPr id="830" name="Google Shape;830;g2a56a6785b8_0_38"/>
          <p:cNvPicPr preferRelativeResize="0"/>
          <p:nvPr/>
        </p:nvPicPr>
        <p:blipFill>
          <a:blip r:embed="rId4">
            <a:alphaModFix/>
          </a:blip>
          <a:stretch>
            <a:fillRect/>
          </a:stretch>
        </p:blipFill>
        <p:spPr>
          <a:xfrm>
            <a:off x="5447246" y="4276777"/>
            <a:ext cx="4469200" cy="22156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a56a6785b8_0_49"/>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Contoh-contoh Pertanyaan Laporan</a:t>
            </a:r>
            <a:endParaRPr/>
          </a:p>
        </p:txBody>
      </p:sp>
      <p:sp>
        <p:nvSpPr>
          <p:cNvPr id="837" name="Google Shape;837;g2a56a6785b8_0_49"/>
          <p:cNvSpPr txBox="1"/>
          <p:nvPr/>
        </p:nvSpPr>
        <p:spPr>
          <a:xfrm>
            <a:off x="1154950" y="2500300"/>
            <a:ext cx="6611700" cy="15957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Daftar Pesanan yang Memerlukan Perhatian Khusus:</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Tampilkan pesanan yang memiliki jumlah standar, gloss, atau poster diatas rata-rata, sehingga memerlukan peninjauan lebih lanjut.</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endParaRPr sz="1500">
              <a:solidFill>
                <a:schemeClr val="dk1"/>
              </a:solidFill>
              <a:latin typeface="Century Gothic"/>
              <a:ea typeface="Century Gothic"/>
              <a:cs typeface="Century Gothic"/>
              <a:sym typeface="Century Gothic"/>
            </a:endParaRPr>
          </a:p>
        </p:txBody>
      </p:sp>
      <p:pic>
        <p:nvPicPr>
          <p:cNvPr id="838" name="Google Shape;838;g2a56a6785b8_0_49"/>
          <p:cNvPicPr preferRelativeResize="0"/>
          <p:nvPr/>
        </p:nvPicPr>
        <p:blipFill>
          <a:blip r:embed="rId3">
            <a:alphaModFix/>
          </a:blip>
          <a:stretch>
            <a:fillRect/>
          </a:stretch>
        </p:blipFill>
        <p:spPr>
          <a:xfrm>
            <a:off x="1109650" y="3850025"/>
            <a:ext cx="9972675" cy="20574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a56a6785b8_0_59"/>
          <p:cNvSpPr txBox="1">
            <a:spLocks noGrp="1"/>
          </p:cNvSpPr>
          <p:nvPr>
            <p:ph type="title"/>
          </p:nvPr>
        </p:nvSpPr>
        <p:spPr>
          <a:xfrm>
            <a:off x="1154954" y="973668"/>
            <a:ext cx="8761500" cy="707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D"/>
              <a:t>Contoh-contoh Pertanyaan Laporan</a:t>
            </a:r>
            <a:endParaRPr/>
          </a:p>
        </p:txBody>
      </p:sp>
      <p:sp>
        <p:nvSpPr>
          <p:cNvPr id="845" name="Google Shape;845;g2a56a6785b8_0_59"/>
          <p:cNvSpPr txBox="1"/>
          <p:nvPr/>
        </p:nvSpPr>
        <p:spPr>
          <a:xfrm>
            <a:off x="1109650" y="2500300"/>
            <a:ext cx="4439400" cy="14673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Daftar Pesanan yang Memerlukan Perhatian Khusus:</a:t>
            </a:r>
            <a:endParaRPr sz="1500">
              <a:solidFill>
                <a:schemeClr val="dk1"/>
              </a:solidFill>
              <a:latin typeface="Century Gothic"/>
              <a:ea typeface="Century Gothic"/>
              <a:cs typeface="Century Gothic"/>
              <a:sym typeface="Century Gothic"/>
            </a:endParaRPr>
          </a:p>
          <a:p>
            <a:pPr marL="457200" lvl="0" indent="0" algn="l" rtl="0">
              <a:spcBef>
                <a:spcPts val="1000"/>
              </a:spcBef>
              <a:spcAft>
                <a:spcPts val="0"/>
              </a:spcAft>
              <a:buNone/>
            </a:pPr>
            <a:r>
              <a:rPr lang="en-ID" sz="1500">
                <a:solidFill>
                  <a:schemeClr val="dk1"/>
                </a:solidFill>
                <a:latin typeface="Century Gothic"/>
                <a:ea typeface="Century Gothic"/>
                <a:cs typeface="Century Gothic"/>
                <a:sym typeface="Century Gothic"/>
              </a:rPr>
              <a:t>Tampilkan nama-nama akun yang memiliki omset pembelian kurang dari rata-rata.</a:t>
            </a:r>
            <a:endParaRPr sz="1500">
              <a:solidFill>
                <a:schemeClr val="dk1"/>
              </a:solidFill>
              <a:latin typeface="Century Gothic"/>
              <a:ea typeface="Century Gothic"/>
              <a:cs typeface="Century Gothic"/>
              <a:sym typeface="Century Gothic"/>
            </a:endParaRPr>
          </a:p>
        </p:txBody>
      </p:sp>
      <p:pic>
        <p:nvPicPr>
          <p:cNvPr id="846" name="Google Shape;846;g2a56a6785b8_0_59"/>
          <p:cNvPicPr preferRelativeResize="0"/>
          <p:nvPr/>
        </p:nvPicPr>
        <p:blipFill>
          <a:blip r:embed="rId3">
            <a:alphaModFix/>
          </a:blip>
          <a:stretch>
            <a:fillRect/>
          </a:stretch>
        </p:blipFill>
        <p:spPr>
          <a:xfrm>
            <a:off x="5953575" y="2563096"/>
            <a:ext cx="5331850" cy="30686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pic>
        <p:nvPicPr>
          <p:cNvPr id="851" name="Google Shape;851;g2a550b50268_0_0"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852" name="Google Shape;852;g2a550b50268_0_0"/>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2400" b="1">
                <a:solidFill>
                  <a:schemeClr val="lt1"/>
                </a:solidFill>
              </a:rPr>
              <a:t>TRANSACTION, STORE PROCEDURE</a:t>
            </a:r>
            <a:endParaRPr sz="2400" b="1">
              <a:solidFill>
                <a:schemeClr val="lt1"/>
              </a:solidFill>
            </a:endParaRPr>
          </a:p>
        </p:txBody>
      </p:sp>
      <p:sp>
        <p:nvSpPr>
          <p:cNvPr id="853" name="Google Shape;853;g2a550b50268_0_0"/>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12</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70A4-9004-B910-7C44-FB0845BFCB5D}"/>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25E16A43-B9A3-632C-31E7-6984699816F7}"/>
              </a:ext>
            </a:extLst>
          </p:cNvPr>
          <p:cNvSpPr>
            <a:spLocks noGrp="1"/>
          </p:cNvSpPr>
          <p:nvPr>
            <p:ph type="body" idx="1"/>
          </p:nvPr>
        </p:nvSpPr>
        <p:spPr/>
        <p:txBody>
          <a:bodyPr>
            <a:normAutofit/>
          </a:bodyPr>
          <a:lstStyle/>
          <a:p>
            <a:r>
              <a:rPr lang="sv-SE"/>
              <a:t>Mahasiswa </a:t>
            </a:r>
            <a:r>
              <a:rPr lang="sv-SE" b="1"/>
              <a:t>mampu memahami konsep dasar transaksi </a:t>
            </a:r>
            <a:r>
              <a:rPr lang="sv-SE"/>
              <a:t>(</a:t>
            </a:r>
            <a:r>
              <a:rPr lang="sv-SE" i="1"/>
              <a:t>commit</a:t>
            </a:r>
            <a:r>
              <a:rPr lang="sv-SE"/>
              <a:t>, </a:t>
            </a:r>
            <a:r>
              <a:rPr lang="sv-SE" i="1"/>
              <a:t>rollback</a:t>
            </a:r>
            <a:r>
              <a:rPr lang="sv-SE"/>
              <a:t>, </a:t>
            </a:r>
            <a:r>
              <a:rPr lang="sv-SE" i="1"/>
              <a:t>savepoint)</a:t>
            </a:r>
            <a:r>
              <a:rPr lang="sv-SE"/>
              <a:t> untuk menjamin integritas data.</a:t>
            </a:r>
          </a:p>
          <a:p>
            <a:r>
              <a:rPr lang="en-ID"/>
              <a:t>Mahasiswa </a:t>
            </a:r>
            <a:r>
              <a:rPr lang="en-ID" b="1"/>
              <a:t>mampu merancang dan mengimplementasikan transaksi basis data </a:t>
            </a:r>
            <a:r>
              <a:rPr lang="en-ID"/>
              <a:t>dengan memanfaatkan mekanisme kontrol transaksi di DBMS.</a:t>
            </a:r>
            <a:endParaRPr lang="sv-SE"/>
          </a:p>
          <a:p>
            <a:r>
              <a:rPr lang="en-ID"/>
              <a:t>Mahasiswa </a:t>
            </a:r>
            <a:r>
              <a:rPr lang="en-ID" b="1"/>
              <a:t>memahami konsep </a:t>
            </a:r>
            <a:r>
              <a:rPr lang="en-ID" b="1" i="1"/>
              <a:t>Stored Procedure</a:t>
            </a:r>
            <a:r>
              <a:rPr lang="en-ID"/>
              <a:t>, termasuk struktur, parameter, dan manfaatnya dalam optimisasi operasi basis data.</a:t>
            </a:r>
            <a:endParaRPr lang="sv-SE"/>
          </a:p>
          <a:p>
            <a:r>
              <a:rPr lang="sv-SE"/>
              <a:t>Mahasiswa </a:t>
            </a:r>
            <a:r>
              <a:rPr lang="sv-SE" b="1"/>
              <a:t>mampu menulis, menguji, dan mengelola </a:t>
            </a:r>
            <a:r>
              <a:rPr lang="sv-SE" b="1" i="1"/>
              <a:t>Stored Procedure</a:t>
            </a:r>
            <a:r>
              <a:rPr lang="sv-SE" b="1"/>
              <a:t> </a:t>
            </a:r>
            <a:r>
              <a:rPr lang="sv-SE"/>
              <a:t>untuk meningkatkan efisiensi dan meminimalkan redundansi logika aplikasi.</a:t>
            </a:r>
          </a:p>
        </p:txBody>
      </p:sp>
    </p:spTree>
    <p:extLst>
      <p:ext uri="{BB962C8B-B14F-4D97-AF65-F5344CB8AC3E}">
        <p14:creationId xmlns:p14="http://schemas.microsoft.com/office/powerpoint/2010/main" val="13195073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2c511ebcc_1_35"/>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Clr>
                <a:schemeClr val="dk1"/>
              </a:buClr>
              <a:buSzPts val="1800"/>
              <a:buFont typeface="Roboto"/>
              <a:buChar char="❏"/>
            </a:pPr>
            <a:r>
              <a:rPr lang="en-ID" b="1">
                <a:solidFill>
                  <a:schemeClr val="dk1"/>
                </a:solidFill>
              </a:rPr>
              <a:t>Transaksi </a:t>
            </a:r>
            <a:r>
              <a:rPr lang="en-ID">
                <a:solidFill>
                  <a:schemeClr val="dk1"/>
                </a:solidFill>
              </a:rPr>
              <a:t>dalam SQL digunakan untuk mengelola serangkaian pernyataan SQL sehingga entah semua pernyataan dijalankan atau tidak ada yang dijalankan sama sekali. </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b="1">
                <a:solidFill>
                  <a:schemeClr val="dk1"/>
                </a:solidFill>
              </a:rPr>
              <a:t>Transaksi </a:t>
            </a:r>
            <a:r>
              <a:rPr lang="en-ID">
                <a:solidFill>
                  <a:schemeClr val="dk1"/>
                </a:solidFill>
              </a:rPr>
              <a:t>memastikan </a:t>
            </a:r>
            <a:r>
              <a:rPr lang="en-ID" u="sng">
                <a:solidFill>
                  <a:schemeClr val="dk1"/>
                </a:solidFill>
              </a:rPr>
              <a:t>keberhasilan </a:t>
            </a:r>
            <a:r>
              <a:rPr lang="en-ID">
                <a:solidFill>
                  <a:schemeClr val="dk1"/>
                </a:solidFill>
              </a:rPr>
              <a:t>atau </a:t>
            </a:r>
            <a:r>
              <a:rPr lang="en-ID" u="sng">
                <a:solidFill>
                  <a:schemeClr val="dk1"/>
                </a:solidFill>
              </a:rPr>
              <a:t>kegagalan </a:t>
            </a:r>
            <a:r>
              <a:rPr lang="en-ID">
                <a:solidFill>
                  <a:schemeClr val="dk1"/>
                </a:solidFill>
              </a:rPr>
              <a:t>keseluruhan operasi dan membantu mempertahankan konsistensi data.</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a:solidFill>
                  <a:schemeClr val="dk1"/>
                </a:solidFill>
              </a:rPr>
              <a:t>Beberapa konsep transaksi:</a:t>
            </a:r>
            <a:endParaRPr>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ID" sz="1500" b="1">
                <a:solidFill>
                  <a:schemeClr val="dk1"/>
                </a:solidFill>
              </a:rPr>
              <a:t>START TRANSACTION</a:t>
            </a:r>
            <a:r>
              <a:rPr lang="en-ID" sz="1500">
                <a:solidFill>
                  <a:schemeClr val="dk1"/>
                </a:solidFill>
              </a:rPr>
              <a:t>, </a:t>
            </a:r>
            <a:r>
              <a:rPr lang="en-ID" sz="1500" b="1">
                <a:solidFill>
                  <a:schemeClr val="dk1"/>
                </a:solidFill>
              </a:rPr>
              <a:t>COMMIT</a:t>
            </a:r>
            <a:r>
              <a:rPr lang="en-ID" sz="1500">
                <a:solidFill>
                  <a:schemeClr val="dk1"/>
                </a:solidFill>
              </a:rPr>
              <a:t>, atau </a:t>
            </a:r>
            <a:r>
              <a:rPr lang="en-ID" sz="1500" b="1">
                <a:solidFill>
                  <a:schemeClr val="dk1"/>
                </a:solidFill>
              </a:rPr>
              <a:t>ROLLBACK</a:t>
            </a:r>
            <a:r>
              <a:rPr lang="en-ID" sz="1500">
                <a:solidFill>
                  <a:schemeClr val="dk1"/>
                </a:solidFill>
              </a:rPr>
              <a:t>: Pernyataan ini digunakan untuk mengelola transaksi.</a:t>
            </a:r>
            <a:r>
              <a:rPr lang="en-ID" sz="1500" b="1">
                <a:solidFill>
                  <a:schemeClr val="dk1"/>
                </a:solidFill>
              </a:rPr>
              <a:t> </a:t>
            </a:r>
            <a:endParaRPr sz="1500" b="1">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ID" sz="1500" b="1">
                <a:solidFill>
                  <a:schemeClr val="dk1"/>
                </a:solidFill>
              </a:rPr>
              <a:t>START  TRANSACTION </a:t>
            </a:r>
            <a:r>
              <a:rPr lang="en-ID" sz="1500">
                <a:solidFill>
                  <a:schemeClr val="dk1"/>
                </a:solidFill>
              </a:rPr>
              <a:t>menandakan awal transaksi, </a:t>
            </a:r>
            <a:endParaRPr sz="1500">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ID" sz="1500" b="1">
                <a:solidFill>
                  <a:schemeClr val="dk1"/>
                </a:solidFill>
              </a:rPr>
              <a:t>COMMIT </a:t>
            </a:r>
            <a:r>
              <a:rPr lang="en-ID" sz="1500">
                <a:solidFill>
                  <a:schemeClr val="dk1"/>
                </a:solidFill>
              </a:rPr>
              <a:t>mengakhiri transaksi dengan sukses, dan </a:t>
            </a:r>
            <a:endParaRPr sz="1500">
              <a:solidFill>
                <a:schemeClr val="dk1"/>
              </a:solidFill>
            </a:endParaRPr>
          </a:p>
          <a:p>
            <a:pPr marL="914400" lvl="1" indent="-323850" algn="l" rtl="0">
              <a:lnSpc>
                <a:spcPct val="115000"/>
              </a:lnSpc>
              <a:spcBef>
                <a:spcPts val="0"/>
              </a:spcBef>
              <a:spcAft>
                <a:spcPts val="0"/>
              </a:spcAft>
              <a:buClr>
                <a:schemeClr val="dk1"/>
              </a:buClr>
              <a:buSzPts val="1500"/>
              <a:buFont typeface="Arial"/>
              <a:buChar char="❏"/>
            </a:pPr>
            <a:r>
              <a:rPr lang="en-ID" sz="1500" b="1">
                <a:solidFill>
                  <a:schemeClr val="dk1"/>
                </a:solidFill>
              </a:rPr>
              <a:t>ROLLBACK </a:t>
            </a:r>
            <a:r>
              <a:rPr lang="en-ID" sz="1500">
                <a:solidFill>
                  <a:schemeClr val="dk1"/>
                </a:solidFill>
              </a:rPr>
              <a:t>mengembalikan database ke keadaan sebelum transaksi dimulai dalam kasus kegagalan.</a:t>
            </a:r>
            <a:endParaRPr sz="1500" b="1">
              <a:solidFill>
                <a:schemeClr val="dk1"/>
              </a:solidFill>
            </a:endParaRPr>
          </a:p>
        </p:txBody>
      </p:sp>
      <p:sp>
        <p:nvSpPr>
          <p:cNvPr id="860" name="Google Shape;860;g262c511ebcc_1_35"/>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Transaction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59">
                                            <p:txEl>
                                              <p:pRg st="0" end="0"/>
                                            </p:txEl>
                                          </p:spTgt>
                                        </p:tgtEl>
                                        <p:attrNameLst>
                                          <p:attrName>style.visibility</p:attrName>
                                        </p:attrNameLst>
                                      </p:cBhvr>
                                      <p:to>
                                        <p:strVal val="visible"/>
                                      </p:to>
                                    </p:set>
                                    <p:anim calcmode="lin" valueType="num">
                                      <p:cBhvr additive="base">
                                        <p:cTn id="7" dur="500"/>
                                        <p:tgtEl>
                                          <p:spTgt spid="85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59">
                                            <p:txEl>
                                              <p:pRg st="1" end="1"/>
                                            </p:txEl>
                                          </p:spTgt>
                                        </p:tgtEl>
                                        <p:attrNameLst>
                                          <p:attrName>style.visibility</p:attrName>
                                        </p:attrNameLst>
                                      </p:cBhvr>
                                      <p:to>
                                        <p:strVal val="visible"/>
                                      </p:to>
                                    </p:set>
                                    <p:anim calcmode="lin" valueType="num">
                                      <p:cBhvr additive="base">
                                        <p:cTn id="12" dur="500"/>
                                        <p:tgtEl>
                                          <p:spTgt spid="85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59">
                                            <p:txEl>
                                              <p:pRg st="2" end="2"/>
                                            </p:txEl>
                                          </p:spTgt>
                                        </p:tgtEl>
                                        <p:attrNameLst>
                                          <p:attrName>style.visibility</p:attrName>
                                        </p:attrNameLst>
                                      </p:cBhvr>
                                      <p:to>
                                        <p:strVal val="visible"/>
                                      </p:to>
                                    </p:set>
                                    <p:anim calcmode="lin" valueType="num">
                                      <p:cBhvr additive="base">
                                        <p:cTn id="17" dur="500"/>
                                        <p:tgtEl>
                                          <p:spTgt spid="85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59">
                                            <p:txEl>
                                              <p:pRg st="3" end="3"/>
                                            </p:txEl>
                                          </p:spTgt>
                                        </p:tgtEl>
                                        <p:attrNameLst>
                                          <p:attrName>style.visibility</p:attrName>
                                        </p:attrNameLst>
                                      </p:cBhvr>
                                      <p:to>
                                        <p:strVal val="visible"/>
                                      </p:to>
                                    </p:set>
                                    <p:anim calcmode="lin" valueType="num">
                                      <p:cBhvr additive="base">
                                        <p:cTn id="22" dur="500"/>
                                        <p:tgtEl>
                                          <p:spTgt spid="85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859">
                                            <p:txEl>
                                              <p:pRg st="4" end="4"/>
                                            </p:txEl>
                                          </p:spTgt>
                                        </p:tgtEl>
                                        <p:attrNameLst>
                                          <p:attrName>style.visibility</p:attrName>
                                        </p:attrNameLst>
                                      </p:cBhvr>
                                      <p:to>
                                        <p:strVal val="visible"/>
                                      </p:to>
                                    </p:set>
                                    <p:anim calcmode="lin" valueType="num">
                                      <p:cBhvr additive="base">
                                        <p:cTn id="27" dur="500"/>
                                        <p:tgtEl>
                                          <p:spTgt spid="859">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859">
                                            <p:txEl>
                                              <p:pRg st="5" end="5"/>
                                            </p:txEl>
                                          </p:spTgt>
                                        </p:tgtEl>
                                        <p:attrNameLst>
                                          <p:attrName>style.visibility</p:attrName>
                                        </p:attrNameLst>
                                      </p:cBhvr>
                                      <p:to>
                                        <p:strVal val="visible"/>
                                      </p:to>
                                    </p:set>
                                    <p:anim calcmode="lin" valueType="num">
                                      <p:cBhvr additive="base">
                                        <p:cTn id="32" dur="500"/>
                                        <p:tgtEl>
                                          <p:spTgt spid="859">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59">
                                            <p:txEl>
                                              <p:pRg st="6" end="6"/>
                                            </p:txEl>
                                          </p:spTgt>
                                        </p:tgtEl>
                                        <p:attrNameLst>
                                          <p:attrName>style.visibility</p:attrName>
                                        </p:attrNameLst>
                                      </p:cBhvr>
                                      <p:to>
                                        <p:strVal val="visible"/>
                                      </p:to>
                                    </p:set>
                                    <p:anim calcmode="lin" valueType="num">
                                      <p:cBhvr additive="base">
                                        <p:cTn id="37" dur="500"/>
                                        <p:tgtEl>
                                          <p:spTgt spid="859">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300D-35B3-6004-AEFC-E0402D616B55}"/>
              </a:ext>
            </a:extLst>
          </p:cNvPr>
          <p:cNvSpPr>
            <a:spLocks noGrp="1"/>
          </p:cNvSpPr>
          <p:nvPr>
            <p:ph type="title"/>
          </p:nvPr>
        </p:nvSpPr>
        <p:spPr/>
        <p:txBody>
          <a:bodyPr/>
          <a:lstStyle/>
          <a:p>
            <a:r>
              <a:rPr lang="en-US"/>
              <a:t>ACID</a:t>
            </a:r>
            <a:endParaRPr lang="en-ID"/>
          </a:p>
        </p:txBody>
      </p:sp>
      <p:sp>
        <p:nvSpPr>
          <p:cNvPr id="3" name="Text Placeholder 2">
            <a:extLst>
              <a:ext uri="{FF2B5EF4-FFF2-40B4-BE49-F238E27FC236}">
                <a16:creationId xmlns:a16="http://schemas.microsoft.com/office/drawing/2014/main" id="{C9D00EBA-5855-9B69-8EBF-4247D9396235}"/>
              </a:ext>
            </a:extLst>
          </p:cNvPr>
          <p:cNvSpPr>
            <a:spLocks noGrp="1"/>
          </p:cNvSpPr>
          <p:nvPr>
            <p:ph type="body" idx="1"/>
          </p:nvPr>
        </p:nvSpPr>
        <p:spPr>
          <a:xfrm>
            <a:off x="661471" y="2235201"/>
            <a:ext cx="4636244" cy="4310742"/>
          </a:xfrm>
        </p:spPr>
        <p:txBody>
          <a:bodyPr>
            <a:normAutofit lnSpcReduction="10000"/>
          </a:bodyPr>
          <a:lstStyle/>
          <a:p>
            <a:pPr marL="137160" indent="0">
              <a:buNone/>
            </a:pPr>
            <a:r>
              <a:rPr lang="en-ID" sz="2400"/>
              <a:t>Transaksi dalam MySQL memiliki sifat </a:t>
            </a:r>
            <a:r>
              <a:rPr lang="en-ID" sz="2400" b="1"/>
              <a:t>ACID</a:t>
            </a:r>
            <a:r>
              <a:rPr lang="en-ID" sz="2400"/>
              <a:t>:</a:t>
            </a:r>
          </a:p>
          <a:p>
            <a:pPr>
              <a:buFont typeface="Arial" panose="020B0604020202020204" pitchFamily="34" charset="0"/>
              <a:buChar char="•"/>
            </a:pPr>
            <a:r>
              <a:rPr lang="en-ID" sz="2400" b="1"/>
              <a:t>Atomicity</a:t>
            </a:r>
            <a:r>
              <a:rPr lang="en-ID" sz="2400"/>
              <a:t>: Semua operasi dalam transaksi harus berhasil sepenuhnya atau dibatalkan seluruhnya.</a:t>
            </a:r>
          </a:p>
          <a:p>
            <a:pPr>
              <a:buFont typeface="Arial" panose="020B0604020202020204" pitchFamily="34" charset="0"/>
              <a:buChar char="•"/>
            </a:pPr>
            <a:r>
              <a:rPr lang="en-ID" sz="2400" b="1"/>
              <a:t>Consistency</a:t>
            </a:r>
            <a:r>
              <a:rPr lang="en-ID" sz="2400"/>
              <a:t>: Transaksi memastikan data berada dalam keadaan konsisten sebelum dan setelah transaksi.</a:t>
            </a:r>
          </a:p>
          <a:p>
            <a:endParaRPr lang="en-ID" sz="2400"/>
          </a:p>
        </p:txBody>
      </p:sp>
      <p:sp>
        <p:nvSpPr>
          <p:cNvPr id="5" name="TextBox 4">
            <a:extLst>
              <a:ext uri="{FF2B5EF4-FFF2-40B4-BE49-F238E27FC236}">
                <a16:creationId xmlns:a16="http://schemas.microsoft.com/office/drawing/2014/main" id="{4D61BF9E-FCD8-99CC-ECDB-A41646EE11CC}"/>
              </a:ext>
            </a:extLst>
          </p:cNvPr>
          <p:cNvSpPr txBox="1"/>
          <p:nvPr/>
        </p:nvSpPr>
        <p:spPr>
          <a:xfrm>
            <a:off x="5535659" y="5730443"/>
            <a:ext cx="6077629" cy="307777"/>
          </a:xfrm>
          <a:prstGeom prst="rect">
            <a:avLst/>
          </a:prstGeom>
          <a:noFill/>
        </p:spPr>
        <p:txBody>
          <a:bodyPr wrap="square">
            <a:spAutoFit/>
          </a:bodyPr>
          <a:lstStyle/>
          <a:p>
            <a:pPr algn="ctr"/>
            <a:r>
              <a:rPr lang="en-ID">
                <a:hlinkClick r:id="rId2"/>
              </a:rPr>
              <a:t>https://www.youtube.com/watch?v=GAe5oB742dw</a:t>
            </a:r>
            <a:r>
              <a:rPr lang="en-ID"/>
              <a:t> </a:t>
            </a:r>
          </a:p>
        </p:txBody>
      </p:sp>
      <p:pic>
        <p:nvPicPr>
          <p:cNvPr id="7" name="Picture 6">
            <a:extLst>
              <a:ext uri="{FF2B5EF4-FFF2-40B4-BE49-F238E27FC236}">
                <a16:creationId xmlns:a16="http://schemas.microsoft.com/office/drawing/2014/main" id="{BBD35B3A-B01D-27EF-1F1F-152FA512C086}"/>
              </a:ext>
            </a:extLst>
          </p:cNvPr>
          <p:cNvPicPr>
            <a:picLocks noChangeAspect="1"/>
          </p:cNvPicPr>
          <p:nvPr/>
        </p:nvPicPr>
        <p:blipFill>
          <a:blip r:embed="rId3"/>
          <a:srcRect l="6510" t="26852" r="49604" b="33217"/>
          <a:stretch/>
        </p:blipFill>
        <p:spPr>
          <a:xfrm>
            <a:off x="5535659" y="2441421"/>
            <a:ext cx="6077630" cy="3109082"/>
          </a:xfrm>
          <a:prstGeom prst="rect">
            <a:avLst/>
          </a:prstGeom>
        </p:spPr>
      </p:pic>
    </p:spTree>
    <p:extLst>
      <p:ext uri="{BB962C8B-B14F-4D97-AF65-F5344CB8AC3E}">
        <p14:creationId xmlns:p14="http://schemas.microsoft.com/office/powerpoint/2010/main" val="23305518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300D-35B3-6004-AEFC-E0402D616B55}"/>
              </a:ext>
            </a:extLst>
          </p:cNvPr>
          <p:cNvSpPr>
            <a:spLocks noGrp="1"/>
          </p:cNvSpPr>
          <p:nvPr>
            <p:ph type="title"/>
          </p:nvPr>
        </p:nvSpPr>
        <p:spPr/>
        <p:txBody>
          <a:bodyPr/>
          <a:lstStyle/>
          <a:p>
            <a:r>
              <a:rPr lang="en-US"/>
              <a:t>ACID</a:t>
            </a:r>
            <a:endParaRPr lang="en-ID"/>
          </a:p>
        </p:txBody>
      </p:sp>
      <p:sp>
        <p:nvSpPr>
          <p:cNvPr id="3" name="Text Placeholder 2">
            <a:extLst>
              <a:ext uri="{FF2B5EF4-FFF2-40B4-BE49-F238E27FC236}">
                <a16:creationId xmlns:a16="http://schemas.microsoft.com/office/drawing/2014/main" id="{C9D00EBA-5855-9B69-8EBF-4247D9396235}"/>
              </a:ext>
            </a:extLst>
          </p:cNvPr>
          <p:cNvSpPr>
            <a:spLocks noGrp="1"/>
          </p:cNvSpPr>
          <p:nvPr>
            <p:ph type="body" idx="1"/>
          </p:nvPr>
        </p:nvSpPr>
        <p:spPr>
          <a:xfrm>
            <a:off x="661471" y="2235201"/>
            <a:ext cx="4636244" cy="4310742"/>
          </a:xfrm>
        </p:spPr>
        <p:txBody>
          <a:bodyPr>
            <a:normAutofit lnSpcReduction="10000"/>
          </a:bodyPr>
          <a:lstStyle/>
          <a:p>
            <a:pPr marL="137160" indent="0">
              <a:buNone/>
            </a:pPr>
            <a:r>
              <a:rPr lang="en-ID" sz="2400"/>
              <a:t>Transaksi dalam MySQL memiliki sifat </a:t>
            </a:r>
            <a:r>
              <a:rPr lang="en-ID" sz="2400" b="1"/>
              <a:t>ACID</a:t>
            </a:r>
            <a:r>
              <a:rPr lang="en-ID" sz="2400"/>
              <a:t>:</a:t>
            </a:r>
          </a:p>
          <a:p>
            <a:pPr>
              <a:buFont typeface="Arial" panose="020B0604020202020204" pitchFamily="34" charset="0"/>
              <a:buChar char="•"/>
            </a:pPr>
            <a:r>
              <a:rPr lang="en-ID" sz="2400" b="1"/>
              <a:t>Isolation</a:t>
            </a:r>
            <a:r>
              <a:rPr lang="en-ID" sz="2400"/>
              <a:t>: Operasi dalam transaksi tidak boleh terganggu oleh transaksi lainnya.</a:t>
            </a:r>
          </a:p>
          <a:p>
            <a:pPr>
              <a:buFont typeface="Arial" panose="020B0604020202020204" pitchFamily="34" charset="0"/>
              <a:buChar char="•"/>
            </a:pPr>
            <a:r>
              <a:rPr lang="en-ID" sz="2400" b="1"/>
              <a:t>Durability</a:t>
            </a:r>
            <a:r>
              <a:rPr lang="en-ID" sz="2400"/>
              <a:t>: Data yang telah dikomit dalam transaksi akan tetap tersimpan, meskipun terjadi kegagalan sistem.</a:t>
            </a:r>
          </a:p>
        </p:txBody>
      </p:sp>
      <p:sp>
        <p:nvSpPr>
          <p:cNvPr id="5" name="TextBox 4">
            <a:extLst>
              <a:ext uri="{FF2B5EF4-FFF2-40B4-BE49-F238E27FC236}">
                <a16:creationId xmlns:a16="http://schemas.microsoft.com/office/drawing/2014/main" id="{4D61BF9E-FCD8-99CC-ECDB-A41646EE11CC}"/>
              </a:ext>
            </a:extLst>
          </p:cNvPr>
          <p:cNvSpPr txBox="1"/>
          <p:nvPr/>
        </p:nvSpPr>
        <p:spPr>
          <a:xfrm>
            <a:off x="5535661" y="6238166"/>
            <a:ext cx="6077629" cy="307777"/>
          </a:xfrm>
          <a:prstGeom prst="rect">
            <a:avLst/>
          </a:prstGeom>
          <a:noFill/>
        </p:spPr>
        <p:txBody>
          <a:bodyPr wrap="square">
            <a:spAutoFit/>
          </a:bodyPr>
          <a:lstStyle/>
          <a:p>
            <a:pPr algn="ctr"/>
            <a:r>
              <a:rPr lang="en-ID">
                <a:hlinkClick r:id="rId2"/>
              </a:rPr>
              <a:t>https://www.youtube.com/watch?v=GAe5oB742dw</a:t>
            </a:r>
            <a:r>
              <a:rPr lang="en-ID"/>
              <a:t> </a:t>
            </a:r>
          </a:p>
        </p:txBody>
      </p:sp>
      <p:pic>
        <p:nvPicPr>
          <p:cNvPr id="7" name="Picture 6">
            <a:extLst>
              <a:ext uri="{FF2B5EF4-FFF2-40B4-BE49-F238E27FC236}">
                <a16:creationId xmlns:a16="http://schemas.microsoft.com/office/drawing/2014/main" id="{BBD35B3A-B01D-27EF-1F1F-152FA512C086}"/>
              </a:ext>
            </a:extLst>
          </p:cNvPr>
          <p:cNvPicPr>
            <a:picLocks noChangeAspect="1"/>
          </p:cNvPicPr>
          <p:nvPr/>
        </p:nvPicPr>
        <p:blipFill>
          <a:blip r:embed="rId3"/>
          <a:srcRect l="49807" t="27471" r="6307" b="25113"/>
          <a:stretch/>
        </p:blipFill>
        <p:spPr>
          <a:xfrm>
            <a:off x="5535660" y="2414007"/>
            <a:ext cx="6077630" cy="3691872"/>
          </a:xfrm>
          <a:prstGeom prst="rect">
            <a:avLst/>
          </a:prstGeom>
        </p:spPr>
      </p:pic>
    </p:spTree>
    <p:extLst>
      <p:ext uri="{BB962C8B-B14F-4D97-AF65-F5344CB8AC3E}">
        <p14:creationId xmlns:p14="http://schemas.microsoft.com/office/powerpoint/2010/main" val="27513573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4A56-1613-8C0B-C1C0-5D3A7EB69004}"/>
              </a:ext>
            </a:extLst>
          </p:cNvPr>
          <p:cNvSpPr>
            <a:spLocks noGrp="1"/>
          </p:cNvSpPr>
          <p:nvPr>
            <p:ph type="title"/>
          </p:nvPr>
        </p:nvSpPr>
        <p:spPr>
          <a:noFill/>
          <a:ln>
            <a:noFill/>
          </a:ln>
        </p:spPr>
        <p:txBody>
          <a:bodyPr spcFirstLastPara="1" wrap="square" lIns="91425" tIns="45700" rIns="91425" bIns="45700" anchor="ctr" anchorCtr="0">
            <a:noAutofit/>
          </a:bodyPr>
          <a:lstStyle/>
          <a:p>
            <a:r>
              <a:rPr lang="en-ID"/>
              <a:t>Langkah Dasar Penggunaan Transaksi</a:t>
            </a:r>
          </a:p>
        </p:txBody>
      </p:sp>
      <p:sp>
        <p:nvSpPr>
          <p:cNvPr id="4" name="Rectangle 1">
            <a:extLst>
              <a:ext uri="{FF2B5EF4-FFF2-40B4-BE49-F238E27FC236}">
                <a16:creationId xmlns:a16="http://schemas.microsoft.com/office/drawing/2014/main" id="{9ADCE668-AF62-E5E8-24CB-A08B5D95E0DF}"/>
              </a:ext>
            </a:extLst>
          </p:cNvPr>
          <p:cNvSpPr>
            <a:spLocks noGrp="1" noChangeArrowheads="1"/>
          </p:cNvSpPr>
          <p:nvPr>
            <p:ph type="body" idx="1"/>
          </p:nvPr>
        </p:nvSpPr>
        <p:spPr bwMode="auto">
          <a:xfrm>
            <a:off x="1154954" y="2353767"/>
            <a:ext cx="9251789" cy="3693319"/>
          </a:xfrm>
          <a:prstGeom prst="rect">
            <a:avLst/>
          </a:prstGeom>
          <a:noFill/>
          <a:ln>
            <a:noFill/>
          </a:ln>
        </p:spPr>
        <p:txBody>
          <a:bodyPr spcFirstLastPara="1" wrap="square" lIns="91425" tIns="45700" rIns="91425" bIns="45700" anchor="t" anchorCtr="0">
            <a:normAutofit/>
          </a:bodyPr>
          <a:lstStyle/>
          <a:p>
            <a:r>
              <a:rPr lang="en-US" altLang="en-US" sz="2400"/>
              <a:t>Memulai transaksi: Menggunakan perintah </a:t>
            </a:r>
            <a:r>
              <a:rPr lang="en-US" altLang="en-US" sz="2400" b="1">
                <a:latin typeface="Courier New" panose="02070309020205020404" pitchFamily="49" charset="0"/>
                <a:cs typeface="Courier New" panose="02070309020205020404" pitchFamily="49" charset="0"/>
              </a:rPr>
              <a:t>START TRANSACTION</a:t>
            </a:r>
            <a:r>
              <a:rPr lang="en-US" altLang="en-US" sz="2400"/>
              <a:t>.</a:t>
            </a:r>
          </a:p>
          <a:p>
            <a:r>
              <a:rPr lang="en-US" altLang="en-US" sz="2400"/>
              <a:t>Menjalankan operasi basis data: Seperti </a:t>
            </a:r>
            <a:r>
              <a:rPr lang="en-US" altLang="en-US" sz="2400" b="1">
                <a:latin typeface="Courier New" panose="02070309020205020404" pitchFamily="49" charset="0"/>
                <a:cs typeface="Courier New" panose="02070309020205020404" pitchFamily="49" charset="0"/>
              </a:rPr>
              <a:t>INSERT, UPDATE,</a:t>
            </a:r>
            <a:r>
              <a:rPr lang="en-US" altLang="en-US" sz="2400"/>
              <a:t>atau </a:t>
            </a:r>
            <a:r>
              <a:rPr lang="en-US" altLang="en-US" sz="2400" b="1">
                <a:latin typeface="Courier New" panose="02070309020205020404" pitchFamily="49" charset="0"/>
                <a:cs typeface="Courier New" panose="02070309020205020404" pitchFamily="49" charset="0"/>
              </a:rPr>
              <a:t>DELETE</a:t>
            </a:r>
            <a:r>
              <a:rPr lang="en-US" altLang="en-US" sz="2400"/>
              <a:t>.</a:t>
            </a:r>
          </a:p>
          <a:p>
            <a:r>
              <a:rPr lang="en-US" altLang="en-US" sz="2400"/>
              <a:t>Mengakhiri transaksi:</a:t>
            </a:r>
          </a:p>
          <a:p>
            <a:pPr lvl="1">
              <a:buFont typeface="Wingdings" panose="05000000000000000000" pitchFamily="2" charset="2"/>
              <a:buChar char="§"/>
            </a:pPr>
            <a:r>
              <a:rPr lang="en-US" altLang="en-US" sz="2000"/>
              <a:t>Menyimpan perubahan: Dengan </a:t>
            </a:r>
            <a:r>
              <a:rPr lang="en-US" altLang="en-US" sz="2000" b="1">
                <a:latin typeface="Courier New" panose="02070309020205020404" pitchFamily="49" charset="0"/>
                <a:cs typeface="Courier New" panose="02070309020205020404" pitchFamily="49" charset="0"/>
              </a:rPr>
              <a:t>COMMIT</a:t>
            </a:r>
            <a:r>
              <a:rPr lang="en-US" altLang="en-US" sz="2000"/>
              <a:t>.</a:t>
            </a:r>
          </a:p>
          <a:p>
            <a:pPr lvl="1">
              <a:buFont typeface="Wingdings" panose="05000000000000000000" pitchFamily="2" charset="2"/>
              <a:buChar char="§"/>
            </a:pPr>
            <a:r>
              <a:rPr lang="en-US" altLang="en-US" sz="2000"/>
              <a:t>Membatalkan perubahan: Dengan </a:t>
            </a:r>
            <a:r>
              <a:rPr lang="en-US" altLang="en-US" sz="2000" b="1">
                <a:latin typeface="Courier New" panose="02070309020205020404" pitchFamily="49" charset="0"/>
                <a:cs typeface="Courier New" panose="02070309020205020404" pitchFamily="49" charset="0"/>
              </a:rPr>
              <a:t>ROLLBACK</a:t>
            </a:r>
            <a:r>
              <a:rPr lang="en-US" altLang="en-US" sz="2000"/>
              <a:t>.</a:t>
            </a:r>
          </a:p>
          <a:p>
            <a:pPr marL="137160" indent="0">
              <a:buNone/>
            </a:pPr>
            <a:endParaRPr lang="en-US" altLang="en-US" sz="2400"/>
          </a:p>
        </p:txBody>
      </p:sp>
    </p:spTree>
    <p:extLst>
      <p:ext uri="{BB962C8B-B14F-4D97-AF65-F5344CB8AC3E}">
        <p14:creationId xmlns:p14="http://schemas.microsoft.com/office/powerpoint/2010/main" val="37189635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AC61-7776-7BA2-8A52-DF0B15F6942D}"/>
              </a:ext>
            </a:extLst>
          </p:cNvPr>
          <p:cNvSpPr>
            <a:spLocks noGrp="1"/>
          </p:cNvSpPr>
          <p:nvPr>
            <p:ph type="title"/>
          </p:nvPr>
        </p:nvSpPr>
        <p:spPr/>
        <p:txBody>
          <a:bodyPr/>
          <a:lstStyle/>
          <a:p>
            <a:r>
              <a:rPr lang="en-US"/>
              <a:t>Contoh</a:t>
            </a:r>
            <a:endParaRPr lang="en-ID"/>
          </a:p>
        </p:txBody>
      </p:sp>
      <p:pic>
        <p:nvPicPr>
          <p:cNvPr id="5" name="Picture 4">
            <a:extLst>
              <a:ext uri="{FF2B5EF4-FFF2-40B4-BE49-F238E27FC236}">
                <a16:creationId xmlns:a16="http://schemas.microsoft.com/office/drawing/2014/main" id="{39B02E8A-6880-316C-BB44-A7D39BF53190}"/>
              </a:ext>
            </a:extLst>
          </p:cNvPr>
          <p:cNvPicPr>
            <a:picLocks noChangeAspect="1"/>
          </p:cNvPicPr>
          <p:nvPr/>
        </p:nvPicPr>
        <p:blipFill>
          <a:blip r:embed="rId2"/>
          <a:stretch>
            <a:fillRect/>
          </a:stretch>
        </p:blipFill>
        <p:spPr>
          <a:xfrm>
            <a:off x="1712213" y="3429000"/>
            <a:ext cx="3823447" cy="3145094"/>
          </a:xfrm>
          <a:prstGeom prst="rect">
            <a:avLst/>
          </a:prstGeom>
          <a:ln>
            <a:solidFill>
              <a:schemeClr val="accent1"/>
            </a:solidFill>
          </a:ln>
        </p:spPr>
      </p:pic>
      <p:pic>
        <p:nvPicPr>
          <p:cNvPr id="7" name="Picture 6">
            <a:extLst>
              <a:ext uri="{FF2B5EF4-FFF2-40B4-BE49-F238E27FC236}">
                <a16:creationId xmlns:a16="http://schemas.microsoft.com/office/drawing/2014/main" id="{AACB7DB3-DEA6-41AF-E1A0-F4C3DD6A1335}"/>
              </a:ext>
            </a:extLst>
          </p:cNvPr>
          <p:cNvPicPr>
            <a:picLocks noChangeAspect="1"/>
          </p:cNvPicPr>
          <p:nvPr/>
        </p:nvPicPr>
        <p:blipFill>
          <a:blip r:embed="rId3"/>
          <a:stretch>
            <a:fillRect/>
          </a:stretch>
        </p:blipFill>
        <p:spPr>
          <a:xfrm>
            <a:off x="6997377" y="1064147"/>
            <a:ext cx="3482410" cy="5509947"/>
          </a:xfrm>
          <a:prstGeom prst="rect">
            <a:avLst/>
          </a:prstGeom>
          <a:ln>
            <a:solidFill>
              <a:schemeClr val="accent1"/>
            </a:solidFill>
          </a:ln>
        </p:spPr>
      </p:pic>
      <p:sp>
        <p:nvSpPr>
          <p:cNvPr id="10" name="TextBox 9">
            <a:extLst>
              <a:ext uri="{FF2B5EF4-FFF2-40B4-BE49-F238E27FC236}">
                <a16:creationId xmlns:a16="http://schemas.microsoft.com/office/drawing/2014/main" id="{0465AAA6-448E-2EB5-DE18-2DE4B1A19EDE}"/>
              </a:ext>
            </a:extLst>
          </p:cNvPr>
          <p:cNvSpPr txBox="1"/>
          <p:nvPr/>
        </p:nvSpPr>
        <p:spPr>
          <a:xfrm>
            <a:off x="1154953" y="2344999"/>
            <a:ext cx="4781389" cy="9541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rPr>
              <a:t>Transfer uang dari akun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Unicode MS"/>
              </a:rPr>
              <a:t>Alice</a:t>
            </a:r>
            <a:r>
              <a:rPr kumimoji="0" lang="en-US" altLang="en-US" sz="2400" b="0" i="0" u="none" strike="noStrike" cap="none" normalizeH="0" baseline="0">
                <a:ln>
                  <a:noFill/>
                </a:ln>
                <a:solidFill>
                  <a:schemeClr val="tx1"/>
                </a:solidFill>
                <a:effectLst/>
              </a:rPr>
              <a:t> ke akun </a:t>
            </a:r>
            <a:r>
              <a:rPr kumimoji="0" lang="en-US" altLang="en-US" sz="1800" b="0" i="0" u="none" strike="noStrike" cap="none" normalizeH="0" baseline="0">
                <a:ln>
                  <a:noFill/>
                </a:ln>
                <a:solidFill>
                  <a:schemeClr val="tx1"/>
                </a:solidFill>
                <a:effectLst/>
                <a:latin typeface="Arial Unicode MS"/>
              </a:rPr>
              <a:t>Bob</a:t>
            </a:r>
            <a:r>
              <a:rPr kumimoji="0" lang="en-US" altLang="en-US" sz="2400" b="0" i="0" u="none" strike="noStrike" cap="none" normalizeH="0" baseline="0">
                <a:ln>
                  <a:noFill/>
                </a:ln>
                <a:solidFill>
                  <a:schemeClr val="tx1"/>
                </a:solidFill>
                <a:effectLst/>
              </a:rPr>
              <a:t> sebesar 200</a:t>
            </a:r>
            <a:r>
              <a:rPr kumimoji="0" lang="en-US" altLang="en-US" sz="1800" b="0" i="0" u="none" strike="noStrike" cap="none" normalizeH="0" baseline="0">
                <a:ln>
                  <a:noFill/>
                </a:ln>
                <a:solidFill>
                  <a:schemeClr val="tx1"/>
                </a:solidFill>
                <a:effectLst/>
              </a:rPr>
              <a:t>. </a:t>
            </a:r>
            <a:endParaRPr kumimoji="0" lang="en-US" altLang="en-US" sz="3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728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randombar(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62c511ebcc_1_0"/>
          <p:cNvSpPr txBox="1">
            <a:spLocks noGrp="1"/>
          </p:cNvSpPr>
          <p:nvPr>
            <p:ph type="body" idx="1"/>
          </p:nvPr>
        </p:nvSpPr>
        <p:spPr>
          <a:xfrm>
            <a:off x="1154949" y="2603500"/>
            <a:ext cx="9875907" cy="4010700"/>
          </a:xfrm>
          <a:prstGeom prst="rect">
            <a:avLst/>
          </a:prstGeom>
          <a:noFill/>
          <a:ln>
            <a:noFill/>
          </a:ln>
        </p:spPr>
        <p:txBody>
          <a:bodyPr spcFirstLastPara="1" wrap="square" lIns="91425" tIns="45700" rIns="91425" bIns="45700" anchor="t" anchorCtr="0">
            <a:noAutofit/>
          </a:bodyPr>
          <a:lstStyle/>
          <a:p>
            <a:pPr marL="342900" lvl="0" indent="-344424" algn="l" rtl="0">
              <a:spcBef>
                <a:spcPts val="1000"/>
              </a:spcBef>
              <a:spcAft>
                <a:spcPts val="0"/>
              </a:spcAft>
              <a:buClr>
                <a:schemeClr val="dk1"/>
              </a:buClr>
              <a:buSzPts val="1800"/>
              <a:buFont typeface="Century Gothic"/>
              <a:buChar char="❏"/>
            </a:pPr>
            <a:r>
              <a:rPr lang="en-ID" sz="2400">
                <a:solidFill>
                  <a:schemeClr val="dk1"/>
                </a:solidFill>
              </a:rPr>
              <a:t>Sebuah </a:t>
            </a:r>
            <a:r>
              <a:rPr lang="en-ID" sz="2400" b="1">
                <a:solidFill>
                  <a:schemeClr val="dk1"/>
                </a:solidFill>
              </a:rPr>
              <a:t>Stored Procedure</a:t>
            </a:r>
            <a:r>
              <a:rPr lang="en-ID" sz="2400">
                <a:solidFill>
                  <a:schemeClr val="dk1"/>
                </a:solidFill>
              </a:rPr>
              <a:t> (prosedur penyimpanan) adalah kumpulan pernyataan SQL yang telah didefinisikan, disimpan, dan dapat dijalankan di dalam sebuah database. </a:t>
            </a:r>
            <a:endParaRPr sz="2400">
              <a:solidFill>
                <a:schemeClr val="dk1"/>
              </a:solidFill>
            </a:endParaRPr>
          </a:p>
          <a:p>
            <a:pPr marL="342900" lvl="0" indent="-344424" algn="l" rtl="0">
              <a:spcBef>
                <a:spcPts val="1000"/>
              </a:spcBef>
              <a:spcAft>
                <a:spcPts val="0"/>
              </a:spcAft>
              <a:buClr>
                <a:schemeClr val="dk1"/>
              </a:buClr>
              <a:buSzPts val="1800"/>
              <a:buFont typeface="Century Gothic"/>
              <a:buChar char="❏"/>
            </a:pPr>
            <a:r>
              <a:rPr lang="en-ID" sz="2400" b="1">
                <a:solidFill>
                  <a:schemeClr val="dk1"/>
                </a:solidFill>
              </a:rPr>
              <a:t>Stored procedure</a:t>
            </a:r>
            <a:r>
              <a:rPr lang="en-ID" sz="2400">
                <a:solidFill>
                  <a:schemeClr val="dk1"/>
                </a:solidFill>
              </a:rPr>
              <a:t> biasanya digunakan untuk melakukan tugas tertentu atau rangkaian tugas yang kompleks. </a:t>
            </a:r>
            <a:endParaRPr sz="2400">
              <a:solidFill>
                <a:schemeClr val="dk1"/>
              </a:solidFill>
            </a:endParaRPr>
          </a:p>
          <a:p>
            <a:pPr marL="342900" lvl="0" indent="-344424" algn="l" rtl="0">
              <a:spcBef>
                <a:spcPts val="1000"/>
              </a:spcBef>
              <a:spcAft>
                <a:spcPts val="0"/>
              </a:spcAft>
              <a:buClr>
                <a:schemeClr val="dk1"/>
              </a:buClr>
              <a:buSzPts val="1800"/>
              <a:buFont typeface="Century Gothic"/>
              <a:buChar char="❏"/>
            </a:pPr>
            <a:r>
              <a:rPr lang="en-ID" sz="2400" b="1">
                <a:solidFill>
                  <a:schemeClr val="dk1"/>
                </a:solidFill>
              </a:rPr>
              <a:t>Mereka </a:t>
            </a:r>
            <a:r>
              <a:rPr lang="en-ID" sz="2400">
                <a:solidFill>
                  <a:schemeClr val="dk1"/>
                </a:solidFill>
              </a:rPr>
              <a:t>membantu meningkatkan keamanan, konsistensi, dan efisiensi dalam pengelolaan dan pengolahan data.</a:t>
            </a:r>
            <a:endParaRPr sz="2400" b="1">
              <a:solidFill>
                <a:schemeClr val="dk1"/>
              </a:solidFill>
            </a:endParaRPr>
          </a:p>
        </p:txBody>
      </p:sp>
      <p:sp>
        <p:nvSpPr>
          <p:cNvPr id="867" name="Google Shape;867;g262c511ebcc_1_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Store Procedure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66"/>
                                        </p:tgtEl>
                                        <p:attrNameLst>
                                          <p:attrName>style.visibility</p:attrName>
                                        </p:attrNameLst>
                                      </p:cBhvr>
                                      <p:to>
                                        <p:strVal val="visible"/>
                                      </p:to>
                                    </p:set>
                                    <p:anim calcmode="lin" valueType="num">
                                      <p:cBhvr additive="base">
                                        <p:cTn id="7" dur="500"/>
                                        <p:tgtEl>
                                          <p:spTgt spid="86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66">
                                            <p:txEl>
                                              <p:pRg st="0" end="0"/>
                                            </p:txEl>
                                          </p:spTgt>
                                        </p:tgtEl>
                                        <p:attrNameLst>
                                          <p:attrName>style.visibility</p:attrName>
                                        </p:attrNameLst>
                                      </p:cBhvr>
                                      <p:to>
                                        <p:strVal val="visible"/>
                                      </p:to>
                                    </p:set>
                                    <p:anim calcmode="lin" valueType="num">
                                      <p:cBhvr additive="base">
                                        <p:cTn id="12" dur="500"/>
                                        <p:tgtEl>
                                          <p:spTgt spid="86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66">
                                            <p:txEl>
                                              <p:pRg st="1" end="1"/>
                                            </p:txEl>
                                          </p:spTgt>
                                        </p:tgtEl>
                                        <p:attrNameLst>
                                          <p:attrName>style.visibility</p:attrName>
                                        </p:attrNameLst>
                                      </p:cBhvr>
                                      <p:to>
                                        <p:strVal val="visible"/>
                                      </p:to>
                                    </p:set>
                                    <p:anim calcmode="lin" valueType="num">
                                      <p:cBhvr additive="base">
                                        <p:cTn id="17" dur="500"/>
                                        <p:tgtEl>
                                          <p:spTgt spid="86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66">
                                            <p:txEl>
                                              <p:pRg st="2" end="2"/>
                                            </p:txEl>
                                          </p:spTgt>
                                        </p:tgtEl>
                                        <p:attrNameLst>
                                          <p:attrName>style.visibility</p:attrName>
                                        </p:attrNameLst>
                                      </p:cBhvr>
                                      <p:to>
                                        <p:strVal val="visible"/>
                                      </p:to>
                                    </p:set>
                                    <p:anim calcmode="lin" valueType="num">
                                      <p:cBhvr additive="base">
                                        <p:cTn id="22" dur="500"/>
                                        <p:tgtEl>
                                          <p:spTgt spid="86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62c511ebcc_1_92"/>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Unsur Penting Store Procedure</a:t>
            </a:r>
            <a:endParaRPr/>
          </a:p>
        </p:txBody>
      </p:sp>
      <p:sp>
        <p:nvSpPr>
          <p:cNvPr id="874" name="Google Shape;874;g262c511ebcc_1_92"/>
          <p:cNvSpPr txBox="1">
            <a:spLocks noGrp="1"/>
          </p:cNvSpPr>
          <p:nvPr>
            <p:ph type="body" idx="1"/>
          </p:nvPr>
        </p:nvSpPr>
        <p:spPr>
          <a:xfrm>
            <a:off x="1154950" y="2249714"/>
            <a:ext cx="9880500" cy="4364486"/>
          </a:xfrm>
          <a:prstGeom prst="rect">
            <a:avLst/>
          </a:prstGeom>
          <a:noFill/>
          <a:ln>
            <a:noFill/>
          </a:ln>
        </p:spPr>
        <p:txBody>
          <a:bodyPr spcFirstLastPara="1" wrap="square" lIns="91425" tIns="45700" rIns="91425" bIns="45700" anchor="t" anchorCtr="0">
            <a:noAutofit/>
          </a:bodyPr>
          <a:lstStyle/>
          <a:p>
            <a:pPr marL="342900" lvl="0" indent="-346710" algn="l" rtl="0">
              <a:lnSpc>
                <a:spcPct val="115000"/>
              </a:lnSpc>
              <a:spcBef>
                <a:spcPts val="1500"/>
              </a:spcBef>
              <a:spcAft>
                <a:spcPts val="0"/>
              </a:spcAft>
              <a:buClr>
                <a:schemeClr val="dk1"/>
              </a:buClr>
              <a:buSzPts val="1500"/>
              <a:buFont typeface="Century Gothic"/>
              <a:buChar char="❏"/>
            </a:pPr>
            <a:r>
              <a:rPr lang="en-ID" sz="1500" b="1">
                <a:solidFill>
                  <a:schemeClr val="dk1"/>
                </a:solidFill>
              </a:rPr>
              <a:t>Nama</a:t>
            </a:r>
            <a:r>
              <a:rPr lang="en-ID" sz="1500">
                <a:solidFill>
                  <a:schemeClr val="dk1"/>
                </a:solidFill>
              </a:rPr>
              <a:t>: Stored procedure memiliki nama yang unik di dalam database untuk memanggil dan mengeksekusinya.</a:t>
            </a:r>
            <a:endParaRPr sz="1500">
              <a:solidFill>
                <a:schemeClr val="dk1"/>
              </a:solidFill>
            </a:endParaRPr>
          </a:p>
          <a:p>
            <a:pPr marL="342900" lvl="0" indent="-346710" algn="l" rtl="0">
              <a:lnSpc>
                <a:spcPct val="115000"/>
              </a:lnSpc>
              <a:spcBef>
                <a:spcPts val="0"/>
              </a:spcBef>
              <a:spcAft>
                <a:spcPts val="0"/>
              </a:spcAft>
              <a:buClr>
                <a:schemeClr val="dk1"/>
              </a:buClr>
              <a:buSzPts val="1500"/>
              <a:buFont typeface="Century Gothic"/>
              <a:buChar char="❏"/>
            </a:pPr>
            <a:r>
              <a:rPr lang="en-ID" sz="1500" b="1">
                <a:solidFill>
                  <a:schemeClr val="dk1"/>
                </a:solidFill>
              </a:rPr>
              <a:t>Parameter</a:t>
            </a:r>
            <a:r>
              <a:rPr lang="en-ID" sz="1500">
                <a:solidFill>
                  <a:schemeClr val="dk1"/>
                </a:solidFill>
              </a:rPr>
              <a:t>: Stored procedure dapat menerima parameter sebagai </a:t>
            </a:r>
            <a:r>
              <a:rPr lang="en-ID" sz="1500" b="1">
                <a:solidFill>
                  <a:schemeClr val="dk1"/>
                </a:solidFill>
              </a:rPr>
              <a:t>input</a:t>
            </a:r>
            <a:r>
              <a:rPr lang="en-ID" sz="1500">
                <a:solidFill>
                  <a:schemeClr val="dk1"/>
                </a:solidFill>
              </a:rPr>
              <a:t> atau </a:t>
            </a:r>
            <a:r>
              <a:rPr lang="en-ID" sz="1500" b="1">
                <a:solidFill>
                  <a:schemeClr val="dk1"/>
                </a:solidFill>
              </a:rPr>
              <a:t>output</a:t>
            </a:r>
            <a:r>
              <a:rPr lang="en-ID" sz="1500">
                <a:solidFill>
                  <a:schemeClr val="dk1"/>
                </a:solidFill>
              </a:rPr>
              <a:t>, memungkinkan fleksibilitas dan reusabilitas. Parameter dapat digunakan untuk meneruskan nilai ke dalam stored procedure (</a:t>
            </a:r>
            <a:r>
              <a:rPr lang="en-ID" sz="1500" b="1">
                <a:solidFill>
                  <a:schemeClr val="dk1"/>
                </a:solidFill>
              </a:rPr>
              <a:t>IN</a:t>
            </a:r>
            <a:r>
              <a:rPr lang="en-ID" sz="1500">
                <a:solidFill>
                  <a:schemeClr val="dk1"/>
                </a:solidFill>
              </a:rPr>
              <a:t>), atau untuk mengembalikan nilai (</a:t>
            </a:r>
            <a:r>
              <a:rPr lang="en-ID" sz="1500" b="1">
                <a:solidFill>
                  <a:schemeClr val="dk1"/>
                </a:solidFill>
              </a:rPr>
              <a:t>OUT</a:t>
            </a:r>
            <a:r>
              <a:rPr lang="en-ID" sz="1500">
                <a:solidFill>
                  <a:schemeClr val="dk1"/>
                </a:solidFill>
              </a:rPr>
              <a:t>).</a:t>
            </a:r>
            <a:endParaRPr sz="1500">
              <a:solidFill>
                <a:schemeClr val="dk1"/>
              </a:solidFill>
            </a:endParaRPr>
          </a:p>
          <a:p>
            <a:pPr marL="342900" lvl="0" indent="-346710" algn="l" rtl="0">
              <a:lnSpc>
                <a:spcPct val="115000"/>
              </a:lnSpc>
              <a:spcBef>
                <a:spcPts val="0"/>
              </a:spcBef>
              <a:spcAft>
                <a:spcPts val="0"/>
              </a:spcAft>
              <a:buClr>
                <a:schemeClr val="dk1"/>
              </a:buClr>
              <a:buSzPts val="1500"/>
              <a:buFont typeface="Century Gothic"/>
              <a:buChar char="❏"/>
            </a:pPr>
            <a:r>
              <a:rPr lang="en-ID" sz="1500" b="1">
                <a:solidFill>
                  <a:schemeClr val="dk1"/>
                </a:solidFill>
              </a:rPr>
              <a:t>Logika Bisnis</a:t>
            </a:r>
            <a:r>
              <a:rPr lang="en-ID" sz="1500">
                <a:solidFill>
                  <a:schemeClr val="dk1"/>
                </a:solidFill>
              </a:rPr>
              <a:t>: Stored procedure mengandung logika bisnis atau operasi tertentu yang ingin dilakukan di dalam database. Ini dapat mencakup manipulasi data, penanganan kesalahan, atau perhitungan kompleks.</a:t>
            </a:r>
            <a:endParaRPr sz="1500">
              <a:solidFill>
                <a:schemeClr val="dk1"/>
              </a:solidFill>
            </a:endParaRPr>
          </a:p>
          <a:p>
            <a:pPr marL="342900" lvl="0" indent="-346710" algn="l" rtl="0">
              <a:lnSpc>
                <a:spcPct val="115000"/>
              </a:lnSpc>
              <a:spcBef>
                <a:spcPts val="0"/>
              </a:spcBef>
              <a:spcAft>
                <a:spcPts val="0"/>
              </a:spcAft>
              <a:buClr>
                <a:schemeClr val="dk1"/>
              </a:buClr>
              <a:buSzPts val="1500"/>
              <a:buFont typeface="Century Gothic"/>
              <a:buChar char="❏"/>
            </a:pPr>
            <a:r>
              <a:rPr lang="en-ID" sz="1500" b="1">
                <a:solidFill>
                  <a:schemeClr val="dk1"/>
                </a:solidFill>
              </a:rPr>
              <a:t>Keamanan</a:t>
            </a:r>
            <a:r>
              <a:rPr lang="en-ID" sz="1500">
                <a:solidFill>
                  <a:schemeClr val="dk1"/>
                </a:solidFill>
              </a:rPr>
              <a:t>: Stored procedure dapat digunakan untuk mengelola keamanan dengan mengizinkan akses terhadap data tertentu melalui stored procedure tanpa memberikan izin langsung ke tabel.</a:t>
            </a:r>
            <a:endParaRPr sz="1500">
              <a:solidFill>
                <a:schemeClr val="dk1"/>
              </a:solidFill>
            </a:endParaRPr>
          </a:p>
          <a:p>
            <a:pPr marL="342900" lvl="0" indent="-346710" algn="l" rtl="0">
              <a:lnSpc>
                <a:spcPct val="115000"/>
              </a:lnSpc>
              <a:spcBef>
                <a:spcPts val="0"/>
              </a:spcBef>
              <a:spcAft>
                <a:spcPts val="0"/>
              </a:spcAft>
              <a:buClr>
                <a:schemeClr val="dk1"/>
              </a:buClr>
              <a:buSzPts val="1500"/>
              <a:buFont typeface="Century Gothic"/>
              <a:buChar char="❏"/>
            </a:pPr>
            <a:r>
              <a:rPr lang="en-ID" sz="1500" b="1">
                <a:solidFill>
                  <a:schemeClr val="dk1"/>
                </a:solidFill>
              </a:rPr>
              <a:t>Optimasi Kinerja</a:t>
            </a:r>
            <a:r>
              <a:rPr lang="en-ID" sz="1500">
                <a:solidFill>
                  <a:schemeClr val="dk1"/>
                </a:solidFill>
              </a:rPr>
              <a:t>: Dalam beberapa situasi, stored procedure dapat membantu meningkatkan kinerja aplikasi dengan menyimpan rencana eksekusi yang telah di-compile.</a:t>
            </a:r>
            <a:endParaRPr sz="1500">
              <a:solidFill>
                <a:schemeClr val="dk1"/>
              </a:solidFill>
            </a:endParaRPr>
          </a:p>
          <a:p>
            <a:pPr marL="342900" lvl="0" indent="-346710" algn="l" rtl="0">
              <a:lnSpc>
                <a:spcPct val="115000"/>
              </a:lnSpc>
              <a:spcBef>
                <a:spcPts val="0"/>
              </a:spcBef>
              <a:spcAft>
                <a:spcPts val="0"/>
              </a:spcAft>
              <a:buClr>
                <a:schemeClr val="dk1"/>
              </a:buClr>
              <a:buSzPts val="1500"/>
              <a:buFont typeface="Century Gothic"/>
              <a:buChar char="❏"/>
            </a:pPr>
            <a:r>
              <a:rPr lang="en-ID" sz="1500" b="1">
                <a:solidFill>
                  <a:schemeClr val="dk1"/>
                </a:solidFill>
              </a:rPr>
              <a:t>Reusability</a:t>
            </a:r>
            <a:r>
              <a:rPr lang="en-ID" sz="1500">
                <a:solidFill>
                  <a:schemeClr val="dk1"/>
                </a:solidFill>
              </a:rPr>
              <a:t>: Stored procedure dapat digunakan kembali di berbagai bagian aplikasi atau oleh berbagai aplikasi.</a:t>
            </a:r>
            <a:endParaRPr sz="15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74"/>
                                        </p:tgtEl>
                                        <p:attrNameLst>
                                          <p:attrName>style.visibility</p:attrName>
                                        </p:attrNameLst>
                                      </p:cBhvr>
                                      <p:to>
                                        <p:strVal val="visible"/>
                                      </p:to>
                                    </p:set>
                                    <p:anim calcmode="lin" valueType="num">
                                      <p:cBhvr additive="base">
                                        <p:cTn id="7" dur="500"/>
                                        <p:tgtEl>
                                          <p:spTgt spid="87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74">
                                            <p:txEl>
                                              <p:pRg st="0" end="0"/>
                                            </p:txEl>
                                          </p:spTgt>
                                        </p:tgtEl>
                                        <p:attrNameLst>
                                          <p:attrName>style.visibility</p:attrName>
                                        </p:attrNameLst>
                                      </p:cBhvr>
                                      <p:to>
                                        <p:strVal val="visible"/>
                                      </p:to>
                                    </p:set>
                                    <p:anim calcmode="lin" valueType="num">
                                      <p:cBhvr additive="base">
                                        <p:cTn id="12" dur="500"/>
                                        <p:tgtEl>
                                          <p:spTgt spid="87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74">
                                            <p:txEl>
                                              <p:pRg st="1" end="1"/>
                                            </p:txEl>
                                          </p:spTgt>
                                        </p:tgtEl>
                                        <p:attrNameLst>
                                          <p:attrName>style.visibility</p:attrName>
                                        </p:attrNameLst>
                                      </p:cBhvr>
                                      <p:to>
                                        <p:strVal val="visible"/>
                                      </p:to>
                                    </p:set>
                                    <p:anim calcmode="lin" valueType="num">
                                      <p:cBhvr additive="base">
                                        <p:cTn id="17" dur="500"/>
                                        <p:tgtEl>
                                          <p:spTgt spid="87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74">
                                            <p:txEl>
                                              <p:pRg st="2" end="2"/>
                                            </p:txEl>
                                          </p:spTgt>
                                        </p:tgtEl>
                                        <p:attrNameLst>
                                          <p:attrName>style.visibility</p:attrName>
                                        </p:attrNameLst>
                                      </p:cBhvr>
                                      <p:to>
                                        <p:strVal val="visible"/>
                                      </p:to>
                                    </p:set>
                                    <p:anim calcmode="lin" valueType="num">
                                      <p:cBhvr additive="base">
                                        <p:cTn id="22" dur="500"/>
                                        <p:tgtEl>
                                          <p:spTgt spid="87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874">
                                            <p:txEl>
                                              <p:pRg st="3" end="3"/>
                                            </p:txEl>
                                          </p:spTgt>
                                        </p:tgtEl>
                                        <p:attrNameLst>
                                          <p:attrName>style.visibility</p:attrName>
                                        </p:attrNameLst>
                                      </p:cBhvr>
                                      <p:to>
                                        <p:strVal val="visible"/>
                                      </p:to>
                                    </p:set>
                                    <p:anim calcmode="lin" valueType="num">
                                      <p:cBhvr additive="base">
                                        <p:cTn id="27" dur="500"/>
                                        <p:tgtEl>
                                          <p:spTgt spid="87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874">
                                            <p:txEl>
                                              <p:pRg st="4" end="4"/>
                                            </p:txEl>
                                          </p:spTgt>
                                        </p:tgtEl>
                                        <p:attrNameLst>
                                          <p:attrName>style.visibility</p:attrName>
                                        </p:attrNameLst>
                                      </p:cBhvr>
                                      <p:to>
                                        <p:strVal val="visible"/>
                                      </p:to>
                                    </p:set>
                                    <p:anim calcmode="lin" valueType="num">
                                      <p:cBhvr additive="base">
                                        <p:cTn id="32" dur="500"/>
                                        <p:tgtEl>
                                          <p:spTgt spid="87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74">
                                            <p:txEl>
                                              <p:pRg st="5" end="5"/>
                                            </p:txEl>
                                          </p:spTgt>
                                        </p:tgtEl>
                                        <p:attrNameLst>
                                          <p:attrName>style.visibility</p:attrName>
                                        </p:attrNameLst>
                                      </p:cBhvr>
                                      <p:to>
                                        <p:strVal val="visible"/>
                                      </p:to>
                                    </p:set>
                                    <p:anim calcmode="lin" valueType="num">
                                      <p:cBhvr additive="base">
                                        <p:cTn id="37" dur="500"/>
                                        <p:tgtEl>
                                          <p:spTgt spid="874">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62c511ebcc_1_18"/>
          <p:cNvSpPr txBox="1">
            <a:spLocks noGrp="1"/>
          </p:cNvSpPr>
          <p:nvPr>
            <p:ph type="body" idx="1"/>
          </p:nvPr>
        </p:nvSpPr>
        <p:spPr>
          <a:xfrm>
            <a:off x="5667550" y="2603500"/>
            <a:ext cx="5489700" cy="4010700"/>
          </a:xfrm>
          <a:prstGeom prst="rect">
            <a:avLst/>
          </a:prstGeom>
          <a:noFill/>
          <a:ln>
            <a:noFill/>
          </a:ln>
        </p:spPr>
        <p:txBody>
          <a:bodyPr spcFirstLastPara="1" wrap="square" lIns="91425" tIns="45700" rIns="91425" bIns="45700" anchor="t" anchorCtr="0">
            <a:normAutofit/>
          </a:bodyPr>
          <a:lstStyle/>
          <a:p>
            <a:pPr marL="342900" lvl="0" indent="-334264" algn="l" rtl="0">
              <a:spcBef>
                <a:spcPts val="1000"/>
              </a:spcBef>
              <a:spcAft>
                <a:spcPts val="0"/>
              </a:spcAft>
              <a:buClr>
                <a:schemeClr val="dk1"/>
              </a:buClr>
              <a:buSzPts val="1640"/>
              <a:buChar char="❑"/>
            </a:pPr>
            <a:r>
              <a:rPr lang="en-ID" sz="2000" b="1">
                <a:solidFill>
                  <a:schemeClr val="dk1"/>
                </a:solidFill>
              </a:rPr>
              <a:t>Contoh </a:t>
            </a:r>
            <a:r>
              <a:rPr lang="en-ID" sz="2000">
                <a:solidFill>
                  <a:schemeClr val="dk1"/>
                </a:solidFill>
              </a:rPr>
              <a:t>Stored Procedure sederhana untuk mendapatkan jumlah total penjualan (total_amt_usd) dari tabel orders untuk suatu akun tertentu:</a:t>
            </a:r>
            <a:endParaRPr sz="2000">
              <a:solidFill>
                <a:schemeClr val="dk1"/>
              </a:solidFill>
            </a:endParaRPr>
          </a:p>
          <a:p>
            <a:pPr marL="342900" lvl="0" indent="0" algn="l" rtl="0">
              <a:spcBef>
                <a:spcPts val="1000"/>
              </a:spcBef>
              <a:spcAft>
                <a:spcPts val="0"/>
              </a:spcAft>
              <a:buNone/>
            </a:pPr>
            <a:endParaRPr sz="2000">
              <a:solidFill>
                <a:schemeClr val="dk1"/>
              </a:solidFill>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DELIMITER //</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2E95D3"/>
                </a:solidFill>
                <a:highlight>
                  <a:schemeClr val="dk1"/>
                </a:highlight>
                <a:latin typeface="Courier New"/>
                <a:ea typeface="Courier New"/>
                <a:cs typeface="Courier New"/>
                <a:sym typeface="Courier New"/>
              </a:rPr>
              <a:t>CREATE</a:t>
            </a:r>
            <a:r>
              <a:rPr lang="en-ID" sz="1150">
                <a:solidFill>
                  <a:srgbClr val="FFFFFF"/>
                </a:solidFill>
                <a:highlight>
                  <a:schemeClr val="dk1"/>
                </a:highlight>
                <a:latin typeface="Courier New"/>
                <a:ea typeface="Courier New"/>
                <a:cs typeface="Courier New"/>
                <a:sym typeface="Courier New"/>
              </a:rPr>
              <a:t> </a:t>
            </a:r>
            <a:r>
              <a:rPr lang="en-ID" sz="1150">
                <a:solidFill>
                  <a:srgbClr val="2E95D3"/>
                </a:solidFill>
                <a:highlight>
                  <a:schemeClr val="dk1"/>
                </a:highlight>
                <a:latin typeface="Courier New"/>
                <a:ea typeface="Courier New"/>
                <a:cs typeface="Courier New"/>
                <a:sym typeface="Courier New"/>
              </a:rPr>
              <a:t>PROCEDURE</a:t>
            </a:r>
            <a:r>
              <a:rPr lang="en-ID" sz="1150">
                <a:solidFill>
                  <a:srgbClr val="FFFFFF"/>
                </a:solidFill>
                <a:highlight>
                  <a:schemeClr val="dk1"/>
                </a:highlight>
                <a:latin typeface="Courier New"/>
                <a:ea typeface="Courier New"/>
                <a:cs typeface="Courier New"/>
                <a:sym typeface="Courier New"/>
              </a:rPr>
              <a:t> GetTotalSales(</a:t>
            </a:r>
            <a:r>
              <a:rPr lang="en-ID" sz="1150">
                <a:solidFill>
                  <a:srgbClr val="2E95D3"/>
                </a:solidFill>
                <a:highlight>
                  <a:schemeClr val="dk1"/>
                </a:highlight>
                <a:latin typeface="Courier New"/>
                <a:ea typeface="Courier New"/>
                <a:cs typeface="Courier New"/>
                <a:sym typeface="Courier New"/>
              </a:rPr>
              <a:t>IN</a:t>
            </a:r>
            <a:r>
              <a:rPr lang="en-ID" sz="1150">
                <a:solidFill>
                  <a:srgbClr val="FFFFFF"/>
                </a:solidFill>
                <a:highlight>
                  <a:schemeClr val="dk1"/>
                </a:highlight>
                <a:latin typeface="Courier New"/>
                <a:ea typeface="Courier New"/>
                <a:cs typeface="Courier New"/>
                <a:sym typeface="Courier New"/>
              </a:rPr>
              <a:t> accountID </a:t>
            </a:r>
            <a:r>
              <a:rPr lang="en-ID" sz="1150">
                <a:solidFill>
                  <a:srgbClr val="DF3079"/>
                </a:solidFill>
                <a:highlight>
                  <a:schemeClr val="dk1"/>
                </a:highlight>
                <a:latin typeface="Courier New"/>
                <a:ea typeface="Courier New"/>
                <a:cs typeface="Courier New"/>
                <a:sym typeface="Courier New"/>
              </a:rPr>
              <a:t>INT</a:t>
            </a:r>
            <a:r>
              <a:rPr lang="en-ID" sz="1150">
                <a:solidFill>
                  <a:srgbClr val="FFFFFF"/>
                </a:solidFill>
                <a:highlight>
                  <a:schemeClr val="dk1"/>
                </a:highlight>
                <a:latin typeface="Courier New"/>
                <a:ea typeface="Courier New"/>
                <a:cs typeface="Courier New"/>
                <a:sym typeface="Courier New"/>
              </a:rPr>
              <a:t>)</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2E95D3"/>
                </a:solidFill>
                <a:highlight>
                  <a:schemeClr val="dk1"/>
                </a:highlight>
                <a:latin typeface="Courier New"/>
                <a:ea typeface="Courier New"/>
                <a:cs typeface="Courier New"/>
                <a:sym typeface="Courier New"/>
              </a:rPr>
              <a:t>BEGIN</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    </a:t>
            </a:r>
            <a:r>
              <a:rPr lang="en-ID" sz="1150">
                <a:solidFill>
                  <a:srgbClr val="2E95D3"/>
                </a:solidFill>
                <a:highlight>
                  <a:schemeClr val="dk1"/>
                </a:highlight>
                <a:latin typeface="Courier New"/>
                <a:ea typeface="Courier New"/>
                <a:cs typeface="Courier New"/>
                <a:sym typeface="Courier New"/>
              </a:rPr>
              <a:t>SELECT</a:t>
            </a:r>
            <a:r>
              <a:rPr lang="en-ID" sz="1150">
                <a:solidFill>
                  <a:srgbClr val="FFFFFF"/>
                </a:solidFill>
                <a:highlight>
                  <a:schemeClr val="dk1"/>
                </a:highlight>
                <a:latin typeface="Courier New"/>
                <a:ea typeface="Courier New"/>
                <a:cs typeface="Courier New"/>
                <a:sym typeface="Courier New"/>
              </a:rPr>
              <a:t> </a:t>
            </a:r>
            <a:r>
              <a:rPr lang="en-ID" sz="1150">
                <a:solidFill>
                  <a:srgbClr val="E9950C"/>
                </a:solidFill>
                <a:highlight>
                  <a:schemeClr val="dk1"/>
                </a:highlight>
                <a:latin typeface="Courier New"/>
                <a:ea typeface="Courier New"/>
                <a:cs typeface="Courier New"/>
                <a:sym typeface="Courier New"/>
              </a:rPr>
              <a:t>SUM</a:t>
            </a:r>
            <a:r>
              <a:rPr lang="en-ID" sz="1150">
                <a:solidFill>
                  <a:srgbClr val="FFFFFF"/>
                </a:solidFill>
                <a:highlight>
                  <a:schemeClr val="dk1"/>
                </a:highlight>
                <a:latin typeface="Courier New"/>
                <a:ea typeface="Courier New"/>
                <a:cs typeface="Courier New"/>
                <a:sym typeface="Courier New"/>
              </a:rPr>
              <a:t>(total_amt_usd) </a:t>
            </a:r>
            <a:r>
              <a:rPr lang="en-ID" sz="1150">
                <a:solidFill>
                  <a:srgbClr val="2E95D3"/>
                </a:solidFill>
                <a:highlight>
                  <a:schemeClr val="dk1"/>
                </a:highlight>
                <a:latin typeface="Courier New"/>
                <a:ea typeface="Courier New"/>
                <a:cs typeface="Courier New"/>
                <a:sym typeface="Courier New"/>
              </a:rPr>
              <a:t>AS</a:t>
            </a:r>
            <a:r>
              <a:rPr lang="en-ID" sz="1150">
                <a:solidFill>
                  <a:srgbClr val="FFFFFF"/>
                </a:solidFill>
                <a:highlight>
                  <a:schemeClr val="dk1"/>
                </a:highlight>
                <a:latin typeface="Courier New"/>
                <a:ea typeface="Courier New"/>
                <a:cs typeface="Courier New"/>
                <a:sym typeface="Courier New"/>
              </a:rPr>
              <a:t> total_sales</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    </a:t>
            </a:r>
            <a:r>
              <a:rPr lang="en-ID" sz="1150">
                <a:solidFill>
                  <a:srgbClr val="2E95D3"/>
                </a:solidFill>
                <a:highlight>
                  <a:schemeClr val="dk1"/>
                </a:highlight>
                <a:latin typeface="Courier New"/>
                <a:ea typeface="Courier New"/>
                <a:cs typeface="Courier New"/>
                <a:sym typeface="Courier New"/>
              </a:rPr>
              <a:t>FROM</a:t>
            </a:r>
            <a:r>
              <a:rPr lang="en-ID" sz="1150">
                <a:solidFill>
                  <a:srgbClr val="FFFFFF"/>
                </a:solidFill>
                <a:highlight>
                  <a:schemeClr val="dk1"/>
                </a:highlight>
                <a:latin typeface="Courier New"/>
                <a:ea typeface="Courier New"/>
                <a:cs typeface="Courier New"/>
                <a:sym typeface="Courier New"/>
              </a:rPr>
              <a:t> orders</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    </a:t>
            </a:r>
            <a:r>
              <a:rPr lang="en-ID" sz="1150">
                <a:solidFill>
                  <a:srgbClr val="2E95D3"/>
                </a:solidFill>
                <a:highlight>
                  <a:schemeClr val="dk1"/>
                </a:highlight>
                <a:latin typeface="Courier New"/>
                <a:ea typeface="Courier New"/>
                <a:cs typeface="Courier New"/>
                <a:sym typeface="Courier New"/>
              </a:rPr>
              <a:t>WHERE</a:t>
            </a:r>
            <a:r>
              <a:rPr lang="en-ID" sz="1150">
                <a:solidFill>
                  <a:srgbClr val="FFFFFF"/>
                </a:solidFill>
                <a:highlight>
                  <a:schemeClr val="dk1"/>
                </a:highlight>
                <a:latin typeface="Courier New"/>
                <a:ea typeface="Courier New"/>
                <a:cs typeface="Courier New"/>
                <a:sym typeface="Courier New"/>
              </a:rPr>
              <a:t> account_id = accountID;</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2E95D3"/>
                </a:solidFill>
                <a:highlight>
                  <a:schemeClr val="dk1"/>
                </a:highlight>
                <a:latin typeface="Courier New"/>
                <a:ea typeface="Courier New"/>
                <a:cs typeface="Courier New"/>
                <a:sym typeface="Courier New"/>
              </a:rPr>
              <a:t>END</a:t>
            </a:r>
            <a:r>
              <a:rPr lang="en-ID" sz="1150">
                <a:solidFill>
                  <a:srgbClr val="FFFFFF"/>
                </a:solidFill>
                <a:highlight>
                  <a:schemeClr val="dk1"/>
                </a:highlight>
                <a:latin typeface="Courier New"/>
                <a:ea typeface="Courier New"/>
                <a:cs typeface="Courier New"/>
                <a:sym typeface="Courier New"/>
              </a:rPr>
              <a:t> //</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DELIMITER ;</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r>
              <a:rPr lang="en-ID" sz="1150">
                <a:solidFill>
                  <a:srgbClr val="FFFFFF"/>
                </a:solidFill>
                <a:highlight>
                  <a:schemeClr val="dk1"/>
                </a:highlight>
                <a:latin typeface="Courier New"/>
                <a:ea typeface="Courier New"/>
                <a:cs typeface="Courier New"/>
                <a:sym typeface="Courier New"/>
              </a:rPr>
              <a:t>CALL GetTotalSales() </a:t>
            </a:r>
            <a:endParaRPr sz="1150">
              <a:solidFill>
                <a:srgbClr val="FFFFFF"/>
              </a:solidFill>
              <a:highlight>
                <a:schemeClr val="dk1"/>
              </a:highlight>
              <a:latin typeface="Courier New"/>
              <a:ea typeface="Courier New"/>
              <a:cs typeface="Courier New"/>
              <a:sym typeface="Courier New"/>
            </a:endParaRPr>
          </a:p>
          <a:p>
            <a:pPr marL="342900" lvl="0" indent="0" algn="l" rtl="0">
              <a:spcBef>
                <a:spcPts val="0"/>
              </a:spcBef>
              <a:spcAft>
                <a:spcPts val="0"/>
              </a:spcAft>
              <a:buNone/>
            </a:pPr>
            <a:endParaRPr b="1">
              <a:solidFill>
                <a:schemeClr val="dk1"/>
              </a:solidFill>
            </a:endParaRPr>
          </a:p>
        </p:txBody>
      </p:sp>
      <p:sp>
        <p:nvSpPr>
          <p:cNvPr id="881" name="Google Shape;881;g262c511ebcc_1_1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Store Procedure</a:t>
            </a:r>
            <a:endParaRPr/>
          </a:p>
        </p:txBody>
      </p:sp>
      <p:sp>
        <p:nvSpPr>
          <p:cNvPr id="882" name="Google Shape;882;g262c511ebcc_1_18"/>
          <p:cNvSpPr txBox="1"/>
          <p:nvPr/>
        </p:nvSpPr>
        <p:spPr>
          <a:xfrm>
            <a:off x="1154950" y="2603500"/>
            <a:ext cx="4362900" cy="2252400"/>
          </a:xfrm>
          <a:prstGeom prst="rect">
            <a:avLst/>
          </a:prstGeom>
          <a:noFill/>
          <a:ln>
            <a:noFill/>
          </a:ln>
        </p:spPr>
        <p:txBody>
          <a:bodyPr spcFirstLastPara="1" wrap="square" lIns="91425" tIns="91425" rIns="91425" bIns="91425" anchor="t" anchorCtr="0">
            <a:spAutoFit/>
          </a:bodyPr>
          <a:lstStyle/>
          <a:p>
            <a:pPr marL="342900" lvl="0" indent="-321564" algn="l" rtl="0">
              <a:spcBef>
                <a:spcPts val="1000"/>
              </a:spcBef>
              <a:spcAft>
                <a:spcPts val="0"/>
              </a:spcAft>
              <a:buClr>
                <a:schemeClr val="dk1"/>
              </a:buClr>
              <a:buSzPts val="1440"/>
              <a:buFont typeface="Noto Sans Symbols"/>
              <a:buChar char="❏"/>
            </a:pPr>
            <a:r>
              <a:rPr lang="en-ID" sz="1800">
                <a:solidFill>
                  <a:schemeClr val="dk1"/>
                </a:solidFill>
                <a:latin typeface="Century Gothic"/>
                <a:ea typeface="Century Gothic"/>
                <a:cs typeface="Century Gothic"/>
                <a:sym typeface="Century Gothic"/>
              </a:rPr>
              <a:t>Format Query:</a:t>
            </a:r>
            <a:endParaRPr sz="1800">
              <a:solidFill>
                <a:schemeClr val="dk1"/>
              </a:solidFill>
              <a:latin typeface="Century Gothic"/>
              <a:ea typeface="Century Gothic"/>
              <a:cs typeface="Century Gothic"/>
              <a:sym typeface="Century Gothic"/>
            </a:endParaRPr>
          </a:p>
          <a:p>
            <a:pPr marL="342900" lvl="0" indent="0" algn="l" rtl="0">
              <a:spcBef>
                <a:spcPts val="1000"/>
              </a:spcBef>
              <a:spcAft>
                <a:spcPts val="0"/>
              </a:spcAft>
              <a:buNone/>
            </a:pPr>
            <a:endParaRPr sz="1800">
              <a:solidFill>
                <a:schemeClr val="dk1"/>
              </a:solidFill>
              <a:latin typeface="Century Gothic"/>
              <a:ea typeface="Century Gothic"/>
              <a:cs typeface="Century Gothic"/>
              <a:sym typeface="Century Gothic"/>
            </a:endParaRPr>
          </a:p>
          <a:p>
            <a:pPr marL="342900" lvl="0" indent="0" algn="l" rtl="0">
              <a:spcBef>
                <a:spcPts val="0"/>
              </a:spcBef>
              <a:spcAft>
                <a:spcPts val="0"/>
              </a:spcAft>
              <a:buNone/>
            </a:pPr>
            <a:r>
              <a:rPr lang="en-ID" sz="1800" b="1">
                <a:solidFill>
                  <a:schemeClr val="dk1"/>
                </a:solidFill>
                <a:latin typeface="Courier New"/>
                <a:ea typeface="Courier New"/>
                <a:cs typeface="Courier New"/>
                <a:sym typeface="Courier New"/>
              </a:rPr>
              <a:t>DELIMITER //</a:t>
            </a:r>
            <a:endParaRPr sz="1800" b="1">
              <a:solidFill>
                <a:schemeClr val="dk1"/>
              </a:solidFill>
              <a:latin typeface="Courier New"/>
              <a:ea typeface="Courier New"/>
              <a:cs typeface="Courier New"/>
              <a:sym typeface="Courier New"/>
            </a:endParaRPr>
          </a:p>
          <a:p>
            <a:pPr marL="342900" lvl="0" indent="0" algn="l" rtl="0">
              <a:spcBef>
                <a:spcPts val="0"/>
              </a:spcBef>
              <a:spcAft>
                <a:spcPts val="0"/>
              </a:spcAft>
              <a:buNone/>
            </a:pPr>
            <a:r>
              <a:rPr lang="en-ID" sz="1800" b="1">
                <a:solidFill>
                  <a:schemeClr val="dk1"/>
                </a:solidFill>
                <a:latin typeface="Courier New"/>
                <a:ea typeface="Courier New"/>
                <a:cs typeface="Courier New"/>
                <a:sym typeface="Courier New"/>
              </a:rPr>
              <a:t>CREATE</a:t>
            </a:r>
            <a:r>
              <a:rPr lang="en-ID" sz="1800" b="1">
                <a:solidFill>
                  <a:srgbClr val="383A42"/>
                </a:solidFill>
                <a:latin typeface="Courier New"/>
                <a:ea typeface="Courier New"/>
                <a:cs typeface="Courier New"/>
                <a:sym typeface="Courier New"/>
              </a:rPr>
              <a:t> </a:t>
            </a:r>
            <a:r>
              <a:rPr lang="en-ID" sz="1800" b="1">
                <a:solidFill>
                  <a:schemeClr val="dk1"/>
                </a:solidFill>
                <a:latin typeface="Courier New"/>
                <a:ea typeface="Courier New"/>
                <a:cs typeface="Courier New"/>
                <a:sym typeface="Courier New"/>
              </a:rPr>
              <a:t>PROCEDURE</a:t>
            </a:r>
            <a:r>
              <a:rPr lang="en-ID" sz="1800" b="1">
                <a:solidFill>
                  <a:srgbClr val="383A42"/>
                </a:solidFill>
                <a:latin typeface="Courier New"/>
                <a:ea typeface="Courier New"/>
                <a:cs typeface="Courier New"/>
                <a:sym typeface="Courier New"/>
              </a:rPr>
              <a:t> </a:t>
            </a:r>
            <a:r>
              <a:rPr lang="en-ID" sz="1800">
                <a:solidFill>
                  <a:srgbClr val="383A42"/>
                </a:solidFill>
                <a:latin typeface="Courier New"/>
                <a:ea typeface="Courier New"/>
                <a:cs typeface="Courier New"/>
                <a:sym typeface="Courier New"/>
              </a:rPr>
              <a:t>sp_name()</a:t>
            </a:r>
            <a:endParaRPr sz="1800">
              <a:solidFill>
                <a:srgbClr val="383A42"/>
              </a:solidFill>
              <a:latin typeface="Courier New"/>
              <a:ea typeface="Courier New"/>
              <a:cs typeface="Courier New"/>
              <a:sym typeface="Courier New"/>
            </a:endParaRPr>
          </a:p>
          <a:p>
            <a:pPr marL="342900" lvl="0" indent="0" algn="l" rtl="0">
              <a:spcBef>
                <a:spcPts val="0"/>
              </a:spcBef>
              <a:spcAft>
                <a:spcPts val="0"/>
              </a:spcAft>
              <a:buNone/>
            </a:pPr>
            <a:r>
              <a:rPr lang="en-ID" sz="1800" b="1">
                <a:solidFill>
                  <a:schemeClr val="dk1"/>
                </a:solidFill>
                <a:latin typeface="Courier New"/>
                <a:ea typeface="Courier New"/>
                <a:cs typeface="Courier New"/>
                <a:sym typeface="Courier New"/>
              </a:rPr>
              <a:t>BEGIN</a:t>
            </a:r>
            <a:endParaRPr sz="1800" b="1">
              <a:solidFill>
                <a:srgbClr val="383A42"/>
              </a:solidFill>
              <a:latin typeface="Courier New"/>
              <a:ea typeface="Courier New"/>
              <a:cs typeface="Courier New"/>
              <a:sym typeface="Courier New"/>
            </a:endParaRPr>
          </a:p>
          <a:p>
            <a:pPr marL="342900" lvl="0" indent="0" algn="l" rtl="0">
              <a:spcBef>
                <a:spcPts val="0"/>
              </a:spcBef>
              <a:spcAft>
                <a:spcPts val="0"/>
              </a:spcAft>
              <a:buNone/>
            </a:pPr>
            <a:r>
              <a:rPr lang="en-ID" sz="1800" b="1">
                <a:solidFill>
                  <a:srgbClr val="383A42"/>
                </a:solidFill>
                <a:latin typeface="Courier New"/>
                <a:ea typeface="Courier New"/>
                <a:cs typeface="Courier New"/>
                <a:sym typeface="Courier New"/>
              </a:rPr>
              <a:t>	</a:t>
            </a:r>
            <a:r>
              <a:rPr lang="en-ID" sz="1800">
                <a:solidFill>
                  <a:schemeClr val="dk1"/>
                </a:solidFill>
                <a:latin typeface="Courier New"/>
                <a:ea typeface="Courier New"/>
                <a:cs typeface="Courier New"/>
                <a:sym typeface="Courier New"/>
              </a:rPr>
              <a:t>query</a:t>
            </a:r>
            <a:r>
              <a:rPr lang="en-ID" sz="1800">
                <a:solidFill>
                  <a:srgbClr val="383A42"/>
                </a:solidFill>
                <a:latin typeface="Courier New"/>
                <a:ea typeface="Courier New"/>
                <a:cs typeface="Courier New"/>
                <a:sym typeface="Courier New"/>
              </a:rPr>
              <a:t>;</a:t>
            </a:r>
            <a:endParaRPr sz="1800">
              <a:solidFill>
                <a:srgbClr val="383A42"/>
              </a:solidFill>
              <a:latin typeface="Courier New"/>
              <a:ea typeface="Courier New"/>
              <a:cs typeface="Courier New"/>
              <a:sym typeface="Courier New"/>
            </a:endParaRPr>
          </a:p>
          <a:p>
            <a:pPr marL="342900" lvl="0" indent="0" algn="l" rtl="0">
              <a:spcBef>
                <a:spcPts val="0"/>
              </a:spcBef>
              <a:spcAft>
                <a:spcPts val="0"/>
              </a:spcAft>
              <a:buNone/>
            </a:pPr>
            <a:r>
              <a:rPr lang="en-ID" sz="1800" b="1">
                <a:solidFill>
                  <a:schemeClr val="dk1"/>
                </a:solidFill>
                <a:latin typeface="Courier New"/>
                <a:ea typeface="Courier New"/>
                <a:cs typeface="Courier New"/>
                <a:sym typeface="Courier New"/>
              </a:rPr>
              <a:t>END</a:t>
            </a:r>
            <a:r>
              <a:rPr lang="en-ID" sz="1800" b="1">
                <a:solidFill>
                  <a:srgbClr val="383A42"/>
                </a:solidFill>
                <a:latin typeface="Courier New"/>
                <a:ea typeface="Courier New"/>
                <a:cs typeface="Courier New"/>
                <a:sym typeface="Courier New"/>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82">
                                            <p:txEl>
                                              <p:pRg st="0" end="0"/>
                                            </p:txEl>
                                          </p:spTgt>
                                        </p:tgtEl>
                                        <p:attrNameLst>
                                          <p:attrName>style.visibility</p:attrName>
                                        </p:attrNameLst>
                                      </p:cBhvr>
                                      <p:to>
                                        <p:strVal val="visible"/>
                                      </p:to>
                                    </p:set>
                                    <p:anim calcmode="lin" valueType="num">
                                      <p:cBhvr additive="base">
                                        <p:cTn id="7" dur="500"/>
                                        <p:tgtEl>
                                          <p:spTgt spid="88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82">
                                            <p:txEl>
                                              <p:pRg st="1" end="1"/>
                                            </p:txEl>
                                          </p:spTgt>
                                        </p:tgtEl>
                                        <p:attrNameLst>
                                          <p:attrName>style.visibility</p:attrName>
                                        </p:attrNameLst>
                                      </p:cBhvr>
                                      <p:to>
                                        <p:strVal val="visible"/>
                                      </p:to>
                                    </p:set>
                                    <p:anim calcmode="lin" valueType="num">
                                      <p:cBhvr additive="base">
                                        <p:cTn id="12" dur="500"/>
                                        <p:tgtEl>
                                          <p:spTgt spid="88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82">
                                            <p:txEl>
                                              <p:pRg st="2" end="2"/>
                                            </p:txEl>
                                          </p:spTgt>
                                        </p:tgtEl>
                                        <p:attrNameLst>
                                          <p:attrName>style.visibility</p:attrName>
                                        </p:attrNameLst>
                                      </p:cBhvr>
                                      <p:to>
                                        <p:strVal val="visible"/>
                                      </p:to>
                                    </p:set>
                                    <p:anim calcmode="lin" valueType="num">
                                      <p:cBhvr additive="base">
                                        <p:cTn id="17" dur="500"/>
                                        <p:tgtEl>
                                          <p:spTgt spid="88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82">
                                            <p:txEl>
                                              <p:pRg st="3" end="3"/>
                                            </p:txEl>
                                          </p:spTgt>
                                        </p:tgtEl>
                                        <p:attrNameLst>
                                          <p:attrName>style.visibility</p:attrName>
                                        </p:attrNameLst>
                                      </p:cBhvr>
                                      <p:to>
                                        <p:strVal val="visible"/>
                                      </p:to>
                                    </p:set>
                                    <p:anim calcmode="lin" valueType="num">
                                      <p:cBhvr additive="base">
                                        <p:cTn id="22" dur="500"/>
                                        <p:tgtEl>
                                          <p:spTgt spid="88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882">
                                            <p:txEl>
                                              <p:pRg st="4" end="4"/>
                                            </p:txEl>
                                          </p:spTgt>
                                        </p:tgtEl>
                                        <p:attrNameLst>
                                          <p:attrName>style.visibility</p:attrName>
                                        </p:attrNameLst>
                                      </p:cBhvr>
                                      <p:to>
                                        <p:strVal val="visible"/>
                                      </p:to>
                                    </p:set>
                                    <p:anim calcmode="lin" valueType="num">
                                      <p:cBhvr additive="base">
                                        <p:cTn id="27" dur="500"/>
                                        <p:tgtEl>
                                          <p:spTgt spid="88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882">
                                            <p:txEl>
                                              <p:pRg st="5" end="5"/>
                                            </p:txEl>
                                          </p:spTgt>
                                        </p:tgtEl>
                                        <p:attrNameLst>
                                          <p:attrName>style.visibility</p:attrName>
                                        </p:attrNameLst>
                                      </p:cBhvr>
                                      <p:to>
                                        <p:strVal val="visible"/>
                                      </p:to>
                                    </p:set>
                                    <p:anim calcmode="lin" valueType="num">
                                      <p:cBhvr additive="base">
                                        <p:cTn id="32" dur="500"/>
                                        <p:tgtEl>
                                          <p:spTgt spid="882">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82">
                                            <p:txEl>
                                              <p:pRg st="6" end="6"/>
                                            </p:txEl>
                                          </p:spTgt>
                                        </p:tgtEl>
                                        <p:attrNameLst>
                                          <p:attrName>style.visibility</p:attrName>
                                        </p:attrNameLst>
                                      </p:cBhvr>
                                      <p:to>
                                        <p:strVal val="visible"/>
                                      </p:to>
                                    </p:set>
                                    <p:anim calcmode="lin" valueType="num">
                                      <p:cBhvr additive="base">
                                        <p:cTn id="37" dur="500"/>
                                        <p:tgtEl>
                                          <p:spTgt spid="882">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880">
                                            <p:txEl>
                                              <p:pRg st="0" end="0"/>
                                            </p:txEl>
                                          </p:spTgt>
                                        </p:tgtEl>
                                        <p:attrNameLst>
                                          <p:attrName>style.visibility</p:attrName>
                                        </p:attrNameLst>
                                      </p:cBhvr>
                                      <p:to>
                                        <p:strVal val="visible"/>
                                      </p:to>
                                    </p:set>
                                    <p:anim calcmode="lin" valueType="num">
                                      <p:cBhvr additive="base">
                                        <p:cTn id="42" dur="500"/>
                                        <p:tgtEl>
                                          <p:spTgt spid="88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880">
                                            <p:txEl>
                                              <p:pRg st="1" end="1"/>
                                            </p:txEl>
                                          </p:spTgt>
                                        </p:tgtEl>
                                        <p:attrNameLst>
                                          <p:attrName>style.visibility</p:attrName>
                                        </p:attrNameLst>
                                      </p:cBhvr>
                                      <p:to>
                                        <p:strVal val="visible"/>
                                      </p:to>
                                    </p:set>
                                    <p:anim calcmode="lin" valueType="num">
                                      <p:cBhvr additive="base">
                                        <p:cTn id="47" dur="500"/>
                                        <p:tgtEl>
                                          <p:spTgt spid="88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880">
                                            <p:txEl>
                                              <p:pRg st="2" end="2"/>
                                            </p:txEl>
                                          </p:spTgt>
                                        </p:tgtEl>
                                        <p:attrNameLst>
                                          <p:attrName>style.visibility</p:attrName>
                                        </p:attrNameLst>
                                      </p:cBhvr>
                                      <p:to>
                                        <p:strVal val="visible"/>
                                      </p:to>
                                    </p:set>
                                    <p:anim calcmode="lin" valueType="num">
                                      <p:cBhvr additive="base">
                                        <p:cTn id="52" dur="500"/>
                                        <p:tgtEl>
                                          <p:spTgt spid="88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880">
                                            <p:txEl>
                                              <p:pRg st="3" end="3"/>
                                            </p:txEl>
                                          </p:spTgt>
                                        </p:tgtEl>
                                        <p:attrNameLst>
                                          <p:attrName>style.visibility</p:attrName>
                                        </p:attrNameLst>
                                      </p:cBhvr>
                                      <p:to>
                                        <p:strVal val="visible"/>
                                      </p:to>
                                    </p:set>
                                    <p:anim calcmode="lin" valueType="num">
                                      <p:cBhvr additive="base">
                                        <p:cTn id="57" dur="500"/>
                                        <p:tgtEl>
                                          <p:spTgt spid="88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880">
                                            <p:txEl>
                                              <p:pRg st="4" end="4"/>
                                            </p:txEl>
                                          </p:spTgt>
                                        </p:tgtEl>
                                        <p:attrNameLst>
                                          <p:attrName>style.visibility</p:attrName>
                                        </p:attrNameLst>
                                      </p:cBhvr>
                                      <p:to>
                                        <p:strVal val="visible"/>
                                      </p:to>
                                    </p:set>
                                    <p:anim calcmode="lin" valueType="num">
                                      <p:cBhvr additive="base">
                                        <p:cTn id="62" dur="500"/>
                                        <p:tgtEl>
                                          <p:spTgt spid="880">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880">
                                            <p:txEl>
                                              <p:pRg st="5" end="5"/>
                                            </p:txEl>
                                          </p:spTgt>
                                        </p:tgtEl>
                                        <p:attrNameLst>
                                          <p:attrName>style.visibility</p:attrName>
                                        </p:attrNameLst>
                                      </p:cBhvr>
                                      <p:to>
                                        <p:strVal val="visible"/>
                                      </p:to>
                                    </p:set>
                                    <p:anim calcmode="lin" valueType="num">
                                      <p:cBhvr additive="base">
                                        <p:cTn id="67" dur="500"/>
                                        <p:tgtEl>
                                          <p:spTgt spid="880">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880">
                                            <p:txEl>
                                              <p:pRg st="6" end="6"/>
                                            </p:txEl>
                                          </p:spTgt>
                                        </p:tgtEl>
                                        <p:attrNameLst>
                                          <p:attrName>style.visibility</p:attrName>
                                        </p:attrNameLst>
                                      </p:cBhvr>
                                      <p:to>
                                        <p:strVal val="visible"/>
                                      </p:to>
                                    </p:set>
                                    <p:anim calcmode="lin" valueType="num">
                                      <p:cBhvr additive="base">
                                        <p:cTn id="72" dur="500"/>
                                        <p:tgtEl>
                                          <p:spTgt spid="880">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880">
                                            <p:txEl>
                                              <p:pRg st="7" end="7"/>
                                            </p:txEl>
                                          </p:spTgt>
                                        </p:tgtEl>
                                        <p:attrNameLst>
                                          <p:attrName>style.visibility</p:attrName>
                                        </p:attrNameLst>
                                      </p:cBhvr>
                                      <p:to>
                                        <p:strVal val="visible"/>
                                      </p:to>
                                    </p:set>
                                    <p:anim calcmode="lin" valueType="num">
                                      <p:cBhvr additive="base">
                                        <p:cTn id="77" dur="500"/>
                                        <p:tgtEl>
                                          <p:spTgt spid="880">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880">
                                            <p:txEl>
                                              <p:pRg st="8" end="8"/>
                                            </p:txEl>
                                          </p:spTgt>
                                        </p:tgtEl>
                                        <p:attrNameLst>
                                          <p:attrName>style.visibility</p:attrName>
                                        </p:attrNameLst>
                                      </p:cBhvr>
                                      <p:to>
                                        <p:strVal val="visible"/>
                                      </p:to>
                                    </p:set>
                                    <p:anim calcmode="lin" valueType="num">
                                      <p:cBhvr additive="base">
                                        <p:cTn id="82" dur="500"/>
                                        <p:tgtEl>
                                          <p:spTgt spid="880">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880">
                                            <p:txEl>
                                              <p:pRg st="9" end="9"/>
                                            </p:txEl>
                                          </p:spTgt>
                                        </p:tgtEl>
                                        <p:attrNameLst>
                                          <p:attrName>style.visibility</p:attrName>
                                        </p:attrNameLst>
                                      </p:cBhvr>
                                      <p:to>
                                        <p:strVal val="visible"/>
                                      </p:to>
                                    </p:set>
                                    <p:anim calcmode="lin" valueType="num">
                                      <p:cBhvr additive="base">
                                        <p:cTn id="87" dur="500"/>
                                        <p:tgtEl>
                                          <p:spTgt spid="880">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880">
                                            <p:txEl>
                                              <p:pRg st="10" end="10"/>
                                            </p:txEl>
                                          </p:spTgt>
                                        </p:tgtEl>
                                        <p:attrNameLst>
                                          <p:attrName>style.visibility</p:attrName>
                                        </p:attrNameLst>
                                      </p:cBhvr>
                                      <p:to>
                                        <p:strVal val="visible"/>
                                      </p:to>
                                    </p:set>
                                    <p:anim calcmode="lin" valueType="num">
                                      <p:cBhvr additive="base">
                                        <p:cTn id="92" dur="500"/>
                                        <p:tgtEl>
                                          <p:spTgt spid="880">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880">
                                            <p:txEl>
                                              <p:pRg st="11" end="11"/>
                                            </p:txEl>
                                          </p:spTgt>
                                        </p:tgtEl>
                                        <p:attrNameLst>
                                          <p:attrName>style.visibility</p:attrName>
                                        </p:attrNameLst>
                                      </p:cBhvr>
                                      <p:to>
                                        <p:strVal val="visible"/>
                                      </p:to>
                                    </p:set>
                                    <p:anim calcmode="lin" valueType="num">
                                      <p:cBhvr additive="base">
                                        <p:cTn id="97" dur="500"/>
                                        <p:tgtEl>
                                          <p:spTgt spid="880">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8" fill="hold" nodeType="clickEffect">
                                  <p:stCondLst>
                                    <p:cond delay="0"/>
                                  </p:stCondLst>
                                  <p:childTnLst>
                                    <p:set>
                                      <p:cBhvr>
                                        <p:cTn id="101" dur="1" fill="hold">
                                          <p:stCondLst>
                                            <p:cond delay="0"/>
                                          </p:stCondLst>
                                        </p:cTn>
                                        <p:tgtEl>
                                          <p:spTgt spid="880">
                                            <p:txEl>
                                              <p:pRg st="12" end="12"/>
                                            </p:txEl>
                                          </p:spTgt>
                                        </p:tgtEl>
                                        <p:attrNameLst>
                                          <p:attrName>style.visibility</p:attrName>
                                        </p:attrNameLst>
                                      </p:cBhvr>
                                      <p:to>
                                        <p:strVal val="visible"/>
                                      </p:to>
                                    </p:set>
                                    <p:anim calcmode="lin" valueType="num">
                                      <p:cBhvr additive="base">
                                        <p:cTn id="102" dur="500"/>
                                        <p:tgtEl>
                                          <p:spTgt spid="880">
                                            <p:txEl>
                                              <p:pRg st="12" end="1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9E324-A906-C3A9-B89F-CC60C8C80967}"/>
              </a:ext>
            </a:extLst>
          </p:cNvPr>
          <p:cNvSpPr>
            <a:spLocks noGrp="1"/>
          </p:cNvSpPr>
          <p:nvPr>
            <p:ph type="title"/>
          </p:nvPr>
        </p:nvSpPr>
        <p:spPr/>
        <p:txBody>
          <a:bodyPr/>
          <a:lstStyle/>
          <a:p>
            <a:r>
              <a:rPr lang="en-US"/>
              <a:t>Latihan</a:t>
            </a:r>
            <a:endParaRPr lang="en-ID"/>
          </a:p>
        </p:txBody>
      </p:sp>
      <p:sp>
        <p:nvSpPr>
          <p:cNvPr id="3" name="Text Placeholder 2">
            <a:extLst>
              <a:ext uri="{FF2B5EF4-FFF2-40B4-BE49-F238E27FC236}">
                <a16:creationId xmlns:a16="http://schemas.microsoft.com/office/drawing/2014/main" id="{95DA9FE7-D2D5-C7FA-02C9-E6DCA350FF3E}"/>
              </a:ext>
            </a:extLst>
          </p:cNvPr>
          <p:cNvSpPr>
            <a:spLocks noGrp="1"/>
          </p:cNvSpPr>
          <p:nvPr>
            <p:ph type="body" idx="1"/>
          </p:nvPr>
        </p:nvSpPr>
        <p:spPr/>
        <p:txBody>
          <a:bodyPr>
            <a:normAutofit fontScale="92500"/>
          </a:bodyPr>
          <a:lstStyle/>
          <a:p>
            <a:r>
              <a:rPr lang="en-ID" sz="4000">
                <a:latin typeface="Roboto"/>
                <a:ea typeface="Roboto"/>
                <a:cs typeface="Roboto"/>
                <a:sym typeface="Roboto"/>
              </a:rPr>
              <a:t>Buat sebuah store procedure bernama </a:t>
            </a:r>
            <a:r>
              <a:rPr lang="en-ID" sz="4000">
                <a:latin typeface="Courier New"/>
                <a:ea typeface="Courier New"/>
                <a:cs typeface="Courier New"/>
                <a:sym typeface="Courier New"/>
              </a:rPr>
              <a:t>get_sales_by_date_range </a:t>
            </a:r>
            <a:r>
              <a:rPr lang="en-ID" sz="4000">
                <a:latin typeface="Roboto"/>
                <a:ea typeface="Roboto"/>
                <a:cs typeface="Roboto"/>
                <a:sym typeface="Roboto"/>
              </a:rPr>
              <a:t>yang isinya Menampilkan Daftar Penjualan Berdasarkan Rentang Tanggal</a:t>
            </a:r>
          </a:p>
          <a:p>
            <a:r>
              <a:rPr lang="en-ID" sz="1800" b="1" i="0" u="none" strike="noStrike" baseline="0">
                <a:solidFill>
                  <a:srgbClr val="0000FF"/>
                </a:solidFill>
                <a:latin typeface="Courier New" panose="02070309020205020404" pitchFamily="49" charset="0"/>
              </a:rPr>
              <a:t>SELECT</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0000FF"/>
                </a:solidFill>
                <a:latin typeface="Courier New" panose="02070309020205020404" pitchFamily="49" charset="0"/>
              </a:rPr>
              <a:t>*</a:t>
            </a:r>
            <a:r>
              <a:rPr lang="en-ID" sz="1800" b="0" i="0" u="none" strike="noStrike" baseline="0">
                <a:solidFill>
                  <a:srgbClr val="000000"/>
                </a:solidFill>
                <a:latin typeface="Courier New" panose="02070309020205020404" pitchFamily="49" charset="0"/>
              </a:rPr>
              <a:t> </a:t>
            </a:r>
            <a:r>
              <a:rPr lang="en-ID" sz="1800" b="1" i="0" u="none" strike="noStrike" baseline="0">
                <a:solidFill>
                  <a:srgbClr val="0000FF"/>
                </a:solidFill>
                <a:latin typeface="Courier New" panose="02070309020205020404" pitchFamily="49" charset="0"/>
              </a:rPr>
              <a:t>FROM</a:t>
            </a:r>
            <a:r>
              <a:rPr lang="en-ID" sz="1800" b="0" i="0" u="none" strike="noStrike" baseline="0">
                <a:solidFill>
                  <a:srgbClr val="000000"/>
                </a:solidFill>
                <a:latin typeface="Courier New" panose="02070309020205020404" pitchFamily="49" charset="0"/>
              </a:rPr>
              <a:t> </a:t>
            </a:r>
            <a:r>
              <a:rPr lang="en-ID" sz="1800" b="0" i="0" u="none" strike="noStrike" baseline="0">
                <a:solidFill>
                  <a:srgbClr val="FF00FF"/>
                </a:solidFill>
                <a:latin typeface="Courier New" panose="02070309020205020404" pitchFamily="49" charset="0"/>
              </a:rPr>
              <a:t>orders</a:t>
            </a:r>
          </a:p>
          <a:p>
            <a:r>
              <a:rPr lang="en-US" sz="1800" b="1" i="0" u="none" strike="noStrike" baseline="0">
                <a:solidFill>
                  <a:srgbClr val="0000FF"/>
                </a:solidFill>
                <a:latin typeface="Courier New" panose="02070309020205020404" pitchFamily="49" charset="0"/>
              </a:rPr>
              <a:t>WHERE</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occurred_at</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BETWEEN</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"2014-01-01"</a:t>
            </a:r>
            <a:r>
              <a:rPr lang="en-US" sz="1800" b="0" i="0" u="none" strike="noStrike" baseline="0">
                <a:solidFill>
                  <a:srgbClr val="000000"/>
                </a:solidFill>
                <a:latin typeface="Courier New" panose="02070309020205020404" pitchFamily="49" charset="0"/>
              </a:rPr>
              <a:t> </a:t>
            </a:r>
            <a:r>
              <a:rPr lang="en-US" sz="1800" b="1" i="0" u="none" strike="noStrike" baseline="0">
                <a:solidFill>
                  <a:srgbClr val="0000FF"/>
                </a:solidFill>
                <a:latin typeface="Courier New" panose="02070309020205020404" pitchFamily="49" charset="0"/>
              </a:rPr>
              <a:t>AND</a:t>
            </a:r>
            <a:r>
              <a:rPr lang="en-US" sz="1800" b="0" i="0" u="none" strike="noStrike" baseline="0">
                <a:solidFill>
                  <a:srgbClr val="000000"/>
                </a:solidFill>
                <a:latin typeface="Courier New" panose="02070309020205020404" pitchFamily="49" charset="0"/>
              </a:rPr>
              <a:t> </a:t>
            </a:r>
            <a:r>
              <a:rPr lang="en-US" sz="1800" b="0" i="0" u="none" strike="noStrike" baseline="0">
                <a:solidFill>
                  <a:srgbClr val="808000"/>
                </a:solidFill>
                <a:latin typeface="Courier New" panose="02070309020205020404" pitchFamily="49" charset="0"/>
              </a:rPr>
              <a:t>"2014-06-30"</a:t>
            </a:r>
          </a:p>
        </p:txBody>
      </p:sp>
    </p:spTree>
    <p:extLst>
      <p:ext uri="{BB962C8B-B14F-4D97-AF65-F5344CB8AC3E}">
        <p14:creationId xmlns:p14="http://schemas.microsoft.com/office/powerpoint/2010/main" val="24041729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pic>
        <p:nvPicPr>
          <p:cNvPr id="851" name="Google Shape;851;g2a550b50268_0_0"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852" name="Google Shape;852;g2a550b50268_0_0"/>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2400" b="1">
                <a:solidFill>
                  <a:schemeClr val="lt1"/>
                </a:solidFill>
              </a:rPr>
              <a:t>TRIGGER</a:t>
            </a:r>
            <a:endParaRPr sz="2400" b="1">
              <a:solidFill>
                <a:schemeClr val="lt1"/>
              </a:solidFill>
            </a:endParaRPr>
          </a:p>
        </p:txBody>
      </p:sp>
      <p:sp>
        <p:nvSpPr>
          <p:cNvPr id="853" name="Google Shape;853;g2a550b50268_0_0"/>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13</a:t>
            </a:r>
            <a:endParaRPr/>
          </a:p>
        </p:txBody>
      </p:sp>
    </p:spTree>
    <p:extLst>
      <p:ext uri="{BB962C8B-B14F-4D97-AF65-F5344CB8AC3E}">
        <p14:creationId xmlns:p14="http://schemas.microsoft.com/office/powerpoint/2010/main" val="4823336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70A4-9004-B910-7C44-FB0845BFCB5D}"/>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25E16A43-B9A3-632C-31E7-6984699816F7}"/>
              </a:ext>
            </a:extLst>
          </p:cNvPr>
          <p:cNvSpPr>
            <a:spLocks noGrp="1"/>
          </p:cNvSpPr>
          <p:nvPr>
            <p:ph type="body" idx="1"/>
          </p:nvPr>
        </p:nvSpPr>
        <p:spPr/>
        <p:txBody>
          <a:bodyPr>
            <a:normAutofit/>
          </a:bodyPr>
          <a:lstStyle/>
          <a:p>
            <a:r>
              <a:rPr lang="en-ID"/>
              <a:t>Mahasiswa </a:t>
            </a:r>
            <a:r>
              <a:rPr lang="en-ID" b="1"/>
              <a:t>memahami konsep </a:t>
            </a:r>
            <a:r>
              <a:rPr lang="en-ID" b="1" i="1"/>
              <a:t>Trigger</a:t>
            </a:r>
            <a:r>
              <a:rPr lang="en-ID"/>
              <a:t>, termasuk jenis-jenis </a:t>
            </a:r>
            <a:r>
              <a:rPr lang="en-ID" i="1"/>
              <a:t>Trigger</a:t>
            </a:r>
            <a:r>
              <a:rPr lang="en-ID"/>
              <a:t> (AFTER, BEFORE, INSERT, UPDATE, DELETE) dan penggunaannya dalam otomasi basis data.</a:t>
            </a:r>
          </a:p>
          <a:p>
            <a:r>
              <a:rPr lang="en-ID"/>
              <a:t>Mahasiswa </a:t>
            </a:r>
            <a:r>
              <a:rPr lang="en-ID" b="1"/>
              <a:t>mampu merancang dan mengimplementasikan </a:t>
            </a:r>
            <a:r>
              <a:rPr lang="en-ID" b="1" i="1"/>
              <a:t>Trigger</a:t>
            </a:r>
            <a:r>
              <a:rPr lang="en-ID" b="1"/>
              <a:t> </a:t>
            </a:r>
            <a:r>
              <a:rPr lang="en-ID"/>
              <a:t>untuk memvalidasi, memonitor, dan memelihara integritas data secara otomatis.</a:t>
            </a:r>
          </a:p>
        </p:txBody>
      </p:sp>
    </p:spTree>
    <p:extLst>
      <p:ext uri="{BB962C8B-B14F-4D97-AF65-F5344CB8AC3E}">
        <p14:creationId xmlns:p14="http://schemas.microsoft.com/office/powerpoint/2010/main" val="3265668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62c511ebcc_1_28"/>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Clr>
                <a:schemeClr val="dk1"/>
              </a:buClr>
              <a:buSzPts val="1800"/>
              <a:buFont typeface="Century Gothic"/>
              <a:buChar char="❏"/>
            </a:pPr>
            <a:r>
              <a:rPr lang="en-ID" b="1">
                <a:solidFill>
                  <a:schemeClr val="dk1"/>
                </a:solidFill>
              </a:rPr>
              <a:t>Trigger </a:t>
            </a:r>
            <a:r>
              <a:rPr lang="en-ID">
                <a:solidFill>
                  <a:schemeClr val="dk1"/>
                </a:solidFill>
              </a:rPr>
              <a:t>adalah objek database yang aktif secara otomatis saat suatu peristiwa tertentu terjadi pada tabel atau tampilan dalam database. </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b="1">
                <a:solidFill>
                  <a:schemeClr val="dk1"/>
                </a:solidFill>
              </a:rPr>
              <a:t>Trigger </a:t>
            </a:r>
            <a:r>
              <a:rPr lang="en-ID">
                <a:solidFill>
                  <a:schemeClr val="dk1"/>
                </a:solidFill>
              </a:rPr>
              <a:t>dapat dianggap sebagai serangkaian instruksi atau prosedur yang dijalankan secara otomatis oleh DBMS ketika peristiwa tertentu terjadi.</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b="1">
                <a:solidFill>
                  <a:schemeClr val="dk1"/>
                </a:solidFill>
              </a:rPr>
              <a:t>Trigger </a:t>
            </a:r>
            <a:r>
              <a:rPr lang="en-ID">
                <a:solidFill>
                  <a:schemeClr val="dk1"/>
                </a:solidFill>
              </a:rPr>
              <a:t>dijalankan sebelum </a:t>
            </a:r>
            <a:r>
              <a:rPr lang="en-ID" b="1">
                <a:solidFill>
                  <a:schemeClr val="dk1"/>
                </a:solidFill>
              </a:rPr>
              <a:t>(BEFORE) </a:t>
            </a:r>
            <a:r>
              <a:rPr lang="en-ID">
                <a:solidFill>
                  <a:schemeClr val="dk1"/>
                </a:solidFill>
              </a:rPr>
              <a:t>atau setelah </a:t>
            </a:r>
            <a:r>
              <a:rPr lang="en-ID" b="1">
                <a:solidFill>
                  <a:schemeClr val="dk1"/>
                </a:solidFill>
              </a:rPr>
              <a:t>(AFTER)</a:t>
            </a:r>
            <a:r>
              <a:rPr lang="en-ID">
                <a:solidFill>
                  <a:schemeClr val="dk1"/>
                </a:solidFill>
              </a:rPr>
              <a:t> suatu peristiwa. </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a:solidFill>
                  <a:schemeClr val="dk1"/>
                </a:solidFill>
              </a:rPr>
              <a:t>Peristiwa ini berupa operasi manipulasi data seperti </a:t>
            </a:r>
            <a:r>
              <a:rPr lang="en-ID" b="1">
                <a:solidFill>
                  <a:schemeClr val="dk1"/>
                </a:solidFill>
              </a:rPr>
              <a:t>INSERT</a:t>
            </a:r>
            <a:r>
              <a:rPr lang="en-ID">
                <a:solidFill>
                  <a:schemeClr val="dk1"/>
                </a:solidFill>
              </a:rPr>
              <a:t>, </a:t>
            </a:r>
            <a:r>
              <a:rPr lang="en-ID" b="1">
                <a:solidFill>
                  <a:schemeClr val="dk1"/>
                </a:solidFill>
              </a:rPr>
              <a:t>UPDATE</a:t>
            </a:r>
            <a:r>
              <a:rPr lang="en-ID">
                <a:solidFill>
                  <a:schemeClr val="dk1"/>
                </a:solidFill>
              </a:rPr>
              <a:t>, atau </a:t>
            </a:r>
            <a:r>
              <a:rPr lang="en-ID" b="1">
                <a:solidFill>
                  <a:schemeClr val="dk1"/>
                </a:solidFill>
              </a:rPr>
              <a:t>DELETE</a:t>
            </a:r>
            <a:r>
              <a:rPr lang="en-ID">
                <a:solidFill>
                  <a:schemeClr val="dk1"/>
                </a:solidFill>
              </a:rPr>
              <a:t>.</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a:solidFill>
                  <a:schemeClr val="dk1"/>
                </a:solidFill>
              </a:rPr>
              <a:t>Dengan menggunakan trigger, Anda dapat mengotomatiskan tindakan tertentu setelah peristiwa tersebut terjadi tanpa harus secara manual menjalankan prosedur atau skrip.</a:t>
            </a:r>
            <a:endParaRPr>
              <a:solidFill>
                <a:schemeClr val="dk1"/>
              </a:solidFill>
            </a:endParaRPr>
          </a:p>
        </p:txBody>
      </p:sp>
      <p:sp>
        <p:nvSpPr>
          <p:cNvPr id="889" name="Google Shape;889;g262c511ebcc_1_2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88">
                                            <p:txEl>
                                              <p:pRg st="0" end="0"/>
                                            </p:txEl>
                                          </p:spTgt>
                                        </p:tgtEl>
                                        <p:attrNameLst>
                                          <p:attrName>style.visibility</p:attrName>
                                        </p:attrNameLst>
                                      </p:cBhvr>
                                      <p:to>
                                        <p:strVal val="visible"/>
                                      </p:to>
                                    </p:set>
                                    <p:anim calcmode="lin" valueType="num">
                                      <p:cBhvr additive="base">
                                        <p:cTn id="7" dur="500"/>
                                        <p:tgtEl>
                                          <p:spTgt spid="88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88">
                                            <p:txEl>
                                              <p:pRg st="1" end="1"/>
                                            </p:txEl>
                                          </p:spTgt>
                                        </p:tgtEl>
                                        <p:attrNameLst>
                                          <p:attrName>style.visibility</p:attrName>
                                        </p:attrNameLst>
                                      </p:cBhvr>
                                      <p:to>
                                        <p:strVal val="visible"/>
                                      </p:to>
                                    </p:set>
                                    <p:anim calcmode="lin" valueType="num">
                                      <p:cBhvr additive="base">
                                        <p:cTn id="12" dur="500"/>
                                        <p:tgtEl>
                                          <p:spTgt spid="88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88">
                                            <p:txEl>
                                              <p:pRg st="2" end="2"/>
                                            </p:txEl>
                                          </p:spTgt>
                                        </p:tgtEl>
                                        <p:attrNameLst>
                                          <p:attrName>style.visibility</p:attrName>
                                        </p:attrNameLst>
                                      </p:cBhvr>
                                      <p:to>
                                        <p:strVal val="visible"/>
                                      </p:to>
                                    </p:set>
                                    <p:anim calcmode="lin" valueType="num">
                                      <p:cBhvr additive="base">
                                        <p:cTn id="17" dur="500"/>
                                        <p:tgtEl>
                                          <p:spTgt spid="88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88">
                                            <p:txEl>
                                              <p:pRg st="3" end="3"/>
                                            </p:txEl>
                                          </p:spTgt>
                                        </p:tgtEl>
                                        <p:attrNameLst>
                                          <p:attrName>style.visibility</p:attrName>
                                        </p:attrNameLst>
                                      </p:cBhvr>
                                      <p:to>
                                        <p:strVal val="visible"/>
                                      </p:to>
                                    </p:set>
                                    <p:anim calcmode="lin" valueType="num">
                                      <p:cBhvr additive="base">
                                        <p:cTn id="22" dur="500"/>
                                        <p:tgtEl>
                                          <p:spTgt spid="88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888">
                                            <p:txEl>
                                              <p:pRg st="4" end="4"/>
                                            </p:txEl>
                                          </p:spTgt>
                                        </p:tgtEl>
                                        <p:attrNameLst>
                                          <p:attrName>style.visibility</p:attrName>
                                        </p:attrNameLst>
                                      </p:cBhvr>
                                      <p:to>
                                        <p:strVal val="visible"/>
                                      </p:to>
                                    </p:set>
                                    <p:anim calcmode="lin" valueType="num">
                                      <p:cBhvr additive="base">
                                        <p:cTn id="27" dur="500"/>
                                        <p:tgtEl>
                                          <p:spTgt spid="888">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2c511ebcc_1_58"/>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500"/>
              </a:spcBef>
              <a:spcAft>
                <a:spcPts val="0"/>
              </a:spcAft>
              <a:buClr>
                <a:schemeClr val="dk1"/>
              </a:buClr>
              <a:buSzPts val="1800"/>
              <a:buFont typeface="Roboto"/>
              <a:buChar char="❏"/>
            </a:pPr>
            <a:r>
              <a:rPr lang="en-ID">
                <a:solidFill>
                  <a:schemeClr val="dk1"/>
                </a:solidFill>
              </a:rPr>
              <a:t>Peristiwa (</a:t>
            </a:r>
            <a:r>
              <a:rPr lang="en-ID" b="1">
                <a:solidFill>
                  <a:schemeClr val="dk1"/>
                </a:solidFill>
              </a:rPr>
              <a:t>Event</a:t>
            </a:r>
            <a:r>
              <a:rPr lang="en-ID">
                <a:solidFill>
                  <a:schemeClr val="dk1"/>
                </a:solidFill>
              </a:rPr>
              <a:t>): Peristiwa adalah operasi yang memicu trigger. Ini bisa menjadi operasi </a:t>
            </a:r>
            <a:r>
              <a:rPr lang="en-ID" b="1">
                <a:solidFill>
                  <a:schemeClr val="dk1"/>
                </a:solidFill>
              </a:rPr>
              <a:t>INSERT</a:t>
            </a:r>
            <a:r>
              <a:rPr lang="en-ID">
                <a:solidFill>
                  <a:schemeClr val="dk1"/>
                </a:solidFill>
              </a:rPr>
              <a:t>, </a:t>
            </a:r>
            <a:r>
              <a:rPr lang="en-ID" b="1">
                <a:solidFill>
                  <a:schemeClr val="dk1"/>
                </a:solidFill>
              </a:rPr>
              <a:t>UPDATE</a:t>
            </a:r>
            <a:r>
              <a:rPr lang="en-ID">
                <a:solidFill>
                  <a:schemeClr val="dk1"/>
                </a:solidFill>
              </a:rPr>
              <a:t>, atau </a:t>
            </a:r>
            <a:r>
              <a:rPr lang="en-ID" b="1">
                <a:solidFill>
                  <a:schemeClr val="dk1"/>
                </a:solidFill>
              </a:rPr>
              <a:t>DELETE </a:t>
            </a:r>
            <a:r>
              <a:rPr lang="en-ID">
                <a:solidFill>
                  <a:schemeClr val="dk1"/>
                </a:solidFill>
              </a:rPr>
              <a:t>pada sebuah tabel.</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Waktu Pelaksanaan (</a:t>
            </a:r>
            <a:r>
              <a:rPr lang="en-ID" b="1">
                <a:solidFill>
                  <a:schemeClr val="dk1"/>
                </a:solidFill>
              </a:rPr>
              <a:t>Timing</a:t>
            </a:r>
            <a:r>
              <a:rPr lang="en-ID">
                <a:solidFill>
                  <a:schemeClr val="dk1"/>
                </a:solidFill>
              </a:rPr>
              <a:t>): Trigger dapat diatur untuk dijalankan sebelum atau sesudah peristiwa terjadi. Trigger yang dijalankan sebelum peristiwa disebut "</a:t>
            </a:r>
            <a:r>
              <a:rPr lang="en-ID" b="1">
                <a:solidFill>
                  <a:schemeClr val="dk1"/>
                </a:solidFill>
              </a:rPr>
              <a:t>BEFORE trigger</a:t>
            </a:r>
            <a:r>
              <a:rPr lang="en-ID">
                <a:solidFill>
                  <a:schemeClr val="dk1"/>
                </a:solidFill>
              </a:rPr>
              <a:t>", sedangkan yang dijalankan setelah peristiwa disebut "</a:t>
            </a:r>
            <a:r>
              <a:rPr lang="en-ID" b="1">
                <a:solidFill>
                  <a:schemeClr val="dk1"/>
                </a:solidFill>
              </a:rPr>
              <a:t>AFTER trigger</a:t>
            </a:r>
            <a:r>
              <a:rPr lang="en-ID">
                <a:solidFill>
                  <a:schemeClr val="dk1"/>
                </a:solidFill>
              </a:rPr>
              <a:t>".</a:t>
            </a:r>
            <a:endParaRPr>
              <a:solidFill>
                <a:schemeClr val="dk1"/>
              </a:solidFill>
            </a:endParaRPr>
          </a:p>
          <a:p>
            <a:pPr marL="457200" lvl="0" indent="-342900" algn="l" rtl="0">
              <a:lnSpc>
                <a:spcPct val="115000"/>
              </a:lnSpc>
              <a:spcBef>
                <a:spcPts val="0"/>
              </a:spcBef>
              <a:spcAft>
                <a:spcPts val="0"/>
              </a:spcAft>
              <a:buClr>
                <a:schemeClr val="dk1"/>
              </a:buClr>
              <a:buSzPts val="1800"/>
              <a:buFont typeface="Roboto"/>
              <a:buChar char="❏"/>
            </a:pPr>
            <a:r>
              <a:rPr lang="en-ID">
                <a:solidFill>
                  <a:schemeClr val="dk1"/>
                </a:solidFill>
              </a:rPr>
              <a:t>Tabel Target (</a:t>
            </a:r>
            <a:r>
              <a:rPr lang="en-ID" b="1">
                <a:solidFill>
                  <a:schemeClr val="dk1"/>
                </a:solidFill>
              </a:rPr>
              <a:t>Target Table</a:t>
            </a:r>
            <a:r>
              <a:rPr lang="en-ID">
                <a:solidFill>
                  <a:schemeClr val="dk1"/>
                </a:solidFill>
              </a:rPr>
              <a:t>): Trigger terkait dengan tabel tertentu. Misalnya, trigger dapat diaktifkan ketika ada operasi </a:t>
            </a:r>
            <a:r>
              <a:rPr lang="en-ID" b="1">
                <a:solidFill>
                  <a:schemeClr val="dk1"/>
                </a:solidFill>
              </a:rPr>
              <a:t>INSERT </a:t>
            </a:r>
            <a:r>
              <a:rPr lang="en-ID">
                <a:solidFill>
                  <a:schemeClr val="dk1"/>
                </a:solidFill>
              </a:rPr>
              <a:t>pada tabel tertentu.</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Kondisi (</a:t>
            </a:r>
            <a:r>
              <a:rPr lang="en-ID" b="1">
                <a:solidFill>
                  <a:schemeClr val="dk1"/>
                </a:solidFill>
              </a:rPr>
              <a:t>Condition</a:t>
            </a:r>
            <a:r>
              <a:rPr lang="en-ID">
                <a:solidFill>
                  <a:schemeClr val="dk1"/>
                </a:solidFill>
              </a:rPr>
              <a:t>): Kondisi adalah aturan atau kriteria yang harus dipenuhi agar trigger dijalankan. Misalnya, trigger mungkin hanya dijalankan jika nilai kolom tertentu memenuhi syarat tertentu.</a:t>
            </a:r>
            <a:endParaRPr b="1">
              <a:solidFill>
                <a:schemeClr val="dk1"/>
              </a:solidFill>
            </a:endParaRPr>
          </a:p>
        </p:txBody>
      </p:sp>
      <p:sp>
        <p:nvSpPr>
          <p:cNvPr id="896" name="Google Shape;896;g262c511ebcc_1_5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Konsep 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95">
                                            <p:txEl>
                                              <p:pRg st="0" end="0"/>
                                            </p:txEl>
                                          </p:spTgt>
                                        </p:tgtEl>
                                        <p:attrNameLst>
                                          <p:attrName>style.visibility</p:attrName>
                                        </p:attrNameLst>
                                      </p:cBhvr>
                                      <p:to>
                                        <p:strVal val="visible"/>
                                      </p:to>
                                    </p:set>
                                    <p:anim calcmode="lin" valueType="num">
                                      <p:cBhvr additive="base">
                                        <p:cTn id="7" dur="500"/>
                                        <p:tgtEl>
                                          <p:spTgt spid="89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95">
                                            <p:txEl>
                                              <p:pRg st="1" end="1"/>
                                            </p:txEl>
                                          </p:spTgt>
                                        </p:tgtEl>
                                        <p:attrNameLst>
                                          <p:attrName>style.visibility</p:attrName>
                                        </p:attrNameLst>
                                      </p:cBhvr>
                                      <p:to>
                                        <p:strVal val="visible"/>
                                      </p:to>
                                    </p:set>
                                    <p:anim calcmode="lin" valueType="num">
                                      <p:cBhvr additive="base">
                                        <p:cTn id="12" dur="500"/>
                                        <p:tgtEl>
                                          <p:spTgt spid="89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95">
                                            <p:txEl>
                                              <p:pRg st="2" end="2"/>
                                            </p:txEl>
                                          </p:spTgt>
                                        </p:tgtEl>
                                        <p:attrNameLst>
                                          <p:attrName>style.visibility</p:attrName>
                                        </p:attrNameLst>
                                      </p:cBhvr>
                                      <p:to>
                                        <p:strVal val="visible"/>
                                      </p:to>
                                    </p:set>
                                    <p:anim calcmode="lin" valueType="num">
                                      <p:cBhvr additive="base">
                                        <p:cTn id="17" dur="500"/>
                                        <p:tgtEl>
                                          <p:spTgt spid="89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95">
                                            <p:txEl>
                                              <p:pRg st="3" end="3"/>
                                            </p:txEl>
                                          </p:spTgt>
                                        </p:tgtEl>
                                        <p:attrNameLst>
                                          <p:attrName>style.visibility</p:attrName>
                                        </p:attrNameLst>
                                      </p:cBhvr>
                                      <p:to>
                                        <p:strVal val="visible"/>
                                      </p:to>
                                    </p:set>
                                    <p:anim calcmode="lin" valueType="num">
                                      <p:cBhvr additive="base">
                                        <p:cTn id="22" dur="500"/>
                                        <p:tgtEl>
                                          <p:spTgt spid="895">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2c511ebcc_1_67"/>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500"/>
              </a:spcBef>
              <a:spcAft>
                <a:spcPts val="0"/>
              </a:spcAft>
              <a:buClr>
                <a:schemeClr val="dk1"/>
              </a:buClr>
              <a:buSzPts val="1800"/>
              <a:buFont typeface="Century Gothic"/>
              <a:buChar char="❏"/>
            </a:pPr>
            <a:r>
              <a:rPr lang="en-ID">
                <a:solidFill>
                  <a:schemeClr val="dk1"/>
                </a:solidFill>
              </a:rPr>
              <a:t>Aksi (</a:t>
            </a:r>
            <a:r>
              <a:rPr lang="en-ID" b="1">
                <a:solidFill>
                  <a:schemeClr val="dk1"/>
                </a:solidFill>
              </a:rPr>
              <a:t>Action</a:t>
            </a:r>
            <a:r>
              <a:rPr lang="en-ID">
                <a:solidFill>
                  <a:schemeClr val="dk1"/>
                </a:solidFill>
              </a:rPr>
              <a:t>): Aksi adalah serangkaian pernyataan SQL atau prosedur yang dijalankan oleh trigger ketika peristiwa yang sesuai terjadi. Aksi ini dapat berupa </a:t>
            </a:r>
            <a:r>
              <a:rPr lang="en-ID" b="1">
                <a:solidFill>
                  <a:schemeClr val="dk1"/>
                </a:solidFill>
              </a:rPr>
              <a:t>pembaruan </a:t>
            </a:r>
            <a:r>
              <a:rPr lang="en-ID">
                <a:solidFill>
                  <a:schemeClr val="dk1"/>
                </a:solidFill>
              </a:rPr>
              <a:t>nilai kolom, </a:t>
            </a:r>
            <a:r>
              <a:rPr lang="en-ID" b="1">
                <a:solidFill>
                  <a:schemeClr val="dk1"/>
                </a:solidFill>
              </a:rPr>
              <a:t>penyisipan </a:t>
            </a:r>
            <a:r>
              <a:rPr lang="en-ID">
                <a:solidFill>
                  <a:schemeClr val="dk1"/>
                </a:solidFill>
              </a:rPr>
              <a:t>data baru, atau bahkan </a:t>
            </a:r>
            <a:r>
              <a:rPr lang="en-ID" b="1">
                <a:solidFill>
                  <a:schemeClr val="dk1"/>
                </a:solidFill>
              </a:rPr>
              <a:t>tindakan kompleks </a:t>
            </a:r>
            <a:r>
              <a:rPr lang="en-ID">
                <a:solidFill>
                  <a:schemeClr val="dk1"/>
                </a:solidFill>
              </a:rPr>
              <a:t>yang melibatkan prosedur tersimpan.</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Manfaat Trigger:</a:t>
            </a:r>
            <a:endParaRPr>
              <a:solidFill>
                <a:schemeClr val="dk1"/>
              </a:solidFill>
            </a:endParaRPr>
          </a:p>
          <a:p>
            <a:pPr marL="914400" lvl="1" indent="-342900" algn="l" rtl="0">
              <a:lnSpc>
                <a:spcPct val="115000"/>
              </a:lnSpc>
              <a:spcBef>
                <a:spcPts val="0"/>
              </a:spcBef>
              <a:spcAft>
                <a:spcPts val="0"/>
              </a:spcAft>
              <a:buClr>
                <a:schemeClr val="dk1"/>
              </a:buClr>
              <a:buSzPts val="1800"/>
              <a:buFont typeface="Century Gothic"/>
              <a:buChar char="❏"/>
            </a:pPr>
            <a:r>
              <a:rPr lang="en-ID" sz="1800" b="1">
                <a:solidFill>
                  <a:schemeClr val="dk1"/>
                </a:solidFill>
              </a:rPr>
              <a:t>Validasi Data</a:t>
            </a:r>
            <a:r>
              <a:rPr lang="en-ID" sz="1800">
                <a:solidFill>
                  <a:schemeClr val="dk1"/>
                </a:solidFill>
              </a:rPr>
              <a:t>: Trigger dapat digunakan untuk memastikan bahwa data yang dimasukkan atau diperbarui memenuhi kriteria tertentu.</a:t>
            </a:r>
            <a:endParaRPr sz="1800">
              <a:solidFill>
                <a:schemeClr val="dk1"/>
              </a:solidFill>
            </a:endParaRPr>
          </a:p>
          <a:p>
            <a:pPr marL="914400" lvl="1" indent="-342900" algn="l" rtl="0">
              <a:lnSpc>
                <a:spcPct val="115000"/>
              </a:lnSpc>
              <a:spcBef>
                <a:spcPts val="0"/>
              </a:spcBef>
              <a:spcAft>
                <a:spcPts val="0"/>
              </a:spcAft>
              <a:buClr>
                <a:schemeClr val="dk1"/>
              </a:buClr>
              <a:buSzPts val="1800"/>
              <a:buFont typeface="Century Gothic"/>
              <a:buChar char="❏"/>
            </a:pPr>
            <a:r>
              <a:rPr lang="en-ID" sz="1800" b="1">
                <a:solidFill>
                  <a:schemeClr val="dk1"/>
                </a:solidFill>
              </a:rPr>
              <a:t>Audit dan Logging</a:t>
            </a:r>
            <a:r>
              <a:rPr lang="en-ID" sz="1800">
                <a:solidFill>
                  <a:schemeClr val="dk1"/>
                </a:solidFill>
              </a:rPr>
              <a:t>: Trigger dapat digunakan untuk mencatat perubahan data atau kejadian tertentu ke dalam log audit.</a:t>
            </a:r>
            <a:endParaRPr sz="1800">
              <a:solidFill>
                <a:schemeClr val="dk1"/>
              </a:solidFill>
            </a:endParaRPr>
          </a:p>
          <a:p>
            <a:pPr marL="914400" lvl="1" indent="-342900" algn="l" rtl="0">
              <a:lnSpc>
                <a:spcPct val="115000"/>
              </a:lnSpc>
              <a:spcBef>
                <a:spcPts val="0"/>
              </a:spcBef>
              <a:spcAft>
                <a:spcPts val="0"/>
              </a:spcAft>
              <a:buClr>
                <a:schemeClr val="dk1"/>
              </a:buClr>
              <a:buSzPts val="1800"/>
              <a:buFont typeface="Century Gothic"/>
              <a:buChar char="❏"/>
            </a:pPr>
            <a:r>
              <a:rPr lang="en-ID" sz="1800" b="1">
                <a:solidFill>
                  <a:schemeClr val="dk1"/>
                </a:solidFill>
              </a:rPr>
              <a:t>Penanganan Keamanan</a:t>
            </a:r>
            <a:r>
              <a:rPr lang="en-ID" sz="1800">
                <a:solidFill>
                  <a:schemeClr val="dk1"/>
                </a:solidFill>
              </a:rPr>
              <a:t>: Trigger dapat membantu dalam penanganan hak akses dan keamanan dengan memberikan respons otomatis terhadap peristiwa tertentu.</a:t>
            </a:r>
            <a:endParaRPr>
              <a:solidFill>
                <a:schemeClr val="dk1"/>
              </a:solidFill>
            </a:endParaRPr>
          </a:p>
        </p:txBody>
      </p:sp>
      <p:sp>
        <p:nvSpPr>
          <p:cNvPr id="903" name="Google Shape;903;g262c511ebcc_1_67"/>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Konsep 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02">
                                            <p:txEl>
                                              <p:pRg st="0" end="0"/>
                                            </p:txEl>
                                          </p:spTgt>
                                        </p:tgtEl>
                                        <p:attrNameLst>
                                          <p:attrName>style.visibility</p:attrName>
                                        </p:attrNameLst>
                                      </p:cBhvr>
                                      <p:to>
                                        <p:strVal val="visible"/>
                                      </p:to>
                                    </p:set>
                                    <p:anim calcmode="lin" valueType="num">
                                      <p:cBhvr additive="base">
                                        <p:cTn id="7" dur="500"/>
                                        <p:tgtEl>
                                          <p:spTgt spid="9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02">
                                            <p:txEl>
                                              <p:pRg st="1" end="1"/>
                                            </p:txEl>
                                          </p:spTgt>
                                        </p:tgtEl>
                                        <p:attrNameLst>
                                          <p:attrName>style.visibility</p:attrName>
                                        </p:attrNameLst>
                                      </p:cBhvr>
                                      <p:to>
                                        <p:strVal val="visible"/>
                                      </p:to>
                                    </p:set>
                                    <p:anim calcmode="lin" valueType="num">
                                      <p:cBhvr additive="base">
                                        <p:cTn id="12" dur="500"/>
                                        <p:tgtEl>
                                          <p:spTgt spid="90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02">
                                            <p:txEl>
                                              <p:pRg st="2" end="2"/>
                                            </p:txEl>
                                          </p:spTgt>
                                        </p:tgtEl>
                                        <p:attrNameLst>
                                          <p:attrName>style.visibility</p:attrName>
                                        </p:attrNameLst>
                                      </p:cBhvr>
                                      <p:to>
                                        <p:strVal val="visible"/>
                                      </p:to>
                                    </p:set>
                                    <p:anim calcmode="lin" valueType="num">
                                      <p:cBhvr additive="base">
                                        <p:cTn id="17" dur="500"/>
                                        <p:tgtEl>
                                          <p:spTgt spid="90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02">
                                            <p:txEl>
                                              <p:pRg st="3" end="3"/>
                                            </p:txEl>
                                          </p:spTgt>
                                        </p:tgtEl>
                                        <p:attrNameLst>
                                          <p:attrName>style.visibility</p:attrName>
                                        </p:attrNameLst>
                                      </p:cBhvr>
                                      <p:to>
                                        <p:strVal val="visible"/>
                                      </p:to>
                                    </p:set>
                                    <p:anim calcmode="lin" valueType="num">
                                      <p:cBhvr additive="base">
                                        <p:cTn id="22" dur="500"/>
                                        <p:tgtEl>
                                          <p:spTgt spid="90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02">
                                            <p:txEl>
                                              <p:pRg st="4" end="4"/>
                                            </p:txEl>
                                          </p:spTgt>
                                        </p:tgtEl>
                                        <p:attrNameLst>
                                          <p:attrName>style.visibility</p:attrName>
                                        </p:attrNameLst>
                                      </p:cBhvr>
                                      <p:to>
                                        <p:strVal val="visible"/>
                                      </p:to>
                                    </p:set>
                                    <p:anim calcmode="lin" valueType="num">
                                      <p:cBhvr additive="base">
                                        <p:cTn id="27" dur="500"/>
                                        <p:tgtEl>
                                          <p:spTgt spid="902">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64d9b7c7a_3_0"/>
          <p:cNvSpPr txBox="1">
            <a:spLocks noGrp="1"/>
          </p:cNvSpPr>
          <p:nvPr>
            <p:ph type="body" idx="1"/>
          </p:nvPr>
        </p:nvSpPr>
        <p:spPr>
          <a:xfrm>
            <a:off x="1154950" y="2603500"/>
            <a:ext cx="5703000" cy="40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DELIMITER </a:t>
            </a:r>
            <a:r>
              <a:rPr lang="en-ID"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CREATE </a:t>
            </a:r>
            <a:r>
              <a:rPr lang="en-ID" sz="1600">
                <a:solidFill>
                  <a:schemeClr val="dk1"/>
                </a:solidFill>
                <a:latin typeface="Courier New"/>
                <a:ea typeface="Courier New"/>
                <a:cs typeface="Courier New"/>
                <a:sym typeface="Courier New"/>
              </a:rPr>
              <a:t>[OR REPLACE] </a:t>
            </a:r>
            <a:r>
              <a:rPr lang="en-ID" sz="1600" b="1">
                <a:solidFill>
                  <a:schemeClr val="dk1"/>
                </a:solidFill>
                <a:latin typeface="Courier New"/>
                <a:ea typeface="Courier New"/>
                <a:cs typeface="Courier New"/>
                <a:sym typeface="Courier New"/>
              </a:rPr>
              <a:t>TRIGGER </a:t>
            </a:r>
            <a:r>
              <a:rPr lang="en-ID" sz="1600">
                <a:solidFill>
                  <a:schemeClr val="dk1"/>
                </a:solidFill>
                <a:latin typeface="Courier New"/>
                <a:ea typeface="Courier New"/>
                <a:cs typeface="Courier New"/>
                <a:sym typeface="Courier New"/>
              </a:rPr>
              <a:t>nama_trigger</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{BEFORE | AFTER} {INSERT | UPDATE | DELETE}</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ON </a:t>
            </a:r>
            <a:r>
              <a:rPr lang="en-ID" sz="1600">
                <a:solidFill>
                  <a:schemeClr val="dk1"/>
                </a:solidFill>
                <a:latin typeface="Courier New"/>
                <a:ea typeface="Courier New"/>
                <a:cs typeface="Courier New"/>
                <a:sym typeface="Courier New"/>
              </a:rPr>
              <a:t>nama_tabel</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[FOR EACH ROW]</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[WHEN (kondisi)]</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BEGIN</a:t>
            </a:r>
            <a:endParaRPr sz="1600" b="1">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    -- Tindakan yang diinginkan</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    -- Misalnya:</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    -- INSERT INTO ...;</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    -- UPDATE ...;</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a:solidFill>
                  <a:schemeClr val="dk1"/>
                </a:solidFill>
                <a:latin typeface="Courier New"/>
                <a:ea typeface="Courier New"/>
                <a:cs typeface="Courier New"/>
                <a:sym typeface="Courier New"/>
              </a:rPr>
              <a:t>    -- DELETE FROM ...;</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END</a:t>
            </a:r>
            <a:r>
              <a:rPr lang="en-ID"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ID" sz="1600" b="1">
                <a:solidFill>
                  <a:schemeClr val="dk1"/>
                </a:solidFill>
                <a:latin typeface="Courier New"/>
                <a:ea typeface="Courier New"/>
                <a:cs typeface="Courier New"/>
                <a:sym typeface="Courier New"/>
              </a:rPr>
              <a:t>/</a:t>
            </a:r>
            <a:endParaRPr sz="1600" b="1">
              <a:solidFill>
                <a:schemeClr val="dk1"/>
              </a:solidFill>
              <a:latin typeface="Courier New"/>
              <a:ea typeface="Courier New"/>
              <a:cs typeface="Courier New"/>
              <a:sym typeface="Courier New"/>
            </a:endParaRPr>
          </a:p>
        </p:txBody>
      </p:sp>
      <p:sp>
        <p:nvSpPr>
          <p:cNvPr id="910" name="Google Shape;910;g2664d9b7c7a_3_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Format SQL 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09">
                                            <p:txEl>
                                              <p:pRg st="0" end="0"/>
                                            </p:txEl>
                                          </p:spTgt>
                                        </p:tgtEl>
                                        <p:attrNameLst>
                                          <p:attrName>style.visibility</p:attrName>
                                        </p:attrNameLst>
                                      </p:cBhvr>
                                      <p:to>
                                        <p:strVal val="visible"/>
                                      </p:to>
                                    </p:set>
                                    <p:anim calcmode="lin" valueType="num">
                                      <p:cBhvr additive="base">
                                        <p:cTn id="7" dur="500"/>
                                        <p:tgtEl>
                                          <p:spTgt spid="90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09">
                                            <p:txEl>
                                              <p:pRg st="1" end="1"/>
                                            </p:txEl>
                                          </p:spTgt>
                                        </p:tgtEl>
                                        <p:attrNameLst>
                                          <p:attrName>style.visibility</p:attrName>
                                        </p:attrNameLst>
                                      </p:cBhvr>
                                      <p:to>
                                        <p:strVal val="visible"/>
                                      </p:to>
                                    </p:set>
                                    <p:anim calcmode="lin" valueType="num">
                                      <p:cBhvr additive="base">
                                        <p:cTn id="12" dur="500"/>
                                        <p:tgtEl>
                                          <p:spTgt spid="90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09">
                                            <p:txEl>
                                              <p:pRg st="2" end="2"/>
                                            </p:txEl>
                                          </p:spTgt>
                                        </p:tgtEl>
                                        <p:attrNameLst>
                                          <p:attrName>style.visibility</p:attrName>
                                        </p:attrNameLst>
                                      </p:cBhvr>
                                      <p:to>
                                        <p:strVal val="visible"/>
                                      </p:to>
                                    </p:set>
                                    <p:anim calcmode="lin" valueType="num">
                                      <p:cBhvr additive="base">
                                        <p:cTn id="17" dur="500"/>
                                        <p:tgtEl>
                                          <p:spTgt spid="90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09">
                                            <p:txEl>
                                              <p:pRg st="3" end="3"/>
                                            </p:txEl>
                                          </p:spTgt>
                                        </p:tgtEl>
                                        <p:attrNameLst>
                                          <p:attrName>style.visibility</p:attrName>
                                        </p:attrNameLst>
                                      </p:cBhvr>
                                      <p:to>
                                        <p:strVal val="visible"/>
                                      </p:to>
                                    </p:set>
                                    <p:anim calcmode="lin" valueType="num">
                                      <p:cBhvr additive="base">
                                        <p:cTn id="22" dur="500"/>
                                        <p:tgtEl>
                                          <p:spTgt spid="90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09">
                                            <p:txEl>
                                              <p:pRg st="4" end="4"/>
                                            </p:txEl>
                                          </p:spTgt>
                                        </p:tgtEl>
                                        <p:attrNameLst>
                                          <p:attrName>style.visibility</p:attrName>
                                        </p:attrNameLst>
                                      </p:cBhvr>
                                      <p:to>
                                        <p:strVal val="visible"/>
                                      </p:to>
                                    </p:set>
                                    <p:anim calcmode="lin" valueType="num">
                                      <p:cBhvr additive="base">
                                        <p:cTn id="27" dur="500"/>
                                        <p:tgtEl>
                                          <p:spTgt spid="909">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09">
                                            <p:txEl>
                                              <p:pRg st="5" end="5"/>
                                            </p:txEl>
                                          </p:spTgt>
                                        </p:tgtEl>
                                        <p:attrNameLst>
                                          <p:attrName>style.visibility</p:attrName>
                                        </p:attrNameLst>
                                      </p:cBhvr>
                                      <p:to>
                                        <p:strVal val="visible"/>
                                      </p:to>
                                    </p:set>
                                    <p:anim calcmode="lin" valueType="num">
                                      <p:cBhvr additive="base">
                                        <p:cTn id="32" dur="500"/>
                                        <p:tgtEl>
                                          <p:spTgt spid="909">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09">
                                            <p:txEl>
                                              <p:pRg st="6" end="6"/>
                                            </p:txEl>
                                          </p:spTgt>
                                        </p:tgtEl>
                                        <p:attrNameLst>
                                          <p:attrName>style.visibility</p:attrName>
                                        </p:attrNameLst>
                                      </p:cBhvr>
                                      <p:to>
                                        <p:strVal val="visible"/>
                                      </p:to>
                                    </p:set>
                                    <p:anim calcmode="lin" valueType="num">
                                      <p:cBhvr additive="base">
                                        <p:cTn id="37" dur="500"/>
                                        <p:tgtEl>
                                          <p:spTgt spid="909">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909">
                                            <p:txEl>
                                              <p:pRg st="7" end="7"/>
                                            </p:txEl>
                                          </p:spTgt>
                                        </p:tgtEl>
                                        <p:attrNameLst>
                                          <p:attrName>style.visibility</p:attrName>
                                        </p:attrNameLst>
                                      </p:cBhvr>
                                      <p:to>
                                        <p:strVal val="visible"/>
                                      </p:to>
                                    </p:set>
                                    <p:anim calcmode="lin" valueType="num">
                                      <p:cBhvr additive="base">
                                        <p:cTn id="42" dur="500"/>
                                        <p:tgtEl>
                                          <p:spTgt spid="909">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909">
                                            <p:txEl>
                                              <p:pRg st="8" end="8"/>
                                            </p:txEl>
                                          </p:spTgt>
                                        </p:tgtEl>
                                        <p:attrNameLst>
                                          <p:attrName>style.visibility</p:attrName>
                                        </p:attrNameLst>
                                      </p:cBhvr>
                                      <p:to>
                                        <p:strVal val="visible"/>
                                      </p:to>
                                    </p:set>
                                    <p:anim calcmode="lin" valueType="num">
                                      <p:cBhvr additive="base">
                                        <p:cTn id="47" dur="500"/>
                                        <p:tgtEl>
                                          <p:spTgt spid="909">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909">
                                            <p:txEl>
                                              <p:pRg st="9" end="9"/>
                                            </p:txEl>
                                          </p:spTgt>
                                        </p:tgtEl>
                                        <p:attrNameLst>
                                          <p:attrName>style.visibility</p:attrName>
                                        </p:attrNameLst>
                                      </p:cBhvr>
                                      <p:to>
                                        <p:strVal val="visible"/>
                                      </p:to>
                                    </p:set>
                                    <p:anim calcmode="lin" valueType="num">
                                      <p:cBhvr additive="base">
                                        <p:cTn id="52" dur="500"/>
                                        <p:tgtEl>
                                          <p:spTgt spid="909">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909">
                                            <p:txEl>
                                              <p:pRg st="10" end="10"/>
                                            </p:txEl>
                                          </p:spTgt>
                                        </p:tgtEl>
                                        <p:attrNameLst>
                                          <p:attrName>style.visibility</p:attrName>
                                        </p:attrNameLst>
                                      </p:cBhvr>
                                      <p:to>
                                        <p:strVal val="visible"/>
                                      </p:to>
                                    </p:set>
                                    <p:anim calcmode="lin" valueType="num">
                                      <p:cBhvr additive="base">
                                        <p:cTn id="57" dur="500"/>
                                        <p:tgtEl>
                                          <p:spTgt spid="909">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909">
                                            <p:txEl>
                                              <p:pRg st="11" end="11"/>
                                            </p:txEl>
                                          </p:spTgt>
                                        </p:tgtEl>
                                        <p:attrNameLst>
                                          <p:attrName>style.visibility</p:attrName>
                                        </p:attrNameLst>
                                      </p:cBhvr>
                                      <p:to>
                                        <p:strVal val="visible"/>
                                      </p:to>
                                    </p:set>
                                    <p:anim calcmode="lin" valueType="num">
                                      <p:cBhvr additive="base">
                                        <p:cTn id="62" dur="500"/>
                                        <p:tgtEl>
                                          <p:spTgt spid="909">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909">
                                            <p:txEl>
                                              <p:pRg st="12" end="12"/>
                                            </p:txEl>
                                          </p:spTgt>
                                        </p:tgtEl>
                                        <p:attrNameLst>
                                          <p:attrName>style.visibility</p:attrName>
                                        </p:attrNameLst>
                                      </p:cBhvr>
                                      <p:to>
                                        <p:strVal val="visible"/>
                                      </p:to>
                                    </p:set>
                                    <p:anim calcmode="lin" valueType="num">
                                      <p:cBhvr additive="base">
                                        <p:cTn id="67" dur="500"/>
                                        <p:tgtEl>
                                          <p:spTgt spid="909">
                                            <p:txEl>
                                              <p:pRg st="12" end="12"/>
                                            </p:txEl>
                                          </p:spTgt>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909">
                                            <p:txEl>
                                              <p:pRg st="13" end="13"/>
                                            </p:txEl>
                                          </p:spTgt>
                                        </p:tgtEl>
                                        <p:attrNameLst>
                                          <p:attrName>style.visibility</p:attrName>
                                        </p:attrNameLst>
                                      </p:cBhvr>
                                      <p:to>
                                        <p:strVal val="visible"/>
                                      </p:to>
                                    </p:set>
                                    <p:anim calcmode="lin" valueType="num">
                                      <p:cBhvr additive="base">
                                        <p:cTn id="72" dur="500"/>
                                        <p:tgtEl>
                                          <p:spTgt spid="909">
                                            <p:txEl>
                                              <p:pRg st="13" end="1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aee2debbaf_0_89"/>
          <p:cNvSpPr txBox="1">
            <a:spLocks noGrp="1"/>
          </p:cNvSpPr>
          <p:nvPr>
            <p:ph type="body" idx="1"/>
          </p:nvPr>
        </p:nvSpPr>
        <p:spPr>
          <a:xfrm>
            <a:off x="1138350" y="2418150"/>
            <a:ext cx="9915300" cy="42855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None/>
            </a:pPr>
            <a:r>
              <a:rPr lang="en-ID" b="1" u="sng">
                <a:solidFill>
                  <a:schemeClr val="dk1"/>
                </a:solidFill>
              </a:rPr>
              <a:t>Industri E-commerce</a:t>
            </a:r>
            <a:endParaRPr b="1" u="sng">
              <a:solidFill>
                <a:schemeClr val="dk1"/>
              </a:solidFill>
            </a:endParaRPr>
          </a:p>
          <a:p>
            <a:pPr marL="0" lvl="0" indent="0" algn="l" rtl="0">
              <a:lnSpc>
                <a:spcPct val="160000"/>
              </a:lnSpc>
              <a:spcBef>
                <a:spcPts val="1400"/>
              </a:spcBef>
              <a:spcAft>
                <a:spcPts val="0"/>
              </a:spcAft>
              <a:buNone/>
            </a:pPr>
            <a:r>
              <a:rPr lang="en-ID">
                <a:solidFill>
                  <a:schemeClr val="dk1"/>
                </a:solidFill>
              </a:rPr>
              <a:t>BEFORE INSERT Trigger:</a:t>
            </a:r>
            <a:endParaRPr>
              <a:solidFill>
                <a:schemeClr val="dk1"/>
              </a:solidFill>
            </a:endParaRPr>
          </a:p>
          <a:p>
            <a:pPr marL="457200" lvl="0" indent="-342900" algn="l" rtl="0">
              <a:lnSpc>
                <a:spcPct val="115000"/>
              </a:lnSpc>
              <a:spcBef>
                <a:spcPts val="400"/>
              </a:spcBef>
              <a:spcAft>
                <a:spcPts val="0"/>
              </a:spcAft>
              <a:buClr>
                <a:schemeClr val="dk1"/>
              </a:buClr>
              <a:buSzPts val="1800"/>
              <a:buFont typeface="Century Gothic"/>
              <a:buChar char="●"/>
            </a:pPr>
            <a:r>
              <a:rPr lang="en-ID">
                <a:solidFill>
                  <a:schemeClr val="dk1"/>
                </a:solidFill>
              </a:rPr>
              <a:t>Tujuan: Memastikan bahwa stok produk cukup sebelum pesanan diproses.</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Menggunakan trigger sebelum penambahan pesanan untuk memeriksa stok produk dan mengembalikan pesan kesalahan jika stok tidak mencukupi.</a:t>
            </a:r>
            <a:endParaRPr>
              <a:solidFill>
                <a:schemeClr val="dk1"/>
              </a:solidFill>
            </a:endParaRPr>
          </a:p>
          <a:p>
            <a:pPr marL="0" lvl="0" indent="0" algn="l" rtl="0">
              <a:lnSpc>
                <a:spcPct val="150000"/>
              </a:lnSpc>
              <a:spcBef>
                <a:spcPts val="1500"/>
              </a:spcBef>
              <a:spcAft>
                <a:spcPts val="0"/>
              </a:spcAft>
              <a:buNone/>
            </a:pPr>
            <a:r>
              <a:rPr lang="en-ID">
                <a:solidFill>
                  <a:schemeClr val="dk1"/>
                </a:solidFill>
              </a:rPr>
              <a:t>AFTER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Mengupdate riwayat pesanan atau melakukan tindakan pengiriman setelah pesanan selesai diproses.</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Membuat trigger setelah penambahan pesanan untuk mencatat riwayat pesanan ke dalam tabel log atau memicu proses pengiriman.</a:t>
            </a:r>
            <a:endParaRPr>
              <a:solidFill>
                <a:schemeClr val="dk1"/>
              </a:solidFill>
            </a:endParaRPr>
          </a:p>
        </p:txBody>
      </p:sp>
      <p:sp>
        <p:nvSpPr>
          <p:cNvPr id="917" name="Google Shape;917;g2aee2debbaf_0_8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Contoh Penarapan Trigger</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C5621A4-095A-D244-991F-D6AA32195B23}"/>
                  </a:ext>
                </a:extLst>
              </p14:cNvPr>
              <p14:cNvContentPartPr/>
              <p14:nvPr/>
            </p14:nvContentPartPr>
            <p14:xfrm>
              <a:off x="757440" y="4772160"/>
              <a:ext cx="360" cy="360"/>
            </p14:xfrm>
          </p:contentPart>
        </mc:Choice>
        <mc:Fallback xmlns="">
          <p:pic>
            <p:nvPicPr>
              <p:cNvPr id="2" name="Ink 1">
                <a:extLst>
                  <a:ext uri="{FF2B5EF4-FFF2-40B4-BE49-F238E27FC236}">
                    <a16:creationId xmlns:a16="http://schemas.microsoft.com/office/drawing/2014/main" id="{AC5621A4-095A-D244-991F-D6AA32195B23}"/>
                  </a:ext>
                </a:extLst>
              </p:cNvPr>
              <p:cNvPicPr/>
              <p:nvPr/>
            </p:nvPicPr>
            <p:blipFill>
              <a:blip r:embed="rId4"/>
              <a:stretch>
                <a:fillRect/>
              </a:stretch>
            </p:blipFill>
            <p:spPr>
              <a:xfrm>
                <a:off x="748080" y="4762800"/>
                <a:ext cx="19080" cy="19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16">
                                            <p:txEl>
                                              <p:pRg st="0" end="0"/>
                                            </p:txEl>
                                          </p:spTgt>
                                        </p:tgtEl>
                                        <p:attrNameLst>
                                          <p:attrName>style.visibility</p:attrName>
                                        </p:attrNameLst>
                                      </p:cBhvr>
                                      <p:to>
                                        <p:strVal val="visible"/>
                                      </p:to>
                                    </p:set>
                                    <p:anim calcmode="lin" valueType="num">
                                      <p:cBhvr additive="base">
                                        <p:cTn id="7" dur="500"/>
                                        <p:tgtEl>
                                          <p:spTgt spid="91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16">
                                            <p:txEl>
                                              <p:pRg st="1" end="1"/>
                                            </p:txEl>
                                          </p:spTgt>
                                        </p:tgtEl>
                                        <p:attrNameLst>
                                          <p:attrName>style.visibility</p:attrName>
                                        </p:attrNameLst>
                                      </p:cBhvr>
                                      <p:to>
                                        <p:strVal val="visible"/>
                                      </p:to>
                                    </p:set>
                                    <p:anim calcmode="lin" valueType="num">
                                      <p:cBhvr additive="base">
                                        <p:cTn id="12" dur="500"/>
                                        <p:tgtEl>
                                          <p:spTgt spid="91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16">
                                            <p:txEl>
                                              <p:pRg st="2" end="2"/>
                                            </p:txEl>
                                          </p:spTgt>
                                        </p:tgtEl>
                                        <p:attrNameLst>
                                          <p:attrName>style.visibility</p:attrName>
                                        </p:attrNameLst>
                                      </p:cBhvr>
                                      <p:to>
                                        <p:strVal val="visible"/>
                                      </p:to>
                                    </p:set>
                                    <p:anim calcmode="lin" valueType="num">
                                      <p:cBhvr additive="base">
                                        <p:cTn id="17" dur="500"/>
                                        <p:tgtEl>
                                          <p:spTgt spid="91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16">
                                            <p:txEl>
                                              <p:pRg st="3" end="3"/>
                                            </p:txEl>
                                          </p:spTgt>
                                        </p:tgtEl>
                                        <p:attrNameLst>
                                          <p:attrName>style.visibility</p:attrName>
                                        </p:attrNameLst>
                                      </p:cBhvr>
                                      <p:to>
                                        <p:strVal val="visible"/>
                                      </p:to>
                                    </p:set>
                                    <p:anim calcmode="lin" valueType="num">
                                      <p:cBhvr additive="base">
                                        <p:cTn id="22" dur="500"/>
                                        <p:tgtEl>
                                          <p:spTgt spid="91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16">
                                            <p:txEl>
                                              <p:pRg st="4" end="4"/>
                                            </p:txEl>
                                          </p:spTgt>
                                        </p:tgtEl>
                                        <p:attrNameLst>
                                          <p:attrName>style.visibility</p:attrName>
                                        </p:attrNameLst>
                                      </p:cBhvr>
                                      <p:to>
                                        <p:strVal val="visible"/>
                                      </p:to>
                                    </p:set>
                                    <p:anim calcmode="lin" valueType="num">
                                      <p:cBhvr additive="base">
                                        <p:cTn id="27" dur="500"/>
                                        <p:tgtEl>
                                          <p:spTgt spid="91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16">
                                            <p:txEl>
                                              <p:pRg st="5" end="5"/>
                                            </p:txEl>
                                          </p:spTgt>
                                        </p:tgtEl>
                                        <p:attrNameLst>
                                          <p:attrName>style.visibility</p:attrName>
                                        </p:attrNameLst>
                                      </p:cBhvr>
                                      <p:to>
                                        <p:strVal val="visible"/>
                                      </p:to>
                                    </p:set>
                                    <p:anim calcmode="lin" valueType="num">
                                      <p:cBhvr additive="base">
                                        <p:cTn id="32" dur="500"/>
                                        <p:tgtEl>
                                          <p:spTgt spid="91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16">
                                            <p:txEl>
                                              <p:pRg st="6" end="6"/>
                                            </p:txEl>
                                          </p:spTgt>
                                        </p:tgtEl>
                                        <p:attrNameLst>
                                          <p:attrName>style.visibility</p:attrName>
                                        </p:attrNameLst>
                                      </p:cBhvr>
                                      <p:to>
                                        <p:strVal val="visible"/>
                                      </p:to>
                                    </p:set>
                                    <p:anim calcmode="lin" valueType="num">
                                      <p:cBhvr additive="base">
                                        <p:cTn id="37" dur="500"/>
                                        <p:tgtEl>
                                          <p:spTgt spid="916">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aee2debbaf_0_96"/>
          <p:cNvSpPr txBox="1">
            <a:spLocks noGrp="1"/>
          </p:cNvSpPr>
          <p:nvPr>
            <p:ph type="body" idx="1"/>
          </p:nvPr>
        </p:nvSpPr>
        <p:spPr>
          <a:xfrm>
            <a:off x="1138350" y="2418150"/>
            <a:ext cx="9915300" cy="42855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None/>
            </a:pPr>
            <a:r>
              <a:rPr lang="en-ID" b="1" u="sng">
                <a:solidFill>
                  <a:schemeClr val="dk1"/>
                </a:solidFill>
              </a:rPr>
              <a:t>Industri Keuangan</a:t>
            </a:r>
            <a:endParaRPr b="1" u="sng">
              <a:solidFill>
                <a:schemeClr val="dk1"/>
              </a:solidFill>
            </a:endParaRPr>
          </a:p>
          <a:p>
            <a:pPr marL="0" lvl="0" indent="0" algn="l" rtl="0">
              <a:lnSpc>
                <a:spcPct val="150000"/>
              </a:lnSpc>
              <a:spcBef>
                <a:spcPts val="1200"/>
              </a:spcBef>
              <a:spcAft>
                <a:spcPts val="0"/>
              </a:spcAft>
              <a:buNone/>
            </a:pPr>
            <a:r>
              <a:rPr lang="en-ID">
                <a:solidFill>
                  <a:schemeClr val="dk1"/>
                </a:solidFill>
              </a:rPr>
              <a:t>BEFORE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Validasi data sebelum dimasukkan ke dalam tabel transaksi keuangan.</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Mengecek apakah saldo mencukupi sebelum melakukan penarikan atau transfer dana.</a:t>
            </a:r>
            <a:endParaRPr>
              <a:solidFill>
                <a:schemeClr val="dk1"/>
              </a:solidFill>
            </a:endParaRPr>
          </a:p>
          <a:p>
            <a:pPr marL="0" lvl="0" indent="0" algn="l" rtl="0">
              <a:lnSpc>
                <a:spcPct val="150000"/>
              </a:lnSpc>
              <a:spcBef>
                <a:spcPts val="1500"/>
              </a:spcBef>
              <a:spcAft>
                <a:spcPts val="0"/>
              </a:spcAft>
              <a:buNone/>
            </a:pPr>
            <a:r>
              <a:rPr lang="en-ID">
                <a:solidFill>
                  <a:schemeClr val="dk1"/>
                </a:solidFill>
              </a:rPr>
              <a:t>AFTER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Menghitung dan memperbarui saldo rekening setelah transaksi selesai.</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Membuat trigger setelah penambahan transaksi keuangan untuk mengupdate saldo rekening pengguna.</a:t>
            </a:r>
            <a:endParaRPr b="1" u="sng">
              <a:solidFill>
                <a:schemeClr val="dk1"/>
              </a:solidFill>
            </a:endParaRPr>
          </a:p>
        </p:txBody>
      </p:sp>
      <p:sp>
        <p:nvSpPr>
          <p:cNvPr id="924" name="Google Shape;924;g2aee2debbaf_0_96"/>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Contoh Penarapan 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3">
                                            <p:txEl>
                                              <p:pRg st="0" end="0"/>
                                            </p:txEl>
                                          </p:spTgt>
                                        </p:tgtEl>
                                        <p:attrNameLst>
                                          <p:attrName>style.visibility</p:attrName>
                                        </p:attrNameLst>
                                      </p:cBhvr>
                                      <p:to>
                                        <p:strVal val="visible"/>
                                      </p:to>
                                    </p:set>
                                    <p:anim calcmode="lin" valueType="num">
                                      <p:cBhvr additive="base">
                                        <p:cTn id="7" dur="500"/>
                                        <p:tgtEl>
                                          <p:spTgt spid="9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23">
                                            <p:txEl>
                                              <p:pRg st="1" end="1"/>
                                            </p:txEl>
                                          </p:spTgt>
                                        </p:tgtEl>
                                        <p:attrNameLst>
                                          <p:attrName>style.visibility</p:attrName>
                                        </p:attrNameLst>
                                      </p:cBhvr>
                                      <p:to>
                                        <p:strVal val="visible"/>
                                      </p:to>
                                    </p:set>
                                    <p:anim calcmode="lin" valueType="num">
                                      <p:cBhvr additive="base">
                                        <p:cTn id="12" dur="500"/>
                                        <p:tgtEl>
                                          <p:spTgt spid="92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23">
                                            <p:txEl>
                                              <p:pRg st="2" end="2"/>
                                            </p:txEl>
                                          </p:spTgt>
                                        </p:tgtEl>
                                        <p:attrNameLst>
                                          <p:attrName>style.visibility</p:attrName>
                                        </p:attrNameLst>
                                      </p:cBhvr>
                                      <p:to>
                                        <p:strVal val="visible"/>
                                      </p:to>
                                    </p:set>
                                    <p:anim calcmode="lin" valueType="num">
                                      <p:cBhvr additive="base">
                                        <p:cTn id="17" dur="500"/>
                                        <p:tgtEl>
                                          <p:spTgt spid="92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23">
                                            <p:txEl>
                                              <p:pRg st="3" end="3"/>
                                            </p:txEl>
                                          </p:spTgt>
                                        </p:tgtEl>
                                        <p:attrNameLst>
                                          <p:attrName>style.visibility</p:attrName>
                                        </p:attrNameLst>
                                      </p:cBhvr>
                                      <p:to>
                                        <p:strVal val="visible"/>
                                      </p:to>
                                    </p:set>
                                    <p:anim calcmode="lin" valueType="num">
                                      <p:cBhvr additive="base">
                                        <p:cTn id="22" dur="500"/>
                                        <p:tgtEl>
                                          <p:spTgt spid="92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23">
                                            <p:txEl>
                                              <p:pRg st="4" end="4"/>
                                            </p:txEl>
                                          </p:spTgt>
                                        </p:tgtEl>
                                        <p:attrNameLst>
                                          <p:attrName>style.visibility</p:attrName>
                                        </p:attrNameLst>
                                      </p:cBhvr>
                                      <p:to>
                                        <p:strVal val="visible"/>
                                      </p:to>
                                    </p:set>
                                    <p:anim calcmode="lin" valueType="num">
                                      <p:cBhvr additive="base">
                                        <p:cTn id="27" dur="500"/>
                                        <p:tgtEl>
                                          <p:spTgt spid="92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23">
                                            <p:txEl>
                                              <p:pRg st="5" end="5"/>
                                            </p:txEl>
                                          </p:spTgt>
                                        </p:tgtEl>
                                        <p:attrNameLst>
                                          <p:attrName>style.visibility</p:attrName>
                                        </p:attrNameLst>
                                      </p:cBhvr>
                                      <p:to>
                                        <p:strVal val="visible"/>
                                      </p:to>
                                    </p:set>
                                    <p:anim calcmode="lin" valueType="num">
                                      <p:cBhvr additive="base">
                                        <p:cTn id="32" dur="500"/>
                                        <p:tgtEl>
                                          <p:spTgt spid="923">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23">
                                            <p:txEl>
                                              <p:pRg st="6" end="6"/>
                                            </p:txEl>
                                          </p:spTgt>
                                        </p:tgtEl>
                                        <p:attrNameLst>
                                          <p:attrName>style.visibility</p:attrName>
                                        </p:attrNameLst>
                                      </p:cBhvr>
                                      <p:to>
                                        <p:strVal val="visible"/>
                                      </p:to>
                                    </p:set>
                                    <p:anim calcmode="lin" valueType="num">
                                      <p:cBhvr additive="base">
                                        <p:cTn id="37" dur="500"/>
                                        <p:tgtEl>
                                          <p:spTgt spid="923">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aee2debbaf_0_104"/>
          <p:cNvSpPr txBox="1">
            <a:spLocks noGrp="1"/>
          </p:cNvSpPr>
          <p:nvPr>
            <p:ph type="body" idx="1"/>
          </p:nvPr>
        </p:nvSpPr>
        <p:spPr>
          <a:xfrm>
            <a:off x="1138350" y="2418150"/>
            <a:ext cx="9915300" cy="42855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None/>
            </a:pPr>
            <a:r>
              <a:rPr lang="en-ID" b="1" u="sng">
                <a:solidFill>
                  <a:schemeClr val="dk1"/>
                </a:solidFill>
              </a:rPr>
              <a:t>Industri Kesehatan</a:t>
            </a:r>
            <a:endParaRPr b="1" u="sng">
              <a:solidFill>
                <a:schemeClr val="dk1"/>
              </a:solidFill>
            </a:endParaRPr>
          </a:p>
          <a:p>
            <a:pPr marL="0" lvl="0" indent="0" algn="l" rtl="0">
              <a:lnSpc>
                <a:spcPct val="150000"/>
              </a:lnSpc>
              <a:spcBef>
                <a:spcPts val="1200"/>
              </a:spcBef>
              <a:spcAft>
                <a:spcPts val="0"/>
              </a:spcAft>
              <a:buNone/>
            </a:pPr>
            <a:r>
              <a:rPr lang="en-ID">
                <a:solidFill>
                  <a:schemeClr val="dk1"/>
                </a:solidFill>
              </a:rPr>
              <a:t>BEFORE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Memvalidasi data sebelum dimasukkan ke dalam tabel catatan medis.</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Mengecek apakah data alergi atau reaksi obat telah dimasukkan dengan benar sebelum mencatat resep obat baru.</a:t>
            </a:r>
            <a:endParaRPr>
              <a:solidFill>
                <a:schemeClr val="dk1"/>
              </a:solidFill>
            </a:endParaRPr>
          </a:p>
          <a:p>
            <a:pPr marL="0" lvl="0" indent="0" algn="l" rtl="0">
              <a:lnSpc>
                <a:spcPct val="150000"/>
              </a:lnSpc>
              <a:spcBef>
                <a:spcPts val="1500"/>
              </a:spcBef>
              <a:spcAft>
                <a:spcPts val="0"/>
              </a:spcAft>
              <a:buNone/>
            </a:pPr>
            <a:r>
              <a:rPr lang="en-ID">
                <a:solidFill>
                  <a:schemeClr val="dk1"/>
                </a:solidFill>
              </a:rPr>
              <a:t>AFTER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Membuat catatan setelah pemeriksaan medis selesai untuk tujuan pelacakan dan analisis.</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Membuat trigger setelah penambahan catatan medis untuk mencatat informasi tambahan atau memicu proses analisis data.</a:t>
            </a:r>
            <a:endParaRPr b="1" u="sng">
              <a:solidFill>
                <a:schemeClr val="dk1"/>
              </a:solidFill>
            </a:endParaRPr>
          </a:p>
        </p:txBody>
      </p:sp>
      <p:sp>
        <p:nvSpPr>
          <p:cNvPr id="931" name="Google Shape;931;g2aee2debbaf_0_104"/>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Contoh Penarapan Trigger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0">
                                            <p:txEl>
                                              <p:pRg st="0" end="0"/>
                                            </p:txEl>
                                          </p:spTgt>
                                        </p:tgtEl>
                                        <p:attrNameLst>
                                          <p:attrName>style.visibility</p:attrName>
                                        </p:attrNameLst>
                                      </p:cBhvr>
                                      <p:to>
                                        <p:strVal val="visible"/>
                                      </p:to>
                                    </p:set>
                                    <p:anim calcmode="lin" valueType="num">
                                      <p:cBhvr additive="base">
                                        <p:cTn id="7" dur="500"/>
                                        <p:tgtEl>
                                          <p:spTgt spid="93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30">
                                            <p:txEl>
                                              <p:pRg st="1" end="1"/>
                                            </p:txEl>
                                          </p:spTgt>
                                        </p:tgtEl>
                                        <p:attrNameLst>
                                          <p:attrName>style.visibility</p:attrName>
                                        </p:attrNameLst>
                                      </p:cBhvr>
                                      <p:to>
                                        <p:strVal val="visible"/>
                                      </p:to>
                                    </p:set>
                                    <p:anim calcmode="lin" valueType="num">
                                      <p:cBhvr additive="base">
                                        <p:cTn id="12" dur="500"/>
                                        <p:tgtEl>
                                          <p:spTgt spid="93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30">
                                            <p:txEl>
                                              <p:pRg st="2" end="2"/>
                                            </p:txEl>
                                          </p:spTgt>
                                        </p:tgtEl>
                                        <p:attrNameLst>
                                          <p:attrName>style.visibility</p:attrName>
                                        </p:attrNameLst>
                                      </p:cBhvr>
                                      <p:to>
                                        <p:strVal val="visible"/>
                                      </p:to>
                                    </p:set>
                                    <p:anim calcmode="lin" valueType="num">
                                      <p:cBhvr additive="base">
                                        <p:cTn id="17" dur="500"/>
                                        <p:tgtEl>
                                          <p:spTgt spid="93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30">
                                            <p:txEl>
                                              <p:pRg st="3" end="3"/>
                                            </p:txEl>
                                          </p:spTgt>
                                        </p:tgtEl>
                                        <p:attrNameLst>
                                          <p:attrName>style.visibility</p:attrName>
                                        </p:attrNameLst>
                                      </p:cBhvr>
                                      <p:to>
                                        <p:strVal val="visible"/>
                                      </p:to>
                                    </p:set>
                                    <p:anim calcmode="lin" valueType="num">
                                      <p:cBhvr additive="base">
                                        <p:cTn id="22" dur="500"/>
                                        <p:tgtEl>
                                          <p:spTgt spid="93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30">
                                            <p:txEl>
                                              <p:pRg st="4" end="4"/>
                                            </p:txEl>
                                          </p:spTgt>
                                        </p:tgtEl>
                                        <p:attrNameLst>
                                          <p:attrName>style.visibility</p:attrName>
                                        </p:attrNameLst>
                                      </p:cBhvr>
                                      <p:to>
                                        <p:strVal val="visible"/>
                                      </p:to>
                                    </p:set>
                                    <p:anim calcmode="lin" valueType="num">
                                      <p:cBhvr additive="base">
                                        <p:cTn id="27" dur="500"/>
                                        <p:tgtEl>
                                          <p:spTgt spid="930">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30">
                                            <p:txEl>
                                              <p:pRg st="5" end="5"/>
                                            </p:txEl>
                                          </p:spTgt>
                                        </p:tgtEl>
                                        <p:attrNameLst>
                                          <p:attrName>style.visibility</p:attrName>
                                        </p:attrNameLst>
                                      </p:cBhvr>
                                      <p:to>
                                        <p:strVal val="visible"/>
                                      </p:to>
                                    </p:set>
                                    <p:anim calcmode="lin" valueType="num">
                                      <p:cBhvr additive="base">
                                        <p:cTn id="32" dur="500"/>
                                        <p:tgtEl>
                                          <p:spTgt spid="930">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30">
                                            <p:txEl>
                                              <p:pRg st="6" end="6"/>
                                            </p:txEl>
                                          </p:spTgt>
                                        </p:tgtEl>
                                        <p:attrNameLst>
                                          <p:attrName>style.visibility</p:attrName>
                                        </p:attrNameLst>
                                      </p:cBhvr>
                                      <p:to>
                                        <p:strVal val="visible"/>
                                      </p:to>
                                    </p:set>
                                    <p:anim calcmode="lin" valueType="num">
                                      <p:cBhvr additive="base">
                                        <p:cTn id="37" dur="500"/>
                                        <p:tgtEl>
                                          <p:spTgt spid="930">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aee2debbaf_0_111"/>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Contoh Penarapan Trigger</a:t>
            </a:r>
            <a:endParaRPr/>
          </a:p>
        </p:txBody>
      </p:sp>
      <p:sp>
        <p:nvSpPr>
          <p:cNvPr id="938" name="Google Shape;938;g2aee2debbaf_0_111"/>
          <p:cNvSpPr txBox="1">
            <a:spLocks noGrp="1"/>
          </p:cNvSpPr>
          <p:nvPr>
            <p:ph type="body" idx="1"/>
          </p:nvPr>
        </p:nvSpPr>
        <p:spPr>
          <a:xfrm>
            <a:off x="1138350" y="2418150"/>
            <a:ext cx="9915300" cy="42855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None/>
            </a:pPr>
            <a:r>
              <a:rPr lang="en-ID" b="1" u="sng">
                <a:solidFill>
                  <a:schemeClr val="dk1"/>
                </a:solidFill>
              </a:rPr>
              <a:t>Industri Manufaktur</a:t>
            </a:r>
            <a:endParaRPr b="1" u="sng">
              <a:solidFill>
                <a:schemeClr val="dk1"/>
              </a:solidFill>
            </a:endParaRPr>
          </a:p>
          <a:p>
            <a:pPr marL="0" lvl="0" indent="0" algn="l" rtl="0">
              <a:lnSpc>
                <a:spcPct val="150000"/>
              </a:lnSpc>
              <a:spcBef>
                <a:spcPts val="1200"/>
              </a:spcBef>
              <a:spcAft>
                <a:spcPts val="0"/>
              </a:spcAft>
              <a:buNone/>
            </a:pPr>
            <a:r>
              <a:rPr lang="en-ID">
                <a:solidFill>
                  <a:schemeClr val="dk1"/>
                </a:solidFill>
              </a:rPr>
              <a:t>BEFORE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Validasi data sebelum dimasukkan ke dalam tabel produksi.</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Mengecek ketersediaan bahan baku sebelum membuat pesanan produksi baru.</a:t>
            </a:r>
            <a:endParaRPr>
              <a:solidFill>
                <a:schemeClr val="dk1"/>
              </a:solidFill>
            </a:endParaRPr>
          </a:p>
          <a:p>
            <a:pPr marL="0" lvl="0" indent="0" algn="l" rtl="0">
              <a:lnSpc>
                <a:spcPct val="150000"/>
              </a:lnSpc>
              <a:spcBef>
                <a:spcPts val="1500"/>
              </a:spcBef>
              <a:spcAft>
                <a:spcPts val="0"/>
              </a:spcAft>
              <a:buNone/>
            </a:pPr>
            <a:r>
              <a:rPr lang="en-ID">
                <a:solidFill>
                  <a:schemeClr val="dk1"/>
                </a:solidFill>
              </a:rPr>
              <a:t>AFTER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Memperbarui inventaris atau merilis produk setelah selesai diproduksi.</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Membuat trigger setelah penambahan pesanan produksi untuk mengupdate inventaris atau merilis produk ke dalam stok.</a:t>
            </a:r>
            <a:endParaRPr b="1" u="sng">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8">
                                            <p:txEl>
                                              <p:pRg st="0" end="0"/>
                                            </p:txEl>
                                          </p:spTgt>
                                        </p:tgtEl>
                                        <p:attrNameLst>
                                          <p:attrName>style.visibility</p:attrName>
                                        </p:attrNameLst>
                                      </p:cBhvr>
                                      <p:to>
                                        <p:strVal val="visible"/>
                                      </p:to>
                                    </p:set>
                                    <p:anim calcmode="lin" valueType="num">
                                      <p:cBhvr additive="base">
                                        <p:cTn id="7" dur="500"/>
                                        <p:tgtEl>
                                          <p:spTgt spid="93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38">
                                            <p:txEl>
                                              <p:pRg st="1" end="1"/>
                                            </p:txEl>
                                          </p:spTgt>
                                        </p:tgtEl>
                                        <p:attrNameLst>
                                          <p:attrName>style.visibility</p:attrName>
                                        </p:attrNameLst>
                                      </p:cBhvr>
                                      <p:to>
                                        <p:strVal val="visible"/>
                                      </p:to>
                                    </p:set>
                                    <p:anim calcmode="lin" valueType="num">
                                      <p:cBhvr additive="base">
                                        <p:cTn id="12" dur="500"/>
                                        <p:tgtEl>
                                          <p:spTgt spid="93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38">
                                            <p:txEl>
                                              <p:pRg st="2" end="2"/>
                                            </p:txEl>
                                          </p:spTgt>
                                        </p:tgtEl>
                                        <p:attrNameLst>
                                          <p:attrName>style.visibility</p:attrName>
                                        </p:attrNameLst>
                                      </p:cBhvr>
                                      <p:to>
                                        <p:strVal val="visible"/>
                                      </p:to>
                                    </p:set>
                                    <p:anim calcmode="lin" valueType="num">
                                      <p:cBhvr additive="base">
                                        <p:cTn id="17" dur="500"/>
                                        <p:tgtEl>
                                          <p:spTgt spid="93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38">
                                            <p:txEl>
                                              <p:pRg st="3" end="3"/>
                                            </p:txEl>
                                          </p:spTgt>
                                        </p:tgtEl>
                                        <p:attrNameLst>
                                          <p:attrName>style.visibility</p:attrName>
                                        </p:attrNameLst>
                                      </p:cBhvr>
                                      <p:to>
                                        <p:strVal val="visible"/>
                                      </p:to>
                                    </p:set>
                                    <p:anim calcmode="lin" valueType="num">
                                      <p:cBhvr additive="base">
                                        <p:cTn id="22" dur="500"/>
                                        <p:tgtEl>
                                          <p:spTgt spid="93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38">
                                            <p:txEl>
                                              <p:pRg st="4" end="4"/>
                                            </p:txEl>
                                          </p:spTgt>
                                        </p:tgtEl>
                                        <p:attrNameLst>
                                          <p:attrName>style.visibility</p:attrName>
                                        </p:attrNameLst>
                                      </p:cBhvr>
                                      <p:to>
                                        <p:strVal val="visible"/>
                                      </p:to>
                                    </p:set>
                                    <p:anim calcmode="lin" valueType="num">
                                      <p:cBhvr additive="base">
                                        <p:cTn id="27" dur="500"/>
                                        <p:tgtEl>
                                          <p:spTgt spid="938">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38">
                                            <p:txEl>
                                              <p:pRg st="5" end="5"/>
                                            </p:txEl>
                                          </p:spTgt>
                                        </p:tgtEl>
                                        <p:attrNameLst>
                                          <p:attrName>style.visibility</p:attrName>
                                        </p:attrNameLst>
                                      </p:cBhvr>
                                      <p:to>
                                        <p:strVal val="visible"/>
                                      </p:to>
                                    </p:set>
                                    <p:anim calcmode="lin" valueType="num">
                                      <p:cBhvr additive="base">
                                        <p:cTn id="32" dur="500"/>
                                        <p:tgtEl>
                                          <p:spTgt spid="938">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38">
                                            <p:txEl>
                                              <p:pRg st="6" end="6"/>
                                            </p:txEl>
                                          </p:spTgt>
                                        </p:tgtEl>
                                        <p:attrNameLst>
                                          <p:attrName>style.visibility</p:attrName>
                                        </p:attrNameLst>
                                      </p:cBhvr>
                                      <p:to>
                                        <p:strVal val="visible"/>
                                      </p:to>
                                    </p:set>
                                    <p:anim calcmode="lin" valueType="num">
                                      <p:cBhvr additive="base">
                                        <p:cTn id="37" dur="500"/>
                                        <p:tgtEl>
                                          <p:spTgt spid="938">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aee2debbaf_0_11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Contoh Penarapan Trigger</a:t>
            </a:r>
            <a:endParaRPr/>
          </a:p>
        </p:txBody>
      </p:sp>
      <p:sp>
        <p:nvSpPr>
          <p:cNvPr id="945" name="Google Shape;945;g2aee2debbaf_0_119"/>
          <p:cNvSpPr txBox="1">
            <a:spLocks noGrp="1"/>
          </p:cNvSpPr>
          <p:nvPr>
            <p:ph type="body" idx="1"/>
          </p:nvPr>
        </p:nvSpPr>
        <p:spPr>
          <a:xfrm>
            <a:off x="1138350" y="2418150"/>
            <a:ext cx="9915300" cy="4285500"/>
          </a:xfrm>
          <a:prstGeom prst="rect">
            <a:avLst/>
          </a:prstGeom>
          <a:noFill/>
          <a:ln>
            <a:noFill/>
          </a:ln>
        </p:spPr>
        <p:txBody>
          <a:bodyPr spcFirstLastPara="1" wrap="square" lIns="91425" tIns="45700" rIns="91425" bIns="45700" anchor="t" anchorCtr="0">
            <a:noAutofit/>
          </a:bodyPr>
          <a:lstStyle/>
          <a:p>
            <a:pPr marL="0" lvl="0" indent="0" algn="l" rtl="0">
              <a:lnSpc>
                <a:spcPct val="160000"/>
              </a:lnSpc>
              <a:spcBef>
                <a:spcPts val="1400"/>
              </a:spcBef>
              <a:spcAft>
                <a:spcPts val="0"/>
              </a:spcAft>
              <a:buNone/>
            </a:pPr>
            <a:r>
              <a:rPr lang="en-ID" b="1" u="sng">
                <a:solidFill>
                  <a:schemeClr val="dk1"/>
                </a:solidFill>
              </a:rPr>
              <a:t>Industri Logistik</a:t>
            </a:r>
            <a:endParaRPr b="1" u="sng">
              <a:solidFill>
                <a:schemeClr val="dk1"/>
              </a:solidFill>
            </a:endParaRPr>
          </a:p>
          <a:p>
            <a:pPr marL="0" lvl="0" indent="0" algn="l" rtl="0">
              <a:lnSpc>
                <a:spcPct val="150000"/>
              </a:lnSpc>
              <a:spcBef>
                <a:spcPts val="1200"/>
              </a:spcBef>
              <a:spcAft>
                <a:spcPts val="0"/>
              </a:spcAft>
              <a:buNone/>
            </a:pPr>
            <a:r>
              <a:rPr lang="en-ID">
                <a:solidFill>
                  <a:schemeClr val="dk1"/>
                </a:solidFill>
              </a:rPr>
              <a:t>BEFORE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Validasi data sebelum dimasukkan ke dalam tabel pengiriman.</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Mengecek apakah nomor pelacakan sudah digunakan sebelum mencatat pengiriman baru.</a:t>
            </a:r>
            <a:endParaRPr>
              <a:solidFill>
                <a:schemeClr val="dk1"/>
              </a:solidFill>
            </a:endParaRPr>
          </a:p>
          <a:p>
            <a:pPr marL="0" lvl="0" indent="0" algn="l" rtl="0">
              <a:lnSpc>
                <a:spcPct val="150000"/>
              </a:lnSpc>
              <a:spcBef>
                <a:spcPts val="1500"/>
              </a:spcBef>
              <a:spcAft>
                <a:spcPts val="0"/>
              </a:spcAft>
              <a:buNone/>
            </a:pPr>
            <a:r>
              <a:rPr lang="en-ID">
                <a:solidFill>
                  <a:schemeClr val="dk1"/>
                </a:solidFill>
              </a:rPr>
              <a:t>AFTER INSERT Trigger:</a:t>
            </a:r>
            <a:endParaRPr>
              <a:solidFill>
                <a:schemeClr val="dk1"/>
              </a:solidFill>
            </a:endParaRPr>
          </a:p>
          <a:p>
            <a:pPr marL="457200" lvl="0" indent="-342900" algn="l" rtl="0">
              <a:lnSpc>
                <a:spcPct val="115000"/>
              </a:lnSpc>
              <a:spcBef>
                <a:spcPts val="200"/>
              </a:spcBef>
              <a:spcAft>
                <a:spcPts val="0"/>
              </a:spcAft>
              <a:buClr>
                <a:schemeClr val="dk1"/>
              </a:buClr>
              <a:buSzPts val="1800"/>
              <a:buFont typeface="Century Gothic"/>
              <a:buChar char="●"/>
            </a:pPr>
            <a:r>
              <a:rPr lang="en-ID">
                <a:solidFill>
                  <a:schemeClr val="dk1"/>
                </a:solidFill>
              </a:rPr>
              <a:t>Tujuan: Mencatat informasi logistik setelah pengiriman selesai.</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a:solidFill>
                  <a:schemeClr val="dk1"/>
                </a:solidFill>
              </a:rPr>
              <a:t>Contoh: Membuat trigger setelah penambahan data pengiriman untuk mencatat informasi logistik seperti waktu pengiriman atau status pengiriman.</a:t>
            </a:r>
            <a:endParaRPr b="1" u="sng">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45">
                                            <p:txEl>
                                              <p:pRg st="0" end="0"/>
                                            </p:txEl>
                                          </p:spTgt>
                                        </p:tgtEl>
                                        <p:attrNameLst>
                                          <p:attrName>style.visibility</p:attrName>
                                        </p:attrNameLst>
                                      </p:cBhvr>
                                      <p:to>
                                        <p:strVal val="visible"/>
                                      </p:to>
                                    </p:set>
                                    <p:anim calcmode="lin" valueType="num">
                                      <p:cBhvr additive="base">
                                        <p:cTn id="7" dur="500"/>
                                        <p:tgtEl>
                                          <p:spTgt spid="94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45">
                                            <p:txEl>
                                              <p:pRg st="1" end="1"/>
                                            </p:txEl>
                                          </p:spTgt>
                                        </p:tgtEl>
                                        <p:attrNameLst>
                                          <p:attrName>style.visibility</p:attrName>
                                        </p:attrNameLst>
                                      </p:cBhvr>
                                      <p:to>
                                        <p:strVal val="visible"/>
                                      </p:to>
                                    </p:set>
                                    <p:anim calcmode="lin" valueType="num">
                                      <p:cBhvr additive="base">
                                        <p:cTn id="12" dur="500"/>
                                        <p:tgtEl>
                                          <p:spTgt spid="94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45">
                                            <p:txEl>
                                              <p:pRg st="2" end="2"/>
                                            </p:txEl>
                                          </p:spTgt>
                                        </p:tgtEl>
                                        <p:attrNameLst>
                                          <p:attrName>style.visibility</p:attrName>
                                        </p:attrNameLst>
                                      </p:cBhvr>
                                      <p:to>
                                        <p:strVal val="visible"/>
                                      </p:to>
                                    </p:set>
                                    <p:anim calcmode="lin" valueType="num">
                                      <p:cBhvr additive="base">
                                        <p:cTn id="17" dur="500"/>
                                        <p:tgtEl>
                                          <p:spTgt spid="94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45">
                                            <p:txEl>
                                              <p:pRg st="3" end="3"/>
                                            </p:txEl>
                                          </p:spTgt>
                                        </p:tgtEl>
                                        <p:attrNameLst>
                                          <p:attrName>style.visibility</p:attrName>
                                        </p:attrNameLst>
                                      </p:cBhvr>
                                      <p:to>
                                        <p:strVal val="visible"/>
                                      </p:to>
                                    </p:set>
                                    <p:anim calcmode="lin" valueType="num">
                                      <p:cBhvr additive="base">
                                        <p:cTn id="22" dur="500"/>
                                        <p:tgtEl>
                                          <p:spTgt spid="945">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45">
                                            <p:txEl>
                                              <p:pRg st="4" end="4"/>
                                            </p:txEl>
                                          </p:spTgt>
                                        </p:tgtEl>
                                        <p:attrNameLst>
                                          <p:attrName>style.visibility</p:attrName>
                                        </p:attrNameLst>
                                      </p:cBhvr>
                                      <p:to>
                                        <p:strVal val="visible"/>
                                      </p:to>
                                    </p:set>
                                    <p:anim calcmode="lin" valueType="num">
                                      <p:cBhvr additive="base">
                                        <p:cTn id="27" dur="500"/>
                                        <p:tgtEl>
                                          <p:spTgt spid="945">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45">
                                            <p:txEl>
                                              <p:pRg st="5" end="5"/>
                                            </p:txEl>
                                          </p:spTgt>
                                        </p:tgtEl>
                                        <p:attrNameLst>
                                          <p:attrName>style.visibility</p:attrName>
                                        </p:attrNameLst>
                                      </p:cBhvr>
                                      <p:to>
                                        <p:strVal val="visible"/>
                                      </p:to>
                                    </p:set>
                                    <p:anim calcmode="lin" valueType="num">
                                      <p:cBhvr additive="base">
                                        <p:cTn id="32" dur="500"/>
                                        <p:tgtEl>
                                          <p:spTgt spid="945">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45">
                                            <p:txEl>
                                              <p:pRg st="6" end="6"/>
                                            </p:txEl>
                                          </p:spTgt>
                                        </p:tgtEl>
                                        <p:attrNameLst>
                                          <p:attrName>style.visibility</p:attrName>
                                        </p:attrNameLst>
                                      </p:cBhvr>
                                      <p:to>
                                        <p:strVal val="visible"/>
                                      </p:to>
                                    </p:set>
                                    <p:anim calcmode="lin" valueType="num">
                                      <p:cBhvr additive="base">
                                        <p:cTn id="37" dur="500"/>
                                        <p:tgtEl>
                                          <p:spTgt spid="945">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63AA-E384-8AD5-696E-2B57E47609F6}"/>
              </a:ext>
            </a:extLst>
          </p:cNvPr>
          <p:cNvSpPr>
            <a:spLocks noGrp="1"/>
          </p:cNvSpPr>
          <p:nvPr>
            <p:ph type="title"/>
          </p:nvPr>
        </p:nvSpPr>
        <p:spPr/>
        <p:txBody>
          <a:bodyPr/>
          <a:lstStyle/>
          <a:p>
            <a:r>
              <a:rPr lang="en-US"/>
              <a:t>Studi Kasus : Toko Online</a:t>
            </a:r>
            <a:endParaRPr lang="en-ID"/>
          </a:p>
        </p:txBody>
      </p:sp>
      <p:sp>
        <p:nvSpPr>
          <p:cNvPr id="3" name="Text Placeholder 2">
            <a:extLst>
              <a:ext uri="{FF2B5EF4-FFF2-40B4-BE49-F238E27FC236}">
                <a16:creationId xmlns:a16="http://schemas.microsoft.com/office/drawing/2014/main" id="{634EA383-83F2-DE5B-A78C-360B786ED932}"/>
              </a:ext>
            </a:extLst>
          </p:cNvPr>
          <p:cNvSpPr>
            <a:spLocks noGrp="1"/>
          </p:cNvSpPr>
          <p:nvPr>
            <p:ph type="body" idx="1"/>
          </p:nvPr>
        </p:nvSpPr>
        <p:spPr>
          <a:xfrm>
            <a:off x="1154954" y="2455333"/>
            <a:ext cx="8825659" cy="3564467"/>
          </a:xfrm>
        </p:spPr>
        <p:txBody>
          <a:bodyPr>
            <a:normAutofit lnSpcReduction="10000"/>
          </a:bodyPr>
          <a:lstStyle/>
          <a:p>
            <a:pPr marL="137160" indent="0">
              <a:buNone/>
            </a:pPr>
            <a:r>
              <a:rPr lang="en-ID" b="1"/>
              <a:t>Struktur Database toko_online</a:t>
            </a:r>
          </a:p>
          <a:p>
            <a:r>
              <a:rPr lang="en-ID" b="1"/>
              <a:t>order_details</a:t>
            </a:r>
            <a:r>
              <a:rPr lang="en-ID"/>
              <a:t>: Tabel yang mencatat detail pesanan, termasuk kolom </a:t>
            </a:r>
            <a:r>
              <a:rPr lang="en-ID" i="1"/>
              <a:t>order_id</a:t>
            </a:r>
            <a:r>
              <a:rPr lang="en-ID"/>
              <a:t>, </a:t>
            </a:r>
            <a:r>
              <a:rPr lang="en-ID" i="1"/>
              <a:t>product_id</a:t>
            </a:r>
            <a:r>
              <a:rPr lang="en-ID"/>
              <a:t>, dan </a:t>
            </a:r>
            <a:r>
              <a:rPr lang="en-ID" i="1"/>
              <a:t>quantity</a:t>
            </a:r>
            <a:r>
              <a:rPr lang="en-ID"/>
              <a:t>.</a:t>
            </a:r>
          </a:p>
          <a:p>
            <a:r>
              <a:rPr lang="en-ID" b="1"/>
              <a:t>products</a:t>
            </a:r>
            <a:r>
              <a:rPr lang="en-ID"/>
              <a:t>: Tabel produk dengan kolom </a:t>
            </a:r>
            <a:r>
              <a:rPr lang="en-ID" i="1"/>
              <a:t>product_id</a:t>
            </a:r>
            <a:r>
              <a:rPr lang="en-ID"/>
              <a:t>, </a:t>
            </a:r>
            <a:r>
              <a:rPr lang="en-ID" i="1"/>
              <a:t>stock</a:t>
            </a:r>
            <a:r>
              <a:rPr lang="en-ID"/>
              <a:t>, </a:t>
            </a:r>
            <a:r>
              <a:rPr lang="en-ID" i="1"/>
              <a:t>price</a:t>
            </a:r>
            <a:r>
              <a:rPr lang="en-ID"/>
              <a:t>, dan </a:t>
            </a:r>
            <a:r>
              <a:rPr lang="en-ID" i="1"/>
              <a:t>discount</a:t>
            </a:r>
            <a:r>
              <a:rPr lang="en-ID"/>
              <a:t>.</a:t>
            </a:r>
          </a:p>
          <a:p>
            <a:r>
              <a:rPr lang="en-ID" b="1"/>
              <a:t>orders</a:t>
            </a:r>
            <a:r>
              <a:rPr lang="en-ID"/>
              <a:t>: Tabel pesanan dengan kolom </a:t>
            </a:r>
            <a:r>
              <a:rPr lang="en-ID" i="1"/>
              <a:t>order_id</a:t>
            </a:r>
            <a:r>
              <a:rPr lang="en-ID"/>
              <a:t>, </a:t>
            </a:r>
            <a:r>
              <a:rPr lang="en-ID" i="1"/>
              <a:t>customer_id</a:t>
            </a:r>
            <a:r>
              <a:rPr lang="en-ID"/>
              <a:t>, </a:t>
            </a:r>
            <a:r>
              <a:rPr lang="en-ID" i="1"/>
              <a:t>total_amount</a:t>
            </a:r>
            <a:r>
              <a:rPr lang="en-ID"/>
              <a:t>, dan </a:t>
            </a:r>
            <a:r>
              <a:rPr lang="en-ID" i="1"/>
              <a:t>status</a:t>
            </a:r>
            <a:r>
              <a:rPr lang="en-ID"/>
              <a:t>.</a:t>
            </a:r>
          </a:p>
          <a:p>
            <a:r>
              <a:rPr lang="en-ID" b="1"/>
              <a:t>customers</a:t>
            </a:r>
            <a:r>
              <a:rPr lang="en-ID"/>
              <a:t>: Tabel pelanggan dengan kolom </a:t>
            </a:r>
            <a:r>
              <a:rPr lang="en-ID" i="1"/>
              <a:t>customer_id </a:t>
            </a:r>
            <a:r>
              <a:rPr lang="en-ID"/>
              <a:t>dan </a:t>
            </a:r>
            <a:r>
              <a:rPr lang="en-ID" i="1"/>
              <a:t>loyalty_points</a:t>
            </a:r>
            <a:r>
              <a:rPr lang="en-ID"/>
              <a:t>.</a:t>
            </a:r>
          </a:p>
          <a:p>
            <a:r>
              <a:rPr lang="en-ID" b="1"/>
              <a:t>price_changes</a:t>
            </a:r>
            <a:r>
              <a:rPr lang="en-ID"/>
              <a:t> : Tabel tambahan untuk mencatat log.</a:t>
            </a:r>
          </a:p>
          <a:p>
            <a:endParaRPr lang="en-ID"/>
          </a:p>
        </p:txBody>
      </p:sp>
    </p:spTree>
    <p:extLst>
      <p:ext uri="{BB962C8B-B14F-4D97-AF65-F5344CB8AC3E}">
        <p14:creationId xmlns:p14="http://schemas.microsoft.com/office/powerpoint/2010/main" val="23182485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63AA-E384-8AD5-696E-2B57E47609F6}"/>
              </a:ext>
            </a:extLst>
          </p:cNvPr>
          <p:cNvSpPr>
            <a:spLocks noGrp="1"/>
          </p:cNvSpPr>
          <p:nvPr>
            <p:ph type="title"/>
          </p:nvPr>
        </p:nvSpPr>
        <p:spPr/>
        <p:txBody>
          <a:bodyPr/>
          <a:lstStyle/>
          <a:p>
            <a:r>
              <a:rPr lang="en-US"/>
              <a:t>Studi Kasus : Toko Online</a:t>
            </a:r>
            <a:endParaRPr lang="en-ID"/>
          </a:p>
        </p:txBody>
      </p:sp>
      <p:sp>
        <p:nvSpPr>
          <p:cNvPr id="3" name="Text Placeholder 2">
            <a:extLst>
              <a:ext uri="{FF2B5EF4-FFF2-40B4-BE49-F238E27FC236}">
                <a16:creationId xmlns:a16="http://schemas.microsoft.com/office/drawing/2014/main" id="{634EA383-83F2-DE5B-A78C-360B786ED932}"/>
              </a:ext>
            </a:extLst>
          </p:cNvPr>
          <p:cNvSpPr>
            <a:spLocks noGrp="1"/>
          </p:cNvSpPr>
          <p:nvPr>
            <p:ph type="body" idx="1"/>
          </p:nvPr>
        </p:nvSpPr>
        <p:spPr>
          <a:xfrm>
            <a:off x="1154954" y="2404533"/>
            <a:ext cx="8825659" cy="4047067"/>
          </a:xfrm>
        </p:spPr>
        <p:txBody>
          <a:bodyPr>
            <a:normAutofit/>
          </a:bodyPr>
          <a:lstStyle/>
          <a:p>
            <a:pPr marL="137160" indent="0">
              <a:buNone/>
            </a:pPr>
            <a:r>
              <a:rPr lang="en-ID" b="1"/>
              <a:t>Skenario Trigger</a:t>
            </a:r>
          </a:p>
          <a:p>
            <a:r>
              <a:rPr lang="en-ID" sz="1800" b="1" u="none" strike="noStrike" baseline="0">
                <a:solidFill>
                  <a:srgbClr val="808080"/>
                </a:solidFill>
                <a:latin typeface="Century Gothic" panose="020B0502020202020204" pitchFamily="34" charset="0"/>
              </a:rPr>
              <a:t>Update Stok Barang Otomatis</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Deskripsi</a:t>
            </a:r>
            <a:r>
              <a:rPr lang="en-ID" b="0" i="1" u="none" strike="noStrike" baseline="0">
                <a:solidFill>
                  <a:srgbClr val="808080"/>
                </a:solidFill>
                <a:latin typeface="Century Gothic" panose="020B0502020202020204" pitchFamily="34" charset="0"/>
              </a:rPr>
              <a:t>: Ketika pelanggan melakukan pembelian, stok barang otomatis berkurang sesuai jumlah yang dibeli.</a:t>
            </a:r>
          </a:p>
          <a:p>
            <a:pPr lvl="1">
              <a:buFont typeface="Arial" panose="020B0604020202020204" pitchFamily="34" charset="0"/>
              <a:buChar char="•"/>
            </a:pPr>
            <a:r>
              <a:rPr lang="en-US" b="1" i="1" u="none" strike="noStrike" baseline="0">
                <a:solidFill>
                  <a:srgbClr val="808080"/>
                </a:solidFill>
                <a:latin typeface="Century Gothic" panose="020B0502020202020204" pitchFamily="34" charset="0"/>
              </a:rPr>
              <a:t>Nama</a:t>
            </a:r>
            <a:r>
              <a:rPr lang="en-US" b="0" i="1" u="none" strike="noStrike" baseline="0">
                <a:solidFill>
                  <a:srgbClr val="808080"/>
                </a:solidFill>
                <a:latin typeface="Century Gothic" panose="020B0502020202020204" pitchFamily="34" charset="0"/>
              </a:rPr>
              <a:t>: update_stock_after_purchase</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Kapan</a:t>
            </a:r>
            <a:r>
              <a:rPr lang="en-ID" b="0" i="1" u="none" strike="noStrike" baseline="0">
                <a:solidFill>
                  <a:srgbClr val="808080"/>
                </a:solidFill>
                <a:latin typeface="Century Gothic" panose="020B0502020202020204" pitchFamily="34" charset="0"/>
              </a:rPr>
              <a:t>: AFTER INSERT pada tabel order_details.</a:t>
            </a:r>
          </a:p>
          <a:p>
            <a:r>
              <a:rPr lang="en-ID" sz="1800" b="1" u="none" strike="noStrike" baseline="0">
                <a:solidFill>
                  <a:srgbClr val="808080"/>
                </a:solidFill>
                <a:latin typeface="Century Gothic" panose="020B0502020202020204" pitchFamily="34" charset="0"/>
              </a:rPr>
              <a:t>Log Perubahan Harga Produk</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Deskripsi</a:t>
            </a:r>
            <a:r>
              <a:rPr lang="en-ID" b="0" i="1" u="none" strike="noStrike" baseline="0">
                <a:solidFill>
                  <a:srgbClr val="808080"/>
                </a:solidFill>
                <a:latin typeface="Century Gothic" panose="020B0502020202020204" pitchFamily="34" charset="0"/>
              </a:rPr>
              <a:t>: Saat harga produk berubah, sistem mencatat log perubahan tersebut ke tabel price_changes untuk audit.</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Nama</a:t>
            </a:r>
            <a:r>
              <a:rPr lang="en-ID" b="0" i="1" u="none" strike="noStrike" baseline="0">
                <a:solidFill>
                  <a:srgbClr val="808080"/>
                </a:solidFill>
                <a:latin typeface="Century Gothic" panose="020B0502020202020204" pitchFamily="34" charset="0"/>
              </a:rPr>
              <a:t>: log_price_change</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Kapan</a:t>
            </a:r>
            <a:r>
              <a:rPr lang="en-ID" b="0" i="1" u="none" strike="noStrike" baseline="0">
                <a:solidFill>
                  <a:srgbClr val="808080"/>
                </a:solidFill>
                <a:latin typeface="Century Gothic" panose="020B0502020202020204" pitchFamily="34" charset="0"/>
              </a:rPr>
              <a:t>: BEFORE UPDATE pada tabel products.</a:t>
            </a:r>
          </a:p>
          <a:p>
            <a:endParaRPr lang="en-ID"/>
          </a:p>
        </p:txBody>
      </p:sp>
    </p:spTree>
    <p:extLst>
      <p:ext uri="{BB962C8B-B14F-4D97-AF65-F5344CB8AC3E}">
        <p14:creationId xmlns:p14="http://schemas.microsoft.com/office/powerpoint/2010/main" val="34646080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63AA-E384-8AD5-696E-2B57E47609F6}"/>
              </a:ext>
            </a:extLst>
          </p:cNvPr>
          <p:cNvSpPr>
            <a:spLocks noGrp="1"/>
          </p:cNvSpPr>
          <p:nvPr>
            <p:ph type="title"/>
          </p:nvPr>
        </p:nvSpPr>
        <p:spPr/>
        <p:txBody>
          <a:bodyPr/>
          <a:lstStyle/>
          <a:p>
            <a:r>
              <a:rPr lang="en-US"/>
              <a:t>Studi Kasus : Toko Online</a:t>
            </a:r>
            <a:endParaRPr lang="en-ID"/>
          </a:p>
        </p:txBody>
      </p:sp>
      <p:sp>
        <p:nvSpPr>
          <p:cNvPr id="3" name="Text Placeholder 2">
            <a:extLst>
              <a:ext uri="{FF2B5EF4-FFF2-40B4-BE49-F238E27FC236}">
                <a16:creationId xmlns:a16="http://schemas.microsoft.com/office/drawing/2014/main" id="{634EA383-83F2-DE5B-A78C-360B786ED932}"/>
              </a:ext>
            </a:extLst>
          </p:cNvPr>
          <p:cNvSpPr>
            <a:spLocks noGrp="1"/>
          </p:cNvSpPr>
          <p:nvPr>
            <p:ph type="body" idx="1"/>
          </p:nvPr>
        </p:nvSpPr>
        <p:spPr>
          <a:xfrm>
            <a:off x="1154954" y="2404533"/>
            <a:ext cx="8825659" cy="4047067"/>
          </a:xfrm>
        </p:spPr>
        <p:txBody>
          <a:bodyPr>
            <a:normAutofit/>
          </a:bodyPr>
          <a:lstStyle/>
          <a:p>
            <a:pPr marL="137160" indent="0">
              <a:buNone/>
            </a:pPr>
            <a:r>
              <a:rPr lang="en-ID" b="1"/>
              <a:t>Skenario Trigger</a:t>
            </a:r>
          </a:p>
          <a:p>
            <a:r>
              <a:rPr lang="en-ID" sz="1800" b="1" i="1" u="none" strike="noStrike" baseline="0">
                <a:solidFill>
                  <a:srgbClr val="808080"/>
                </a:solidFill>
                <a:latin typeface="Century Gothic" panose="020B0502020202020204" pitchFamily="34" charset="0"/>
              </a:rPr>
              <a:t>Mendeteksi Pembatalan Pesanan dan Mengembalikan Stok</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Deskripsi</a:t>
            </a:r>
            <a:r>
              <a:rPr lang="en-ID" b="0" i="1" u="none" strike="noStrike" baseline="0">
                <a:solidFill>
                  <a:srgbClr val="808080"/>
                </a:solidFill>
                <a:latin typeface="Century Gothic" panose="020B0502020202020204" pitchFamily="34" charset="0"/>
              </a:rPr>
              <a:t>: Jika pesanan dibatalkan, sistem otomatis mengembalikan stok barang ke tabel products.</a:t>
            </a:r>
          </a:p>
          <a:p>
            <a:pPr lvl="1">
              <a:buFont typeface="Arial" panose="020B0604020202020204" pitchFamily="34" charset="0"/>
              <a:buChar char="•"/>
            </a:pPr>
            <a:r>
              <a:rPr lang="en-US" b="1" i="1" u="none" strike="noStrike" baseline="0">
                <a:solidFill>
                  <a:srgbClr val="808080"/>
                </a:solidFill>
                <a:latin typeface="Century Gothic" panose="020B0502020202020204" pitchFamily="34" charset="0"/>
              </a:rPr>
              <a:t>Nama</a:t>
            </a:r>
            <a:r>
              <a:rPr lang="en-US" b="0" i="1" u="none" strike="noStrike" baseline="0">
                <a:solidFill>
                  <a:srgbClr val="808080"/>
                </a:solidFill>
                <a:latin typeface="Century Gothic" panose="020B0502020202020204" pitchFamily="34" charset="0"/>
              </a:rPr>
              <a:t>: return_stock_on_order_cancel</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Kapan</a:t>
            </a:r>
            <a:r>
              <a:rPr lang="en-ID" b="0" i="1" u="none" strike="noStrike" baseline="0">
                <a:solidFill>
                  <a:srgbClr val="808080"/>
                </a:solidFill>
                <a:latin typeface="Century Gothic" panose="020B0502020202020204" pitchFamily="34" charset="0"/>
              </a:rPr>
              <a:t>: AFTER UPDATE pada tabel orders (jika status berubah ke "canceled").</a:t>
            </a:r>
          </a:p>
          <a:p>
            <a:r>
              <a:rPr lang="en-ID" sz="1800" b="1" i="1" u="none" strike="noStrike" baseline="0">
                <a:solidFill>
                  <a:srgbClr val="808080"/>
                </a:solidFill>
                <a:latin typeface="Century Gothic" panose="020B0502020202020204" pitchFamily="34" charset="0"/>
              </a:rPr>
              <a:t>Penetapan Poin Loyalty untuk Pelanggan</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Deskripsi</a:t>
            </a:r>
            <a:r>
              <a:rPr lang="en-ID" b="0" i="1" u="none" strike="noStrike" baseline="0">
                <a:solidFill>
                  <a:srgbClr val="808080"/>
                </a:solidFill>
                <a:latin typeface="Century Gothic" panose="020B0502020202020204" pitchFamily="34" charset="0"/>
              </a:rPr>
              <a:t>: Ketika pesanan berhasil (status "completed"), pelanggan mendapatkan poin   loyalty berdasarkan total pembelian.</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Nama</a:t>
            </a:r>
            <a:r>
              <a:rPr lang="en-ID" b="0" i="1" u="none" strike="noStrike" baseline="0">
                <a:solidFill>
                  <a:srgbClr val="808080"/>
                </a:solidFill>
                <a:latin typeface="Century Gothic" panose="020B0502020202020204" pitchFamily="34" charset="0"/>
              </a:rPr>
              <a:t>: add_loyalty_points</a:t>
            </a:r>
          </a:p>
          <a:p>
            <a:pPr lvl="1">
              <a:buFont typeface="Arial" panose="020B0604020202020204" pitchFamily="34" charset="0"/>
              <a:buChar char="•"/>
            </a:pPr>
            <a:r>
              <a:rPr lang="en-ID" b="1" i="1" u="none" strike="noStrike" baseline="0">
                <a:solidFill>
                  <a:srgbClr val="808080"/>
                </a:solidFill>
                <a:latin typeface="Century Gothic" panose="020B0502020202020204" pitchFamily="34" charset="0"/>
              </a:rPr>
              <a:t>Kapan</a:t>
            </a:r>
            <a:r>
              <a:rPr lang="en-ID" b="0" i="1" u="none" strike="noStrike" baseline="0">
                <a:solidFill>
                  <a:srgbClr val="808080"/>
                </a:solidFill>
                <a:latin typeface="Century Gothic" panose="020B0502020202020204" pitchFamily="34" charset="0"/>
              </a:rPr>
              <a:t>: AFTER UPDATE pada tabel orders (jika status berubah ke "completed").</a:t>
            </a:r>
          </a:p>
          <a:p>
            <a:endParaRPr lang="en-ID"/>
          </a:p>
        </p:txBody>
      </p:sp>
    </p:spTree>
    <p:extLst>
      <p:ext uri="{BB962C8B-B14F-4D97-AF65-F5344CB8AC3E}">
        <p14:creationId xmlns:p14="http://schemas.microsoft.com/office/powerpoint/2010/main" val="247182959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63AA-E384-8AD5-696E-2B57E47609F6}"/>
              </a:ext>
            </a:extLst>
          </p:cNvPr>
          <p:cNvSpPr>
            <a:spLocks noGrp="1"/>
          </p:cNvSpPr>
          <p:nvPr>
            <p:ph type="title"/>
          </p:nvPr>
        </p:nvSpPr>
        <p:spPr/>
        <p:txBody>
          <a:bodyPr/>
          <a:lstStyle/>
          <a:p>
            <a:r>
              <a:rPr lang="en-US"/>
              <a:t>Studi Kasus : Toko Online</a:t>
            </a:r>
            <a:endParaRPr lang="en-ID"/>
          </a:p>
        </p:txBody>
      </p:sp>
      <p:sp>
        <p:nvSpPr>
          <p:cNvPr id="3" name="Text Placeholder 2">
            <a:extLst>
              <a:ext uri="{FF2B5EF4-FFF2-40B4-BE49-F238E27FC236}">
                <a16:creationId xmlns:a16="http://schemas.microsoft.com/office/drawing/2014/main" id="{634EA383-83F2-DE5B-A78C-360B786ED932}"/>
              </a:ext>
            </a:extLst>
          </p:cNvPr>
          <p:cNvSpPr>
            <a:spLocks noGrp="1"/>
          </p:cNvSpPr>
          <p:nvPr>
            <p:ph type="body" idx="1"/>
          </p:nvPr>
        </p:nvSpPr>
        <p:spPr>
          <a:xfrm>
            <a:off x="1154954" y="2404533"/>
            <a:ext cx="8825659" cy="4047067"/>
          </a:xfrm>
        </p:spPr>
        <p:txBody>
          <a:bodyPr>
            <a:normAutofit/>
          </a:bodyPr>
          <a:lstStyle/>
          <a:p>
            <a:pPr marL="137160" indent="0">
              <a:buNone/>
            </a:pPr>
            <a:r>
              <a:rPr lang="en-ID" b="1"/>
              <a:t>Pengujian Trigger</a:t>
            </a:r>
          </a:p>
          <a:p>
            <a:r>
              <a:rPr lang="en-ID" sz="1800" b="1" u="none" strike="noStrike" baseline="0">
                <a:solidFill>
                  <a:srgbClr val="808080"/>
                </a:solidFill>
                <a:latin typeface="Century Gothic" panose="020B0502020202020204" pitchFamily="34" charset="0"/>
              </a:rPr>
              <a:t>Update Stok Barang Otomatis:</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INSERT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INTO</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order_details</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808000"/>
                </a:solidFill>
                <a:latin typeface="Courier New" panose="02070309020205020404" pitchFamily="49" charset="0"/>
              </a:rPr>
              <a:t>order_id</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product_id</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quantity</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VALUES</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800080"/>
                </a:solidFill>
                <a:latin typeface="Courier New" panose="02070309020205020404" pitchFamily="49" charset="0"/>
              </a:rPr>
              <a:t>2</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2</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2</a:t>
            </a:r>
            <a:r>
              <a:rPr lang="en-US" b="0" i="0" u="none" strike="noStrike" baseline="0">
                <a:solidFill>
                  <a:srgbClr val="0000FF"/>
                </a:solidFill>
                <a:latin typeface="Courier New" panose="02070309020205020404" pitchFamily="49" charset="0"/>
              </a:rPr>
              <a:t>);</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products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perubahan stok barang.</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order_details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order_details</a:t>
            </a:r>
            <a:endParaRPr lang="en-ID" sz="1800" b="0" i="1" u="none" strike="noStrike" baseline="0">
              <a:solidFill>
                <a:srgbClr val="808080"/>
              </a:solidFill>
              <a:latin typeface="Courier New" panose="02070309020205020404" pitchFamily="49" charset="0"/>
            </a:endParaRPr>
          </a:p>
          <a:p>
            <a:r>
              <a:rPr lang="en-ID" sz="1800" b="1" u="none" strike="noStrike" baseline="0">
                <a:solidFill>
                  <a:srgbClr val="808080"/>
                </a:solidFill>
                <a:latin typeface="Century Gothic" panose="020B0502020202020204" pitchFamily="34" charset="0"/>
              </a:rPr>
              <a:t>Log Perubahan Harga</a:t>
            </a:r>
            <a:r>
              <a:rPr lang="en-ID" sz="1800" b="0" u="none" strike="noStrike" baseline="0">
                <a:solidFill>
                  <a:srgbClr val="808080"/>
                </a:solidFill>
                <a:latin typeface="Century Gothic" panose="020B0502020202020204" pitchFamily="34" charset="0"/>
              </a:rPr>
              <a:t>:</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UPDATE</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products</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SET</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price</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16000000.00</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WHERE</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product_id</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1</a:t>
            </a:r>
            <a:r>
              <a:rPr lang="en-US" b="0" i="0" u="none" strike="noStrike" baseline="0">
                <a:solidFill>
                  <a:srgbClr val="0000FF"/>
                </a:solidFill>
                <a:latin typeface="Courier New" panose="02070309020205020404" pitchFamily="49" charset="0"/>
              </a:rPr>
              <a:t>;</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price_changes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log perubahan harga.</a:t>
            </a:r>
          </a:p>
        </p:txBody>
      </p:sp>
    </p:spTree>
    <p:extLst>
      <p:ext uri="{BB962C8B-B14F-4D97-AF65-F5344CB8AC3E}">
        <p14:creationId xmlns:p14="http://schemas.microsoft.com/office/powerpoint/2010/main" val="25477000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63AA-E384-8AD5-696E-2B57E47609F6}"/>
              </a:ext>
            </a:extLst>
          </p:cNvPr>
          <p:cNvSpPr>
            <a:spLocks noGrp="1"/>
          </p:cNvSpPr>
          <p:nvPr>
            <p:ph type="title"/>
          </p:nvPr>
        </p:nvSpPr>
        <p:spPr/>
        <p:txBody>
          <a:bodyPr/>
          <a:lstStyle/>
          <a:p>
            <a:r>
              <a:rPr lang="en-US"/>
              <a:t>Studi Kasus : Toko Online</a:t>
            </a:r>
            <a:endParaRPr lang="en-ID"/>
          </a:p>
        </p:txBody>
      </p:sp>
      <p:sp>
        <p:nvSpPr>
          <p:cNvPr id="3" name="Text Placeholder 2">
            <a:extLst>
              <a:ext uri="{FF2B5EF4-FFF2-40B4-BE49-F238E27FC236}">
                <a16:creationId xmlns:a16="http://schemas.microsoft.com/office/drawing/2014/main" id="{634EA383-83F2-DE5B-A78C-360B786ED932}"/>
              </a:ext>
            </a:extLst>
          </p:cNvPr>
          <p:cNvSpPr>
            <a:spLocks noGrp="1"/>
          </p:cNvSpPr>
          <p:nvPr>
            <p:ph type="body" idx="1"/>
          </p:nvPr>
        </p:nvSpPr>
        <p:spPr>
          <a:xfrm>
            <a:off x="1154954" y="2404533"/>
            <a:ext cx="8825659" cy="4047067"/>
          </a:xfrm>
        </p:spPr>
        <p:txBody>
          <a:bodyPr>
            <a:normAutofit/>
          </a:bodyPr>
          <a:lstStyle/>
          <a:p>
            <a:pPr marL="137160" indent="0">
              <a:buNone/>
            </a:pPr>
            <a:r>
              <a:rPr lang="en-ID" b="1"/>
              <a:t>Pengujian Trigger</a:t>
            </a:r>
          </a:p>
          <a:p>
            <a:r>
              <a:rPr lang="en-ID" sz="1800" b="1" u="none" strike="noStrike" baseline="0">
                <a:solidFill>
                  <a:srgbClr val="808080"/>
                </a:solidFill>
                <a:latin typeface="Century Gothic" panose="020B0502020202020204" pitchFamily="34" charset="0"/>
              </a:rPr>
              <a:t>Pengembalian Stok:</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UPDATE</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orders</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SET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status</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008000"/>
                </a:solidFill>
                <a:latin typeface="Courier New" panose="02070309020205020404" pitchFamily="49" charset="0"/>
              </a:rPr>
              <a:t>‘canceled'</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WHERE</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order_id</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1</a:t>
            </a:r>
            <a:r>
              <a:rPr lang="en-US" b="0" i="0" u="none" strike="noStrike" baseline="0">
                <a:solidFill>
                  <a:srgbClr val="0000FF"/>
                </a:solidFill>
                <a:latin typeface="Courier New" panose="02070309020205020404" pitchFamily="49" charset="0"/>
              </a:rPr>
              <a:t>;</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products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stok barang.</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status order.</a:t>
            </a:r>
            <a:endParaRPr lang="en-ID" sz="1800" b="0" i="1" u="none" strike="noStrike" baseline="0">
              <a:solidFill>
                <a:srgbClr val="808080"/>
              </a:solidFill>
              <a:latin typeface="Courier New" panose="02070309020205020404" pitchFamily="49" charset="0"/>
            </a:endParaRPr>
          </a:p>
          <a:p>
            <a:r>
              <a:rPr lang="en-US" sz="1800" b="1" u="none" strike="noStrike" baseline="0">
                <a:solidFill>
                  <a:srgbClr val="808080"/>
                </a:solidFill>
                <a:latin typeface="Century Gothic" panose="020B0502020202020204" pitchFamily="34" charset="0"/>
              </a:rPr>
              <a:t>Penetapan Poin Loyalty:</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UPDATE</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orders</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SET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status</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008000"/>
                </a:solidFill>
                <a:latin typeface="Courier New" panose="02070309020205020404" pitchFamily="49" charset="0"/>
              </a:rPr>
              <a:t>'completed'</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WHERE</a:t>
            </a:r>
            <a:r>
              <a:rPr lang="en-US" b="0" i="0" u="none" strike="noStrike" baseline="0">
                <a:solidFill>
                  <a:srgbClr val="000000"/>
                </a:solidFill>
                <a:latin typeface="Courier New" panose="02070309020205020404" pitchFamily="49" charset="0"/>
              </a:rPr>
              <a:t> </a:t>
            </a:r>
            <a:r>
              <a:rPr lang="en-US" b="0" i="0" u="none" strike="noStrike" baseline="0">
                <a:solidFill>
                  <a:srgbClr val="808000"/>
                </a:solidFill>
                <a:latin typeface="Courier New" panose="02070309020205020404" pitchFamily="49" charset="0"/>
              </a:rPr>
              <a:t>order_id</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0" u="none" strike="noStrike" baseline="0">
                <a:solidFill>
                  <a:srgbClr val="800080"/>
                </a:solidFill>
                <a:latin typeface="Courier New" panose="02070309020205020404" pitchFamily="49" charset="0"/>
              </a:rPr>
              <a:t>1</a:t>
            </a:r>
            <a:r>
              <a:rPr lang="en-US" b="0" i="0" u="none" strike="noStrike" baseline="0">
                <a:solidFill>
                  <a:srgbClr val="0000FF"/>
                </a:solidFill>
                <a:latin typeface="Courier New" panose="02070309020205020404" pitchFamily="49" charset="0"/>
              </a:rPr>
              <a:t>;</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orders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status order.</a:t>
            </a:r>
          </a:p>
          <a:p>
            <a:pPr lvl="1">
              <a:buFont typeface="Arial" panose="020B0604020202020204" pitchFamily="34" charset="0"/>
              <a:buChar char="•"/>
            </a:pPr>
            <a:r>
              <a:rPr lang="en-US" b="1" i="0" u="none" strike="noStrike" baseline="0">
                <a:solidFill>
                  <a:srgbClr val="0000FF"/>
                </a:solidFill>
                <a:latin typeface="Courier New" panose="02070309020205020404" pitchFamily="49" charset="0"/>
              </a:rPr>
              <a:t>SELECT</a:t>
            </a:r>
            <a:r>
              <a:rPr lang="en-US" b="0" i="0" u="none" strike="noStrike" baseline="0">
                <a:solidFill>
                  <a:srgbClr val="000000"/>
                </a:solidFill>
                <a:latin typeface="Courier New" panose="02070309020205020404" pitchFamily="49" charset="0"/>
              </a:rPr>
              <a:t> </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1" i="0" u="none" strike="noStrike" baseline="0">
                <a:solidFill>
                  <a:srgbClr val="0000FF"/>
                </a:solidFill>
                <a:latin typeface="Courier New" panose="02070309020205020404" pitchFamily="49" charset="0"/>
              </a:rPr>
              <a:t>FROM</a:t>
            </a:r>
            <a:r>
              <a:rPr lang="en-US" b="0" i="0" u="none" strike="noStrike" baseline="0">
                <a:solidFill>
                  <a:srgbClr val="000000"/>
                </a:solidFill>
                <a:latin typeface="Courier New" panose="02070309020205020404" pitchFamily="49" charset="0"/>
              </a:rPr>
              <a:t> </a:t>
            </a:r>
            <a:r>
              <a:rPr lang="en-US" b="0" i="0" u="none" strike="noStrike" baseline="0">
                <a:solidFill>
                  <a:srgbClr val="FF00FF"/>
                </a:solidFill>
                <a:latin typeface="Courier New" panose="02070309020205020404" pitchFamily="49" charset="0"/>
              </a:rPr>
              <a:t>customers</a:t>
            </a:r>
            <a:r>
              <a:rPr lang="en-US" b="0" i="0" u="none" strike="noStrike" baseline="0">
                <a:solidFill>
                  <a:srgbClr val="0000FF"/>
                </a:solidFill>
                <a:latin typeface="Courier New" panose="02070309020205020404" pitchFamily="49" charset="0"/>
              </a:rPr>
              <a:t>;</a:t>
            </a:r>
            <a:r>
              <a:rPr lang="en-US" b="0" i="0" u="none" strike="noStrike" baseline="0">
                <a:solidFill>
                  <a:srgbClr val="000000"/>
                </a:solidFill>
                <a:latin typeface="Courier New" panose="02070309020205020404" pitchFamily="49" charset="0"/>
              </a:rPr>
              <a:t> </a:t>
            </a:r>
            <a:r>
              <a:rPr lang="en-US" b="0" i="1" u="none" strike="noStrike" baseline="0">
                <a:solidFill>
                  <a:srgbClr val="808080"/>
                </a:solidFill>
                <a:latin typeface="Courier New" panose="02070309020205020404" pitchFamily="49" charset="0"/>
              </a:rPr>
              <a:t>-- Periksa status customer.</a:t>
            </a:r>
          </a:p>
          <a:p>
            <a:endParaRPr lang="en-ID" sz="1800" b="0" i="1" u="none" strike="noStrike" baseline="0">
              <a:solidFill>
                <a:srgbClr val="808080"/>
              </a:solidFill>
              <a:latin typeface="Courier New" panose="02070309020205020404" pitchFamily="49" charset="0"/>
            </a:endParaRPr>
          </a:p>
        </p:txBody>
      </p:sp>
    </p:spTree>
    <p:extLst>
      <p:ext uri="{BB962C8B-B14F-4D97-AF65-F5344CB8AC3E}">
        <p14:creationId xmlns:p14="http://schemas.microsoft.com/office/powerpoint/2010/main" val="25119123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958" name="Google Shape;958;g29a5a70a483_0_71"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959" name="Google Shape;959;g29a5a70a483_0_71"/>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BACKUP, RESTORE, REPLICA/MIRROR</a:t>
            </a:r>
            <a:endParaRPr sz="3600" b="1">
              <a:solidFill>
                <a:schemeClr val="lt1"/>
              </a:solidFill>
            </a:endParaRPr>
          </a:p>
        </p:txBody>
      </p:sp>
      <p:sp>
        <p:nvSpPr>
          <p:cNvPr id="960" name="Google Shape;960;g29a5a70a483_0_71"/>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14</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0F85B-620C-BD6C-74C5-BB4DF6ED4B4B}"/>
              </a:ext>
            </a:extLst>
          </p:cNvPr>
          <p:cNvSpPr>
            <a:spLocks noGrp="1"/>
          </p:cNvSpPr>
          <p:nvPr>
            <p:ph type="title"/>
          </p:nvPr>
        </p:nvSpPr>
        <p:spPr/>
        <p:txBody>
          <a:bodyPr/>
          <a:lstStyle/>
          <a:p>
            <a:r>
              <a:rPr lang="en-US"/>
              <a:t>CPL</a:t>
            </a:r>
            <a:endParaRPr lang="en-ID"/>
          </a:p>
        </p:txBody>
      </p:sp>
      <p:sp>
        <p:nvSpPr>
          <p:cNvPr id="3" name="Text Placeholder 2">
            <a:extLst>
              <a:ext uri="{FF2B5EF4-FFF2-40B4-BE49-F238E27FC236}">
                <a16:creationId xmlns:a16="http://schemas.microsoft.com/office/drawing/2014/main" id="{E40E6C95-F30E-9D7E-E400-E711D7D52D0C}"/>
              </a:ext>
            </a:extLst>
          </p:cNvPr>
          <p:cNvSpPr>
            <a:spLocks noGrp="1"/>
          </p:cNvSpPr>
          <p:nvPr>
            <p:ph type="body" idx="1"/>
          </p:nvPr>
        </p:nvSpPr>
        <p:spPr>
          <a:xfrm>
            <a:off x="1154954" y="2603500"/>
            <a:ext cx="10109676" cy="3416300"/>
          </a:xfrm>
        </p:spPr>
        <p:txBody>
          <a:bodyPr>
            <a:normAutofit/>
          </a:bodyPr>
          <a:lstStyle/>
          <a:p>
            <a:pPr marL="285750" indent="-285750" eaLnBrk="0" fontAlgn="base" hangingPunct="0">
              <a:spcBef>
                <a:spcPct val="0"/>
              </a:spcBef>
              <a:spcAft>
                <a:spcPct val="0"/>
              </a:spcAft>
              <a:buClrTx/>
              <a:buSzTx/>
            </a:pPr>
            <a:r>
              <a:rPr kumimoji="0" lang="en-US" altLang="en-US" sz="2000" b="0" i="0" u="none" strike="noStrike" cap="none" normalizeH="0" baseline="0">
                <a:ln>
                  <a:noFill/>
                </a:ln>
                <a:solidFill>
                  <a:schemeClr val="tx1"/>
                </a:solidFill>
                <a:effectLst/>
                <a:latin typeface="Century Gothic" panose="020B0502020202020204" pitchFamily="34" charset="0"/>
              </a:rPr>
              <a:t>Mahasiswa mampu mengevaluasi kebutuhan backup, restore, dan mirror untuk menjaga keandalan data.</a:t>
            </a:r>
          </a:p>
          <a:p>
            <a:pPr marL="285750" indent="-285750" eaLnBrk="0" fontAlgn="base" hangingPunct="0">
              <a:spcBef>
                <a:spcPct val="0"/>
              </a:spcBef>
              <a:spcAft>
                <a:spcPct val="0"/>
              </a:spcAft>
              <a:buClrTx/>
              <a:buSzTx/>
            </a:pPr>
            <a:r>
              <a:rPr kumimoji="0" lang="en-US" altLang="en-US" sz="2000" b="0" i="0" u="none" strike="noStrike" cap="none" normalizeH="0" baseline="0">
                <a:ln>
                  <a:noFill/>
                </a:ln>
                <a:solidFill>
                  <a:schemeClr val="tx1"/>
                </a:solidFill>
                <a:effectLst/>
                <a:latin typeface="Century Gothic" panose="020B0502020202020204" pitchFamily="34" charset="0"/>
              </a:rPr>
              <a:t>Mahasiswa dapat merancang dan menjalankan proses backup dan restore database menggunakan perintah SQL atau tool bawaan MySQL.</a:t>
            </a:r>
          </a:p>
          <a:p>
            <a:pPr marL="285750" indent="-285750" eaLnBrk="0" fontAlgn="base" hangingPunct="0">
              <a:spcBef>
                <a:spcPct val="0"/>
              </a:spcBef>
              <a:spcAft>
                <a:spcPct val="0"/>
              </a:spcAft>
              <a:buClrTx/>
              <a:buSzTx/>
            </a:pPr>
            <a:r>
              <a:rPr kumimoji="0" lang="en-US" altLang="en-US" sz="2000" b="0" i="0" u="none" strike="noStrike" cap="none" normalizeH="0" baseline="0">
                <a:ln>
                  <a:noFill/>
                </a:ln>
                <a:solidFill>
                  <a:schemeClr val="tx1"/>
                </a:solidFill>
                <a:effectLst/>
                <a:latin typeface="Century Gothic" panose="020B0502020202020204" pitchFamily="34" charset="0"/>
              </a:rPr>
              <a:t>Mahasiswa mampu mengatur dan mengelola replikasi database dengan konsep master-slave.</a:t>
            </a:r>
          </a:p>
          <a:p>
            <a:pPr marL="285750" indent="-285750" eaLnBrk="0" fontAlgn="base" hangingPunct="0">
              <a:spcBef>
                <a:spcPct val="0"/>
              </a:spcBef>
              <a:spcAft>
                <a:spcPct val="0"/>
              </a:spcAft>
              <a:buClrTx/>
              <a:buSzTx/>
            </a:pPr>
            <a:r>
              <a:rPr kumimoji="0" lang="en-US" altLang="en-US" sz="2000" b="0" i="0" u="none" strike="noStrike" cap="none" normalizeH="0" baseline="0">
                <a:ln>
                  <a:noFill/>
                </a:ln>
                <a:solidFill>
                  <a:schemeClr val="tx1"/>
                </a:solidFill>
                <a:effectLst/>
                <a:latin typeface="Century Gothic" panose="020B0502020202020204" pitchFamily="34" charset="0"/>
              </a:rPr>
              <a:t>Mahasiswa dapat mengidentifikasi dan menyelesaikan masalah umum terkait backup, restore, dan replikasi database.</a:t>
            </a:r>
          </a:p>
          <a:p>
            <a:pPr marL="285750" indent="-285750" eaLnBrk="0" fontAlgn="base" hangingPunct="0">
              <a:spcBef>
                <a:spcPct val="0"/>
              </a:spcBef>
              <a:spcAft>
                <a:spcPct val="0"/>
              </a:spcAft>
              <a:buClrTx/>
              <a:buSzTx/>
            </a:pPr>
            <a:endParaRPr kumimoji="0" lang="en-US" altLang="en-US" sz="2000" b="0" i="0" u="none" strike="noStrike" cap="none" normalizeH="0" baseline="0">
              <a:ln>
                <a:noFill/>
              </a:ln>
              <a:solidFill>
                <a:schemeClr val="tx1"/>
              </a:solidFill>
              <a:effectLst/>
              <a:latin typeface="Century Gothic" panose="020B0502020202020204" pitchFamily="34" charset="0"/>
            </a:endParaRPr>
          </a:p>
          <a:p>
            <a:endParaRPr lang="en-ID" sz="2000">
              <a:latin typeface="Century Gothic" panose="020B0502020202020204" pitchFamily="34" charset="0"/>
            </a:endParaRPr>
          </a:p>
          <a:p>
            <a:endParaRPr lang="en-ID" sz="2000">
              <a:latin typeface="Century Gothic" panose="020B0502020202020204" pitchFamily="34" charset="0"/>
            </a:endParaRPr>
          </a:p>
        </p:txBody>
      </p:sp>
    </p:spTree>
    <p:extLst>
      <p:ext uri="{BB962C8B-B14F-4D97-AF65-F5344CB8AC3E}">
        <p14:creationId xmlns:p14="http://schemas.microsoft.com/office/powerpoint/2010/main" val="249812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a56a6785b8_0_68"/>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400050" algn="l" rtl="0">
              <a:lnSpc>
                <a:spcPct val="115000"/>
              </a:lnSpc>
              <a:spcBef>
                <a:spcPts val="0"/>
              </a:spcBef>
              <a:spcAft>
                <a:spcPts val="0"/>
              </a:spcAft>
              <a:buClr>
                <a:schemeClr val="dk1"/>
              </a:buClr>
              <a:buSzPts val="2700"/>
              <a:buFont typeface="Century Gothic"/>
              <a:buChar char="❏"/>
            </a:pPr>
            <a:r>
              <a:rPr lang="en-ID" sz="2700">
                <a:solidFill>
                  <a:schemeClr val="dk1"/>
                </a:solidFill>
              </a:rPr>
              <a:t>Backup dan restore adalah proses penting dalam pengelolaan basis data untuk menjaga keamanan dan ketersediaan data. </a:t>
            </a:r>
            <a:endParaRPr sz="2700">
              <a:solidFill>
                <a:schemeClr val="dk1"/>
              </a:solidFill>
            </a:endParaRPr>
          </a:p>
          <a:p>
            <a:pPr marL="457200" lvl="0" indent="-400050" algn="l" rtl="0">
              <a:lnSpc>
                <a:spcPct val="115000"/>
              </a:lnSpc>
              <a:spcBef>
                <a:spcPts val="0"/>
              </a:spcBef>
              <a:spcAft>
                <a:spcPts val="0"/>
              </a:spcAft>
              <a:buClr>
                <a:schemeClr val="dk1"/>
              </a:buClr>
              <a:buSzPts val="2700"/>
              <a:buFont typeface="Century Gothic"/>
              <a:buChar char="❏"/>
            </a:pPr>
            <a:r>
              <a:rPr lang="en-ID" sz="2700" b="1">
                <a:solidFill>
                  <a:schemeClr val="dk1"/>
                </a:solidFill>
              </a:rPr>
              <a:t>Backup </a:t>
            </a:r>
            <a:r>
              <a:rPr lang="en-ID" sz="2700">
                <a:solidFill>
                  <a:schemeClr val="dk1"/>
                </a:solidFill>
              </a:rPr>
              <a:t>adalah salinan data yang dibuat untuk tujuan pengamanan, sementara </a:t>
            </a:r>
            <a:r>
              <a:rPr lang="en-ID" sz="2700" b="1">
                <a:solidFill>
                  <a:schemeClr val="dk1"/>
                </a:solidFill>
              </a:rPr>
              <a:t>restore </a:t>
            </a:r>
            <a:r>
              <a:rPr lang="en-ID" sz="2700">
                <a:solidFill>
                  <a:schemeClr val="dk1"/>
                </a:solidFill>
              </a:rPr>
              <a:t>adalah proses memulihkan data dari salinan tersebut.</a:t>
            </a:r>
            <a:endParaRPr sz="2700" b="1">
              <a:solidFill>
                <a:schemeClr val="dk1"/>
              </a:solidFill>
            </a:endParaRPr>
          </a:p>
        </p:txBody>
      </p:sp>
      <p:sp>
        <p:nvSpPr>
          <p:cNvPr id="967" name="Google Shape;967;g2a56a6785b8_0_68"/>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Backup &amp; Restore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66">
                                            <p:txEl>
                                              <p:pRg st="0" end="0"/>
                                            </p:txEl>
                                          </p:spTgt>
                                        </p:tgtEl>
                                        <p:attrNameLst>
                                          <p:attrName>style.visibility</p:attrName>
                                        </p:attrNameLst>
                                      </p:cBhvr>
                                      <p:to>
                                        <p:strVal val="visible"/>
                                      </p:to>
                                    </p:set>
                                    <p:anim calcmode="lin" valueType="num">
                                      <p:cBhvr additive="base">
                                        <p:cTn id="7" dur="500"/>
                                        <p:tgtEl>
                                          <p:spTgt spid="96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66">
                                            <p:txEl>
                                              <p:pRg st="1" end="1"/>
                                            </p:txEl>
                                          </p:spTgt>
                                        </p:tgtEl>
                                        <p:attrNameLst>
                                          <p:attrName>style.visibility</p:attrName>
                                        </p:attrNameLst>
                                      </p:cBhvr>
                                      <p:to>
                                        <p:strVal val="visible"/>
                                      </p:to>
                                    </p:set>
                                    <p:anim calcmode="lin" valueType="num">
                                      <p:cBhvr additive="base">
                                        <p:cTn id="12" dur="500"/>
                                        <p:tgtEl>
                                          <p:spTgt spid="96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a56a6785b8_0_75"/>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68300" algn="l" rtl="0">
              <a:lnSpc>
                <a:spcPct val="115000"/>
              </a:lnSpc>
              <a:spcBef>
                <a:spcPts val="0"/>
              </a:spcBef>
              <a:spcAft>
                <a:spcPts val="0"/>
              </a:spcAft>
              <a:buClr>
                <a:schemeClr val="dk1"/>
              </a:buClr>
              <a:buSzPts val="2200"/>
              <a:buFont typeface="Roboto"/>
              <a:buChar char="❏"/>
            </a:pPr>
            <a:r>
              <a:rPr lang="en-ID" sz="2200" b="1">
                <a:solidFill>
                  <a:schemeClr val="dk1"/>
                </a:solidFill>
              </a:rPr>
              <a:t>Pencegahan Kehilangan Data</a:t>
            </a:r>
            <a:r>
              <a:rPr lang="en-ID" sz="2200">
                <a:solidFill>
                  <a:schemeClr val="dk1"/>
                </a:solidFill>
              </a:rPr>
              <a:t>: Backup digunakan untuk mencegah kehilangan data akibat kegagalan perangkat keras, kesalahan manusia, atau serangan berbahaya.</a:t>
            </a:r>
            <a:endParaRPr sz="2200">
              <a:solidFill>
                <a:schemeClr val="dk1"/>
              </a:solidFill>
            </a:endParaRPr>
          </a:p>
          <a:p>
            <a:pPr marL="457200" lvl="0" indent="-368300" algn="l" rtl="0">
              <a:lnSpc>
                <a:spcPct val="115000"/>
              </a:lnSpc>
              <a:spcBef>
                <a:spcPts val="0"/>
              </a:spcBef>
              <a:spcAft>
                <a:spcPts val="0"/>
              </a:spcAft>
              <a:buClr>
                <a:schemeClr val="dk1"/>
              </a:buClr>
              <a:buSzPts val="2200"/>
              <a:buFont typeface="Roboto"/>
              <a:buChar char="❏"/>
            </a:pPr>
            <a:r>
              <a:rPr lang="en-ID" sz="2200" b="1">
                <a:solidFill>
                  <a:schemeClr val="dk1"/>
                </a:solidFill>
              </a:rPr>
              <a:t>Recovery Point</a:t>
            </a:r>
            <a:r>
              <a:rPr lang="en-ID" sz="2200">
                <a:solidFill>
                  <a:schemeClr val="dk1"/>
                </a:solidFill>
              </a:rPr>
              <a:t>: Backup memungkinkan pemulihan ke titik waktu tertentu, memberikan fleksibilitas dalam memilih waktu pemulihan yang diinginkan.</a:t>
            </a:r>
            <a:endParaRPr sz="2200">
              <a:solidFill>
                <a:schemeClr val="dk1"/>
              </a:solidFill>
            </a:endParaRPr>
          </a:p>
          <a:p>
            <a:pPr marL="457200" lvl="0" indent="-368300" algn="l" rtl="0">
              <a:lnSpc>
                <a:spcPct val="115000"/>
              </a:lnSpc>
              <a:spcBef>
                <a:spcPts val="0"/>
              </a:spcBef>
              <a:spcAft>
                <a:spcPts val="0"/>
              </a:spcAft>
              <a:buClr>
                <a:schemeClr val="dk1"/>
              </a:buClr>
              <a:buSzPts val="2200"/>
              <a:buFont typeface="Roboto"/>
              <a:buChar char="❏"/>
            </a:pPr>
            <a:r>
              <a:rPr lang="en-ID" sz="2200" b="1">
                <a:solidFill>
                  <a:schemeClr val="dk1"/>
                </a:solidFill>
              </a:rPr>
              <a:t>Migrasi dan Upgrade</a:t>
            </a:r>
            <a:r>
              <a:rPr lang="en-ID" sz="2200">
                <a:solidFill>
                  <a:schemeClr val="dk1"/>
                </a:solidFill>
              </a:rPr>
              <a:t>: Backup dapat digunakan saat melakukan migrasi basis data atau melakukan upgrade perangkat keras atau perangkat lunak.</a:t>
            </a:r>
            <a:endParaRPr sz="3700">
              <a:solidFill>
                <a:schemeClr val="dk1"/>
              </a:solidFill>
            </a:endParaRPr>
          </a:p>
        </p:txBody>
      </p:sp>
      <p:sp>
        <p:nvSpPr>
          <p:cNvPr id="974" name="Google Shape;974;g2a56a6785b8_0_75"/>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Tujuan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73">
                                            <p:txEl>
                                              <p:pRg st="0" end="0"/>
                                            </p:txEl>
                                          </p:spTgt>
                                        </p:tgtEl>
                                        <p:attrNameLst>
                                          <p:attrName>style.visibility</p:attrName>
                                        </p:attrNameLst>
                                      </p:cBhvr>
                                      <p:to>
                                        <p:strVal val="visible"/>
                                      </p:to>
                                    </p:set>
                                    <p:anim calcmode="lin" valueType="num">
                                      <p:cBhvr additive="base">
                                        <p:cTn id="7" dur="500"/>
                                        <p:tgtEl>
                                          <p:spTgt spid="97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73">
                                            <p:txEl>
                                              <p:pRg st="1" end="1"/>
                                            </p:txEl>
                                          </p:spTgt>
                                        </p:tgtEl>
                                        <p:attrNameLst>
                                          <p:attrName>style.visibility</p:attrName>
                                        </p:attrNameLst>
                                      </p:cBhvr>
                                      <p:to>
                                        <p:strVal val="visible"/>
                                      </p:to>
                                    </p:set>
                                    <p:anim calcmode="lin" valueType="num">
                                      <p:cBhvr additive="base">
                                        <p:cTn id="12" dur="500"/>
                                        <p:tgtEl>
                                          <p:spTgt spid="97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73">
                                            <p:txEl>
                                              <p:pRg st="2" end="2"/>
                                            </p:txEl>
                                          </p:spTgt>
                                        </p:tgtEl>
                                        <p:attrNameLst>
                                          <p:attrName>style.visibility</p:attrName>
                                        </p:attrNameLst>
                                      </p:cBhvr>
                                      <p:to>
                                        <p:strVal val="visible"/>
                                      </p:to>
                                    </p:set>
                                    <p:anim calcmode="lin" valueType="num">
                                      <p:cBhvr additive="base">
                                        <p:cTn id="17" dur="500"/>
                                        <p:tgtEl>
                                          <p:spTgt spid="97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a56a6785b8_0_82"/>
          <p:cNvSpPr txBox="1">
            <a:spLocks noGrp="1"/>
          </p:cNvSpPr>
          <p:nvPr>
            <p:ph type="body" idx="1"/>
          </p:nvPr>
        </p:nvSpPr>
        <p:spPr>
          <a:xfrm>
            <a:off x="1154950" y="2603500"/>
            <a:ext cx="5207750" cy="4010700"/>
          </a:xfrm>
          <a:prstGeom prst="rect">
            <a:avLst/>
          </a:prstGeom>
          <a:noFill/>
          <a:ln>
            <a:noFill/>
          </a:ln>
        </p:spPr>
        <p:txBody>
          <a:bodyPr spcFirstLastPara="1" wrap="square" lIns="91425" tIns="45700" rIns="91425" bIns="45700" anchor="t" anchorCtr="0">
            <a:noAutofit/>
          </a:bodyPr>
          <a:lstStyle/>
          <a:p>
            <a:pPr marL="457200" lvl="0" indent="-368300" algn="l" rtl="0">
              <a:lnSpc>
                <a:spcPct val="115000"/>
              </a:lnSpc>
              <a:spcBef>
                <a:spcPts val="0"/>
              </a:spcBef>
              <a:spcAft>
                <a:spcPts val="0"/>
              </a:spcAft>
              <a:buClr>
                <a:schemeClr val="dk1"/>
              </a:buClr>
              <a:buSzPts val="2200"/>
              <a:buFont typeface="Century Gothic"/>
              <a:buChar char="❏"/>
            </a:pPr>
            <a:r>
              <a:rPr lang="en-ID" sz="2200" b="1">
                <a:solidFill>
                  <a:schemeClr val="dk1"/>
                </a:solidFill>
              </a:rPr>
              <a:t>Full Backup</a:t>
            </a:r>
            <a:r>
              <a:rPr lang="en-ID" sz="2200">
                <a:solidFill>
                  <a:schemeClr val="dk1"/>
                </a:solidFill>
              </a:rPr>
              <a:t>: Menyimpan seluruh basis data dan seluruh tabel.</a:t>
            </a:r>
            <a:endParaRPr sz="2200">
              <a:solidFill>
                <a:schemeClr val="dk1"/>
              </a:solidFill>
            </a:endParaRPr>
          </a:p>
          <a:p>
            <a:pPr marL="457200" lvl="0" indent="-368300" algn="l" rtl="0">
              <a:lnSpc>
                <a:spcPct val="115000"/>
              </a:lnSpc>
              <a:spcBef>
                <a:spcPts val="0"/>
              </a:spcBef>
              <a:spcAft>
                <a:spcPts val="0"/>
              </a:spcAft>
              <a:buClr>
                <a:schemeClr val="dk1"/>
              </a:buClr>
              <a:buSzPts val="2200"/>
              <a:buFont typeface="Century Gothic"/>
              <a:buChar char="❏"/>
            </a:pPr>
            <a:r>
              <a:rPr lang="en-ID" sz="2200" b="1">
                <a:solidFill>
                  <a:schemeClr val="dk1"/>
                </a:solidFill>
              </a:rPr>
              <a:t>Incremental Backup</a:t>
            </a:r>
            <a:r>
              <a:rPr lang="en-ID" sz="2200">
                <a:solidFill>
                  <a:schemeClr val="dk1"/>
                </a:solidFill>
              </a:rPr>
              <a:t>: Hanya menyimpan perubahan sejak backup terakhir, menghemat ruang penyimpanan.</a:t>
            </a:r>
            <a:endParaRPr sz="2200">
              <a:solidFill>
                <a:schemeClr val="dk1"/>
              </a:solidFill>
            </a:endParaRPr>
          </a:p>
          <a:p>
            <a:pPr marL="457200" lvl="0" indent="-368300" algn="l" rtl="0">
              <a:lnSpc>
                <a:spcPct val="115000"/>
              </a:lnSpc>
              <a:spcBef>
                <a:spcPts val="0"/>
              </a:spcBef>
              <a:spcAft>
                <a:spcPts val="0"/>
              </a:spcAft>
              <a:buClr>
                <a:schemeClr val="dk1"/>
              </a:buClr>
              <a:buSzPts val="2200"/>
              <a:buFont typeface="Century Gothic"/>
              <a:buChar char="❏"/>
            </a:pPr>
            <a:r>
              <a:rPr lang="en-ID" sz="2200" b="1">
                <a:solidFill>
                  <a:schemeClr val="dk1"/>
                </a:solidFill>
              </a:rPr>
              <a:t>Differential Backup</a:t>
            </a:r>
            <a:r>
              <a:rPr lang="en-ID" sz="2200">
                <a:solidFill>
                  <a:schemeClr val="dk1"/>
                </a:solidFill>
              </a:rPr>
              <a:t>: Menyimpan perubahan sejak backup penuh terakhir, memudahkan pemulihan.</a:t>
            </a:r>
            <a:endParaRPr sz="2200" b="1">
              <a:solidFill>
                <a:schemeClr val="dk1"/>
              </a:solidFill>
            </a:endParaRPr>
          </a:p>
        </p:txBody>
      </p:sp>
      <p:sp>
        <p:nvSpPr>
          <p:cNvPr id="981" name="Google Shape;981;g2a56a6785b8_0_82"/>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ID"/>
              <a:t>Jenis Backup</a:t>
            </a:r>
            <a:endParaRPr/>
          </a:p>
        </p:txBody>
      </p:sp>
      <p:pic>
        <p:nvPicPr>
          <p:cNvPr id="1026" name="Picture 2" descr="full-differential-incremental">
            <a:hlinkClick r:id="rId3"/>
            <a:extLst>
              <a:ext uri="{FF2B5EF4-FFF2-40B4-BE49-F238E27FC236}">
                <a16:creationId xmlns:a16="http://schemas.microsoft.com/office/drawing/2014/main" id="{009EE755-3906-3894-4F59-7D81B52A98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742"/>
          <a:stretch/>
        </p:blipFill>
        <p:spPr bwMode="auto">
          <a:xfrm>
            <a:off x="7073900" y="2295607"/>
            <a:ext cx="4191000" cy="4318593"/>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980;g2a56a6785b8_0_82">
            <a:extLst>
              <a:ext uri="{FF2B5EF4-FFF2-40B4-BE49-F238E27FC236}">
                <a16:creationId xmlns:a16="http://schemas.microsoft.com/office/drawing/2014/main" id="{55C7F667-B609-76B9-C916-7E32F552F7BF}"/>
              </a:ext>
            </a:extLst>
          </p:cNvPr>
          <p:cNvSpPr txBox="1">
            <a:spLocks/>
          </p:cNvSpPr>
          <p:nvPr/>
        </p:nvSpPr>
        <p:spPr>
          <a:xfrm>
            <a:off x="6984250" y="6562807"/>
            <a:ext cx="4280650" cy="307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chemeClr val="accent1"/>
              </a:buClr>
              <a:buSzPts val="144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pPr marL="88900" indent="0">
              <a:lnSpc>
                <a:spcPct val="115000"/>
              </a:lnSpc>
              <a:spcBef>
                <a:spcPts val="0"/>
              </a:spcBef>
              <a:buClr>
                <a:schemeClr val="dk1"/>
              </a:buClr>
              <a:buSzPts val="2200"/>
              <a:buNone/>
            </a:pPr>
            <a:r>
              <a:rPr lang="en-ID" sz="1200">
                <a:solidFill>
                  <a:schemeClr val="dk1"/>
                </a:solidFill>
              </a:rPr>
              <a:t>https://spanning.com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80">
                                            <p:txEl>
                                              <p:pRg st="0" end="0"/>
                                            </p:txEl>
                                          </p:spTgt>
                                        </p:tgtEl>
                                        <p:attrNameLst>
                                          <p:attrName>style.visibility</p:attrName>
                                        </p:attrNameLst>
                                      </p:cBhvr>
                                      <p:to>
                                        <p:strVal val="visible"/>
                                      </p:to>
                                    </p:set>
                                    <p:anim calcmode="lin" valueType="num">
                                      <p:cBhvr additive="base">
                                        <p:cTn id="7" dur="500"/>
                                        <p:tgtEl>
                                          <p:spTgt spid="98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80">
                                            <p:txEl>
                                              <p:pRg st="1" end="1"/>
                                            </p:txEl>
                                          </p:spTgt>
                                        </p:tgtEl>
                                        <p:attrNameLst>
                                          <p:attrName>style.visibility</p:attrName>
                                        </p:attrNameLst>
                                      </p:cBhvr>
                                      <p:to>
                                        <p:strVal val="visible"/>
                                      </p:to>
                                    </p:set>
                                    <p:anim calcmode="lin" valueType="num">
                                      <p:cBhvr additive="base">
                                        <p:cTn id="12" dur="500"/>
                                        <p:tgtEl>
                                          <p:spTgt spid="98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80">
                                            <p:txEl>
                                              <p:pRg st="2" end="2"/>
                                            </p:txEl>
                                          </p:spTgt>
                                        </p:tgtEl>
                                        <p:attrNameLst>
                                          <p:attrName>style.visibility</p:attrName>
                                        </p:attrNameLst>
                                      </p:cBhvr>
                                      <p:to>
                                        <p:strVal val="visible"/>
                                      </p:to>
                                    </p:set>
                                    <p:anim calcmode="lin" valueType="num">
                                      <p:cBhvr additive="base">
                                        <p:cTn id="17" dur="500"/>
                                        <p:tgtEl>
                                          <p:spTgt spid="98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 calcmode="lin" valueType="num">
                                      <p:cBhvr additive="base">
                                        <p:cTn id="22" dur="500"/>
                                        <p:tgtEl>
                                          <p:spTgt spid="2">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a56a6785b8_0_89"/>
          <p:cNvSpPr txBox="1">
            <a:spLocks noGrp="1"/>
          </p:cNvSpPr>
          <p:nvPr>
            <p:ph type="body" idx="1"/>
          </p:nvPr>
        </p:nvSpPr>
        <p:spPr>
          <a:xfrm>
            <a:off x="1154950" y="2603500"/>
            <a:ext cx="9915300" cy="4010700"/>
          </a:xfrm>
          <a:prstGeom prst="rect">
            <a:avLst/>
          </a:prstGeom>
          <a:noFill/>
          <a:ln>
            <a:noFill/>
          </a:ln>
        </p:spPr>
        <p:txBody>
          <a:bodyPr spcFirstLastPara="1" wrap="square" lIns="91425" tIns="45700" rIns="91425" bIns="45700" anchor="t"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Jadwal Backup Rutin</a:t>
            </a:r>
            <a:r>
              <a:rPr lang="en-ID" sz="2100">
                <a:solidFill>
                  <a:schemeClr val="dk1"/>
                </a:solidFill>
              </a:rPr>
              <a:t>: Tetapkan jadwal backup rutin sesuai dengan kebutuhan dan tingkat perubahan data.</a:t>
            </a:r>
            <a:endParaRPr sz="2100">
              <a:solidFill>
                <a:schemeClr val="dk1"/>
              </a:solidFill>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Simpan Backup di Lokasi Aman</a:t>
            </a:r>
            <a:r>
              <a:rPr lang="en-ID" sz="2100">
                <a:solidFill>
                  <a:schemeClr val="dk1"/>
                </a:solidFill>
              </a:rPr>
              <a:t>: Simpan salinan backup di lokasi yang aman, terpisah dari server basis data utama.</a:t>
            </a:r>
            <a:endParaRPr sz="2100">
              <a:solidFill>
                <a:schemeClr val="dk1"/>
              </a:solidFill>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Uji Pemulihan Secara Berkala</a:t>
            </a:r>
            <a:r>
              <a:rPr lang="en-ID" sz="2100">
                <a:solidFill>
                  <a:schemeClr val="dk1"/>
                </a:solidFill>
              </a:rPr>
              <a:t>: Pastikan bahwa proses restore berfungsi dengan menguji pemulihan dari salinan backup.</a:t>
            </a:r>
            <a:endParaRPr sz="2100">
              <a:solidFill>
                <a:schemeClr val="dk1"/>
              </a:solidFill>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Pemantauan dan Log</a:t>
            </a:r>
            <a:r>
              <a:rPr lang="en-ID" sz="2100">
                <a:solidFill>
                  <a:schemeClr val="dk1"/>
                </a:solidFill>
              </a:rPr>
              <a:t>: Pemantauan aktifitas backup dan log pemulihan untuk mendeteksi dan merespons masalah segera mungkin.</a:t>
            </a:r>
            <a:endParaRPr sz="2100">
              <a:solidFill>
                <a:schemeClr val="dk1"/>
              </a:solidFill>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Enkripsi dan Kompresi</a:t>
            </a:r>
            <a:r>
              <a:rPr lang="en-ID" sz="2100">
                <a:solidFill>
                  <a:schemeClr val="dk1"/>
                </a:solidFill>
              </a:rPr>
              <a:t>: Pertimbangkan untuk mengenkripsi dan mengkompres backup untuk keamanan dan efisiensi penyimpanan.</a:t>
            </a:r>
            <a:endParaRPr sz="2100">
              <a:solidFill>
                <a:schemeClr val="dk1"/>
              </a:solidFill>
            </a:endParaRPr>
          </a:p>
        </p:txBody>
      </p:sp>
      <p:sp>
        <p:nvSpPr>
          <p:cNvPr id="988" name="Google Shape;988;g2a56a6785b8_0_89"/>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Best Practices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87">
                                            <p:txEl>
                                              <p:pRg st="0" end="0"/>
                                            </p:txEl>
                                          </p:spTgt>
                                        </p:tgtEl>
                                        <p:attrNameLst>
                                          <p:attrName>style.visibility</p:attrName>
                                        </p:attrNameLst>
                                      </p:cBhvr>
                                      <p:to>
                                        <p:strVal val="visible"/>
                                      </p:to>
                                    </p:set>
                                    <p:anim calcmode="lin" valueType="num">
                                      <p:cBhvr additive="base">
                                        <p:cTn id="7" dur="500"/>
                                        <p:tgtEl>
                                          <p:spTgt spid="98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87">
                                            <p:txEl>
                                              <p:pRg st="1" end="1"/>
                                            </p:txEl>
                                          </p:spTgt>
                                        </p:tgtEl>
                                        <p:attrNameLst>
                                          <p:attrName>style.visibility</p:attrName>
                                        </p:attrNameLst>
                                      </p:cBhvr>
                                      <p:to>
                                        <p:strVal val="visible"/>
                                      </p:to>
                                    </p:set>
                                    <p:anim calcmode="lin" valueType="num">
                                      <p:cBhvr additive="base">
                                        <p:cTn id="12" dur="500"/>
                                        <p:tgtEl>
                                          <p:spTgt spid="98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87">
                                            <p:txEl>
                                              <p:pRg st="2" end="2"/>
                                            </p:txEl>
                                          </p:spTgt>
                                        </p:tgtEl>
                                        <p:attrNameLst>
                                          <p:attrName>style.visibility</p:attrName>
                                        </p:attrNameLst>
                                      </p:cBhvr>
                                      <p:to>
                                        <p:strVal val="visible"/>
                                      </p:to>
                                    </p:set>
                                    <p:anim calcmode="lin" valueType="num">
                                      <p:cBhvr additive="base">
                                        <p:cTn id="17" dur="500"/>
                                        <p:tgtEl>
                                          <p:spTgt spid="98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87">
                                            <p:txEl>
                                              <p:pRg st="3" end="3"/>
                                            </p:txEl>
                                          </p:spTgt>
                                        </p:tgtEl>
                                        <p:attrNameLst>
                                          <p:attrName>style.visibility</p:attrName>
                                        </p:attrNameLst>
                                      </p:cBhvr>
                                      <p:to>
                                        <p:strVal val="visible"/>
                                      </p:to>
                                    </p:set>
                                    <p:anim calcmode="lin" valueType="num">
                                      <p:cBhvr additive="base">
                                        <p:cTn id="22" dur="500"/>
                                        <p:tgtEl>
                                          <p:spTgt spid="98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87">
                                            <p:txEl>
                                              <p:pRg st="4" end="4"/>
                                            </p:txEl>
                                          </p:spTgt>
                                        </p:tgtEl>
                                        <p:attrNameLst>
                                          <p:attrName>style.visibility</p:attrName>
                                        </p:attrNameLst>
                                      </p:cBhvr>
                                      <p:to>
                                        <p:strVal val="visible"/>
                                      </p:to>
                                    </p:set>
                                    <p:anim calcmode="lin" valueType="num">
                                      <p:cBhvr additive="base">
                                        <p:cTn id="27" dur="500"/>
                                        <p:tgtEl>
                                          <p:spTgt spid="987">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a56a6785b8_0_104"/>
          <p:cNvSpPr txBox="1">
            <a:spLocks noGrp="1"/>
          </p:cNvSpPr>
          <p:nvPr>
            <p:ph type="body" idx="1"/>
          </p:nvPr>
        </p:nvSpPr>
        <p:spPr>
          <a:xfrm>
            <a:off x="1154950" y="2603500"/>
            <a:ext cx="11037050" cy="4010700"/>
          </a:xfrm>
          <a:prstGeom prst="rect">
            <a:avLst/>
          </a:prstGeom>
          <a:noFill/>
          <a:ln>
            <a:noFill/>
          </a:ln>
        </p:spPr>
        <p:txBody>
          <a:bodyPr spcFirstLastPara="1" wrap="square" lIns="91425" tIns="45700" rIns="91425" bIns="45700" anchor="t"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Backup Menggunakan Perintah mysqldump:</a:t>
            </a:r>
            <a:endParaRPr sz="2100" b="1">
              <a:solidFill>
                <a:schemeClr val="dk1"/>
              </a:solidFill>
            </a:endParaRPr>
          </a:p>
          <a:p>
            <a:pPr marL="457200" lvl="0" indent="0" algn="l" rtl="0">
              <a:lnSpc>
                <a:spcPct val="115000"/>
              </a:lnSpc>
              <a:spcBef>
                <a:spcPts val="1500"/>
              </a:spcBef>
              <a:spcAft>
                <a:spcPts val="0"/>
              </a:spcAft>
              <a:buNone/>
            </a:pPr>
            <a:r>
              <a:rPr lang="en-ID" sz="2100">
                <a:solidFill>
                  <a:schemeClr val="dk1"/>
                </a:solidFill>
              </a:rPr>
              <a:t># mysqldump -u username -p --all-databases &gt; backup_full.sql  </a:t>
            </a:r>
            <a:endParaRPr sz="2100">
              <a:solidFill>
                <a:schemeClr val="dk1"/>
              </a:solidFill>
            </a:endParaRPr>
          </a:p>
          <a:p>
            <a:pPr marL="457200" lvl="0" indent="0" algn="l" rtl="0">
              <a:lnSpc>
                <a:spcPct val="115000"/>
              </a:lnSpc>
              <a:spcBef>
                <a:spcPts val="1500"/>
              </a:spcBef>
              <a:spcAft>
                <a:spcPts val="0"/>
              </a:spcAft>
              <a:buNone/>
            </a:pPr>
            <a:r>
              <a:rPr lang="en-ID" sz="2100">
                <a:solidFill>
                  <a:schemeClr val="dk1"/>
                </a:solidFill>
              </a:rPr>
              <a:t># mysqldump -u username -p --databases dbname1 dbname2 &gt; backup.sql</a:t>
            </a:r>
            <a:endParaRPr sz="2100">
              <a:solidFill>
                <a:schemeClr val="dk1"/>
              </a:solidFill>
            </a:endParaRPr>
          </a:p>
          <a:p>
            <a:pPr marL="457200" lvl="0" indent="0" algn="l" rtl="0">
              <a:lnSpc>
                <a:spcPct val="115000"/>
              </a:lnSpc>
              <a:spcBef>
                <a:spcPts val="1500"/>
              </a:spcBef>
              <a:spcAft>
                <a:spcPts val="0"/>
              </a:spcAft>
              <a:buNone/>
            </a:pPr>
            <a:r>
              <a:rPr lang="en-ID" sz="2100">
                <a:solidFill>
                  <a:schemeClr val="dk1"/>
                </a:solidFill>
              </a:rPr>
              <a:t># mysqldump -u username -p dbname table1 table2 &gt; backup_tables.sql</a:t>
            </a:r>
            <a:endParaRPr sz="2100">
              <a:solidFill>
                <a:schemeClr val="dk1"/>
              </a:solidFill>
            </a:endParaRPr>
          </a:p>
          <a:p>
            <a:pPr marL="457200" lvl="0" indent="-361950" algn="l" rtl="0">
              <a:lnSpc>
                <a:spcPct val="115000"/>
              </a:lnSpc>
              <a:spcBef>
                <a:spcPts val="1500"/>
              </a:spcBef>
              <a:spcAft>
                <a:spcPts val="0"/>
              </a:spcAft>
              <a:buClr>
                <a:schemeClr val="dk1"/>
              </a:buClr>
              <a:buSzPts val="2100"/>
              <a:buFont typeface="Century Gothic"/>
              <a:buChar char="❏"/>
            </a:pPr>
            <a:r>
              <a:rPr lang="en-ID" sz="2100" b="1">
                <a:solidFill>
                  <a:schemeClr val="dk1"/>
                </a:solidFill>
              </a:rPr>
              <a:t>Restore Menggunakan Perintah mysqldump:</a:t>
            </a:r>
            <a:endParaRPr sz="2100" b="1">
              <a:solidFill>
                <a:schemeClr val="dk1"/>
              </a:solidFill>
            </a:endParaRPr>
          </a:p>
          <a:p>
            <a:pPr marL="457200" lvl="0" indent="0" algn="l" rtl="0">
              <a:lnSpc>
                <a:spcPct val="115000"/>
              </a:lnSpc>
              <a:spcBef>
                <a:spcPts val="1500"/>
              </a:spcBef>
              <a:spcAft>
                <a:spcPts val="0"/>
              </a:spcAft>
              <a:buNone/>
            </a:pPr>
            <a:r>
              <a:rPr lang="en-ID" sz="2100">
                <a:solidFill>
                  <a:schemeClr val="dk1"/>
                </a:solidFill>
              </a:rPr>
              <a:t># mysql -u username -p dbname &lt; backup.sql</a:t>
            </a:r>
            <a:endParaRPr sz="2100">
              <a:solidFill>
                <a:schemeClr val="dk1"/>
              </a:solidFill>
            </a:endParaRPr>
          </a:p>
          <a:p>
            <a:pPr marL="457200" lvl="0" indent="0" algn="l" rtl="0">
              <a:lnSpc>
                <a:spcPct val="115000"/>
              </a:lnSpc>
              <a:spcBef>
                <a:spcPts val="1500"/>
              </a:spcBef>
              <a:spcAft>
                <a:spcPts val="1500"/>
              </a:spcAft>
              <a:buNone/>
            </a:pPr>
            <a:endParaRPr sz="2100" b="1">
              <a:solidFill>
                <a:schemeClr val="dk1"/>
              </a:solidFill>
            </a:endParaRPr>
          </a:p>
        </p:txBody>
      </p:sp>
      <p:sp>
        <p:nvSpPr>
          <p:cNvPr id="995" name="Google Shape;995;g2a56a6785b8_0_104"/>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Proses Backup/Restore pada MySQL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94">
                                            <p:txEl>
                                              <p:pRg st="0" end="0"/>
                                            </p:txEl>
                                          </p:spTgt>
                                        </p:tgtEl>
                                        <p:attrNameLst>
                                          <p:attrName>style.visibility</p:attrName>
                                        </p:attrNameLst>
                                      </p:cBhvr>
                                      <p:to>
                                        <p:strVal val="visible"/>
                                      </p:to>
                                    </p:set>
                                    <p:anim calcmode="lin" valueType="num">
                                      <p:cBhvr additive="base">
                                        <p:cTn id="7" dur="500"/>
                                        <p:tgtEl>
                                          <p:spTgt spid="99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94">
                                            <p:txEl>
                                              <p:pRg st="1" end="1"/>
                                            </p:txEl>
                                          </p:spTgt>
                                        </p:tgtEl>
                                        <p:attrNameLst>
                                          <p:attrName>style.visibility</p:attrName>
                                        </p:attrNameLst>
                                      </p:cBhvr>
                                      <p:to>
                                        <p:strVal val="visible"/>
                                      </p:to>
                                    </p:set>
                                    <p:anim calcmode="lin" valueType="num">
                                      <p:cBhvr additive="base">
                                        <p:cTn id="12" dur="500"/>
                                        <p:tgtEl>
                                          <p:spTgt spid="99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94">
                                            <p:txEl>
                                              <p:pRg st="2" end="2"/>
                                            </p:txEl>
                                          </p:spTgt>
                                        </p:tgtEl>
                                        <p:attrNameLst>
                                          <p:attrName>style.visibility</p:attrName>
                                        </p:attrNameLst>
                                      </p:cBhvr>
                                      <p:to>
                                        <p:strVal val="visible"/>
                                      </p:to>
                                    </p:set>
                                    <p:anim calcmode="lin" valueType="num">
                                      <p:cBhvr additive="base">
                                        <p:cTn id="17" dur="500"/>
                                        <p:tgtEl>
                                          <p:spTgt spid="99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94">
                                            <p:txEl>
                                              <p:pRg st="3" end="3"/>
                                            </p:txEl>
                                          </p:spTgt>
                                        </p:tgtEl>
                                        <p:attrNameLst>
                                          <p:attrName>style.visibility</p:attrName>
                                        </p:attrNameLst>
                                      </p:cBhvr>
                                      <p:to>
                                        <p:strVal val="visible"/>
                                      </p:to>
                                    </p:set>
                                    <p:anim calcmode="lin" valueType="num">
                                      <p:cBhvr additive="base">
                                        <p:cTn id="22" dur="500"/>
                                        <p:tgtEl>
                                          <p:spTgt spid="994">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94">
                                            <p:txEl>
                                              <p:pRg st="4" end="4"/>
                                            </p:txEl>
                                          </p:spTgt>
                                        </p:tgtEl>
                                        <p:attrNameLst>
                                          <p:attrName>style.visibility</p:attrName>
                                        </p:attrNameLst>
                                      </p:cBhvr>
                                      <p:to>
                                        <p:strVal val="visible"/>
                                      </p:to>
                                    </p:set>
                                    <p:anim calcmode="lin" valueType="num">
                                      <p:cBhvr additive="base">
                                        <p:cTn id="27" dur="500"/>
                                        <p:tgtEl>
                                          <p:spTgt spid="994">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994">
                                            <p:txEl>
                                              <p:pRg st="5" end="5"/>
                                            </p:txEl>
                                          </p:spTgt>
                                        </p:tgtEl>
                                        <p:attrNameLst>
                                          <p:attrName>style.visibility</p:attrName>
                                        </p:attrNameLst>
                                      </p:cBhvr>
                                      <p:to>
                                        <p:strVal val="visible"/>
                                      </p:to>
                                    </p:set>
                                    <p:anim calcmode="lin" valueType="num">
                                      <p:cBhvr additive="base">
                                        <p:cTn id="32" dur="500"/>
                                        <p:tgtEl>
                                          <p:spTgt spid="994">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84B36-F9BD-BE18-DFA3-F7632A55FE07}"/>
              </a:ext>
            </a:extLst>
          </p:cNvPr>
          <p:cNvSpPr>
            <a:spLocks noGrp="1"/>
          </p:cNvSpPr>
          <p:nvPr>
            <p:ph type="title"/>
          </p:nvPr>
        </p:nvSpPr>
        <p:spPr/>
        <p:txBody>
          <a:bodyPr/>
          <a:lstStyle/>
          <a:p>
            <a:r>
              <a:rPr lang="en-US"/>
              <a:t>Replica / Mirror Database</a:t>
            </a:r>
            <a:endParaRPr lang="en-ID"/>
          </a:p>
        </p:txBody>
      </p:sp>
      <p:sp>
        <p:nvSpPr>
          <p:cNvPr id="3" name="Text Placeholder 2">
            <a:extLst>
              <a:ext uri="{FF2B5EF4-FFF2-40B4-BE49-F238E27FC236}">
                <a16:creationId xmlns:a16="http://schemas.microsoft.com/office/drawing/2014/main" id="{CD03CD1B-1305-29BE-ED7D-FF4E4CC29CCF}"/>
              </a:ext>
            </a:extLst>
          </p:cNvPr>
          <p:cNvSpPr>
            <a:spLocks noGrp="1"/>
          </p:cNvSpPr>
          <p:nvPr>
            <p:ph type="body" idx="1"/>
          </p:nvPr>
        </p:nvSpPr>
        <p:spPr>
          <a:xfrm>
            <a:off x="1154954" y="2353733"/>
            <a:ext cx="8825659" cy="3666067"/>
          </a:xfrm>
        </p:spPr>
        <p:txBody>
          <a:bodyPr>
            <a:normAutofit/>
          </a:bodyPr>
          <a:lstStyle/>
          <a:p>
            <a:pPr marL="137160" indent="0">
              <a:buNone/>
            </a:pPr>
            <a:r>
              <a:rPr lang="en-ID" sz="2400" b="1"/>
              <a:t>Definisi:</a:t>
            </a:r>
          </a:p>
          <a:p>
            <a:pPr marL="137160" indent="0">
              <a:buNone/>
            </a:pPr>
            <a:r>
              <a:rPr lang="en-ID" sz="2400" b="1"/>
              <a:t>Replica Database</a:t>
            </a:r>
            <a:r>
              <a:rPr lang="en-ID" sz="2400"/>
              <a:t> (sering disebut juga dengan </a:t>
            </a:r>
            <a:r>
              <a:rPr lang="en-ID" sz="2400" b="1"/>
              <a:t>Mirror Database</a:t>
            </a:r>
            <a:r>
              <a:rPr lang="en-ID" sz="2400"/>
              <a:t>) adalah salinan data dari database utama yang diperbarui secara berkala atau real-time. Ini digunakan untuk meningkatkan ketersediaan, performa, dan keandalan sistem database.</a:t>
            </a:r>
          </a:p>
        </p:txBody>
      </p:sp>
    </p:spTree>
    <p:extLst>
      <p:ext uri="{BB962C8B-B14F-4D97-AF65-F5344CB8AC3E}">
        <p14:creationId xmlns:p14="http://schemas.microsoft.com/office/powerpoint/2010/main" val="50224333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84B36-F9BD-BE18-DFA3-F7632A55FE07}"/>
              </a:ext>
            </a:extLst>
          </p:cNvPr>
          <p:cNvSpPr>
            <a:spLocks noGrp="1"/>
          </p:cNvSpPr>
          <p:nvPr>
            <p:ph type="title"/>
          </p:nvPr>
        </p:nvSpPr>
        <p:spPr/>
        <p:txBody>
          <a:bodyPr/>
          <a:lstStyle/>
          <a:p>
            <a:r>
              <a:rPr lang="en-US"/>
              <a:t>Replica / Mirror Database</a:t>
            </a:r>
            <a:endParaRPr lang="en-ID"/>
          </a:p>
        </p:txBody>
      </p:sp>
      <p:sp>
        <p:nvSpPr>
          <p:cNvPr id="3" name="Text Placeholder 2">
            <a:extLst>
              <a:ext uri="{FF2B5EF4-FFF2-40B4-BE49-F238E27FC236}">
                <a16:creationId xmlns:a16="http://schemas.microsoft.com/office/drawing/2014/main" id="{CD03CD1B-1305-29BE-ED7D-FF4E4CC29CCF}"/>
              </a:ext>
            </a:extLst>
          </p:cNvPr>
          <p:cNvSpPr>
            <a:spLocks noGrp="1"/>
          </p:cNvSpPr>
          <p:nvPr>
            <p:ph type="body" idx="1"/>
          </p:nvPr>
        </p:nvSpPr>
        <p:spPr>
          <a:xfrm>
            <a:off x="1154955" y="2370667"/>
            <a:ext cx="8141445" cy="4284134"/>
          </a:xfrm>
        </p:spPr>
        <p:txBody>
          <a:bodyPr>
            <a:normAutofit/>
          </a:bodyPr>
          <a:lstStyle/>
          <a:p>
            <a:pPr marL="137160" indent="0">
              <a:buNone/>
            </a:pPr>
            <a:r>
              <a:rPr lang="en-ID" sz="2400" b="1"/>
              <a:t>Fungsi Utama Replica Database:</a:t>
            </a:r>
          </a:p>
          <a:p>
            <a:pPr>
              <a:buFont typeface="Arial" panose="020B0604020202020204" pitchFamily="34" charset="0"/>
              <a:buChar char="•"/>
            </a:pPr>
            <a:r>
              <a:rPr lang="en-ID" sz="1600" b="1"/>
              <a:t>High Availability (Ketersediaan Tinggi):</a:t>
            </a:r>
            <a:r>
              <a:rPr lang="en-ID" sz="1600"/>
              <a:t>Jika database utama mengalami kegagalan, replica dapat mengambil alih untuk meminimalkan downtime.</a:t>
            </a:r>
          </a:p>
          <a:p>
            <a:pPr>
              <a:buFont typeface="Arial" panose="020B0604020202020204" pitchFamily="34" charset="0"/>
              <a:buChar char="•"/>
            </a:pPr>
            <a:r>
              <a:rPr lang="en-ID" sz="1600" b="1"/>
              <a:t>Load Balancing:</a:t>
            </a:r>
            <a:r>
              <a:rPr lang="en-ID" sz="1600"/>
              <a:t>Permintaan baca (read) dapat dialihkan ke replica untuk mengurangi beban pada database utama.</a:t>
            </a:r>
          </a:p>
          <a:p>
            <a:pPr>
              <a:buFont typeface="Arial" panose="020B0604020202020204" pitchFamily="34" charset="0"/>
              <a:buChar char="•"/>
            </a:pPr>
            <a:r>
              <a:rPr lang="en-ID" sz="1600" b="1"/>
              <a:t>Disaster Recovery (Pemulihan Bencana):</a:t>
            </a:r>
            <a:r>
              <a:rPr lang="en-ID" sz="1600"/>
              <a:t>Sebagai cadangan jika terjadi kehilangan data pada database utama.</a:t>
            </a:r>
          </a:p>
          <a:p>
            <a:pPr>
              <a:buFont typeface="Arial" panose="020B0604020202020204" pitchFamily="34" charset="0"/>
              <a:buChar char="•"/>
            </a:pPr>
            <a:r>
              <a:rPr lang="en-ID" sz="1600" b="1"/>
              <a:t>Geographical Distribution:</a:t>
            </a:r>
            <a:r>
              <a:rPr lang="en-ID" sz="1600"/>
              <a:t>Membuat salinan data di lokasi geografis yang berbeda untuk mendukung operasi global dan mengurangi latensi.</a:t>
            </a:r>
          </a:p>
          <a:p>
            <a:pPr>
              <a:buFont typeface="Arial" panose="020B0604020202020204" pitchFamily="34" charset="0"/>
              <a:buChar char="•"/>
            </a:pPr>
            <a:r>
              <a:rPr lang="en-ID" sz="1600" b="1"/>
              <a:t>Data Analysis:</a:t>
            </a:r>
            <a:r>
              <a:rPr lang="en-ID" sz="1600"/>
              <a:t>Replica sering digunakan untuk analisis data tanpa mengganggu kinerja database utama.</a:t>
            </a:r>
          </a:p>
          <a:p>
            <a:endParaRPr lang="en-ID" sz="1600"/>
          </a:p>
        </p:txBody>
      </p:sp>
    </p:spTree>
    <p:extLst>
      <p:ext uri="{BB962C8B-B14F-4D97-AF65-F5344CB8AC3E}">
        <p14:creationId xmlns:p14="http://schemas.microsoft.com/office/powerpoint/2010/main" val="275035229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84B36-F9BD-BE18-DFA3-F7632A55FE07}"/>
              </a:ext>
            </a:extLst>
          </p:cNvPr>
          <p:cNvSpPr>
            <a:spLocks noGrp="1"/>
          </p:cNvSpPr>
          <p:nvPr>
            <p:ph type="title"/>
          </p:nvPr>
        </p:nvSpPr>
        <p:spPr/>
        <p:txBody>
          <a:bodyPr/>
          <a:lstStyle/>
          <a:p>
            <a:r>
              <a:rPr lang="en-US"/>
              <a:t>Replica / Mirror Database</a:t>
            </a:r>
            <a:endParaRPr lang="en-ID"/>
          </a:p>
        </p:txBody>
      </p:sp>
      <p:sp>
        <p:nvSpPr>
          <p:cNvPr id="3" name="Text Placeholder 2">
            <a:extLst>
              <a:ext uri="{FF2B5EF4-FFF2-40B4-BE49-F238E27FC236}">
                <a16:creationId xmlns:a16="http://schemas.microsoft.com/office/drawing/2014/main" id="{CD03CD1B-1305-29BE-ED7D-FF4E4CC29CCF}"/>
              </a:ext>
            </a:extLst>
          </p:cNvPr>
          <p:cNvSpPr>
            <a:spLocks noGrp="1"/>
          </p:cNvSpPr>
          <p:nvPr>
            <p:ph type="body" idx="1"/>
          </p:nvPr>
        </p:nvSpPr>
        <p:spPr>
          <a:xfrm>
            <a:off x="1154956" y="2370667"/>
            <a:ext cx="8463178" cy="4284134"/>
          </a:xfrm>
        </p:spPr>
        <p:txBody>
          <a:bodyPr>
            <a:normAutofit fontScale="92500" lnSpcReduction="10000"/>
          </a:bodyPr>
          <a:lstStyle/>
          <a:p>
            <a:pPr marL="137160" indent="0">
              <a:buNone/>
            </a:pPr>
            <a:r>
              <a:rPr lang="en-ID" sz="2400" b="1"/>
              <a:t>Tipe-Tipe Replica Database:</a:t>
            </a:r>
          </a:p>
          <a:p>
            <a:pPr>
              <a:lnSpc>
                <a:spcPct val="110000"/>
              </a:lnSpc>
            </a:pPr>
            <a:r>
              <a:rPr lang="en-ID" sz="1700" b="1"/>
              <a:t>Synchronous Replication: </a:t>
            </a:r>
            <a:r>
              <a:rPr lang="en-ID" sz="1700"/>
              <a:t>Perubahan pada database utama langsung diterapkan pada replica secara real-time.</a:t>
            </a:r>
          </a:p>
          <a:p>
            <a:pPr lvl="1">
              <a:lnSpc>
                <a:spcPct val="110000"/>
              </a:lnSpc>
              <a:buFont typeface="Arial" panose="020B0604020202020204" pitchFamily="34" charset="0"/>
              <a:buChar char="•"/>
            </a:pPr>
            <a:r>
              <a:rPr lang="en-ID" sz="1700" b="1"/>
              <a:t>Kelebihan: Konsistensi data terjamin.</a:t>
            </a:r>
          </a:p>
          <a:p>
            <a:pPr lvl="1">
              <a:lnSpc>
                <a:spcPct val="110000"/>
              </a:lnSpc>
              <a:buFont typeface="Arial" panose="020B0604020202020204" pitchFamily="34" charset="0"/>
              <a:buChar char="•"/>
            </a:pPr>
            <a:r>
              <a:rPr lang="en-ID" sz="1700" b="1"/>
              <a:t>Kekurangan: Memperkenalkan latensi tambahan.</a:t>
            </a:r>
          </a:p>
          <a:p>
            <a:pPr>
              <a:lnSpc>
                <a:spcPct val="110000"/>
              </a:lnSpc>
            </a:pPr>
            <a:r>
              <a:rPr lang="en-ID" sz="1700" b="1"/>
              <a:t>Asynchronous Replication: </a:t>
            </a:r>
            <a:r>
              <a:rPr lang="en-ID" sz="1700"/>
              <a:t>Perubahan diterapkan pada replica setelah database utama selesai memproses transaksi.</a:t>
            </a:r>
          </a:p>
          <a:p>
            <a:pPr lvl="1">
              <a:lnSpc>
                <a:spcPct val="110000"/>
              </a:lnSpc>
              <a:buFont typeface="Arial" panose="020B0604020202020204" pitchFamily="34" charset="0"/>
              <a:buChar char="•"/>
            </a:pPr>
            <a:r>
              <a:rPr lang="en-ID" sz="1700" b="1"/>
              <a:t>Kelebihan: Lebih cepat dan efisien.</a:t>
            </a:r>
          </a:p>
          <a:p>
            <a:pPr lvl="1">
              <a:lnSpc>
                <a:spcPct val="110000"/>
              </a:lnSpc>
              <a:buFont typeface="Arial" panose="020B0604020202020204" pitchFamily="34" charset="0"/>
              <a:buChar char="•"/>
            </a:pPr>
            <a:r>
              <a:rPr lang="en-ID" sz="1700" b="1"/>
              <a:t>Kekurangan: Potensi inkonsistensi data dalam waktu singkat.</a:t>
            </a:r>
          </a:p>
          <a:p>
            <a:pPr>
              <a:lnSpc>
                <a:spcPct val="110000"/>
              </a:lnSpc>
            </a:pPr>
            <a:r>
              <a:rPr lang="en-ID" sz="1700" b="1"/>
              <a:t>Log Shipping: </a:t>
            </a:r>
            <a:r>
              <a:rPr lang="en-ID" sz="1700"/>
              <a:t>Log transaksi dari database utama dikirim ke database replica dan diterapkan secara berkala.</a:t>
            </a:r>
          </a:p>
          <a:p>
            <a:pPr>
              <a:lnSpc>
                <a:spcPct val="110000"/>
              </a:lnSpc>
            </a:pPr>
            <a:r>
              <a:rPr lang="en-ID" sz="1700" b="1"/>
              <a:t>Snapshot Replication: </a:t>
            </a:r>
            <a:r>
              <a:rPr lang="en-ID" sz="1700"/>
              <a:t>Salinan statis dari database dibuat pada waktu tertentu.</a:t>
            </a:r>
          </a:p>
        </p:txBody>
      </p:sp>
    </p:spTree>
    <p:extLst>
      <p:ext uri="{BB962C8B-B14F-4D97-AF65-F5344CB8AC3E}">
        <p14:creationId xmlns:p14="http://schemas.microsoft.com/office/powerpoint/2010/main" val="29045909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84B36-F9BD-BE18-DFA3-F7632A55FE07}"/>
              </a:ext>
            </a:extLst>
          </p:cNvPr>
          <p:cNvSpPr>
            <a:spLocks noGrp="1"/>
          </p:cNvSpPr>
          <p:nvPr>
            <p:ph type="title"/>
          </p:nvPr>
        </p:nvSpPr>
        <p:spPr/>
        <p:txBody>
          <a:bodyPr/>
          <a:lstStyle/>
          <a:p>
            <a:r>
              <a:rPr lang="en-US"/>
              <a:t>Replica / Mirror Database</a:t>
            </a:r>
            <a:endParaRPr lang="en-ID"/>
          </a:p>
        </p:txBody>
      </p:sp>
      <p:sp>
        <p:nvSpPr>
          <p:cNvPr id="3" name="Text Placeholder 2">
            <a:extLst>
              <a:ext uri="{FF2B5EF4-FFF2-40B4-BE49-F238E27FC236}">
                <a16:creationId xmlns:a16="http://schemas.microsoft.com/office/drawing/2014/main" id="{CD03CD1B-1305-29BE-ED7D-FF4E4CC29CCF}"/>
              </a:ext>
            </a:extLst>
          </p:cNvPr>
          <p:cNvSpPr>
            <a:spLocks noGrp="1"/>
          </p:cNvSpPr>
          <p:nvPr>
            <p:ph type="body" idx="1"/>
          </p:nvPr>
        </p:nvSpPr>
        <p:spPr>
          <a:xfrm>
            <a:off x="1154956" y="2370667"/>
            <a:ext cx="5195044" cy="706964"/>
          </a:xfrm>
        </p:spPr>
        <p:txBody>
          <a:bodyPr>
            <a:normAutofit/>
          </a:bodyPr>
          <a:lstStyle/>
          <a:p>
            <a:pPr marL="137160" indent="0">
              <a:buNone/>
            </a:pPr>
            <a:r>
              <a:rPr lang="en-ID" sz="2400" b="1"/>
              <a:t>Arsitektur Mirror Database:</a:t>
            </a:r>
          </a:p>
        </p:txBody>
      </p:sp>
      <p:pic>
        <p:nvPicPr>
          <p:cNvPr id="3074" name="Picture 2" descr="MSSQL Database Mirroring Configuration | InfraPCS">
            <a:extLst>
              <a:ext uri="{FF2B5EF4-FFF2-40B4-BE49-F238E27FC236}">
                <a16:creationId xmlns:a16="http://schemas.microsoft.com/office/drawing/2014/main" id="{290A7AD2-7044-4CF9-1C5B-F119DD6FA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954" y="2958796"/>
            <a:ext cx="5068358" cy="344306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D09DDB8-8EFF-564D-C885-087194EBB315}"/>
              </a:ext>
            </a:extLst>
          </p:cNvPr>
          <p:cNvSpPr txBox="1"/>
          <p:nvPr/>
        </p:nvSpPr>
        <p:spPr>
          <a:xfrm>
            <a:off x="6349999" y="2958796"/>
            <a:ext cx="5317067" cy="3693319"/>
          </a:xfrm>
          <a:prstGeom prst="rect">
            <a:avLst/>
          </a:prstGeom>
          <a:noFill/>
        </p:spPr>
        <p:txBody>
          <a:bodyPr wrap="square">
            <a:spAutoFit/>
          </a:bodyPr>
          <a:lstStyle/>
          <a:p>
            <a:pPr>
              <a:buFont typeface="+mj-lt"/>
              <a:buAutoNum type="arabicPeriod"/>
            </a:pPr>
            <a:r>
              <a:rPr lang="en-ID" sz="1800" b="1">
                <a:latin typeface="Century Gothic" panose="020B0502020202020204" pitchFamily="34" charset="0"/>
              </a:rPr>
              <a:t>Master-Slave:</a:t>
            </a:r>
            <a:endParaRPr lang="en-ID" sz="1800">
              <a:latin typeface="Century Gothic" panose="020B0502020202020204" pitchFamily="34" charset="0"/>
            </a:endParaRPr>
          </a:p>
          <a:p>
            <a:pPr marL="439738" lvl="1" indent="-254000">
              <a:buFont typeface="Arial" panose="020B0604020202020204" pitchFamily="34" charset="0"/>
              <a:buChar char="•"/>
            </a:pPr>
            <a:r>
              <a:rPr lang="en-ID" sz="1800">
                <a:latin typeface="Century Gothic" panose="020B0502020202020204" pitchFamily="34" charset="0"/>
              </a:rPr>
              <a:t>Cocok untuk aplikasi dengan banyak operasi baca (read-heavy) seperti e-commerce atau aplikasi berita.</a:t>
            </a:r>
          </a:p>
          <a:p>
            <a:pPr marL="439738" lvl="1" indent="-254000">
              <a:buFont typeface="Arial" panose="020B0604020202020204" pitchFamily="34" charset="0"/>
              <a:buChar char="•"/>
            </a:pPr>
            <a:r>
              <a:rPr lang="en-ID" sz="1800">
                <a:latin typeface="Century Gothic" panose="020B0502020202020204" pitchFamily="34" charset="0"/>
              </a:rPr>
              <a:t>Diperlukan arsitektur sederhana dengan fokus pada redundansi baca.</a:t>
            </a:r>
          </a:p>
          <a:p>
            <a:pPr>
              <a:buFont typeface="+mj-lt"/>
              <a:buAutoNum type="arabicPeriod"/>
            </a:pPr>
            <a:r>
              <a:rPr lang="en-ID" sz="1800" b="1">
                <a:latin typeface="Century Gothic" panose="020B0502020202020204" pitchFamily="34" charset="0"/>
              </a:rPr>
              <a:t>Master-Master:</a:t>
            </a:r>
            <a:endParaRPr lang="en-ID" sz="1800">
              <a:latin typeface="Century Gothic" panose="020B0502020202020204" pitchFamily="34" charset="0"/>
            </a:endParaRPr>
          </a:p>
          <a:p>
            <a:pPr marL="471488" lvl="1" indent="-285750">
              <a:buFont typeface="Arial" panose="020B0604020202020204" pitchFamily="34" charset="0"/>
              <a:buChar char="•"/>
            </a:pPr>
            <a:r>
              <a:rPr lang="en-ID" sz="1800">
                <a:latin typeface="Century Gothic" panose="020B0502020202020204" pitchFamily="34" charset="0"/>
              </a:rPr>
              <a:t>Cocok untuk aplikasi dengan operasi baca-tulis tinggi (write-heavy) seperti sistem keuangan atau perbankan.</a:t>
            </a:r>
          </a:p>
          <a:p>
            <a:pPr marL="471488" lvl="1" indent="-285750">
              <a:buFont typeface="Arial" panose="020B0604020202020204" pitchFamily="34" charset="0"/>
              <a:buChar char="•"/>
            </a:pPr>
            <a:r>
              <a:rPr lang="en-ID" sz="1800">
                <a:latin typeface="Century Gothic" panose="020B0502020202020204" pitchFamily="34" charset="0"/>
              </a:rPr>
              <a:t>Membutuhkan toleransi kegagalan yang tinggi dengan distribusi beban lebih baik.</a:t>
            </a:r>
          </a:p>
          <a:p>
            <a:endParaRPr lang="en-ID" sz="1800">
              <a:latin typeface="Century Gothic" panose="020B0502020202020204" pitchFamily="34" charset="0"/>
            </a:endParaRPr>
          </a:p>
        </p:txBody>
      </p:sp>
    </p:spTree>
    <p:extLst>
      <p:ext uri="{BB962C8B-B14F-4D97-AF65-F5344CB8AC3E}">
        <p14:creationId xmlns:p14="http://schemas.microsoft.com/office/powerpoint/2010/main" val="116374888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9B56-DCBD-BD44-859E-393540EF060F}"/>
              </a:ext>
            </a:extLst>
          </p:cNvPr>
          <p:cNvSpPr>
            <a:spLocks noGrp="1"/>
          </p:cNvSpPr>
          <p:nvPr>
            <p:ph type="title"/>
          </p:nvPr>
        </p:nvSpPr>
        <p:spPr>
          <a:xfrm>
            <a:off x="1154954" y="973668"/>
            <a:ext cx="9902513" cy="706964"/>
          </a:xfrm>
        </p:spPr>
        <p:txBody>
          <a:bodyPr/>
          <a:lstStyle/>
          <a:p>
            <a:r>
              <a:rPr lang="en-US"/>
              <a:t>Praktek Mirror Database (Master-Slave)</a:t>
            </a:r>
            <a:endParaRPr lang="en-ID"/>
          </a:p>
        </p:txBody>
      </p:sp>
      <p:sp>
        <p:nvSpPr>
          <p:cNvPr id="3" name="Text Placeholder 2">
            <a:extLst>
              <a:ext uri="{FF2B5EF4-FFF2-40B4-BE49-F238E27FC236}">
                <a16:creationId xmlns:a16="http://schemas.microsoft.com/office/drawing/2014/main" id="{9B38A976-503F-9E8E-9EB1-D8783B223DAA}"/>
              </a:ext>
            </a:extLst>
          </p:cNvPr>
          <p:cNvSpPr>
            <a:spLocks noGrp="1"/>
          </p:cNvSpPr>
          <p:nvPr>
            <p:ph type="body" idx="1"/>
          </p:nvPr>
        </p:nvSpPr>
        <p:spPr>
          <a:xfrm>
            <a:off x="1154955" y="2235200"/>
            <a:ext cx="4941046" cy="4394050"/>
          </a:xfrm>
        </p:spPr>
        <p:txBody>
          <a:bodyPr>
            <a:normAutofit fontScale="92500"/>
          </a:bodyPr>
          <a:lstStyle/>
          <a:p>
            <a:pPr marL="137160" indent="0">
              <a:buNone/>
            </a:pPr>
            <a:r>
              <a:rPr lang="it-IT" sz="1900" b="1" u="sng"/>
              <a:t>Konfigurasi di Master (PC1)</a:t>
            </a:r>
          </a:p>
          <a:p>
            <a:r>
              <a:rPr lang="en-ID"/>
              <a:t>Buka file konfigurasi MySQL (C:\xampp\mysql\bin\my.ini)</a:t>
            </a:r>
          </a:p>
          <a:p>
            <a:r>
              <a:rPr lang="en-ID"/>
              <a:t>Tambahkan atau ubah pengaturan berikut di bagian [mysqld]:</a:t>
            </a:r>
          </a:p>
          <a:p>
            <a:pPr lvl="1">
              <a:buFont typeface="Arial" panose="020B0604020202020204" pitchFamily="34" charset="0"/>
              <a:buChar char="•"/>
            </a:pPr>
            <a:r>
              <a:rPr lang="en-ID"/>
              <a:t>log-bin: Mengaktifkan binary</a:t>
            </a:r>
          </a:p>
          <a:p>
            <a:pPr lvl="1">
              <a:buFont typeface="Arial" panose="020B0604020202020204" pitchFamily="34" charset="0"/>
              <a:buChar char="•"/>
            </a:pPr>
            <a:r>
              <a:rPr lang="en-ID"/>
              <a:t>log.server-id: ID unik untuk server Master.</a:t>
            </a:r>
          </a:p>
          <a:p>
            <a:pPr>
              <a:buFont typeface="Arial" panose="020B0604020202020204" pitchFamily="34" charset="0"/>
              <a:buChar char="•"/>
            </a:pPr>
            <a:endParaRPr lang="en-ID"/>
          </a:p>
          <a:p>
            <a:pPr>
              <a:buFont typeface="Arial" panose="020B0604020202020204" pitchFamily="34" charset="0"/>
              <a:buChar char="•"/>
            </a:pPr>
            <a:endParaRPr lang="en-ID"/>
          </a:p>
          <a:p>
            <a:pPr>
              <a:buFont typeface="Arial" panose="020B0604020202020204" pitchFamily="34" charset="0"/>
              <a:buChar char="•"/>
            </a:pPr>
            <a:endParaRPr lang="en-ID"/>
          </a:p>
          <a:p>
            <a:pPr>
              <a:lnSpc>
                <a:spcPct val="110000"/>
              </a:lnSpc>
            </a:pPr>
            <a:r>
              <a:rPr lang="en-ID"/>
              <a:t>Simpan file, lalu restart MySQL melalui XAMPP Control Panel.</a:t>
            </a:r>
          </a:p>
          <a:p>
            <a:pPr lvl="1"/>
            <a:endParaRPr lang="en-ID"/>
          </a:p>
          <a:p>
            <a:pPr marL="594360" lvl="1" indent="0">
              <a:buNone/>
            </a:pPr>
            <a:endParaRPr lang="en-ID"/>
          </a:p>
        </p:txBody>
      </p:sp>
      <p:pic>
        <p:nvPicPr>
          <p:cNvPr id="6" name="Picture 5">
            <a:extLst>
              <a:ext uri="{FF2B5EF4-FFF2-40B4-BE49-F238E27FC236}">
                <a16:creationId xmlns:a16="http://schemas.microsoft.com/office/drawing/2014/main" id="{F8BC9FAA-AEFE-EEA9-76B1-F904BFDB882F}"/>
              </a:ext>
            </a:extLst>
          </p:cNvPr>
          <p:cNvPicPr>
            <a:picLocks noChangeAspect="1"/>
          </p:cNvPicPr>
          <p:nvPr/>
        </p:nvPicPr>
        <p:blipFill>
          <a:blip r:embed="rId3"/>
          <a:stretch>
            <a:fillRect/>
          </a:stretch>
        </p:blipFill>
        <p:spPr>
          <a:xfrm>
            <a:off x="2177151" y="4783820"/>
            <a:ext cx="1903784" cy="1041872"/>
          </a:xfrm>
          <a:prstGeom prst="rect">
            <a:avLst/>
          </a:prstGeom>
          <a:ln>
            <a:solidFill>
              <a:schemeClr val="accent1"/>
            </a:solidFill>
          </a:ln>
        </p:spPr>
      </p:pic>
      <p:sp>
        <p:nvSpPr>
          <p:cNvPr id="8" name="Text Placeholder 2">
            <a:extLst>
              <a:ext uri="{FF2B5EF4-FFF2-40B4-BE49-F238E27FC236}">
                <a16:creationId xmlns:a16="http://schemas.microsoft.com/office/drawing/2014/main" id="{E7F070DD-5F6C-C3A6-2EA5-351C68F5E957}"/>
              </a:ext>
            </a:extLst>
          </p:cNvPr>
          <p:cNvSpPr txBox="1">
            <a:spLocks/>
          </p:cNvSpPr>
          <p:nvPr/>
        </p:nvSpPr>
        <p:spPr>
          <a:xfrm>
            <a:off x="6116421" y="2235200"/>
            <a:ext cx="5635312" cy="43940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chemeClr val="accent1"/>
              </a:buClr>
              <a:buSzPts val="144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lang="en-ID"/>
          </a:p>
          <a:p>
            <a:r>
              <a:rPr lang="en-ID"/>
              <a:t>Buat Akun Replikasi</a:t>
            </a:r>
          </a:p>
          <a:p>
            <a:pPr marL="594360" lvl="1" indent="0">
              <a:buNone/>
            </a:pPr>
            <a:r>
              <a:rPr lang="en-US" sz="1400">
                <a:latin typeface="Courier New" panose="02070309020205020404" pitchFamily="49" charset="0"/>
                <a:cs typeface="Courier New" panose="02070309020205020404" pitchFamily="49" charset="0"/>
              </a:rPr>
              <a:t>CREATE USER 'replicator'@'192.168.1.102' IDENTIFIED BY 'password_replikasi'; GRANT REPLICATION SLAVE ON *.* TO 'replicator'@'192.168.1.102’; </a:t>
            </a:r>
          </a:p>
          <a:p>
            <a:pPr marL="594360" lvl="1" indent="0">
              <a:buNone/>
            </a:pPr>
            <a:r>
              <a:rPr lang="en-US" sz="1400">
                <a:latin typeface="Courier New" panose="02070309020205020404" pitchFamily="49" charset="0"/>
                <a:cs typeface="Courier New" panose="02070309020205020404" pitchFamily="49" charset="0"/>
              </a:rPr>
              <a:t>FLUSH PRIVILEGES;</a:t>
            </a:r>
            <a:endParaRPr lang="en-ID" sz="1400">
              <a:latin typeface="Courier New" panose="02070309020205020404" pitchFamily="49" charset="0"/>
              <a:cs typeface="Courier New" panose="02070309020205020404" pitchFamily="49" charset="0"/>
            </a:endParaRPr>
          </a:p>
          <a:p>
            <a:pPr>
              <a:lnSpc>
                <a:spcPct val="110000"/>
              </a:lnSpc>
            </a:pPr>
            <a:r>
              <a:rPr lang="en-ID"/>
              <a:t>Kunci status database agar sinkron dengan Slave:</a:t>
            </a:r>
          </a:p>
          <a:p>
            <a:pPr marL="594360" lvl="1" indent="0">
              <a:lnSpc>
                <a:spcPct val="110000"/>
              </a:lnSpc>
              <a:buNone/>
            </a:pPr>
            <a:r>
              <a:rPr lang="en-US" sz="1400">
                <a:latin typeface="Courier New" panose="02070309020205020404" pitchFamily="49" charset="0"/>
                <a:cs typeface="Courier New" panose="02070309020205020404" pitchFamily="49" charset="0"/>
              </a:rPr>
              <a:t>SHOW MASTER STATUS;</a:t>
            </a:r>
            <a:endParaRPr lang="en-ID" sz="1400">
              <a:latin typeface="Courier New" panose="02070309020205020404" pitchFamily="49" charset="0"/>
              <a:cs typeface="Courier New" panose="02070309020205020404" pitchFamily="49" charset="0"/>
            </a:endParaRPr>
          </a:p>
          <a:p>
            <a:r>
              <a:rPr lang="en-ID"/>
              <a:t>Catat nilai File dan Position. Anda akan menggunakannya nanti di Slave.</a:t>
            </a:r>
          </a:p>
          <a:p>
            <a:pPr lvl="1"/>
            <a:endParaRPr lang="en-ID"/>
          </a:p>
          <a:p>
            <a:pPr marL="594360" lvl="1" indent="0">
              <a:buFont typeface="Noto Sans Symbols"/>
              <a:buNone/>
            </a:pPr>
            <a:endParaRPr lang="en-ID"/>
          </a:p>
        </p:txBody>
      </p:sp>
    </p:spTree>
    <p:extLst>
      <p:ext uri="{BB962C8B-B14F-4D97-AF65-F5344CB8AC3E}">
        <p14:creationId xmlns:p14="http://schemas.microsoft.com/office/powerpoint/2010/main" val="260465066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9B56-DCBD-BD44-859E-393540EF060F}"/>
              </a:ext>
            </a:extLst>
          </p:cNvPr>
          <p:cNvSpPr>
            <a:spLocks noGrp="1"/>
          </p:cNvSpPr>
          <p:nvPr>
            <p:ph type="title"/>
          </p:nvPr>
        </p:nvSpPr>
        <p:spPr>
          <a:xfrm>
            <a:off x="1154954" y="973668"/>
            <a:ext cx="9902513" cy="706964"/>
          </a:xfrm>
        </p:spPr>
        <p:txBody>
          <a:bodyPr/>
          <a:lstStyle/>
          <a:p>
            <a:r>
              <a:rPr lang="en-US"/>
              <a:t>Praktek Mirror Database (Master-Slave)</a:t>
            </a:r>
            <a:endParaRPr lang="en-ID"/>
          </a:p>
        </p:txBody>
      </p:sp>
      <p:sp>
        <p:nvSpPr>
          <p:cNvPr id="3" name="Text Placeholder 2">
            <a:extLst>
              <a:ext uri="{FF2B5EF4-FFF2-40B4-BE49-F238E27FC236}">
                <a16:creationId xmlns:a16="http://schemas.microsoft.com/office/drawing/2014/main" id="{9B38A976-503F-9E8E-9EB1-D8783B223DAA}"/>
              </a:ext>
            </a:extLst>
          </p:cNvPr>
          <p:cNvSpPr>
            <a:spLocks noGrp="1"/>
          </p:cNvSpPr>
          <p:nvPr>
            <p:ph type="body" idx="1"/>
          </p:nvPr>
        </p:nvSpPr>
        <p:spPr>
          <a:xfrm>
            <a:off x="1154955" y="2235200"/>
            <a:ext cx="4941046" cy="4394050"/>
          </a:xfrm>
        </p:spPr>
        <p:txBody>
          <a:bodyPr>
            <a:normAutofit fontScale="92500" lnSpcReduction="10000"/>
          </a:bodyPr>
          <a:lstStyle/>
          <a:p>
            <a:pPr marL="137160" indent="0">
              <a:buNone/>
            </a:pPr>
            <a:r>
              <a:rPr lang="en-ID" sz="2000" b="1" u="sng"/>
              <a:t>Konfigurasi di Slave (PC2)</a:t>
            </a:r>
          </a:p>
          <a:p>
            <a:r>
              <a:rPr lang="en-ID"/>
              <a:t>Buka file konfigurasi MySQL (C:\xampp\mysql\bin\my.ini)</a:t>
            </a:r>
          </a:p>
          <a:p>
            <a:r>
              <a:rPr lang="en-ID"/>
              <a:t>Tambahkan atau ubah pengaturan berikut di bagian [mysqld]:</a:t>
            </a:r>
          </a:p>
          <a:p>
            <a:pPr lvl="1">
              <a:buFont typeface="Arial" panose="020B0604020202020204" pitchFamily="34" charset="0"/>
              <a:buChar char="•"/>
            </a:pPr>
            <a:r>
              <a:rPr lang="en-ID"/>
              <a:t>server-id: ID unik untuk server Slave.</a:t>
            </a:r>
          </a:p>
          <a:p>
            <a:pPr lvl="1">
              <a:buFont typeface="Arial" panose="020B0604020202020204" pitchFamily="34" charset="0"/>
              <a:buChar char="•"/>
            </a:pPr>
            <a:r>
              <a:rPr lang="en-ID"/>
              <a:t>replicate-do-db: Menentukan database yang akan direplikasi.</a:t>
            </a:r>
          </a:p>
          <a:p>
            <a:pPr>
              <a:buFont typeface="Arial" panose="020B0604020202020204" pitchFamily="34" charset="0"/>
              <a:buChar char="•"/>
            </a:pPr>
            <a:endParaRPr lang="en-ID"/>
          </a:p>
          <a:p>
            <a:pPr>
              <a:buFont typeface="Arial" panose="020B0604020202020204" pitchFamily="34" charset="0"/>
              <a:buChar char="•"/>
            </a:pPr>
            <a:endParaRPr lang="en-ID"/>
          </a:p>
          <a:p>
            <a:pPr>
              <a:buFont typeface="Arial" panose="020B0604020202020204" pitchFamily="34" charset="0"/>
              <a:buChar char="•"/>
            </a:pPr>
            <a:endParaRPr lang="en-ID"/>
          </a:p>
          <a:p>
            <a:pPr>
              <a:lnSpc>
                <a:spcPct val="110000"/>
              </a:lnSpc>
            </a:pPr>
            <a:r>
              <a:rPr lang="en-ID"/>
              <a:t>Simpan file, lalu restart MySQL melalui XAMPP Control Panel.</a:t>
            </a:r>
          </a:p>
          <a:p>
            <a:pPr lvl="1"/>
            <a:endParaRPr lang="en-ID"/>
          </a:p>
          <a:p>
            <a:pPr marL="594360" lvl="1" indent="0">
              <a:buNone/>
            </a:pPr>
            <a:endParaRPr lang="en-ID"/>
          </a:p>
        </p:txBody>
      </p:sp>
      <p:sp>
        <p:nvSpPr>
          <p:cNvPr id="8" name="Text Placeholder 2">
            <a:extLst>
              <a:ext uri="{FF2B5EF4-FFF2-40B4-BE49-F238E27FC236}">
                <a16:creationId xmlns:a16="http://schemas.microsoft.com/office/drawing/2014/main" id="{E7F070DD-5F6C-C3A6-2EA5-351C68F5E957}"/>
              </a:ext>
            </a:extLst>
          </p:cNvPr>
          <p:cNvSpPr txBox="1">
            <a:spLocks/>
          </p:cNvSpPr>
          <p:nvPr/>
        </p:nvSpPr>
        <p:spPr>
          <a:xfrm>
            <a:off x="6106210" y="2235200"/>
            <a:ext cx="5635312" cy="462280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chemeClr val="accent1"/>
              </a:buClr>
              <a:buSzPts val="144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pPr marL="137160" indent="0">
              <a:buNone/>
            </a:pPr>
            <a:r>
              <a:rPr lang="en-ID" b="1"/>
              <a:t>Hubungkan Slave ke Master</a:t>
            </a:r>
          </a:p>
          <a:p>
            <a:r>
              <a:rPr lang="en-ID"/>
              <a:t>Buka MySQL pada PC2</a:t>
            </a:r>
          </a:p>
          <a:p>
            <a:pPr marL="594360" lvl="1" indent="0">
              <a:buNone/>
            </a:pPr>
            <a:endParaRPr lang="en-ID">
              <a:latin typeface="Courier New" panose="02070309020205020404" pitchFamily="49" charset="0"/>
              <a:cs typeface="Courier New" panose="02070309020205020404" pitchFamily="49" charset="0"/>
            </a:endParaRPr>
          </a:p>
          <a:p>
            <a:pPr marL="594360" lvl="1" indent="0">
              <a:buNone/>
            </a:pPr>
            <a:endParaRPr lang="en-ID">
              <a:latin typeface="Courier New" panose="02070309020205020404" pitchFamily="49" charset="0"/>
              <a:cs typeface="Courier New" panose="02070309020205020404" pitchFamily="49" charset="0"/>
            </a:endParaRPr>
          </a:p>
          <a:p>
            <a:pPr marL="594360" lvl="1" indent="0">
              <a:buNone/>
            </a:pPr>
            <a:endParaRPr lang="en-ID">
              <a:latin typeface="Courier New" panose="02070309020205020404" pitchFamily="49" charset="0"/>
              <a:cs typeface="Courier New" panose="02070309020205020404" pitchFamily="49" charset="0"/>
            </a:endParaRPr>
          </a:p>
          <a:p>
            <a:endParaRPr lang="en-ID"/>
          </a:p>
          <a:p>
            <a:r>
              <a:rPr lang="en-ID"/>
              <a:t>Ganti MASTER_LOG_FILE dan MASTER_LOG_POS dengan nilai dari Master.</a:t>
            </a:r>
          </a:p>
          <a:p>
            <a:pPr>
              <a:lnSpc>
                <a:spcPct val="110000"/>
              </a:lnSpc>
            </a:pPr>
            <a:r>
              <a:rPr lang="it-IT"/>
              <a:t>Mulai proses replikasi di Slave:</a:t>
            </a:r>
          </a:p>
          <a:p>
            <a:pPr marL="594360" lvl="1" indent="0">
              <a:lnSpc>
                <a:spcPct val="110000"/>
              </a:lnSpc>
              <a:buNone/>
            </a:pPr>
            <a:r>
              <a:rPr lang="en-US" sz="1500">
                <a:latin typeface="Courier New" panose="02070309020205020404" pitchFamily="49" charset="0"/>
                <a:cs typeface="Courier New" panose="02070309020205020404" pitchFamily="49" charset="0"/>
              </a:rPr>
              <a:t>START SLAVE;</a:t>
            </a:r>
            <a:endParaRPr lang="en-ID" sz="1500">
              <a:latin typeface="Courier New" panose="02070309020205020404" pitchFamily="49" charset="0"/>
              <a:cs typeface="Courier New" panose="02070309020205020404" pitchFamily="49" charset="0"/>
            </a:endParaRPr>
          </a:p>
          <a:p>
            <a:r>
              <a:rPr lang="en-ID"/>
              <a:t>Periksa status Slave:</a:t>
            </a:r>
          </a:p>
          <a:p>
            <a:pPr marL="594360" lvl="1" indent="0">
              <a:buNone/>
            </a:pPr>
            <a:r>
              <a:rPr lang="en-ID" sz="1500">
                <a:latin typeface="Courier New" panose="02070309020205020404" pitchFamily="49" charset="0"/>
                <a:cs typeface="Courier New" panose="02070309020205020404" pitchFamily="49" charset="0"/>
              </a:rPr>
              <a:t>SHOW SLAVE STATUS\G;</a:t>
            </a:r>
          </a:p>
          <a:p>
            <a:r>
              <a:rPr lang="en-ID"/>
              <a:t>Pastikan nilai </a:t>
            </a:r>
            <a:r>
              <a:rPr lang="en-ID" b="1"/>
              <a:t>Slave_IO_Running </a:t>
            </a:r>
            <a:r>
              <a:rPr lang="en-ID"/>
              <a:t>dan </a:t>
            </a:r>
            <a:r>
              <a:rPr lang="en-ID" b="1"/>
              <a:t>Slave_SQL_Running </a:t>
            </a:r>
            <a:r>
              <a:rPr lang="en-ID"/>
              <a:t>adalah </a:t>
            </a:r>
            <a:r>
              <a:rPr lang="en-ID" b="1"/>
              <a:t>Yes</a:t>
            </a:r>
            <a:r>
              <a:rPr lang="en-ID"/>
              <a:t>.</a:t>
            </a:r>
          </a:p>
          <a:p>
            <a:pPr marL="594360" lvl="1" indent="0">
              <a:buNone/>
            </a:pPr>
            <a:endParaRPr lang="en-ID"/>
          </a:p>
          <a:p>
            <a:pPr lvl="1"/>
            <a:endParaRPr lang="en-ID"/>
          </a:p>
          <a:p>
            <a:pPr marL="594360" lvl="1" indent="0">
              <a:buFont typeface="Noto Sans Symbols"/>
              <a:buNone/>
            </a:pPr>
            <a:endParaRPr lang="en-ID"/>
          </a:p>
        </p:txBody>
      </p:sp>
      <p:pic>
        <p:nvPicPr>
          <p:cNvPr id="5" name="Picture 4">
            <a:extLst>
              <a:ext uri="{FF2B5EF4-FFF2-40B4-BE49-F238E27FC236}">
                <a16:creationId xmlns:a16="http://schemas.microsoft.com/office/drawing/2014/main" id="{FDB223E2-E7F9-F637-948F-4B4B4DE49606}"/>
              </a:ext>
            </a:extLst>
          </p:cNvPr>
          <p:cNvPicPr>
            <a:picLocks noChangeAspect="1"/>
          </p:cNvPicPr>
          <p:nvPr/>
        </p:nvPicPr>
        <p:blipFill>
          <a:blip r:embed="rId3"/>
          <a:stretch>
            <a:fillRect/>
          </a:stretch>
        </p:blipFill>
        <p:spPr>
          <a:xfrm>
            <a:off x="2144712" y="4896378"/>
            <a:ext cx="2314575" cy="790575"/>
          </a:xfrm>
          <a:prstGeom prst="rect">
            <a:avLst/>
          </a:prstGeom>
          <a:ln>
            <a:solidFill>
              <a:schemeClr val="accent1"/>
            </a:solidFill>
          </a:ln>
        </p:spPr>
      </p:pic>
      <p:pic>
        <p:nvPicPr>
          <p:cNvPr id="9" name="Picture 8">
            <a:extLst>
              <a:ext uri="{FF2B5EF4-FFF2-40B4-BE49-F238E27FC236}">
                <a16:creationId xmlns:a16="http://schemas.microsoft.com/office/drawing/2014/main" id="{95B5A39C-7B3C-64F0-96A9-54BE0DE53399}"/>
              </a:ext>
            </a:extLst>
          </p:cNvPr>
          <p:cNvPicPr>
            <a:picLocks noChangeAspect="1"/>
          </p:cNvPicPr>
          <p:nvPr/>
        </p:nvPicPr>
        <p:blipFill>
          <a:blip r:embed="rId4"/>
          <a:stretch>
            <a:fillRect/>
          </a:stretch>
        </p:blipFill>
        <p:spPr>
          <a:xfrm>
            <a:off x="6684063" y="3072871"/>
            <a:ext cx="2680070" cy="1178307"/>
          </a:xfrm>
          <a:prstGeom prst="rect">
            <a:avLst/>
          </a:prstGeom>
          <a:ln>
            <a:solidFill>
              <a:schemeClr val="accent1"/>
            </a:solidFill>
          </a:ln>
        </p:spPr>
      </p:pic>
    </p:spTree>
    <p:extLst>
      <p:ext uri="{BB962C8B-B14F-4D97-AF65-F5344CB8AC3E}">
        <p14:creationId xmlns:p14="http://schemas.microsoft.com/office/powerpoint/2010/main" val="215028089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9B56-DCBD-BD44-859E-393540EF060F}"/>
              </a:ext>
            </a:extLst>
          </p:cNvPr>
          <p:cNvSpPr>
            <a:spLocks noGrp="1"/>
          </p:cNvSpPr>
          <p:nvPr>
            <p:ph type="title"/>
          </p:nvPr>
        </p:nvSpPr>
        <p:spPr>
          <a:xfrm>
            <a:off x="1154954" y="973668"/>
            <a:ext cx="9902513" cy="706964"/>
          </a:xfrm>
        </p:spPr>
        <p:txBody>
          <a:bodyPr/>
          <a:lstStyle/>
          <a:p>
            <a:r>
              <a:rPr lang="en-US"/>
              <a:t>Praktek Mirror Database (Master-Slave)</a:t>
            </a:r>
            <a:endParaRPr lang="en-ID"/>
          </a:p>
        </p:txBody>
      </p:sp>
      <p:sp>
        <p:nvSpPr>
          <p:cNvPr id="3" name="Text Placeholder 2">
            <a:extLst>
              <a:ext uri="{FF2B5EF4-FFF2-40B4-BE49-F238E27FC236}">
                <a16:creationId xmlns:a16="http://schemas.microsoft.com/office/drawing/2014/main" id="{9B38A976-503F-9E8E-9EB1-D8783B223DAA}"/>
              </a:ext>
            </a:extLst>
          </p:cNvPr>
          <p:cNvSpPr>
            <a:spLocks noGrp="1"/>
          </p:cNvSpPr>
          <p:nvPr>
            <p:ph type="body" idx="1"/>
          </p:nvPr>
        </p:nvSpPr>
        <p:spPr>
          <a:xfrm>
            <a:off x="1154954" y="2235200"/>
            <a:ext cx="5228913" cy="4394050"/>
          </a:xfrm>
        </p:spPr>
        <p:txBody>
          <a:bodyPr>
            <a:normAutofit/>
          </a:bodyPr>
          <a:lstStyle/>
          <a:p>
            <a:pPr marL="137160" indent="0">
              <a:buNone/>
            </a:pPr>
            <a:r>
              <a:rPr lang="en-ID" sz="2000" b="1"/>
              <a:t>Verifikasi Replikasi</a:t>
            </a:r>
          </a:p>
          <a:p>
            <a:r>
              <a:rPr lang="en-ID" sz="2000"/>
              <a:t>Tambahkan data ke database toko_online di Master (PC1):</a:t>
            </a:r>
          </a:p>
          <a:p>
            <a:pPr marL="594360" lvl="1" indent="0">
              <a:buNone/>
            </a:pPr>
            <a:r>
              <a:rPr lang="en-ID" sz="1800">
                <a:latin typeface="Courier New" panose="02070309020205020404" pitchFamily="49" charset="0"/>
                <a:cs typeface="Courier New" panose="02070309020205020404" pitchFamily="49" charset="0"/>
              </a:rPr>
              <a:t>INSERT INTO produk (nama_produk, harga) VALUES ('Produk A', 50000); </a:t>
            </a:r>
          </a:p>
          <a:p>
            <a:r>
              <a:rPr lang="en-ID" sz="2000"/>
              <a:t>Periksa apakah data secara otomatis direplikasi ke Slave (PC2):</a:t>
            </a:r>
          </a:p>
          <a:p>
            <a:pPr marL="594360" lvl="1" indent="0">
              <a:buNone/>
            </a:pPr>
            <a:r>
              <a:rPr lang="en-ID" sz="1800"/>
              <a:t>SELECT * FROM produk;</a:t>
            </a:r>
            <a:endParaRPr lang="en-ID"/>
          </a:p>
          <a:p>
            <a:pPr marL="594360" lvl="1" indent="0">
              <a:buNone/>
            </a:pPr>
            <a:endParaRPr lang="en-ID" sz="2000"/>
          </a:p>
          <a:p>
            <a:endParaRPr lang="en-ID"/>
          </a:p>
        </p:txBody>
      </p:sp>
      <p:sp>
        <p:nvSpPr>
          <p:cNvPr id="11" name="Text Placeholder 2">
            <a:extLst>
              <a:ext uri="{FF2B5EF4-FFF2-40B4-BE49-F238E27FC236}">
                <a16:creationId xmlns:a16="http://schemas.microsoft.com/office/drawing/2014/main" id="{B13F18A4-508A-0BD9-5D66-A11FC8FA87EC}"/>
              </a:ext>
            </a:extLst>
          </p:cNvPr>
          <p:cNvSpPr txBox="1">
            <a:spLocks/>
          </p:cNvSpPr>
          <p:nvPr/>
        </p:nvSpPr>
        <p:spPr>
          <a:xfrm>
            <a:off x="6383867" y="2235200"/>
            <a:ext cx="5520266" cy="43940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chemeClr val="accent1"/>
              </a:buClr>
              <a:buSzPts val="144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pPr marL="137160" indent="0">
              <a:buNone/>
            </a:pPr>
            <a:r>
              <a:rPr lang="en-ID" sz="2000" b="1"/>
              <a:t>Troubleshooting</a:t>
            </a:r>
          </a:p>
          <a:p>
            <a:r>
              <a:rPr lang="en-ID" sz="2000"/>
              <a:t>Jika Slave_IO_Running atau Slave_SQL_Running menunjukkan </a:t>
            </a:r>
            <a:r>
              <a:rPr lang="en-ID" sz="2000" b="1"/>
              <a:t>No</a:t>
            </a:r>
            <a:r>
              <a:rPr lang="en-ID" sz="2000"/>
              <a:t>:</a:t>
            </a:r>
          </a:p>
          <a:p>
            <a:pPr marL="742950" lvl="1" indent="-285750">
              <a:buFont typeface="Arial" panose="020B0604020202020204" pitchFamily="34" charset="0"/>
              <a:buChar char="•"/>
            </a:pPr>
            <a:r>
              <a:rPr lang="en-ID" sz="1800"/>
              <a:t>Periksa pengaturan IP dan firewall di kedua PC.</a:t>
            </a:r>
          </a:p>
          <a:p>
            <a:pPr marL="742950" lvl="1" indent="-285750">
              <a:buFont typeface="Arial" panose="020B0604020202020204" pitchFamily="34" charset="0"/>
              <a:buChar char="•"/>
            </a:pPr>
            <a:r>
              <a:rPr lang="en-ID" sz="1800"/>
              <a:t>Pastikan akun replicator memiliki izin replikasi.</a:t>
            </a:r>
          </a:p>
          <a:p>
            <a:pPr marL="742950" lvl="1" indent="-285750">
              <a:buFont typeface="Arial" panose="020B0604020202020204" pitchFamily="34" charset="0"/>
              <a:buChar char="•"/>
            </a:pPr>
            <a:r>
              <a:rPr lang="en-ID" sz="1800"/>
              <a:t>Cek log MySQL untuk error (mysql_error.log).</a:t>
            </a:r>
          </a:p>
          <a:p>
            <a:endParaRPr lang="en-ID" sz="2000"/>
          </a:p>
        </p:txBody>
      </p:sp>
    </p:spTree>
    <p:extLst>
      <p:ext uri="{BB962C8B-B14F-4D97-AF65-F5344CB8AC3E}">
        <p14:creationId xmlns:p14="http://schemas.microsoft.com/office/powerpoint/2010/main" val="12553246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pic>
        <p:nvPicPr>
          <p:cNvPr id="1000" name="Google Shape;1000;g29a5a70a483_0_83" descr="Apa itu Database Server? Jenis, Cara Kerja, Contoh Server Database - Tanya  Digital"/>
          <p:cNvPicPr preferRelativeResize="0"/>
          <p:nvPr/>
        </p:nvPicPr>
        <p:blipFill rotWithShape="1">
          <a:blip r:embed="rId3">
            <a:alphaModFix/>
          </a:blip>
          <a:srcRect r="9673"/>
          <a:stretch/>
        </p:blipFill>
        <p:spPr>
          <a:xfrm>
            <a:off x="3188727" y="501445"/>
            <a:ext cx="8531325" cy="5891461"/>
          </a:xfrm>
          <a:prstGeom prst="rect">
            <a:avLst/>
          </a:prstGeom>
          <a:noFill/>
          <a:ln>
            <a:noFill/>
          </a:ln>
        </p:spPr>
      </p:pic>
      <p:sp>
        <p:nvSpPr>
          <p:cNvPr id="1001" name="Google Shape;1001;g29a5a70a483_0_83"/>
          <p:cNvSpPr txBox="1">
            <a:spLocks noGrp="1"/>
          </p:cNvSpPr>
          <p:nvPr>
            <p:ph type="ctrTitle"/>
          </p:nvPr>
        </p:nvSpPr>
        <p:spPr>
          <a:xfrm>
            <a:off x="1154954" y="2099733"/>
            <a:ext cx="9360600" cy="26775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5400"/>
              <a:buFont typeface="Century Gothic"/>
              <a:buNone/>
            </a:pPr>
            <a:r>
              <a:rPr lang="en-ID" b="1">
                <a:solidFill>
                  <a:schemeClr val="lt1"/>
                </a:solidFill>
              </a:rPr>
              <a:t>Data Manipulation Language (DML)</a:t>
            </a:r>
            <a:endParaRPr b="1">
              <a:solidFill>
                <a:schemeClr val="lt1"/>
              </a:solidFill>
            </a:endParaRPr>
          </a:p>
          <a:p>
            <a:pPr marL="0" lvl="0" indent="0" algn="l" rtl="0">
              <a:spcBef>
                <a:spcPts val="0"/>
              </a:spcBef>
              <a:spcAft>
                <a:spcPts val="0"/>
              </a:spcAft>
              <a:buClr>
                <a:schemeClr val="lt1"/>
              </a:buClr>
              <a:buSzPts val="5400"/>
              <a:buFont typeface="Century Gothic"/>
              <a:buNone/>
            </a:pPr>
            <a:r>
              <a:rPr lang="en-ID" sz="3600" b="1">
                <a:solidFill>
                  <a:schemeClr val="lt1"/>
                </a:solidFill>
              </a:rPr>
              <a:t>USER MANAGEMENT</a:t>
            </a:r>
            <a:endParaRPr sz="3600" b="1">
              <a:solidFill>
                <a:schemeClr val="lt1"/>
              </a:solidFill>
            </a:endParaRPr>
          </a:p>
        </p:txBody>
      </p:sp>
      <p:sp>
        <p:nvSpPr>
          <p:cNvPr id="1002" name="Google Shape;1002;g29a5a70a483_0_83"/>
          <p:cNvSpPr txBox="1">
            <a:spLocks noGrp="1"/>
          </p:cNvSpPr>
          <p:nvPr>
            <p:ph type="subTitle" idx="1"/>
          </p:nvPr>
        </p:nvSpPr>
        <p:spPr>
          <a:xfrm>
            <a:off x="1154955" y="4777380"/>
            <a:ext cx="8825700" cy="861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SzPct val="79999"/>
              <a:buNone/>
            </a:pPr>
            <a:r>
              <a:rPr lang="en-ID"/>
              <a:t>SUTIYONO S.T, M.KOM</a:t>
            </a:r>
            <a:endParaRPr/>
          </a:p>
          <a:p>
            <a:pPr marL="0" lvl="0" indent="0" algn="l" rtl="0">
              <a:spcBef>
                <a:spcPts val="1000"/>
              </a:spcBef>
              <a:spcAft>
                <a:spcPts val="0"/>
              </a:spcAft>
              <a:buSzPct val="79999"/>
              <a:buNone/>
            </a:pPr>
            <a:r>
              <a:rPr lang="en-ID"/>
              <a:t>PRAKTIKUM MYSQL</a:t>
            </a:r>
            <a:endParaRPr/>
          </a:p>
          <a:p>
            <a:pPr marL="0" lvl="0" indent="0" algn="l" rtl="0">
              <a:spcBef>
                <a:spcPts val="1000"/>
              </a:spcBef>
              <a:spcAft>
                <a:spcPts val="0"/>
              </a:spcAft>
              <a:buSzPct val="79999"/>
              <a:buNone/>
            </a:pPr>
            <a:r>
              <a:rPr lang="en-ID"/>
              <a:t>PERTEMUAN 15</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aee2debbaf_0_0"/>
          <p:cNvSpPr txBox="1">
            <a:spLocks noGrp="1"/>
          </p:cNvSpPr>
          <p:nvPr>
            <p:ph type="body" idx="1"/>
          </p:nvPr>
        </p:nvSpPr>
        <p:spPr>
          <a:xfrm>
            <a:off x="1154950" y="2916875"/>
            <a:ext cx="10458600" cy="24714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1500"/>
              </a:spcAft>
              <a:buNone/>
            </a:pPr>
            <a:r>
              <a:rPr lang="en-ID" sz="2600" b="1">
                <a:solidFill>
                  <a:schemeClr val="dk1"/>
                </a:solidFill>
              </a:rPr>
              <a:t>User management</a:t>
            </a:r>
            <a:r>
              <a:rPr lang="en-ID" sz="2600">
                <a:solidFill>
                  <a:schemeClr val="dk1"/>
                </a:solidFill>
              </a:rPr>
              <a:t> adalah proses administrasi yang melibatkan </a:t>
            </a:r>
            <a:r>
              <a:rPr lang="en-ID" sz="2600" b="1">
                <a:solidFill>
                  <a:schemeClr val="dk1"/>
                </a:solidFill>
              </a:rPr>
              <a:t>membuat</a:t>
            </a:r>
            <a:r>
              <a:rPr lang="en-ID" sz="2600">
                <a:solidFill>
                  <a:schemeClr val="dk1"/>
                </a:solidFill>
              </a:rPr>
              <a:t>, </a:t>
            </a:r>
            <a:r>
              <a:rPr lang="en-ID" sz="2600" b="1">
                <a:solidFill>
                  <a:schemeClr val="dk1"/>
                </a:solidFill>
              </a:rPr>
              <a:t>mengatur</a:t>
            </a:r>
            <a:r>
              <a:rPr lang="en-ID" sz="2600">
                <a:solidFill>
                  <a:schemeClr val="dk1"/>
                </a:solidFill>
              </a:rPr>
              <a:t>, dan </a:t>
            </a:r>
            <a:r>
              <a:rPr lang="en-ID" sz="2600" b="1">
                <a:solidFill>
                  <a:schemeClr val="dk1"/>
                </a:solidFill>
              </a:rPr>
              <a:t>menghapus </a:t>
            </a:r>
            <a:r>
              <a:rPr lang="en-ID" sz="2600">
                <a:solidFill>
                  <a:schemeClr val="dk1"/>
                </a:solidFill>
              </a:rPr>
              <a:t>pengguna pada sistem manajemen basis data MySQL.</a:t>
            </a:r>
            <a:endParaRPr sz="2600" b="1">
              <a:solidFill>
                <a:schemeClr val="dk1"/>
              </a:solidFill>
            </a:endParaRPr>
          </a:p>
        </p:txBody>
      </p:sp>
      <p:sp>
        <p:nvSpPr>
          <p:cNvPr id="1009" name="Google Shape;1009;g2aee2debbaf_0_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User Management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08">
                                            <p:txEl>
                                              <p:pRg st="0" end="0"/>
                                            </p:txEl>
                                          </p:spTgt>
                                        </p:tgtEl>
                                        <p:attrNameLst>
                                          <p:attrName>style.visibility</p:attrName>
                                        </p:attrNameLst>
                                      </p:cBhvr>
                                      <p:to>
                                        <p:strVal val="visible"/>
                                      </p:to>
                                    </p:set>
                                    <p:anim calcmode="lin" valueType="num">
                                      <p:cBhvr additive="base">
                                        <p:cTn id="7" dur="500"/>
                                        <p:tgtEl>
                                          <p:spTgt spid="1008">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aee2debbaf_0_7"/>
          <p:cNvSpPr txBox="1">
            <a:spLocks noGrp="1"/>
          </p:cNvSpPr>
          <p:nvPr>
            <p:ph type="body" idx="1"/>
          </p:nvPr>
        </p:nvSpPr>
        <p:spPr>
          <a:xfrm>
            <a:off x="1154950" y="2603500"/>
            <a:ext cx="6014700" cy="3987300"/>
          </a:xfrm>
          <a:prstGeom prst="rect">
            <a:avLst/>
          </a:prstGeom>
          <a:noFill/>
          <a:ln>
            <a:noFill/>
          </a:ln>
        </p:spPr>
        <p:txBody>
          <a:bodyPr spcFirstLastPara="1" wrap="square" lIns="91425" tIns="45700" rIns="91425" bIns="45700" anchor="ctr" anchorCtr="0">
            <a:noAutofit/>
          </a:bodyPr>
          <a:lstStyle/>
          <a:p>
            <a:pPr marL="457200" lvl="0" indent="-342900" algn="l" rtl="0">
              <a:lnSpc>
                <a:spcPct val="115000"/>
              </a:lnSpc>
              <a:spcBef>
                <a:spcPts val="0"/>
              </a:spcBef>
              <a:spcAft>
                <a:spcPts val="0"/>
              </a:spcAft>
              <a:buClr>
                <a:schemeClr val="dk1"/>
              </a:buClr>
              <a:buSzPts val="1800"/>
              <a:buFont typeface="Century Gothic"/>
              <a:buChar char="●"/>
            </a:pPr>
            <a:r>
              <a:rPr lang="en-ID" b="1">
                <a:solidFill>
                  <a:schemeClr val="dk1"/>
                </a:solidFill>
              </a:rPr>
              <a:t>User </a:t>
            </a:r>
            <a:r>
              <a:rPr lang="en-ID">
                <a:solidFill>
                  <a:schemeClr val="dk1"/>
                </a:solidFill>
              </a:rPr>
              <a:t>(Pengguna): Entitas yang dapat terhubung ke basis data MySQL. Setiap pengguna memiliki nama pengguna dan kata sandi.</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b="1">
                <a:solidFill>
                  <a:schemeClr val="dk1"/>
                </a:solidFill>
              </a:rPr>
              <a:t>Privileges </a:t>
            </a:r>
            <a:r>
              <a:rPr lang="en-ID">
                <a:solidFill>
                  <a:schemeClr val="dk1"/>
                </a:solidFill>
              </a:rPr>
              <a:t>(Hak Akses): Hak akses yang diberikan kepada pengguna untuk mengakses dan memanipulasi objek dalam basis data.</a:t>
            </a:r>
            <a:endParaRPr>
              <a:solidFill>
                <a:schemeClr val="dk1"/>
              </a:solidFill>
            </a:endParaRPr>
          </a:p>
          <a:p>
            <a:pPr marL="457200" lvl="0" indent="-342900" algn="l" rtl="0">
              <a:lnSpc>
                <a:spcPct val="115000"/>
              </a:lnSpc>
              <a:spcBef>
                <a:spcPts val="0"/>
              </a:spcBef>
              <a:spcAft>
                <a:spcPts val="0"/>
              </a:spcAft>
              <a:buClr>
                <a:schemeClr val="dk1"/>
              </a:buClr>
              <a:buSzPts val="1800"/>
              <a:buFont typeface="Century Gothic"/>
              <a:buChar char="●"/>
            </a:pPr>
            <a:r>
              <a:rPr lang="en-ID" b="1">
                <a:solidFill>
                  <a:schemeClr val="dk1"/>
                </a:solidFill>
              </a:rPr>
              <a:t>Roles </a:t>
            </a:r>
            <a:r>
              <a:rPr lang="en-ID">
                <a:solidFill>
                  <a:schemeClr val="dk1"/>
                </a:solidFill>
              </a:rPr>
              <a:t>(Peran): Kumpulan hak akses yang dapat diberikan kepada satu atau lebih pengguna.</a:t>
            </a:r>
            <a:endParaRPr b="1">
              <a:solidFill>
                <a:schemeClr val="dk1"/>
              </a:solidFill>
            </a:endParaRPr>
          </a:p>
        </p:txBody>
      </p:sp>
      <p:sp>
        <p:nvSpPr>
          <p:cNvPr id="1016" name="Google Shape;1016;g2aee2debbaf_0_7"/>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Elemen-eleman User Management</a:t>
            </a:r>
            <a:endParaRPr/>
          </a:p>
        </p:txBody>
      </p:sp>
      <p:pic>
        <p:nvPicPr>
          <p:cNvPr id="1017" name="Google Shape;1017;g2aee2debbaf_0_7"/>
          <p:cNvPicPr preferRelativeResize="0"/>
          <p:nvPr/>
        </p:nvPicPr>
        <p:blipFill>
          <a:blip r:embed="rId3">
            <a:alphaModFix/>
          </a:blip>
          <a:stretch>
            <a:fillRect/>
          </a:stretch>
        </p:blipFill>
        <p:spPr>
          <a:xfrm>
            <a:off x="7357609" y="2603500"/>
            <a:ext cx="3996342" cy="3987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15">
                                            <p:txEl>
                                              <p:pRg st="0" end="0"/>
                                            </p:txEl>
                                          </p:spTgt>
                                        </p:tgtEl>
                                        <p:attrNameLst>
                                          <p:attrName>style.visibility</p:attrName>
                                        </p:attrNameLst>
                                      </p:cBhvr>
                                      <p:to>
                                        <p:strVal val="visible"/>
                                      </p:to>
                                    </p:set>
                                    <p:anim calcmode="lin" valueType="num">
                                      <p:cBhvr additive="base">
                                        <p:cTn id="7" dur="500"/>
                                        <p:tgtEl>
                                          <p:spTgt spid="101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15">
                                            <p:txEl>
                                              <p:pRg st="1" end="1"/>
                                            </p:txEl>
                                          </p:spTgt>
                                        </p:tgtEl>
                                        <p:attrNameLst>
                                          <p:attrName>style.visibility</p:attrName>
                                        </p:attrNameLst>
                                      </p:cBhvr>
                                      <p:to>
                                        <p:strVal val="visible"/>
                                      </p:to>
                                    </p:set>
                                    <p:anim calcmode="lin" valueType="num">
                                      <p:cBhvr additive="base">
                                        <p:cTn id="12" dur="500"/>
                                        <p:tgtEl>
                                          <p:spTgt spid="101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15">
                                            <p:txEl>
                                              <p:pRg st="2" end="2"/>
                                            </p:txEl>
                                          </p:spTgt>
                                        </p:tgtEl>
                                        <p:attrNameLst>
                                          <p:attrName>style.visibility</p:attrName>
                                        </p:attrNameLst>
                                      </p:cBhvr>
                                      <p:to>
                                        <p:strVal val="visible"/>
                                      </p:to>
                                    </p:set>
                                    <p:anim calcmode="lin" valueType="num">
                                      <p:cBhvr additive="base">
                                        <p:cTn id="17" dur="500"/>
                                        <p:tgtEl>
                                          <p:spTgt spid="101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aee2debbaf_0_17"/>
          <p:cNvSpPr txBox="1">
            <a:spLocks noGrp="1"/>
          </p:cNvSpPr>
          <p:nvPr>
            <p:ph type="body" idx="1"/>
          </p:nvPr>
        </p:nvSpPr>
        <p:spPr>
          <a:xfrm>
            <a:off x="1154950" y="2603500"/>
            <a:ext cx="9844500" cy="3987300"/>
          </a:xfrm>
          <a:prstGeom prst="rect">
            <a:avLst/>
          </a:prstGeom>
          <a:noFill/>
          <a:ln>
            <a:noFill/>
          </a:ln>
        </p:spPr>
        <p:txBody>
          <a:bodyPr spcFirstLastPara="1" wrap="square" lIns="91425" tIns="45700" rIns="91425" bIns="45700" anchor="ctr"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CREATE USER</a:t>
            </a:r>
            <a:r>
              <a:rPr lang="en-ID" sz="2100">
                <a:solidFill>
                  <a:schemeClr val="dk1"/>
                </a:solidFill>
              </a:rPr>
              <a:t>: Membuat pengguna baru.</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CREATE USER 'nama_pengguna'@'localhost' IDENTIFIED BY 'kata_sandi';</a:t>
            </a:r>
            <a:endParaRPr sz="19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ALTER USER</a:t>
            </a:r>
            <a:r>
              <a:rPr lang="en-ID" sz="2100">
                <a:solidFill>
                  <a:schemeClr val="dk1"/>
                </a:solidFill>
              </a:rPr>
              <a:t>: Mengubah properti pengguna seperti password atau hak akses.</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ALTER USER 'nama_pengguna'@'localhost' IDENTIFIED BY 'kata_sandi_baru';</a:t>
            </a:r>
            <a:endParaRPr sz="19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DROP USER</a:t>
            </a:r>
            <a:r>
              <a:rPr lang="en-ID" sz="2100">
                <a:solidFill>
                  <a:schemeClr val="dk1"/>
                </a:solidFill>
              </a:rPr>
              <a:t>: Menghapus pengguna dari sistem.</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DROP USER 'nama_pengguna'@'localhost';</a:t>
            </a:r>
            <a:endParaRPr sz="1900">
              <a:solidFill>
                <a:schemeClr val="dk1"/>
              </a:solidFill>
              <a:latin typeface="Courier New"/>
              <a:ea typeface="Courier New"/>
              <a:cs typeface="Courier New"/>
              <a:sym typeface="Courier New"/>
            </a:endParaRPr>
          </a:p>
        </p:txBody>
      </p:sp>
      <p:sp>
        <p:nvSpPr>
          <p:cNvPr id="1024" name="Google Shape;1024;g2aee2debbaf_0_17"/>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User Administration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3">
                                            <p:txEl>
                                              <p:pRg st="0" end="0"/>
                                            </p:txEl>
                                          </p:spTgt>
                                        </p:tgtEl>
                                        <p:attrNameLst>
                                          <p:attrName>style.visibility</p:attrName>
                                        </p:attrNameLst>
                                      </p:cBhvr>
                                      <p:to>
                                        <p:strVal val="visible"/>
                                      </p:to>
                                    </p:set>
                                    <p:anim calcmode="lin" valueType="num">
                                      <p:cBhvr additive="base">
                                        <p:cTn id="7" dur="500"/>
                                        <p:tgtEl>
                                          <p:spTgt spid="10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23">
                                            <p:txEl>
                                              <p:pRg st="1" end="1"/>
                                            </p:txEl>
                                          </p:spTgt>
                                        </p:tgtEl>
                                        <p:attrNameLst>
                                          <p:attrName>style.visibility</p:attrName>
                                        </p:attrNameLst>
                                      </p:cBhvr>
                                      <p:to>
                                        <p:strVal val="visible"/>
                                      </p:to>
                                    </p:set>
                                    <p:anim calcmode="lin" valueType="num">
                                      <p:cBhvr additive="base">
                                        <p:cTn id="12" dur="500"/>
                                        <p:tgtEl>
                                          <p:spTgt spid="102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23">
                                            <p:txEl>
                                              <p:pRg st="2" end="2"/>
                                            </p:txEl>
                                          </p:spTgt>
                                        </p:tgtEl>
                                        <p:attrNameLst>
                                          <p:attrName>style.visibility</p:attrName>
                                        </p:attrNameLst>
                                      </p:cBhvr>
                                      <p:to>
                                        <p:strVal val="visible"/>
                                      </p:to>
                                    </p:set>
                                    <p:anim calcmode="lin" valueType="num">
                                      <p:cBhvr additive="base">
                                        <p:cTn id="17" dur="500"/>
                                        <p:tgtEl>
                                          <p:spTgt spid="102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23">
                                            <p:txEl>
                                              <p:pRg st="3" end="3"/>
                                            </p:txEl>
                                          </p:spTgt>
                                        </p:tgtEl>
                                        <p:attrNameLst>
                                          <p:attrName>style.visibility</p:attrName>
                                        </p:attrNameLst>
                                      </p:cBhvr>
                                      <p:to>
                                        <p:strVal val="visible"/>
                                      </p:to>
                                    </p:set>
                                    <p:anim calcmode="lin" valueType="num">
                                      <p:cBhvr additive="base">
                                        <p:cTn id="22" dur="500"/>
                                        <p:tgtEl>
                                          <p:spTgt spid="102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23">
                                            <p:txEl>
                                              <p:pRg st="4" end="4"/>
                                            </p:txEl>
                                          </p:spTgt>
                                        </p:tgtEl>
                                        <p:attrNameLst>
                                          <p:attrName>style.visibility</p:attrName>
                                        </p:attrNameLst>
                                      </p:cBhvr>
                                      <p:to>
                                        <p:strVal val="visible"/>
                                      </p:to>
                                    </p:set>
                                    <p:anim calcmode="lin" valueType="num">
                                      <p:cBhvr additive="base">
                                        <p:cTn id="27" dur="500"/>
                                        <p:tgtEl>
                                          <p:spTgt spid="102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23">
                                            <p:txEl>
                                              <p:pRg st="5" end="5"/>
                                            </p:txEl>
                                          </p:spTgt>
                                        </p:tgtEl>
                                        <p:attrNameLst>
                                          <p:attrName>style.visibility</p:attrName>
                                        </p:attrNameLst>
                                      </p:cBhvr>
                                      <p:to>
                                        <p:strVal val="visible"/>
                                      </p:to>
                                    </p:set>
                                    <p:anim calcmode="lin" valueType="num">
                                      <p:cBhvr additive="base">
                                        <p:cTn id="32" dur="500"/>
                                        <p:tgtEl>
                                          <p:spTgt spid="1023">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aee2debbaf_0_26"/>
          <p:cNvSpPr txBox="1">
            <a:spLocks noGrp="1"/>
          </p:cNvSpPr>
          <p:nvPr>
            <p:ph type="body" idx="1"/>
          </p:nvPr>
        </p:nvSpPr>
        <p:spPr>
          <a:xfrm>
            <a:off x="1154950" y="2603500"/>
            <a:ext cx="9844500" cy="3987300"/>
          </a:xfrm>
          <a:prstGeom prst="rect">
            <a:avLst/>
          </a:prstGeom>
          <a:noFill/>
          <a:ln>
            <a:noFill/>
          </a:ln>
        </p:spPr>
        <p:txBody>
          <a:bodyPr spcFirstLastPara="1" wrap="square" lIns="91425" tIns="45700" rIns="91425" bIns="45700" anchor="ctr"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GRANT</a:t>
            </a:r>
            <a:r>
              <a:rPr lang="en-ID" sz="2100">
                <a:solidFill>
                  <a:schemeClr val="dk1"/>
                </a:solidFill>
              </a:rPr>
              <a:t>: Memberikan hak akses tertentu kepada pengguna atau peran.</a:t>
            </a:r>
            <a:endParaRPr sz="2100">
              <a:solidFill>
                <a:schemeClr val="dk1"/>
              </a:solidFill>
            </a:endParaRPr>
          </a:p>
          <a:p>
            <a:pPr marL="914400" lvl="1" indent="-336550" algn="l" rtl="0">
              <a:lnSpc>
                <a:spcPct val="115000"/>
              </a:lnSpc>
              <a:spcBef>
                <a:spcPts val="0"/>
              </a:spcBef>
              <a:spcAft>
                <a:spcPts val="0"/>
              </a:spcAft>
              <a:buClr>
                <a:schemeClr val="dk1"/>
              </a:buClr>
              <a:buSzPts val="1700"/>
              <a:buFont typeface="Courier New"/>
              <a:buChar char="❏"/>
            </a:pPr>
            <a:r>
              <a:rPr lang="en-ID" sz="1700">
                <a:solidFill>
                  <a:schemeClr val="dk1"/>
                </a:solidFill>
                <a:latin typeface="Courier New"/>
                <a:ea typeface="Courier New"/>
                <a:cs typeface="Courier New"/>
                <a:sym typeface="Courier New"/>
              </a:rPr>
              <a:t>GRANT SELECT, INSERT ON database1.* TO 'nama_pengguna'@'localhost';</a:t>
            </a:r>
            <a:endParaRPr sz="1700">
              <a:solidFill>
                <a:schemeClr val="dk1"/>
              </a:solidFill>
              <a:latin typeface="Courier New"/>
              <a:ea typeface="Courier New"/>
              <a:cs typeface="Courier New"/>
              <a:sym typeface="Courier New"/>
            </a:endParaRPr>
          </a:p>
          <a:p>
            <a:pPr marL="914400" lvl="1" indent="-336550" algn="l" rtl="0">
              <a:lnSpc>
                <a:spcPct val="115000"/>
              </a:lnSpc>
              <a:spcBef>
                <a:spcPts val="0"/>
              </a:spcBef>
              <a:spcAft>
                <a:spcPts val="0"/>
              </a:spcAft>
              <a:buClr>
                <a:schemeClr val="dk1"/>
              </a:buClr>
              <a:buSzPts val="1700"/>
              <a:buFont typeface="Courier New"/>
              <a:buChar char="❏"/>
            </a:pPr>
            <a:r>
              <a:rPr lang="en-ID" sz="1700">
                <a:solidFill>
                  <a:schemeClr val="dk1"/>
                </a:solidFill>
                <a:latin typeface="Courier New"/>
                <a:ea typeface="Courier New"/>
                <a:cs typeface="Courier New"/>
                <a:sym typeface="Courier New"/>
              </a:rPr>
              <a:t>GRANT ALL PRIVILEGES ON *.* TO 'nama_pengguna'@'localhost' IDENTIFIED BY 'kata_sandi';</a:t>
            </a:r>
            <a:endParaRPr sz="17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REVOKE</a:t>
            </a:r>
            <a:r>
              <a:rPr lang="en-ID" sz="2100">
                <a:solidFill>
                  <a:schemeClr val="dk1"/>
                </a:solidFill>
              </a:rPr>
              <a:t>: Mencabut hak akses yang telah diberikan sebelumnya.</a:t>
            </a:r>
            <a:endParaRPr sz="2100">
              <a:solidFill>
                <a:schemeClr val="dk1"/>
              </a:solidFill>
            </a:endParaRPr>
          </a:p>
          <a:p>
            <a:pPr marL="914400" lvl="1" indent="-336550" algn="l" rtl="0">
              <a:lnSpc>
                <a:spcPct val="115000"/>
              </a:lnSpc>
              <a:spcBef>
                <a:spcPts val="0"/>
              </a:spcBef>
              <a:spcAft>
                <a:spcPts val="0"/>
              </a:spcAft>
              <a:buClr>
                <a:schemeClr val="dk1"/>
              </a:buClr>
              <a:buSzPts val="1700"/>
              <a:buFont typeface="Courier New"/>
              <a:buChar char="❏"/>
            </a:pPr>
            <a:r>
              <a:rPr lang="en-ID" sz="1700">
                <a:solidFill>
                  <a:schemeClr val="dk1"/>
                </a:solidFill>
                <a:latin typeface="Courier New"/>
                <a:ea typeface="Courier New"/>
                <a:cs typeface="Courier New"/>
                <a:sym typeface="Courier New"/>
              </a:rPr>
              <a:t>REVOKE ALL PRIVILEGES ON *.* FROM 'nama_pengguna'@'localhost';</a:t>
            </a:r>
            <a:endParaRPr sz="1700">
              <a:solidFill>
                <a:schemeClr val="dk1"/>
              </a:solidFill>
              <a:latin typeface="Courier New"/>
              <a:ea typeface="Courier New"/>
              <a:cs typeface="Courier New"/>
              <a:sym typeface="Courier New"/>
            </a:endParaRPr>
          </a:p>
        </p:txBody>
      </p:sp>
      <p:sp>
        <p:nvSpPr>
          <p:cNvPr id="1031" name="Google Shape;1031;g2aee2debbaf_0_26"/>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Privileges Administration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0">
                                            <p:txEl>
                                              <p:pRg st="0" end="0"/>
                                            </p:txEl>
                                          </p:spTgt>
                                        </p:tgtEl>
                                        <p:attrNameLst>
                                          <p:attrName>style.visibility</p:attrName>
                                        </p:attrNameLst>
                                      </p:cBhvr>
                                      <p:to>
                                        <p:strVal val="visible"/>
                                      </p:to>
                                    </p:set>
                                    <p:anim calcmode="lin" valueType="num">
                                      <p:cBhvr additive="base">
                                        <p:cTn id="7" dur="500"/>
                                        <p:tgtEl>
                                          <p:spTgt spid="103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30">
                                            <p:txEl>
                                              <p:pRg st="1" end="1"/>
                                            </p:txEl>
                                          </p:spTgt>
                                        </p:tgtEl>
                                        <p:attrNameLst>
                                          <p:attrName>style.visibility</p:attrName>
                                        </p:attrNameLst>
                                      </p:cBhvr>
                                      <p:to>
                                        <p:strVal val="visible"/>
                                      </p:to>
                                    </p:set>
                                    <p:anim calcmode="lin" valueType="num">
                                      <p:cBhvr additive="base">
                                        <p:cTn id="12" dur="500"/>
                                        <p:tgtEl>
                                          <p:spTgt spid="103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30">
                                            <p:txEl>
                                              <p:pRg st="2" end="2"/>
                                            </p:txEl>
                                          </p:spTgt>
                                        </p:tgtEl>
                                        <p:attrNameLst>
                                          <p:attrName>style.visibility</p:attrName>
                                        </p:attrNameLst>
                                      </p:cBhvr>
                                      <p:to>
                                        <p:strVal val="visible"/>
                                      </p:to>
                                    </p:set>
                                    <p:anim calcmode="lin" valueType="num">
                                      <p:cBhvr additive="base">
                                        <p:cTn id="17" dur="500"/>
                                        <p:tgtEl>
                                          <p:spTgt spid="103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30">
                                            <p:txEl>
                                              <p:pRg st="3" end="3"/>
                                            </p:txEl>
                                          </p:spTgt>
                                        </p:tgtEl>
                                        <p:attrNameLst>
                                          <p:attrName>style.visibility</p:attrName>
                                        </p:attrNameLst>
                                      </p:cBhvr>
                                      <p:to>
                                        <p:strVal val="visible"/>
                                      </p:to>
                                    </p:set>
                                    <p:anim calcmode="lin" valueType="num">
                                      <p:cBhvr additive="base">
                                        <p:cTn id="22" dur="500"/>
                                        <p:tgtEl>
                                          <p:spTgt spid="103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30">
                                            <p:txEl>
                                              <p:pRg st="4" end="4"/>
                                            </p:txEl>
                                          </p:spTgt>
                                        </p:tgtEl>
                                        <p:attrNameLst>
                                          <p:attrName>style.visibility</p:attrName>
                                        </p:attrNameLst>
                                      </p:cBhvr>
                                      <p:to>
                                        <p:strVal val="visible"/>
                                      </p:to>
                                    </p:set>
                                    <p:anim calcmode="lin" valueType="num">
                                      <p:cBhvr additive="base">
                                        <p:cTn id="27" dur="500"/>
                                        <p:tgtEl>
                                          <p:spTgt spid="1030">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aee2debbaf_0_53"/>
          <p:cNvSpPr txBox="1">
            <a:spLocks noGrp="1"/>
          </p:cNvSpPr>
          <p:nvPr>
            <p:ph type="body" idx="1"/>
          </p:nvPr>
        </p:nvSpPr>
        <p:spPr>
          <a:xfrm>
            <a:off x="1154950" y="2603500"/>
            <a:ext cx="9844500" cy="3987300"/>
          </a:xfrm>
          <a:prstGeom prst="rect">
            <a:avLst/>
          </a:prstGeom>
          <a:noFill/>
          <a:ln>
            <a:noFill/>
          </a:ln>
        </p:spPr>
        <p:txBody>
          <a:bodyPr spcFirstLastPara="1" wrap="square" lIns="91425" tIns="45700" rIns="91425" bIns="45700" anchor="ctr"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CREATE ROLE</a:t>
            </a:r>
            <a:r>
              <a:rPr lang="en-ID" sz="2100">
                <a:solidFill>
                  <a:schemeClr val="dk1"/>
                </a:solidFill>
              </a:rPr>
              <a:t>: Membuat pengguna baru.</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CREATE ROLE 'nama_peran';</a:t>
            </a:r>
            <a:endParaRPr sz="19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GRANT ROLE</a:t>
            </a:r>
            <a:r>
              <a:rPr lang="en-ID" sz="2100">
                <a:solidFill>
                  <a:schemeClr val="dk1"/>
                </a:solidFill>
              </a:rPr>
              <a:t>: Memberikan hak akses kepada peran..</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GRANT SELECT, UPDATE ON database1.* TO 'nama_peran';</a:t>
            </a:r>
            <a:endParaRPr sz="19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REVOKE ROLE</a:t>
            </a:r>
            <a:r>
              <a:rPr lang="en-ID" sz="2100">
                <a:solidFill>
                  <a:schemeClr val="dk1"/>
                </a:solidFill>
              </a:rPr>
              <a:t>: Mencabut Hak Akses dari Pengguna yang Terkait dengan Role</a:t>
            </a:r>
            <a:r>
              <a:rPr lang="en-ID" sz="1200">
                <a:solidFill>
                  <a:srgbClr val="D1D5DB"/>
                </a:solidFill>
                <a:highlight>
                  <a:srgbClr val="343541"/>
                </a:highlight>
                <a:latin typeface="Roboto"/>
                <a:ea typeface="Roboto"/>
                <a:cs typeface="Roboto"/>
                <a:sym typeface="Roboto"/>
              </a:rPr>
              <a:t>:</a:t>
            </a:r>
            <a:r>
              <a:rPr lang="en-ID" sz="2100">
                <a:solidFill>
                  <a:schemeClr val="dk1"/>
                </a:solidFill>
              </a:rPr>
              <a:t>.</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REVOKE 'nama_peran' FROM 'nama_pengguna'@'localhost';</a:t>
            </a:r>
            <a:endParaRPr sz="2100" b="1">
              <a:solidFill>
                <a:schemeClr val="dk1"/>
              </a:solidFill>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DROP ROLE</a:t>
            </a:r>
            <a:r>
              <a:rPr lang="en-ID" sz="2100">
                <a:solidFill>
                  <a:schemeClr val="dk1"/>
                </a:solidFill>
              </a:rPr>
              <a:t>: Menghapus pengguna dari sistem.</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DROP ROLE 'nama_peran';</a:t>
            </a:r>
            <a:endParaRPr sz="1900">
              <a:solidFill>
                <a:schemeClr val="dk1"/>
              </a:solidFill>
              <a:latin typeface="Courier New"/>
              <a:ea typeface="Courier New"/>
              <a:cs typeface="Courier New"/>
              <a:sym typeface="Courier New"/>
            </a:endParaRPr>
          </a:p>
        </p:txBody>
      </p:sp>
      <p:sp>
        <p:nvSpPr>
          <p:cNvPr id="1038" name="Google Shape;1038;g2aee2debbaf_0_53"/>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Role Administration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7">
                                            <p:txEl>
                                              <p:pRg st="0" end="0"/>
                                            </p:txEl>
                                          </p:spTgt>
                                        </p:tgtEl>
                                        <p:attrNameLst>
                                          <p:attrName>style.visibility</p:attrName>
                                        </p:attrNameLst>
                                      </p:cBhvr>
                                      <p:to>
                                        <p:strVal val="visible"/>
                                      </p:to>
                                    </p:set>
                                    <p:anim calcmode="lin" valueType="num">
                                      <p:cBhvr additive="base">
                                        <p:cTn id="7" dur="500"/>
                                        <p:tgtEl>
                                          <p:spTgt spid="10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37">
                                            <p:txEl>
                                              <p:pRg st="1" end="1"/>
                                            </p:txEl>
                                          </p:spTgt>
                                        </p:tgtEl>
                                        <p:attrNameLst>
                                          <p:attrName>style.visibility</p:attrName>
                                        </p:attrNameLst>
                                      </p:cBhvr>
                                      <p:to>
                                        <p:strVal val="visible"/>
                                      </p:to>
                                    </p:set>
                                    <p:anim calcmode="lin" valueType="num">
                                      <p:cBhvr additive="base">
                                        <p:cTn id="12" dur="500"/>
                                        <p:tgtEl>
                                          <p:spTgt spid="103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37">
                                            <p:txEl>
                                              <p:pRg st="2" end="2"/>
                                            </p:txEl>
                                          </p:spTgt>
                                        </p:tgtEl>
                                        <p:attrNameLst>
                                          <p:attrName>style.visibility</p:attrName>
                                        </p:attrNameLst>
                                      </p:cBhvr>
                                      <p:to>
                                        <p:strVal val="visible"/>
                                      </p:to>
                                    </p:set>
                                    <p:anim calcmode="lin" valueType="num">
                                      <p:cBhvr additive="base">
                                        <p:cTn id="17" dur="500"/>
                                        <p:tgtEl>
                                          <p:spTgt spid="103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37">
                                            <p:txEl>
                                              <p:pRg st="3" end="3"/>
                                            </p:txEl>
                                          </p:spTgt>
                                        </p:tgtEl>
                                        <p:attrNameLst>
                                          <p:attrName>style.visibility</p:attrName>
                                        </p:attrNameLst>
                                      </p:cBhvr>
                                      <p:to>
                                        <p:strVal val="visible"/>
                                      </p:to>
                                    </p:set>
                                    <p:anim calcmode="lin" valueType="num">
                                      <p:cBhvr additive="base">
                                        <p:cTn id="22" dur="500"/>
                                        <p:tgtEl>
                                          <p:spTgt spid="103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37">
                                            <p:txEl>
                                              <p:pRg st="4" end="4"/>
                                            </p:txEl>
                                          </p:spTgt>
                                        </p:tgtEl>
                                        <p:attrNameLst>
                                          <p:attrName>style.visibility</p:attrName>
                                        </p:attrNameLst>
                                      </p:cBhvr>
                                      <p:to>
                                        <p:strVal val="visible"/>
                                      </p:to>
                                    </p:set>
                                    <p:anim calcmode="lin" valueType="num">
                                      <p:cBhvr additive="base">
                                        <p:cTn id="27" dur="500"/>
                                        <p:tgtEl>
                                          <p:spTgt spid="103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37">
                                            <p:txEl>
                                              <p:pRg st="5" end="5"/>
                                            </p:txEl>
                                          </p:spTgt>
                                        </p:tgtEl>
                                        <p:attrNameLst>
                                          <p:attrName>style.visibility</p:attrName>
                                        </p:attrNameLst>
                                      </p:cBhvr>
                                      <p:to>
                                        <p:strVal val="visible"/>
                                      </p:to>
                                    </p:set>
                                    <p:anim calcmode="lin" valueType="num">
                                      <p:cBhvr additive="base">
                                        <p:cTn id="32" dur="500"/>
                                        <p:tgtEl>
                                          <p:spTgt spid="1037">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37">
                                            <p:txEl>
                                              <p:pRg st="6" end="6"/>
                                            </p:txEl>
                                          </p:spTgt>
                                        </p:tgtEl>
                                        <p:attrNameLst>
                                          <p:attrName>style.visibility</p:attrName>
                                        </p:attrNameLst>
                                      </p:cBhvr>
                                      <p:to>
                                        <p:strVal val="visible"/>
                                      </p:to>
                                    </p:set>
                                    <p:anim calcmode="lin" valueType="num">
                                      <p:cBhvr additive="base">
                                        <p:cTn id="37" dur="500"/>
                                        <p:tgtEl>
                                          <p:spTgt spid="1037">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037">
                                            <p:txEl>
                                              <p:pRg st="7" end="7"/>
                                            </p:txEl>
                                          </p:spTgt>
                                        </p:tgtEl>
                                        <p:attrNameLst>
                                          <p:attrName>style.visibility</p:attrName>
                                        </p:attrNameLst>
                                      </p:cBhvr>
                                      <p:to>
                                        <p:strVal val="visible"/>
                                      </p:to>
                                    </p:set>
                                    <p:anim calcmode="lin" valueType="num">
                                      <p:cBhvr additive="base">
                                        <p:cTn id="42" dur="500"/>
                                        <p:tgtEl>
                                          <p:spTgt spid="1037">
                                            <p:txEl>
                                              <p:pRg st="7" end="7"/>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aee2debbaf_0_60"/>
          <p:cNvSpPr txBox="1">
            <a:spLocks noGrp="1"/>
          </p:cNvSpPr>
          <p:nvPr>
            <p:ph type="body" idx="1"/>
          </p:nvPr>
        </p:nvSpPr>
        <p:spPr>
          <a:xfrm>
            <a:off x="1154950" y="2603500"/>
            <a:ext cx="9844500" cy="3987300"/>
          </a:xfrm>
          <a:prstGeom prst="rect">
            <a:avLst/>
          </a:prstGeom>
          <a:noFill/>
          <a:ln>
            <a:noFill/>
          </a:ln>
        </p:spPr>
        <p:txBody>
          <a:bodyPr spcFirstLastPara="1" wrap="square" lIns="91425" tIns="45700" rIns="91425" bIns="45700" anchor="ctr" anchorCtr="0">
            <a:noAutofit/>
          </a:bodyPr>
          <a:lstStyle/>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SHOW GRANTS</a:t>
            </a:r>
            <a:r>
              <a:rPr lang="en-ID" sz="2100">
                <a:solidFill>
                  <a:schemeClr val="dk1"/>
                </a:solidFill>
              </a:rPr>
              <a:t>: Menampilkan hak akses yang dimiliki oleh pengguna atau peran..</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SHOW GRANTS FOR 'nama_pengguna'@'localhost';</a:t>
            </a:r>
            <a:endParaRPr sz="1900">
              <a:solidFill>
                <a:schemeClr val="dk1"/>
              </a:solidFill>
              <a:latin typeface="Courier New"/>
              <a:ea typeface="Courier New"/>
              <a:cs typeface="Courier New"/>
              <a:sym typeface="Courier New"/>
            </a:endParaRPr>
          </a:p>
          <a:p>
            <a:pPr marL="457200" lvl="0" indent="-361950" algn="l" rtl="0">
              <a:lnSpc>
                <a:spcPct val="115000"/>
              </a:lnSpc>
              <a:spcBef>
                <a:spcPts val="0"/>
              </a:spcBef>
              <a:spcAft>
                <a:spcPts val="0"/>
              </a:spcAft>
              <a:buClr>
                <a:schemeClr val="dk1"/>
              </a:buClr>
              <a:buSzPts val="2100"/>
              <a:buFont typeface="Century Gothic"/>
              <a:buChar char="❏"/>
            </a:pPr>
            <a:r>
              <a:rPr lang="en-ID" sz="2100" b="1">
                <a:solidFill>
                  <a:schemeClr val="dk1"/>
                </a:solidFill>
              </a:rPr>
              <a:t>FLUSH PRIVILEGES</a:t>
            </a:r>
            <a:r>
              <a:rPr lang="en-ID" sz="2100">
                <a:solidFill>
                  <a:schemeClr val="dk1"/>
                </a:solidFill>
              </a:rPr>
              <a:t>: Memuat ulang tabel privilege setelah melakukan perubahan hak akses.</a:t>
            </a:r>
            <a:endParaRPr sz="2100">
              <a:solidFill>
                <a:schemeClr val="dk1"/>
              </a:solidFill>
            </a:endParaRPr>
          </a:p>
          <a:p>
            <a:pPr marL="914400" lvl="1" indent="-317500" algn="l" rtl="0">
              <a:lnSpc>
                <a:spcPct val="115000"/>
              </a:lnSpc>
              <a:spcBef>
                <a:spcPts val="0"/>
              </a:spcBef>
              <a:spcAft>
                <a:spcPts val="0"/>
              </a:spcAft>
              <a:buClr>
                <a:schemeClr val="dk1"/>
              </a:buClr>
              <a:buSzPts val="1400"/>
              <a:buFont typeface="Courier New"/>
              <a:buChar char="❏"/>
            </a:pPr>
            <a:r>
              <a:rPr lang="en-ID" sz="1900">
                <a:solidFill>
                  <a:schemeClr val="dk1"/>
                </a:solidFill>
                <a:latin typeface="Courier New"/>
                <a:ea typeface="Courier New"/>
                <a:cs typeface="Courier New"/>
                <a:sym typeface="Courier New"/>
              </a:rPr>
              <a:t>FLUSH PRIVILEGES;</a:t>
            </a:r>
            <a:endParaRPr sz="1900">
              <a:solidFill>
                <a:schemeClr val="dk1"/>
              </a:solidFill>
              <a:latin typeface="Courier New"/>
              <a:ea typeface="Courier New"/>
              <a:cs typeface="Courier New"/>
              <a:sym typeface="Courier New"/>
            </a:endParaRPr>
          </a:p>
        </p:txBody>
      </p:sp>
      <p:sp>
        <p:nvSpPr>
          <p:cNvPr id="1045" name="Google Shape;1045;g2aee2debbaf_0_60"/>
          <p:cNvSpPr txBox="1">
            <a:spLocks noGrp="1"/>
          </p:cNvSpPr>
          <p:nvPr>
            <p:ph type="title"/>
          </p:nvPr>
        </p:nvSpPr>
        <p:spPr>
          <a:xfrm>
            <a:off x="1154954" y="973668"/>
            <a:ext cx="8761500" cy="707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ID"/>
              <a:t>General Query for User Management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4">
                                            <p:txEl>
                                              <p:pRg st="0" end="0"/>
                                            </p:txEl>
                                          </p:spTgt>
                                        </p:tgtEl>
                                        <p:attrNameLst>
                                          <p:attrName>style.visibility</p:attrName>
                                        </p:attrNameLst>
                                      </p:cBhvr>
                                      <p:to>
                                        <p:strVal val="visible"/>
                                      </p:to>
                                    </p:set>
                                    <p:anim calcmode="lin" valueType="num">
                                      <p:cBhvr additive="base">
                                        <p:cTn id="7" dur="500"/>
                                        <p:tgtEl>
                                          <p:spTgt spid="104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44">
                                            <p:txEl>
                                              <p:pRg st="1" end="1"/>
                                            </p:txEl>
                                          </p:spTgt>
                                        </p:tgtEl>
                                        <p:attrNameLst>
                                          <p:attrName>style.visibility</p:attrName>
                                        </p:attrNameLst>
                                      </p:cBhvr>
                                      <p:to>
                                        <p:strVal val="visible"/>
                                      </p:to>
                                    </p:set>
                                    <p:anim calcmode="lin" valueType="num">
                                      <p:cBhvr additive="base">
                                        <p:cTn id="12" dur="500"/>
                                        <p:tgtEl>
                                          <p:spTgt spid="104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44">
                                            <p:txEl>
                                              <p:pRg st="2" end="2"/>
                                            </p:txEl>
                                          </p:spTgt>
                                        </p:tgtEl>
                                        <p:attrNameLst>
                                          <p:attrName>style.visibility</p:attrName>
                                        </p:attrNameLst>
                                      </p:cBhvr>
                                      <p:to>
                                        <p:strVal val="visible"/>
                                      </p:to>
                                    </p:set>
                                    <p:anim calcmode="lin" valueType="num">
                                      <p:cBhvr additive="base">
                                        <p:cTn id="17" dur="500"/>
                                        <p:tgtEl>
                                          <p:spTgt spid="1044">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44">
                                            <p:txEl>
                                              <p:pRg st="3" end="3"/>
                                            </p:txEl>
                                          </p:spTgt>
                                        </p:tgtEl>
                                        <p:attrNameLst>
                                          <p:attrName>style.visibility</p:attrName>
                                        </p:attrNameLst>
                                      </p:cBhvr>
                                      <p:to>
                                        <p:strVal val="visible"/>
                                      </p:to>
                                    </p:set>
                                    <p:anim calcmode="lin" valueType="num">
                                      <p:cBhvr additive="base">
                                        <p:cTn id="22" dur="500"/>
                                        <p:tgtEl>
                                          <p:spTgt spid="1044">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pic>
        <p:nvPicPr>
          <p:cNvPr id="704" name="Google Shape;704;p39" descr="The Rise of SQL - IEEE Spectrum"/>
          <p:cNvPicPr preferRelativeResize="0"/>
          <p:nvPr/>
        </p:nvPicPr>
        <p:blipFill rotWithShape="1">
          <a:blip r:embed="rId3">
            <a:alphaModFix/>
          </a:blip>
          <a:srcRect/>
          <a:stretch/>
        </p:blipFill>
        <p:spPr>
          <a:xfrm>
            <a:off x="0" y="1741"/>
            <a:ext cx="12192000" cy="6856259"/>
          </a:xfrm>
          <a:prstGeom prst="rect">
            <a:avLst/>
          </a:prstGeom>
          <a:blipFill rotWithShape="1">
            <a:blip r:embed="rId4">
              <a:alphaModFix/>
            </a:blip>
            <a:tile tx="0" ty="0" sx="100000" sy="100000" flip="none" algn="tl"/>
          </a:blipFill>
          <a:ln>
            <a:noFill/>
          </a:ln>
        </p:spPr>
      </p:pic>
      <p:sp>
        <p:nvSpPr>
          <p:cNvPr id="705" name="Google Shape;705;p39"/>
          <p:cNvSpPr txBox="1">
            <a:spLocks noGrp="1"/>
          </p:cNvSpPr>
          <p:nvPr>
            <p:ph type="body" idx="1"/>
          </p:nvPr>
        </p:nvSpPr>
        <p:spPr>
          <a:xfrm>
            <a:off x="6577779" y="0"/>
            <a:ext cx="6096001" cy="141316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4800"/>
              <a:buNone/>
            </a:pPr>
            <a:r>
              <a:rPr lang="en-ID" sz="6000" b="1">
                <a:solidFill>
                  <a:schemeClr val="lt1"/>
                </a:solidFill>
              </a:rPr>
              <a:t>Terima Kasih</a:t>
            </a:r>
            <a:endParaRPr sz="6000" b="1">
              <a:solidFill>
                <a:schemeClr val="lt1"/>
              </a:solidFill>
            </a:endParaRPr>
          </a:p>
        </p:txBody>
      </p:sp>
    </p:spTree>
    <p:extLst>
      <p:ext uri="{BB962C8B-B14F-4D97-AF65-F5344CB8AC3E}">
        <p14:creationId xmlns:p14="http://schemas.microsoft.com/office/powerpoint/2010/main" val="2512355870"/>
      </p:ext>
    </p:extLst>
  </p:cSld>
  <p:clrMapOvr>
    <a:masterClrMapping/>
  </p:clrMapOvr>
</p:sld>
</file>

<file path=ppt/theme/theme1.xml><?xml version="1.0" encoding="utf-8"?>
<a:theme xmlns:a="http://schemas.openxmlformats.org/drawingml/2006/main"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5303</TotalTime>
  <Words>17022</Words>
  <Application>Microsoft Office PowerPoint</Application>
  <PresentationFormat>Widescreen</PresentationFormat>
  <Paragraphs>2027</Paragraphs>
  <Slides>154</Slides>
  <Notes>143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154</vt:i4>
      </vt:variant>
    </vt:vector>
  </HeadingPairs>
  <TitlesOfParts>
    <vt:vector size="169" baseType="lpstr">
      <vt:lpstr>Wingdings</vt:lpstr>
      <vt:lpstr>Georgia</vt:lpstr>
      <vt:lpstr>Aptos</vt:lpstr>
      <vt:lpstr>arial</vt:lpstr>
      <vt:lpstr>Roboto</vt:lpstr>
      <vt:lpstr>Arial Unicode MS</vt:lpstr>
      <vt:lpstr>Google Sans</vt:lpstr>
      <vt:lpstr>Consolas</vt:lpstr>
      <vt:lpstr>Century Gothic</vt:lpstr>
      <vt:lpstr>Calibri</vt:lpstr>
      <vt:lpstr>arial</vt:lpstr>
      <vt:lpstr>Google Sans Text</vt:lpstr>
      <vt:lpstr>Noto Sans Symbols</vt:lpstr>
      <vt:lpstr>Courier New</vt:lpstr>
      <vt:lpstr>Ion Boardroom</vt:lpstr>
      <vt:lpstr>Panduan Praktikum MYSQL</vt:lpstr>
      <vt:lpstr>CPL</vt:lpstr>
      <vt:lpstr>Pre Test</vt:lpstr>
      <vt:lpstr>Sejarah MySQL</vt:lpstr>
      <vt:lpstr>Macam-macam Data</vt:lpstr>
      <vt:lpstr>Macam-macam Data</vt:lpstr>
      <vt:lpstr>Macam-macam Data</vt:lpstr>
      <vt:lpstr>Kelebihan MySQL</vt:lpstr>
      <vt:lpstr>Kekurangan MySQL</vt:lpstr>
      <vt:lpstr>SQL Standar Basis Data</vt:lpstr>
      <vt:lpstr>Pengelompokan Perintah SQL</vt:lpstr>
      <vt:lpstr>Aturan Perintah dalam MySQL</vt:lpstr>
      <vt:lpstr>Infrastruktur</vt:lpstr>
      <vt:lpstr>Tipe Data - Numeric</vt:lpstr>
      <vt:lpstr>Tipe Data - String</vt:lpstr>
      <vt:lpstr>Tipe Data - Datetime</vt:lpstr>
      <vt:lpstr>Tipe Data - Spatial</vt:lpstr>
      <vt:lpstr>Tipe Data - Json</vt:lpstr>
      <vt:lpstr>Installation</vt:lpstr>
      <vt:lpstr>Post Test</vt:lpstr>
      <vt:lpstr>Data Definition Language (DDL)</vt:lpstr>
      <vt:lpstr>CPL</vt:lpstr>
      <vt:lpstr>Pre Test</vt:lpstr>
      <vt:lpstr>Apa itu DDL</vt:lpstr>
      <vt:lpstr>Fungsi DDL</vt:lpstr>
      <vt:lpstr>CREATE Statement</vt:lpstr>
      <vt:lpstr>ALTER Statement</vt:lpstr>
      <vt:lpstr>DROP Statement</vt:lpstr>
      <vt:lpstr>TRUNCATE Statement</vt:lpstr>
      <vt:lpstr>Perbedaan DROP vs TRUNCATE</vt:lpstr>
      <vt:lpstr>Praktek Perintah DDL</vt:lpstr>
      <vt:lpstr>Jalankan Perintah-perintah berikut:</vt:lpstr>
      <vt:lpstr>Jalankan Perintah-perintah berikut:</vt:lpstr>
      <vt:lpstr>Post Test</vt:lpstr>
      <vt:lpstr>Pemantapan Materi DDL</vt:lpstr>
      <vt:lpstr>CPL</vt:lpstr>
      <vt:lpstr>Tugas</vt:lpstr>
      <vt:lpstr>Data Manipulation Language (DML) – Sec 1  INSERT | UPDATE | DELETE</vt:lpstr>
      <vt:lpstr>CPL</vt:lpstr>
      <vt:lpstr>Pre Test</vt:lpstr>
      <vt:lpstr>Data Manipulation Language (DML)</vt:lpstr>
      <vt:lpstr>Perintah-perintah DML</vt:lpstr>
      <vt:lpstr>Perintah INSERT</vt:lpstr>
      <vt:lpstr>Perintah INSERT</vt:lpstr>
      <vt:lpstr>Perintah INSERT</vt:lpstr>
      <vt:lpstr>PowerPoint Presentation</vt:lpstr>
      <vt:lpstr>PowerPoint Presentation</vt:lpstr>
      <vt:lpstr>PowerPoint Presentation</vt:lpstr>
      <vt:lpstr>Perintah UPDATE</vt:lpstr>
      <vt:lpstr>Perintah UPDATE</vt:lpstr>
      <vt:lpstr>Perintah DELETE</vt:lpstr>
      <vt:lpstr>Perintah DELETE</vt:lpstr>
      <vt:lpstr>Post Test</vt:lpstr>
      <vt:lpstr>Data Manipulation Language (DML) – Sec 2 SELECT</vt:lpstr>
      <vt:lpstr>Dataset</vt:lpstr>
      <vt:lpstr>PowerPoint Presentation</vt:lpstr>
      <vt:lpstr>Mendalami Perintah SELECT</vt:lpstr>
      <vt:lpstr>Operator Relasi</vt:lpstr>
      <vt:lpstr>Operator Logika</vt:lpstr>
      <vt:lpstr>Operator Lain</vt:lpstr>
      <vt:lpstr>Mendalami Perintah SELECT</vt:lpstr>
      <vt:lpstr>Mendalami Perintah SELECT</vt:lpstr>
      <vt:lpstr>Mendalami Perintah SELECT</vt:lpstr>
      <vt:lpstr>Mendalami Perintah SELECT</vt:lpstr>
      <vt:lpstr>Mendalami Perintah SELECT</vt:lpstr>
      <vt:lpstr>Mendalami Perintah SELECT</vt:lpstr>
      <vt:lpstr>Mendalami Perintah SELECT</vt:lpstr>
      <vt:lpstr>Mendalami Perintah SELECT</vt:lpstr>
      <vt:lpstr>Mendalami Perintah SELECT</vt:lpstr>
      <vt:lpstr>Mendalami Perintah SELECT</vt:lpstr>
      <vt:lpstr>Mendalami Perintah SELECT</vt:lpstr>
      <vt:lpstr>Data Manipulation Language (DML) SELECT JOIN</vt:lpstr>
      <vt:lpstr>CPL</vt:lpstr>
      <vt:lpstr>PowerPoint Presentation</vt:lpstr>
      <vt:lpstr>PowerPoint Presentation</vt:lpstr>
      <vt:lpstr>PowerPoint Presentation</vt:lpstr>
      <vt:lpstr>PowerPoint Presentation</vt:lpstr>
      <vt:lpstr>PowerPoint Presentation</vt:lpstr>
      <vt:lpstr>Data Manipulation Language (DML) SELECT JOIN, WHEN CASE, VIEW</vt:lpstr>
      <vt:lpstr>CPL</vt:lpstr>
      <vt:lpstr>Mendalami Perintah SELECT</vt:lpstr>
      <vt:lpstr>Contoh Soal</vt:lpstr>
      <vt:lpstr>VIEW</vt:lpstr>
      <vt:lpstr>Manfaat Penggunaan View</vt:lpstr>
      <vt:lpstr>Contoh view</vt:lpstr>
      <vt:lpstr>LEFT / RIGHT JOIN</vt:lpstr>
      <vt:lpstr>Data Manipulation Language (DML) UTS</vt:lpstr>
      <vt:lpstr>Data Manipulation Language (DML) SQL Client, SUBQUERY, CTE</vt:lpstr>
      <vt:lpstr>CPL</vt:lpstr>
      <vt:lpstr>SubQuery</vt:lpstr>
      <vt:lpstr>CTE (Common Table Expression)</vt:lpstr>
      <vt:lpstr>CTE (Common Table Expression)</vt:lpstr>
      <vt:lpstr>Komparasi Subquery, CTE, dan View</vt:lpstr>
      <vt:lpstr>Contoh</vt:lpstr>
      <vt:lpstr>Latihan</vt:lpstr>
      <vt:lpstr>Latihan</vt:lpstr>
      <vt:lpstr>Contoh</vt:lpstr>
      <vt:lpstr>Data Manipulation Language (DML) SQL Client &amp; Latihan</vt:lpstr>
      <vt:lpstr>Data Manipulation Language (DML) Latihan Query Report/Laporan.  Studi kasus database Labcommerce</vt:lpstr>
      <vt:lpstr>Contoh-contoh Pertanyaan Laporan</vt:lpstr>
      <vt:lpstr>Contoh-contoh Pertanyaan Laporan</vt:lpstr>
      <vt:lpstr>Contoh-contoh Pertanyaan Laporan</vt:lpstr>
      <vt:lpstr>Contoh-contoh Pertanyaan Laporan</vt:lpstr>
      <vt:lpstr>Contoh-contoh Pertanyaan Laporan</vt:lpstr>
      <vt:lpstr>Contoh-contoh Pertanyaan Laporan</vt:lpstr>
      <vt:lpstr>Data Manipulation Language (DML) TRANSACTION, STORE PROCEDURE</vt:lpstr>
      <vt:lpstr>CPL</vt:lpstr>
      <vt:lpstr>Transaction</vt:lpstr>
      <vt:lpstr>ACID</vt:lpstr>
      <vt:lpstr>ACID</vt:lpstr>
      <vt:lpstr>Langkah Dasar Penggunaan Transaksi</vt:lpstr>
      <vt:lpstr>Contoh</vt:lpstr>
      <vt:lpstr>Store Procedure</vt:lpstr>
      <vt:lpstr>Unsur Penting Store Procedure</vt:lpstr>
      <vt:lpstr>Store Procedure</vt:lpstr>
      <vt:lpstr>Latihan</vt:lpstr>
      <vt:lpstr>Data Manipulation Language (DML) TRIGGER</vt:lpstr>
      <vt:lpstr>CPL</vt:lpstr>
      <vt:lpstr>Trigger</vt:lpstr>
      <vt:lpstr>Konsep Trigger</vt:lpstr>
      <vt:lpstr>Konsep Trigger</vt:lpstr>
      <vt:lpstr>Format SQL Trigger</vt:lpstr>
      <vt:lpstr>Contoh Penarapan Trigger</vt:lpstr>
      <vt:lpstr>Contoh Penarapan Trigger</vt:lpstr>
      <vt:lpstr>Contoh Penarapan Trigger</vt:lpstr>
      <vt:lpstr>Contoh Penarapan Trigger</vt:lpstr>
      <vt:lpstr>Contoh Penarapan Trigger</vt:lpstr>
      <vt:lpstr>Studi Kasus : Toko Online</vt:lpstr>
      <vt:lpstr>Studi Kasus : Toko Online</vt:lpstr>
      <vt:lpstr>Studi Kasus : Toko Online</vt:lpstr>
      <vt:lpstr>Studi Kasus : Toko Online</vt:lpstr>
      <vt:lpstr>Studi Kasus : Toko Online</vt:lpstr>
      <vt:lpstr>Data Manipulation Language (DML) BACKUP, RESTORE, REPLICA/MIRROR</vt:lpstr>
      <vt:lpstr>CPL</vt:lpstr>
      <vt:lpstr>Backup &amp; Restore</vt:lpstr>
      <vt:lpstr>Tujuan</vt:lpstr>
      <vt:lpstr>Jenis Backup</vt:lpstr>
      <vt:lpstr>Best Practices </vt:lpstr>
      <vt:lpstr>Proses Backup/Restore pada MySQL</vt:lpstr>
      <vt:lpstr>Replica / Mirror Database</vt:lpstr>
      <vt:lpstr>Replica / Mirror Database</vt:lpstr>
      <vt:lpstr>Replica / Mirror Database</vt:lpstr>
      <vt:lpstr>Replica / Mirror Database</vt:lpstr>
      <vt:lpstr>Praktek Mirror Database (Master-Slave)</vt:lpstr>
      <vt:lpstr>Praktek Mirror Database (Master-Slave)</vt:lpstr>
      <vt:lpstr>Praktek Mirror Database (Master-Slave)</vt:lpstr>
      <vt:lpstr>Data Manipulation Language (DML) USER MANAGEMENT</vt:lpstr>
      <vt:lpstr>User Management</vt:lpstr>
      <vt:lpstr>Elemen-eleman User Management</vt:lpstr>
      <vt:lpstr>User Administration</vt:lpstr>
      <vt:lpstr>Privileges Administration</vt:lpstr>
      <vt:lpstr>Role Administration</vt:lpstr>
      <vt:lpstr>General Query for User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sutiyono waluyo</dc:creator>
  <cp:lastModifiedBy>sutiyono waluyo</cp:lastModifiedBy>
  <cp:revision>14</cp:revision>
  <dcterms:created xsi:type="dcterms:W3CDTF">2023-09-19T15:59:55Z</dcterms:created>
  <dcterms:modified xsi:type="dcterms:W3CDTF">2025-12-31T01:41:45Z</dcterms:modified>
</cp:coreProperties>
</file>